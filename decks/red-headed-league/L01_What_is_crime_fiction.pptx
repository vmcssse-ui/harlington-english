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65760"/>
            <a:ext cx="8595360" cy="960120"/>
          </a:xfrm>
          <a:prstGeom prst="roundRect">
            <a:avLst>
              <a:gd name="adj" fmla="val 7619"/>
            </a:avLst>
          </a:prstGeom>
          <a:solidFill>
            <a:srgbClr val="12294D"/>
          </a:solidFill>
          <a:ln w="12700">
            <a:solidFill>
              <a:srgbClr val="12294D"/>
            </a:solidFill>
            <a:prstDash val="solid"/>
          </a:ln>
        </p:spPr>
      </p:sp>
      <p:sp>
        <p:nvSpPr>
          <p:cNvPr id="3" name="Text 1"/>
          <p:cNvSpPr/>
          <p:nvPr/>
        </p:nvSpPr>
        <p:spPr>
          <a:xfrm>
            <a:off x="777240" y="457200"/>
            <a:ext cx="8046720" cy="292608"/>
          </a:xfrm>
          <a:prstGeom prst="rect">
            <a:avLst/>
          </a:prstGeom>
          <a:noFill/>
          <a:ln/>
        </p:spPr>
        <p:txBody>
          <a:bodyPr wrap="square" lIns="0" tIns="0" rIns="0" bIns="0" rtlCol="0" anchor="ctr"/>
          <a:lstStyle/>
          <a:p>
            <a:pPr indent="0" marL="0">
              <a:buNone/>
            </a:pPr>
            <a:r>
              <a:rPr lang="en-US" sz="1100" b="1" dirty="0">
                <a:solidFill>
                  <a:srgbClr val="FFC93C"/>
                </a:solidFill>
                <a:latin typeface="Arial" pitchFamily="34" charset="0"/>
                <a:ea typeface="Arial" pitchFamily="34" charset="-122"/>
                <a:cs typeface="Arial" pitchFamily="34" charset="-120"/>
              </a:rPr>
              <a:t>HARLINGTON ENGLISH · YEAR 7 · THE RED-HEADED LEAGUE · LESSON 1 of 5</a:t>
            </a:r>
            <a:endParaRPr lang="en-US" sz="1100" dirty="0"/>
          </a:p>
        </p:txBody>
      </p:sp>
      <p:sp>
        <p:nvSpPr>
          <p:cNvPr id="4" name="Text 2"/>
          <p:cNvSpPr/>
          <p:nvPr/>
        </p:nvSpPr>
        <p:spPr>
          <a:xfrm>
            <a:off x="777240" y="731520"/>
            <a:ext cx="813816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What is crime fiction?</a:t>
            </a:r>
            <a:endParaRPr lang="en-US" sz="2600" dirty="0"/>
          </a:p>
        </p:txBody>
      </p:sp>
      <p:sp>
        <p:nvSpPr>
          <p:cNvPr id="5" name="Shape 3"/>
          <p:cNvSpPr/>
          <p:nvPr/>
        </p:nvSpPr>
        <p:spPr>
          <a:xfrm>
            <a:off x="9235440" y="365760"/>
            <a:ext cx="2468880" cy="960120"/>
          </a:xfrm>
          <a:prstGeom prst="roundRect">
            <a:avLst>
              <a:gd name="adj" fmla="val 9524"/>
            </a:avLst>
          </a:prstGeom>
          <a:solidFill>
            <a:srgbClr val="FFC93C"/>
          </a:solidFill>
          <a:ln w="12700">
            <a:solidFill>
              <a:srgbClr val="FFC93C"/>
            </a:solidFill>
            <a:prstDash val="solid"/>
          </a:ln>
        </p:spPr>
      </p:sp>
      <p:pic>
        <p:nvPicPr>
          <p:cNvPr id="6" name="Image 0" descr="/home/claude/english/kit/decks/_icons/bell-12294D.png">    </p:cNvPr>
          <p:cNvPicPr>
            <a:picLocks noChangeAspect="1"/>
          </p:cNvPicPr>
          <p:nvPr/>
        </p:nvPicPr>
        <p:blipFill>
          <a:blip r:embed="rId1"/>
          <a:stretch>
            <a:fillRect/>
          </a:stretch>
        </p:blipFill>
        <p:spPr>
          <a:xfrm>
            <a:off x="9418320" y="566928"/>
            <a:ext cx="548640" cy="548640"/>
          </a:xfrm>
          <a:prstGeom prst="rect">
            <a:avLst/>
          </a:prstGeom>
        </p:spPr>
      </p:pic>
      <p:sp>
        <p:nvSpPr>
          <p:cNvPr id="7" name="Text 4"/>
          <p:cNvSpPr/>
          <p:nvPr/>
        </p:nvSpPr>
        <p:spPr>
          <a:xfrm>
            <a:off x="10012680" y="502920"/>
            <a:ext cx="1600200" cy="320040"/>
          </a:xfrm>
          <a:prstGeom prst="rect">
            <a:avLst/>
          </a:prstGeom>
          <a:noFill/>
          <a:ln/>
        </p:spPr>
        <p:txBody>
          <a:bodyPr wrap="square" lIns="0" tIns="0" rIns="0" bIns="0" rtlCol="0" anchor="ctr"/>
          <a:lstStyle/>
          <a:p>
            <a:pPr indent="0" marL="0">
              <a:buNone/>
            </a:pPr>
            <a:r>
              <a:rPr lang="en-US" sz="1500" b="1" dirty="0">
                <a:solidFill>
                  <a:srgbClr val="12294D"/>
                </a:solidFill>
                <a:latin typeface="Arial" pitchFamily="34" charset="0"/>
                <a:ea typeface="Arial" pitchFamily="34" charset="-122"/>
                <a:cs typeface="Arial" pitchFamily="34" charset="-120"/>
              </a:rPr>
              <a:t>BELL WORK</a:t>
            </a:r>
            <a:endParaRPr lang="en-US" sz="1500" dirty="0"/>
          </a:p>
        </p:txBody>
      </p:sp>
      <p:sp>
        <p:nvSpPr>
          <p:cNvPr id="8" name="Text 5"/>
          <p:cNvSpPr/>
          <p:nvPr/>
        </p:nvSpPr>
        <p:spPr>
          <a:xfrm>
            <a:off x="10012680" y="841248"/>
            <a:ext cx="1600200" cy="320040"/>
          </a:xfrm>
          <a:prstGeom prst="rect">
            <a:avLst/>
          </a:prstGeom>
          <a:noFill/>
          <a:ln/>
        </p:spPr>
        <p:txBody>
          <a:bodyPr wrap="square" lIns="0" tIns="0" rIns="0" bIns="0" rtlCol="0" anchor="ctr"/>
          <a:lstStyle/>
          <a:p>
            <a:pPr indent="0" marL="0">
              <a:buNone/>
            </a:pPr>
            <a:r>
              <a:rPr lang="en-US" sz="1300" b="1" dirty="0">
                <a:solidFill>
                  <a:srgbClr val="12294D"/>
                </a:solidFill>
                <a:latin typeface="Arial" pitchFamily="34" charset="0"/>
                <a:ea typeface="Arial" pitchFamily="34" charset="-122"/>
                <a:cs typeface="Arial" pitchFamily="34" charset="-120"/>
              </a:rPr>
              <a:t>⏱ 7 minutes</a:t>
            </a:r>
            <a:endParaRPr lang="en-US" sz="1300" dirty="0"/>
          </a:p>
        </p:txBody>
      </p:sp>
      <p:sp>
        <p:nvSpPr>
          <p:cNvPr id="9" name="Text 6"/>
          <p:cNvSpPr/>
          <p:nvPr/>
        </p:nvSpPr>
        <p:spPr>
          <a:xfrm>
            <a:off x="457200" y="1463040"/>
            <a:ext cx="11247120" cy="365760"/>
          </a:xfrm>
          <a:prstGeom prst="rect">
            <a:avLst/>
          </a:prstGeom>
          <a:noFill/>
          <a:ln/>
        </p:spPr>
        <p:txBody>
          <a:bodyPr wrap="square" lIns="0" tIns="0" rIns="0" bIns="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Retrieval — no notes. Answer all five, then say one in a full sentence. Score yourself /5.</a:t>
            </a:r>
            <a:endParaRPr lang="en-US" sz="1500" dirty="0"/>
          </a:p>
        </p:txBody>
      </p:sp>
      <p:sp>
        <p:nvSpPr>
          <p:cNvPr id="10" name="Text 7"/>
          <p:cNvSpPr/>
          <p:nvPr/>
        </p:nvSpPr>
        <p:spPr>
          <a:xfrm>
            <a:off x="548640" y="1965960"/>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1</a:t>
            </a:r>
            <a:endParaRPr lang="en-US" sz="1800" dirty="0"/>
          </a:p>
        </p:txBody>
      </p:sp>
      <p:sp>
        <p:nvSpPr>
          <p:cNvPr id="11" name="Text 8"/>
          <p:cNvSpPr/>
          <p:nvPr/>
        </p:nvSpPr>
        <p:spPr>
          <a:xfrm>
            <a:off x="1234440" y="1965960"/>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Name one detective from a book, film or TV show.</a:t>
            </a:r>
            <a:endParaRPr lang="en-US" sz="1800" dirty="0"/>
          </a:p>
        </p:txBody>
      </p:sp>
      <p:sp>
        <p:nvSpPr>
          <p:cNvPr id="12" name="Text 9"/>
          <p:cNvSpPr/>
          <p:nvPr/>
        </p:nvSpPr>
        <p:spPr>
          <a:xfrm>
            <a:off x="548640" y="2770632"/>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2</a:t>
            </a:r>
            <a:endParaRPr lang="en-US" sz="1800" dirty="0"/>
          </a:p>
        </p:txBody>
      </p:sp>
      <p:sp>
        <p:nvSpPr>
          <p:cNvPr id="13" name="Text 10"/>
          <p:cNvSpPr/>
          <p:nvPr/>
        </p:nvSpPr>
        <p:spPr>
          <a:xfrm>
            <a:off x="1234440" y="2770632"/>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is a genre? Finish: A genre is a type of story that…</a:t>
            </a:r>
            <a:endParaRPr lang="en-US" sz="1800" dirty="0"/>
          </a:p>
        </p:txBody>
      </p:sp>
      <p:sp>
        <p:nvSpPr>
          <p:cNvPr id="14" name="Text 11"/>
          <p:cNvSpPr/>
          <p:nvPr/>
        </p:nvSpPr>
        <p:spPr>
          <a:xfrm>
            <a:off x="548640" y="3575304"/>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3</a:t>
            </a:r>
            <a:endParaRPr lang="en-US" sz="1800" dirty="0"/>
          </a:p>
        </p:txBody>
      </p:sp>
      <p:sp>
        <p:nvSpPr>
          <p:cNvPr id="15" name="Text 12"/>
          <p:cNvSpPr/>
          <p:nvPr/>
        </p:nvSpPr>
        <p:spPr>
          <a:xfrm>
            <a:off x="1234440" y="3575304"/>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Last half term: what does a poet do to make a reader feel something?</a:t>
            </a:r>
            <a:endParaRPr lang="en-US" sz="1800" dirty="0"/>
          </a:p>
        </p:txBody>
      </p:sp>
      <p:sp>
        <p:nvSpPr>
          <p:cNvPr id="16" name="Text 13"/>
          <p:cNvSpPr/>
          <p:nvPr/>
        </p:nvSpPr>
        <p:spPr>
          <a:xfrm>
            <a:off x="548640" y="4379976"/>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4</a:t>
            </a:r>
            <a:endParaRPr lang="en-US" sz="1800" dirty="0"/>
          </a:p>
        </p:txBody>
      </p:sp>
      <p:sp>
        <p:nvSpPr>
          <p:cNvPr id="17" name="Text 14"/>
          <p:cNvSpPr/>
          <p:nvPr/>
        </p:nvSpPr>
        <p:spPr>
          <a:xfrm>
            <a:off x="1234440" y="4379976"/>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is a clue for, in a story?</a:t>
            </a:r>
            <a:endParaRPr lang="en-US" sz="1800" dirty="0"/>
          </a:p>
        </p:txBody>
      </p:sp>
      <p:sp>
        <p:nvSpPr>
          <p:cNvPr id="18" name="Text 15"/>
          <p:cNvSpPr/>
          <p:nvPr/>
        </p:nvSpPr>
        <p:spPr>
          <a:xfrm>
            <a:off x="548640" y="5184648"/>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5</a:t>
            </a:r>
            <a:endParaRPr lang="en-US" sz="1800" dirty="0"/>
          </a:p>
        </p:txBody>
      </p:sp>
      <p:sp>
        <p:nvSpPr>
          <p:cNvPr id="19" name="Text 16"/>
          <p:cNvSpPr/>
          <p:nvPr/>
        </p:nvSpPr>
        <p:spPr>
          <a:xfrm>
            <a:off x="1234440" y="5184648"/>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Finish the sentence: A mystery keeps you reading because…</a:t>
            </a:r>
            <a:endParaRPr lang="en-US" sz="1800" dirty="0"/>
          </a:p>
        </p:txBody>
      </p:sp>
      <p:sp>
        <p:nvSpPr>
          <p:cNvPr id="20" name="Text 17"/>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21" name="Text 18"/>
          <p:cNvSpPr/>
          <p:nvPr/>
        </p:nvSpPr>
        <p:spPr>
          <a:xfrm>
            <a:off x="1325880" y="6291072"/>
            <a:ext cx="2514600" cy="365760"/>
          </a:xfrm>
          <a:prstGeom prst="roundRect">
            <a:avLst>
              <a:gd name="adj" fmla="val 22500"/>
            </a:avLst>
          </a:prstGeom>
          <a:solidFill>
            <a:srgbClr val="80ADC4"/>
          </a:solidFill>
          <a:ln>
            <a:solidFill>
              <a:srgbClr val="80ADC4"/>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REMEMBER</a:t>
            </a:r>
            <a:endParaRPr lang="en-US" sz="1200" dirty="0"/>
          </a:p>
        </p:txBody>
      </p:sp>
      <p:sp>
        <p:nvSpPr>
          <p:cNvPr id="22" name="Text 19"/>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23" name="Text 20"/>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24" name="Text 21"/>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25" name="Text 22"/>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Red-Headed League · What is crime fiction?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8595360" cy="777240"/>
          </a:xfrm>
          <a:prstGeom prst="roundRect">
            <a:avLst>
              <a:gd name="adj" fmla="val 8235"/>
            </a:avLst>
          </a:prstGeom>
          <a:solidFill>
            <a:srgbClr val="12294D"/>
          </a:solidFill>
          <a:ln w="12700">
            <a:solidFill>
              <a:srgbClr val="12294D"/>
            </a:solidFill>
            <a:prstDash val="solid"/>
          </a:ln>
        </p:spPr>
      </p:sp>
      <p:sp>
        <p:nvSpPr>
          <p:cNvPr id="3" name="Text 1"/>
          <p:cNvSpPr/>
          <p:nvPr/>
        </p:nvSpPr>
        <p:spPr>
          <a:xfrm>
            <a:off x="777240" y="320040"/>
            <a:ext cx="8229600" cy="77724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The Red-Headed League</a:t>
            </a:r>
            <a:endParaRPr lang="en-US" sz="3000" dirty="0"/>
          </a:p>
        </p:txBody>
      </p:sp>
      <p:sp>
        <p:nvSpPr>
          <p:cNvPr id="4" name="Text 2"/>
          <p:cNvSpPr/>
          <p:nvPr/>
        </p:nvSpPr>
        <p:spPr>
          <a:xfrm>
            <a:off x="9326880" y="402336"/>
            <a:ext cx="2377440" cy="310896"/>
          </a:xfrm>
          <a:prstGeom prst="rect">
            <a:avLst/>
          </a:prstGeom>
          <a:noFill/>
          <a:ln/>
        </p:spPr>
        <p:txBody>
          <a:bodyPr wrap="square" lIns="0" tIns="0" rIns="0" bIns="0" rtlCol="0" anchor="ctr"/>
          <a:lstStyle/>
          <a:p>
            <a:pPr algn="r" indent="0" marL="0">
              <a:buNone/>
            </a:pPr>
            <a:r>
              <a:rPr lang="en-US" sz="1600" b="1" dirty="0">
                <a:solidFill>
                  <a:srgbClr val="12294D"/>
                </a:solidFill>
                <a:latin typeface="Arial" pitchFamily="34" charset="0"/>
                <a:ea typeface="Arial" pitchFamily="34" charset="-122"/>
                <a:cs typeface="Arial" pitchFamily="34" charset="-120"/>
              </a:rPr>
              <a:t>HARLINGTON</a:t>
            </a:r>
            <a:endParaRPr lang="en-US" sz="1600" dirty="0"/>
          </a:p>
        </p:txBody>
      </p:sp>
      <p:sp>
        <p:nvSpPr>
          <p:cNvPr id="5" name="Text 3"/>
          <p:cNvSpPr/>
          <p:nvPr/>
        </p:nvSpPr>
        <p:spPr>
          <a:xfrm>
            <a:off x="9326880" y="713232"/>
            <a:ext cx="2377440" cy="274320"/>
          </a:xfrm>
          <a:prstGeom prst="rect">
            <a:avLst/>
          </a:prstGeom>
          <a:noFill/>
          <a:ln/>
        </p:spPr>
        <p:txBody>
          <a:bodyPr wrap="square" lIns="0" tIns="0" rIns="0" bIns="0" rtlCol="0" anchor="ctr"/>
          <a:lstStyle/>
          <a:p>
            <a:pPr algn="r" indent="0" marL="0">
              <a:buNone/>
            </a:pPr>
            <a:r>
              <a:rPr lang="en-US" sz="1300" b="1" dirty="0">
                <a:solidFill>
                  <a:srgbClr val="80ADC4"/>
                </a:solidFill>
                <a:latin typeface="Arial" pitchFamily="34" charset="0"/>
                <a:ea typeface="Arial" pitchFamily="34" charset="-122"/>
                <a:cs typeface="Arial" pitchFamily="34" charset="-120"/>
              </a:rPr>
              <a:t>SCHOOL</a:t>
            </a:r>
            <a:endParaRPr lang="en-US" sz="1300" dirty="0"/>
          </a:p>
        </p:txBody>
      </p:sp>
      <p:sp>
        <p:nvSpPr>
          <p:cNvPr id="6" name="Text 4"/>
          <p:cNvSpPr/>
          <p:nvPr/>
        </p:nvSpPr>
        <p:spPr>
          <a:xfrm>
            <a:off x="502920" y="1170432"/>
            <a:ext cx="7315200" cy="365760"/>
          </a:xfrm>
          <a:prstGeom prst="rect">
            <a:avLst/>
          </a:prstGeom>
          <a:noFill/>
          <a:ln/>
        </p:spPr>
        <p:txBody>
          <a:bodyPr wrap="square" lIns="0" tIns="0" rIns="0" bIns="0" rtlCol="0" anchor="ctr"/>
          <a:lstStyle/>
          <a:p>
            <a:pPr indent="0" marL="0">
              <a:buNone/>
            </a:pPr>
            <a:r>
              <a:rPr lang="en-US" sz="1500" b="1" i="1" dirty="0">
                <a:solidFill>
                  <a:srgbClr val="80ADC4"/>
                </a:solidFill>
                <a:latin typeface="Arial" pitchFamily="34" charset="0"/>
                <a:ea typeface="Arial" pitchFamily="34" charset="-122"/>
                <a:cs typeface="Arial" pitchFamily="34" charset="-120"/>
              </a:rPr>
              <a:t>Progress is the Curriculum</a:t>
            </a:r>
            <a:endParaRPr lang="en-US" sz="1500" dirty="0"/>
          </a:p>
        </p:txBody>
      </p:sp>
      <p:sp>
        <p:nvSpPr>
          <p:cNvPr id="7" name="Shape 5"/>
          <p:cNvSpPr/>
          <p:nvPr/>
        </p:nvSpPr>
        <p:spPr>
          <a:xfrm>
            <a:off x="457200" y="1600200"/>
            <a:ext cx="3383280" cy="4617720"/>
          </a:xfrm>
          <a:prstGeom prst="roundRect">
            <a:avLst>
              <a:gd name="adj" fmla="val 2162"/>
            </a:avLst>
          </a:prstGeom>
          <a:solidFill>
            <a:srgbClr val="F4F6FA"/>
          </a:solidFill>
          <a:ln w="12700">
            <a:solidFill>
              <a:srgbClr val="F4F6FA"/>
            </a:solidFill>
            <a:prstDash val="solid"/>
          </a:ln>
        </p:spPr>
      </p:sp>
      <p:pic>
        <p:nvPicPr>
          <p:cNvPr id="8" name="Image 0" descr="/home/claude/english/kit/decks/_icons/layers-12294D.png">    </p:cNvPr>
          <p:cNvPicPr>
            <a:picLocks noChangeAspect="1"/>
          </p:cNvPicPr>
          <p:nvPr/>
        </p:nvPicPr>
        <p:blipFill>
          <a:blip r:embed="rId1"/>
          <a:stretch>
            <a:fillRect/>
          </a:stretch>
        </p:blipFill>
        <p:spPr>
          <a:xfrm>
            <a:off x="685800" y="1792224"/>
            <a:ext cx="365760" cy="365760"/>
          </a:xfrm>
          <a:prstGeom prst="rect">
            <a:avLst/>
          </a:prstGeom>
        </p:spPr>
      </p:pic>
      <p:sp>
        <p:nvSpPr>
          <p:cNvPr id="9" name="Text 6"/>
          <p:cNvSpPr/>
          <p:nvPr/>
        </p:nvSpPr>
        <p:spPr>
          <a:xfrm>
            <a:off x="1143000" y="1792224"/>
            <a:ext cx="2651760" cy="365760"/>
          </a:xfrm>
          <a:prstGeom prst="rect">
            <a:avLst/>
          </a:prstGeom>
          <a:noFill/>
          <a:ln/>
        </p:spPr>
        <p:txBody>
          <a:bodyPr wrap="square" lIns="0" tIns="0" rIns="0" bIns="0" rtlCol="0" anchor="ctr"/>
          <a:lstStyle/>
          <a:p>
            <a:pPr indent="0" marL="0">
              <a:buNone/>
            </a:pPr>
            <a:r>
              <a:rPr lang="en-US" sz="1400" b="1" dirty="0">
                <a:solidFill>
                  <a:srgbClr val="12294D"/>
                </a:solidFill>
                <a:latin typeface="Arial" pitchFamily="34" charset="0"/>
                <a:ea typeface="Arial" pitchFamily="34" charset="-122"/>
                <a:cs typeface="Arial" pitchFamily="34" charset="-120"/>
              </a:rPr>
              <a:t>WHERE WE'VE BEEN</a:t>
            </a:r>
            <a:endParaRPr lang="en-US" sz="1400" dirty="0"/>
          </a:p>
        </p:txBody>
      </p:sp>
      <p:sp>
        <p:nvSpPr>
          <p:cNvPr id="10" name="Shape 7"/>
          <p:cNvSpPr/>
          <p:nvPr/>
        </p:nvSpPr>
        <p:spPr>
          <a:xfrm>
            <a:off x="685800" y="2340864"/>
            <a:ext cx="2926080" cy="640080"/>
          </a:xfrm>
          <a:prstGeom prst="roundRect">
            <a:avLst>
              <a:gd name="adj" fmla="val 10000"/>
            </a:avLst>
          </a:prstGeom>
          <a:solidFill>
            <a:srgbClr val="FFFFFF"/>
          </a:solidFill>
          <a:ln w="12700">
            <a:solidFill>
              <a:srgbClr val="D9E2EE"/>
            </a:solidFill>
            <a:prstDash val="solid"/>
          </a:ln>
        </p:spPr>
      </p:sp>
      <p:sp>
        <p:nvSpPr>
          <p:cNvPr id="11" name="Text 8"/>
          <p:cNvSpPr/>
          <p:nvPr/>
        </p:nvSpPr>
        <p:spPr>
          <a:xfrm>
            <a:off x="822960" y="2340864"/>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KS2: mystery and adventure stories</a:t>
            </a:r>
            <a:endParaRPr lang="en-US" sz="1400" dirty="0"/>
          </a:p>
        </p:txBody>
      </p:sp>
      <p:sp>
        <p:nvSpPr>
          <p:cNvPr id="12" name="Shape 9"/>
          <p:cNvSpPr/>
          <p:nvPr/>
        </p:nvSpPr>
        <p:spPr>
          <a:xfrm>
            <a:off x="685800" y="3127248"/>
            <a:ext cx="2926080" cy="640080"/>
          </a:xfrm>
          <a:prstGeom prst="roundRect">
            <a:avLst>
              <a:gd name="adj" fmla="val 10000"/>
            </a:avLst>
          </a:prstGeom>
          <a:solidFill>
            <a:srgbClr val="FFFFFF"/>
          </a:solidFill>
          <a:ln w="12700">
            <a:solidFill>
              <a:srgbClr val="D9E2EE"/>
            </a:solidFill>
            <a:prstDash val="solid"/>
          </a:ln>
        </p:spPr>
      </p:sp>
      <p:sp>
        <p:nvSpPr>
          <p:cNvPr id="13" name="Text 10"/>
          <p:cNvSpPr/>
          <p:nvPr/>
        </p:nvSpPr>
        <p:spPr>
          <a:xfrm>
            <a:off x="822960" y="3127248"/>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HT2: The Odyssey — how a hero is built</a:t>
            </a:r>
            <a:endParaRPr lang="en-US" sz="1400" dirty="0"/>
          </a:p>
        </p:txBody>
      </p:sp>
      <p:sp>
        <p:nvSpPr>
          <p:cNvPr id="14" name="Shape 11"/>
          <p:cNvSpPr/>
          <p:nvPr/>
        </p:nvSpPr>
        <p:spPr>
          <a:xfrm>
            <a:off x="685800" y="3913632"/>
            <a:ext cx="2926080" cy="640080"/>
          </a:xfrm>
          <a:prstGeom prst="roundRect">
            <a:avLst>
              <a:gd name="adj" fmla="val 10000"/>
            </a:avLst>
          </a:prstGeom>
          <a:solidFill>
            <a:srgbClr val="FFFFFF"/>
          </a:solidFill>
          <a:ln w="12700">
            <a:solidFill>
              <a:srgbClr val="D9E2EE"/>
            </a:solidFill>
            <a:prstDash val="solid"/>
          </a:ln>
        </p:spPr>
      </p:sp>
      <p:sp>
        <p:nvSpPr>
          <p:cNvPr id="15" name="Text 12"/>
          <p:cNvSpPr/>
          <p:nvPr/>
        </p:nvSpPr>
        <p:spPr>
          <a:xfrm>
            <a:off x="822960" y="3913632"/>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HT3: British Poetry — how a poem makes you feel</a:t>
            </a:r>
            <a:endParaRPr lang="en-US" sz="1400" dirty="0"/>
          </a:p>
        </p:txBody>
      </p:sp>
      <p:sp>
        <p:nvSpPr>
          <p:cNvPr id="16" name="Shape 13"/>
          <p:cNvSpPr/>
          <p:nvPr/>
        </p:nvSpPr>
        <p:spPr>
          <a:xfrm>
            <a:off x="685800" y="4700016"/>
            <a:ext cx="2926080" cy="640080"/>
          </a:xfrm>
          <a:prstGeom prst="roundRect">
            <a:avLst>
              <a:gd name="adj" fmla="val 10000"/>
            </a:avLst>
          </a:prstGeom>
          <a:solidFill>
            <a:srgbClr val="FFFFFF"/>
          </a:solidFill>
          <a:ln w="12700">
            <a:solidFill>
              <a:srgbClr val="D9E2EE"/>
            </a:solidFill>
            <a:prstDash val="solid"/>
          </a:ln>
        </p:spPr>
      </p:sp>
      <p:sp>
        <p:nvSpPr>
          <p:cNvPr id="17" name="Text 14"/>
          <p:cNvSpPr/>
          <p:nvPr/>
        </p:nvSpPr>
        <p:spPr>
          <a:xfrm>
            <a:off x="822960" y="4700016"/>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Stories have a narrator who chooses what we see</a:t>
            </a:r>
            <a:endParaRPr lang="en-US" sz="1400" dirty="0"/>
          </a:p>
        </p:txBody>
      </p:sp>
      <p:sp>
        <p:nvSpPr>
          <p:cNvPr id="18" name="Text 15"/>
          <p:cNvSpPr/>
          <p:nvPr/>
        </p:nvSpPr>
        <p:spPr>
          <a:xfrm>
            <a:off x="4114800" y="1737360"/>
            <a:ext cx="3931920" cy="365760"/>
          </a:xfrm>
          <a:prstGeom prst="rect">
            <a:avLst/>
          </a:prstGeom>
          <a:noFill/>
          <a:ln/>
        </p:spPr>
        <p:txBody>
          <a:bodyPr wrap="square" lIns="0" tIns="0" rIns="0" bIns="0" rtlCol="0" anchor="ctr"/>
          <a:lstStyle/>
          <a:p>
            <a:pPr indent="0" marL="0">
              <a:buNone/>
            </a:pPr>
            <a:r>
              <a:rPr lang="en-US" sz="1400" b="1" dirty="0">
                <a:solidFill>
                  <a:srgbClr val="80ADC4"/>
                </a:solidFill>
                <a:latin typeface="Arial" pitchFamily="34" charset="0"/>
                <a:ea typeface="Arial" pitchFamily="34" charset="-122"/>
                <a:cs typeface="Arial" pitchFamily="34" charset="-120"/>
              </a:rPr>
              <a:t>THIS UNIT, LESSON BY LESSON</a:t>
            </a:r>
            <a:endParaRPr lang="en-US" sz="1400" dirty="0"/>
          </a:p>
        </p:txBody>
      </p:sp>
      <p:sp>
        <p:nvSpPr>
          <p:cNvPr id="19" name="Shape 16"/>
          <p:cNvSpPr/>
          <p:nvPr/>
        </p:nvSpPr>
        <p:spPr>
          <a:xfrm>
            <a:off x="4114800" y="2194560"/>
            <a:ext cx="3931920" cy="420624"/>
          </a:xfrm>
          <a:prstGeom prst="roundRect">
            <a:avLst>
              <a:gd name="adj" fmla="val 26087"/>
            </a:avLst>
          </a:prstGeom>
          <a:solidFill>
            <a:srgbClr val="12294D"/>
          </a:solidFill>
          <a:ln w="12700">
            <a:solidFill>
              <a:srgbClr val="12294D"/>
            </a:solidFill>
            <a:prstDash val="solid"/>
          </a:ln>
        </p:spPr>
      </p:sp>
      <p:sp>
        <p:nvSpPr>
          <p:cNvPr id="20" name="Text 17"/>
          <p:cNvSpPr/>
          <p:nvPr/>
        </p:nvSpPr>
        <p:spPr>
          <a:xfrm>
            <a:off x="4242816" y="2249424"/>
            <a:ext cx="310896" cy="310896"/>
          </a:xfrm>
          <a:prstGeom prst="ellipse">
            <a:avLst/>
          </a:prstGeom>
          <a:solidFill>
            <a:srgbClr val="FFC93C"/>
          </a:solidFill>
          <a:ln>
            <a:solidFill>
              <a:srgbClr val="FFC93C"/>
            </a:solidFill>
          </a:ln>
        </p:spPr>
        <p:txBody>
          <a:bodyPr wrap="square" lIns="0" tIns="0" rIns="0" bIns="0" rtlCol="0" anchor="ctr"/>
          <a:lstStyle/>
          <a:p>
            <a:pPr algn="ctr" indent="0" marL="0">
              <a:buNone/>
            </a:pPr>
            <a:r>
              <a:rPr lang="en-US" sz="1100" b="1" dirty="0">
                <a:solidFill>
                  <a:srgbClr val="12294D"/>
                </a:solidFill>
                <a:latin typeface="Arial" pitchFamily="34" charset="0"/>
                <a:ea typeface="Arial" pitchFamily="34" charset="-122"/>
                <a:cs typeface="Arial" pitchFamily="34" charset="-120"/>
              </a:rPr>
              <a:t>1</a:t>
            </a:r>
            <a:endParaRPr lang="en-US" sz="1100" dirty="0"/>
          </a:p>
        </p:txBody>
      </p:sp>
      <p:sp>
        <p:nvSpPr>
          <p:cNvPr id="21" name="Text 18"/>
          <p:cNvSpPr/>
          <p:nvPr/>
        </p:nvSpPr>
        <p:spPr>
          <a:xfrm>
            <a:off x="4736592" y="2194560"/>
            <a:ext cx="3200400" cy="420624"/>
          </a:xfrm>
          <a:prstGeom prst="rect">
            <a:avLst/>
          </a:prstGeom>
          <a:noFill/>
          <a:ln/>
        </p:spPr>
        <p:txBody>
          <a:bodyPr wrap="square" lIns="12700" tIns="45720" rIns="45720" bIns="1270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What is crime fiction?</a:t>
            </a:r>
            <a:endParaRPr lang="en-US" sz="1400" dirty="0"/>
          </a:p>
        </p:txBody>
      </p:sp>
      <p:sp>
        <p:nvSpPr>
          <p:cNvPr id="22" name="Shape 19"/>
          <p:cNvSpPr/>
          <p:nvPr/>
        </p:nvSpPr>
        <p:spPr>
          <a:xfrm>
            <a:off x="4114800" y="2761488"/>
            <a:ext cx="3931920" cy="420624"/>
          </a:xfrm>
          <a:prstGeom prst="roundRect">
            <a:avLst>
              <a:gd name="adj" fmla="val 26087"/>
            </a:avLst>
          </a:prstGeom>
          <a:solidFill>
            <a:srgbClr val="FFFFFF"/>
          </a:solidFill>
          <a:ln w="12700">
            <a:solidFill>
              <a:srgbClr val="D9E2EE"/>
            </a:solidFill>
            <a:prstDash val="solid"/>
          </a:ln>
        </p:spPr>
      </p:sp>
      <p:sp>
        <p:nvSpPr>
          <p:cNvPr id="23" name="Text 20"/>
          <p:cNvSpPr/>
          <p:nvPr/>
        </p:nvSpPr>
        <p:spPr>
          <a:xfrm>
            <a:off x="4242816" y="2816352"/>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2</a:t>
            </a:r>
            <a:endParaRPr lang="en-US" sz="1100" dirty="0"/>
          </a:p>
        </p:txBody>
      </p:sp>
      <p:sp>
        <p:nvSpPr>
          <p:cNvPr id="24" name="Text 21"/>
          <p:cNvSpPr/>
          <p:nvPr/>
        </p:nvSpPr>
        <p:spPr>
          <a:xfrm>
            <a:off x="4736592" y="2761488"/>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The League: plot and character</a:t>
            </a:r>
            <a:endParaRPr lang="en-US" sz="1400" dirty="0"/>
          </a:p>
        </p:txBody>
      </p:sp>
      <p:sp>
        <p:nvSpPr>
          <p:cNvPr id="25" name="Shape 22"/>
          <p:cNvSpPr/>
          <p:nvPr/>
        </p:nvSpPr>
        <p:spPr>
          <a:xfrm>
            <a:off x="4114800" y="3328416"/>
            <a:ext cx="3931920" cy="420624"/>
          </a:xfrm>
          <a:prstGeom prst="roundRect">
            <a:avLst>
              <a:gd name="adj" fmla="val 26087"/>
            </a:avLst>
          </a:prstGeom>
          <a:solidFill>
            <a:srgbClr val="FFFFFF"/>
          </a:solidFill>
          <a:ln w="12700">
            <a:solidFill>
              <a:srgbClr val="D9E2EE"/>
            </a:solidFill>
            <a:prstDash val="solid"/>
          </a:ln>
        </p:spPr>
      </p:sp>
      <p:sp>
        <p:nvSpPr>
          <p:cNvPr id="26" name="Text 23"/>
          <p:cNvSpPr/>
          <p:nvPr/>
        </p:nvSpPr>
        <p:spPr>
          <a:xfrm>
            <a:off x="4242816" y="3383280"/>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3</a:t>
            </a:r>
            <a:endParaRPr lang="en-US" sz="1100" dirty="0"/>
          </a:p>
        </p:txBody>
      </p:sp>
      <p:sp>
        <p:nvSpPr>
          <p:cNvPr id="27" name="Text 24"/>
          <p:cNvSpPr/>
          <p:nvPr/>
        </p:nvSpPr>
        <p:spPr>
          <a:xfrm>
            <a:off x="4736592" y="3328416"/>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Analysing Victorian language</a:t>
            </a:r>
            <a:endParaRPr lang="en-US" sz="1400" dirty="0"/>
          </a:p>
        </p:txBody>
      </p:sp>
      <p:sp>
        <p:nvSpPr>
          <p:cNvPr id="28" name="Shape 25"/>
          <p:cNvSpPr/>
          <p:nvPr/>
        </p:nvSpPr>
        <p:spPr>
          <a:xfrm>
            <a:off x="4114800" y="3895344"/>
            <a:ext cx="3931920" cy="420624"/>
          </a:xfrm>
          <a:prstGeom prst="roundRect">
            <a:avLst>
              <a:gd name="adj" fmla="val 26087"/>
            </a:avLst>
          </a:prstGeom>
          <a:solidFill>
            <a:srgbClr val="FFFFFF"/>
          </a:solidFill>
          <a:ln w="12700">
            <a:solidFill>
              <a:srgbClr val="D9E2EE"/>
            </a:solidFill>
            <a:prstDash val="solid"/>
          </a:ln>
        </p:spPr>
      </p:sp>
      <p:sp>
        <p:nvSpPr>
          <p:cNvPr id="29" name="Text 26"/>
          <p:cNvSpPr/>
          <p:nvPr/>
        </p:nvSpPr>
        <p:spPr>
          <a:xfrm>
            <a:off x="4242816" y="3950208"/>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4</a:t>
            </a:r>
            <a:endParaRPr lang="en-US" sz="1100" dirty="0"/>
          </a:p>
        </p:txBody>
      </p:sp>
      <p:sp>
        <p:nvSpPr>
          <p:cNvPr id="30" name="Text 27"/>
          <p:cNvSpPr/>
          <p:nvPr/>
        </p:nvSpPr>
        <p:spPr>
          <a:xfrm>
            <a:off x="4736592" y="3895344"/>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Extended writing: tension</a:t>
            </a:r>
            <a:endParaRPr lang="en-US" sz="1400" dirty="0"/>
          </a:p>
        </p:txBody>
      </p:sp>
      <p:sp>
        <p:nvSpPr>
          <p:cNvPr id="31" name="Shape 28"/>
          <p:cNvSpPr/>
          <p:nvPr/>
        </p:nvSpPr>
        <p:spPr>
          <a:xfrm>
            <a:off x="4114800" y="4462272"/>
            <a:ext cx="3931920" cy="420624"/>
          </a:xfrm>
          <a:prstGeom prst="roundRect">
            <a:avLst>
              <a:gd name="adj" fmla="val 26087"/>
            </a:avLst>
          </a:prstGeom>
          <a:solidFill>
            <a:srgbClr val="FFFFFF"/>
          </a:solidFill>
          <a:ln w="12700">
            <a:solidFill>
              <a:srgbClr val="D9E2EE"/>
            </a:solidFill>
            <a:prstDash val="solid"/>
          </a:ln>
        </p:spPr>
      </p:sp>
      <p:sp>
        <p:nvSpPr>
          <p:cNvPr id="32" name="Text 29"/>
          <p:cNvSpPr/>
          <p:nvPr/>
        </p:nvSpPr>
        <p:spPr>
          <a:xfrm>
            <a:off x="4242816" y="4517136"/>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5</a:t>
            </a:r>
            <a:endParaRPr lang="en-US" sz="1100" dirty="0"/>
          </a:p>
        </p:txBody>
      </p:sp>
      <p:sp>
        <p:nvSpPr>
          <p:cNvPr id="33" name="Text 30"/>
          <p:cNvSpPr/>
          <p:nvPr/>
        </p:nvSpPr>
        <p:spPr>
          <a:xfrm>
            <a:off x="4736592" y="4462272"/>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Reading an unseen short story</a:t>
            </a:r>
            <a:endParaRPr lang="en-US" sz="1400" dirty="0"/>
          </a:p>
        </p:txBody>
      </p:sp>
      <p:sp>
        <p:nvSpPr>
          <p:cNvPr id="34" name="Shape 31"/>
          <p:cNvSpPr/>
          <p:nvPr/>
        </p:nvSpPr>
        <p:spPr>
          <a:xfrm>
            <a:off x="8321040" y="1600200"/>
            <a:ext cx="3383280" cy="4617720"/>
          </a:xfrm>
          <a:prstGeom prst="roundRect">
            <a:avLst>
              <a:gd name="adj" fmla="val 2162"/>
            </a:avLst>
          </a:prstGeom>
          <a:solidFill>
            <a:srgbClr val="F4F6FA"/>
          </a:solidFill>
          <a:ln w="12700">
            <a:solidFill>
              <a:srgbClr val="F4F6FA"/>
            </a:solidFill>
            <a:prstDash val="solid"/>
          </a:ln>
        </p:spPr>
      </p:sp>
      <p:pic>
        <p:nvPicPr>
          <p:cNvPr id="35" name="Image 1" descr="/home/claude/english/kit/decks/_icons/flag-12294D.png">    </p:cNvPr>
          <p:cNvPicPr>
            <a:picLocks noChangeAspect="1"/>
          </p:cNvPicPr>
          <p:nvPr/>
        </p:nvPicPr>
        <p:blipFill>
          <a:blip r:embed="rId2"/>
          <a:stretch>
            <a:fillRect/>
          </a:stretch>
        </p:blipFill>
        <p:spPr>
          <a:xfrm>
            <a:off x="8549640" y="1792224"/>
            <a:ext cx="365760" cy="365760"/>
          </a:xfrm>
          <a:prstGeom prst="rect">
            <a:avLst/>
          </a:prstGeom>
        </p:spPr>
      </p:pic>
      <p:sp>
        <p:nvSpPr>
          <p:cNvPr id="36" name="Text 32"/>
          <p:cNvSpPr/>
          <p:nvPr/>
        </p:nvSpPr>
        <p:spPr>
          <a:xfrm>
            <a:off x="9006840" y="1792224"/>
            <a:ext cx="2651760" cy="365760"/>
          </a:xfrm>
          <a:prstGeom prst="rect">
            <a:avLst/>
          </a:prstGeom>
          <a:noFill/>
          <a:ln/>
        </p:spPr>
        <p:txBody>
          <a:bodyPr wrap="square" lIns="0" tIns="0" rIns="0" bIns="0" rtlCol="0" anchor="ctr"/>
          <a:lstStyle/>
          <a:p>
            <a:pPr indent="0" marL="0">
              <a:buNone/>
            </a:pPr>
            <a:r>
              <a:rPr lang="en-US" sz="1400" b="1" dirty="0">
                <a:solidFill>
                  <a:srgbClr val="12294D"/>
                </a:solidFill>
                <a:latin typeface="Arial" pitchFamily="34" charset="0"/>
                <a:ea typeface="Arial" pitchFamily="34" charset="-122"/>
                <a:cs typeface="Arial" pitchFamily="34" charset="-120"/>
              </a:rPr>
              <a:t>WHERE WE'RE GOING</a:t>
            </a:r>
            <a:endParaRPr lang="en-US" sz="1400" dirty="0"/>
          </a:p>
        </p:txBody>
      </p:sp>
      <p:sp>
        <p:nvSpPr>
          <p:cNvPr id="37" name="Shape 33"/>
          <p:cNvSpPr/>
          <p:nvPr/>
        </p:nvSpPr>
        <p:spPr>
          <a:xfrm>
            <a:off x="8549640" y="2340864"/>
            <a:ext cx="2926080" cy="749808"/>
          </a:xfrm>
          <a:prstGeom prst="roundRect">
            <a:avLst>
              <a:gd name="adj" fmla="val 7317"/>
            </a:avLst>
          </a:prstGeom>
          <a:solidFill>
            <a:srgbClr val="FFFFFF"/>
          </a:solidFill>
          <a:ln w="12700">
            <a:solidFill>
              <a:srgbClr val="D9E2EE"/>
            </a:solidFill>
            <a:prstDash val="solid"/>
          </a:ln>
        </p:spPr>
      </p:sp>
      <p:sp>
        <p:nvSpPr>
          <p:cNvPr id="38" name="Text 34"/>
          <p:cNvSpPr/>
          <p:nvPr/>
        </p:nvSpPr>
        <p:spPr>
          <a:xfrm>
            <a:off x="8686800" y="2340864"/>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HT5: Travel writing — making a real place alive</a:t>
            </a:r>
            <a:endParaRPr lang="en-US" sz="1400" dirty="0"/>
          </a:p>
        </p:txBody>
      </p:sp>
      <p:sp>
        <p:nvSpPr>
          <p:cNvPr id="39" name="Shape 35"/>
          <p:cNvSpPr/>
          <p:nvPr/>
        </p:nvSpPr>
        <p:spPr>
          <a:xfrm>
            <a:off x="8549640" y="3236976"/>
            <a:ext cx="2926080" cy="749808"/>
          </a:xfrm>
          <a:prstGeom prst="roundRect">
            <a:avLst>
              <a:gd name="adj" fmla="val 7317"/>
            </a:avLst>
          </a:prstGeom>
          <a:solidFill>
            <a:srgbClr val="FFFFFF"/>
          </a:solidFill>
          <a:ln w="12700">
            <a:solidFill>
              <a:srgbClr val="D9E2EE"/>
            </a:solidFill>
            <a:prstDash val="solid"/>
          </a:ln>
        </p:spPr>
      </p:sp>
      <p:sp>
        <p:nvSpPr>
          <p:cNvPr id="40" name="Text 36"/>
          <p:cNvSpPr/>
          <p:nvPr/>
        </p:nvSpPr>
        <p:spPr>
          <a:xfrm>
            <a:off x="8686800" y="3236976"/>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HT6: Binti — the modern novel</a:t>
            </a:r>
            <a:endParaRPr lang="en-US" sz="1400" dirty="0"/>
          </a:p>
        </p:txBody>
      </p:sp>
      <p:sp>
        <p:nvSpPr>
          <p:cNvPr id="41" name="Shape 37"/>
          <p:cNvSpPr/>
          <p:nvPr/>
        </p:nvSpPr>
        <p:spPr>
          <a:xfrm>
            <a:off x="8549640" y="4133088"/>
            <a:ext cx="2926080" cy="749808"/>
          </a:xfrm>
          <a:prstGeom prst="roundRect">
            <a:avLst>
              <a:gd name="adj" fmla="val 7317"/>
            </a:avLst>
          </a:prstGeom>
          <a:solidFill>
            <a:srgbClr val="FFFFFF"/>
          </a:solidFill>
          <a:ln w="12700">
            <a:solidFill>
              <a:srgbClr val="D9E2EE"/>
            </a:solidFill>
            <a:prstDash val="solid"/>
          </a:ln>
        </p:spPr>
      </p:sp>
      <p:sp>
        <p:nvSpPr>
          <p:cNvPr id="42" name="Text 38"/>
          <p:cNvSpPr/>
          <p:nvPr/>
        </p:nvSpPr>
        <p:spPr>
          <a:xfrm>
            <a:off x="8686800" y="4133088"/>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Year 8: the novel and the short story</a:t>
            </a:r>
            <a:endParaRPr lang="en-US" sz="1400" dirty="0"/>
          </a:p>
        </p:txBody>
      </p:sp>
      <p:sp>
        <p:nvSpPr>
          <p:cNvPr id="43" name="Shape 39"/>
          <p:cNvSpPr/>
          <p:nvPr/>
        </p:nvSpPr>
        <p:spPr>
          <a:xfrm>
            <a:off x="8549640" y="5120640"/>
            <a:ext cx="2926080" cy="960120"/>
          </a:xfrm>
          <a:prstGeom prst="roundRect">
            <a:avLst>
              <a:gd name="adj" fmla="val 5714"/>
            </a:avLst>
          </a:prstGeom>
          <a:solidFill>
            <a:srgbClr val="12294D"/>
          </a:solidFill>
          <a:ln w="12700">
            <a:solidFill>
              <a:srgbClr val="12294D"/>
            </a:solidFill>
            <a:prstDash val="solid"/>
          </a:ln>
        </p:spPr>
      </p:sp>
      <p:sp>
        <p:nvSpPr>
          <p:cNvPr id="44" name="Text 40"/>
          <p:cNvSpPr/>
          <p:nvPr/>
        </p:nvSpPr>
        <p:spPr>
          <a:xfrm>
            <a:off x="8732520" y="5120640"/>
            <a:ext cx="2606040" cy="960120"/>
          </a:xfrm>
          <a:prstGeom prst="rect">
            <a:avLst/>
          </a:prstGeom>
          <a:noFill/>
          <a:ln/>
        </p:spPr>
        <p:txBody>
          <a:bodyPr wrap="square" lIns="45720" tIns="91440" rIns="91440" bIns="4572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Every lesson answers one BIG QUESTION. Every question builds the next.</a:t>
            </a:r>
            <a:endParaRPr lang="en-US" sz="1400" dirty="0"/>
          </a:p>
        </p:txBody>
      </p:sp>
      <p:sp>
        <p:nvSpPr>
          <p:cNvPr id="45" name="Text 41"/>
          <p:cNvSpPr/>
          <p:nvPr/>
        </p:nvSpPr>
        <p:spPr>
          <a:xfrm>
            <a:off x="457200" y="6446520"/>
            <a:ext cx="8229600" cy="274320"/>
          </a:xfrm>
          <a:prstGeom prst="rect">
            <a:avLst/>
          </a:prstGeom>
          <a:noFill/>
          <a:ln/>
        </p:spPr>
        <p:txBody>
          <a:bodyPr wrap="square" lIns="0" tIns="0" rIns="0" bIns="0" rtlCol="0" anchor="ctr"/>
          <a:lstStyle/>
          <a:p>
            <a:pPr indent="0" marL="0">
              <a:buNone/>
            </a:pPr>
            <a:r>
              <a:rPr lang="en-US" sz="1000" dirty="0">
                <a:solidFill>
                  <a:srgbClr val="9AA6B5"/>
                </a:solidFill>
                <a:latin typeface="Arial" pitchFamily="34" charset="0"/>
                <a:ea typeface="Arial" pitchFamily="34" charset="-122"/>
                <a:cs typeface="Arial" pitchFamily="34" charset="-120"/>
              </a:rPr>
              <a:t>Harlington School  ·  The Red-Headed League  ·  What is crime fiction?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294D"/>
        </a:solidFill>
      </p:bgPr>
    </p:bg>
    <p:spTree>
      <p:nvGrpSpPr>
        <p:cNvPr id="1" name=""/>
        <p:cNvGrpSpPr/>
        <p:nvPr/>
      </p:nvGrpSpPr>
      <p:grpSpPr>
        <a:xfrm>
          <a:off x="0" y="0"/>
          <a:ext cx="0" cy="0"/>
          <a:chOff x="0" y="0"/>
          <a:chExt cx="0" cy="0"/>
        </a:xfrm>
      </p:grpSpPr>
      <p:sp>
        <p:nvSpPr>
          <p:cNvPr id="2" name="Text 0"/>
          <p:cNvSpPr/>
          <p:nvPr/>
        </p:nvSpPr>
        <p:spPr>
          <a:xfrm>
            <a:off x="548640" y="502920"/>
            <a:ext cx="10972800" cy="365760"/>
          </a:xfrm>
          <a:prstGeom prst="rect">
            <a:avLst/>
          </a:prstGeom>
          <a:noFill/>
          <a:ln/>
        </p:spPr>
        <p:txBody>
          <a:bodyPr wrap="square" lIns="0" tIns="0" rIns="0" bIns="0" rtlCol="0" anchor="ctr"/>
          <a:lstStyle/>
          <a:p>
            <a:pPr indent="0" marL="0">
              <a:buNone/>
            </a:pPr>
            <a:r>
              <a:rPr lang="en-US" sz="1400" b="1" dirty="0">
                <a:solidFill>
                  <a:srgbClr val="FFC93C"/>
                </a:solidFill>
                <a:latin typeface="Arial" pitchFamily="34" charset="0"/>
                <a:ea typeface="Arial" pitchFamily="34" charset="-122"/>
                <a:cs typeface="Arial" pitchFamily="34" charset="-120"/>
              </a:rPr>
              <a:t>LESSON 1 · WHAT IS CRIME FICTION?</a:t>
            </a:r>
            <a:endParaRPr lang="en-US" sz="1400" dirty="0"/>
          </a:p>
        </p:txBody>
      </p:sp>
      <p:sp>
        <p:nvSpPr>
          <p:cNvPr id="3" name="Text 1"/>
          <p:cNvSpPr/>
          <p:nvPr/>
        </p:nvSpPr>
        <p:spPr>
          <a:xfrm>
            <a:off x="548640" y="1005840"/>
            <a:ext cx="10515600" cy="82296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Today you will…</a:t>
            </a:r>
            <a:endParaRPr lang="en-US" sz="3800" dirty="0"/>
          </a:p>
        </p:txBody>
      </p:sp>
      <p:sp>
        <p:nvSpPr>
          <p:cNvPr id="4" name="Text 2"/>
          <p:cNvSpPr/>
          <p:nvPr/>
        </p:nvSpPr>
        <p:spPr>
          <a:xfrm>
            <a:off x="548640" y="1874520"/>
            <a:ext cx="10607040" cy="457200"/>
          </a:xfrm>
          <a:prstGeom prst="rect">
            <a:avLst/>
          </a:prstGeom>
          <a:noFill/>
          <a:ln/>
        </p:spPr>
        <p:txBody>
          <a:bodyPr wrap="square" lIns="0" tIns="0" rIns="0" bIns="0" rtlCol="0" anchor="ctr"/>
          <a:lstStyle/>
          <a:p>
            <a:pPr algn="l" indent="0" marL="0">
              <a:buNone/>
            </a:pPr>
            <a:r>
              <a:rPr lang="en-US" sz="1600" i="1" dirty="0">
                <a:solidFill>
                  <a:srgbClr val="8FA6C4"/>
                </a:solidFill>
                <a:latin typeface="Arial" pitchFamily="34" charset="0"/>
                <a:ea typeface="Arial" pitchFamily="34" charset="-122"/>
                <a:cs typeface="Arial" pitchFamily="34" charset="-120"/>
              </a:rPr>
              <a:t>Our aims climb Bloom's taxonomy — and you will see which step every task is on, all lesson.</a:t>
            </a:r>
            <a:endParaRPr lang="en-US" sz="1600" dirty="0"/>
          </a:p>
        </p:txBody>
      </p:sp>
      <p:sp>
        <p:nvSpPr>
          <p:cNvPr id="5" name="Text 3"/>
          <p:cNvSpPr/>
          <p:nvPr/>
        </p:nvSpPr>
        <p:spPr>
          <a:xfrm>
            <a:off x="548640" y="2606040"/>
            <a:ext cx="2377440" cy="868680"/>
          </a:xfrm>
          <a:prstGeom prst="roundRect">
            <a:avLst>
              <a:gd name="adj" fmla="val 10526"/>
            </a:avLst>
          </a:prstGeom>
          <a:solidFill>
            <a:srgbClr val="00A08A"/>
          </a:solidFill>
          <a:ln>
            <a:solidFill>
              <a:srgbClr val="00A08A"/>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UNDERSTAND</a:t>
            </a:r>
            <a:endParaRPr lang="en-US" sz="1800" dirty="0"/>
          </a:p>
        </p:txBody>
      </p:sp>
      <p:sp>
        <p:nvSpPr>
          <p:cNvPr id="6" name="Shape 4"/>
          <p:cNvSpPr/>
          <p:nvPr/>
        </p:nvSpPr>
        <p:spPr>
          <a:xfrm>
            <a:off x="3108960" y="2606040"/>
            <a:ext cx="8503920" cy="868680"/>
          </a:xfrm>
          <a:prstGeom prst="roundRect">
            <a:avLst>
              <a:gd name="adj" fmla="val 7368"/>
            </a:avLst>
          </a:prstGeom>
          <a:solidFill>
            <a:srgbClr val="1B315C"/>
          </a:solidFill>
          <a:ln w="19050">
            <a:solidFill>
              <a:srgbClr val="00A08A"/>
            </a:solidFill>
            <a:prstDash val="solid"/>
          </a:ln>
        </p:spPr>
      </p:sp>
      <p:sp>
        <p:nvSpPr>
          <p:cNvPr id="7" name="Text 5"/>
          <p:cNvSpPr/>
          <p:nvPr/>
        </p:nvSpPr>
        <p:spPr>
          <a:xfrm>
            <a:off x="3337560" y="2606040"/>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Explain the conventions of crime fiction and describe the Victorian London that Conan Doyle wrote for.</a:t>
            </a:r>
            <a:endParaRPr lang="en-US" sz="1800" dirty="0"/>
          </a:p>
        </p:txBody>
      </p:sp>
      <p:sp>
        <p:nvSpPr>
          <p:cNvPr id="8" name="Text 6"/>
          <p:cNvSpPr/>
          <p:nvPr/>
        </p:nvSpPr>
        <p:spPr>
          <a:xfrm>
            <a:off x="548640" y="3621024"/>
            <a:ext cx="2377440" cy="868680"/>
          </a:xfrm>
          <a:prstGeom prst="roundRect">
            <a:avLst>
              <a:gd name="adj" fmla="val 10526"/>
            </a:avLst>
          </a:prstGeom>
          <a:solidFill>
            <a:srgbClr val="6C3A6E"/>
          </a:solidFill>
          <a:ln>
            <a:solidFill>
              <a:srgbClr val="6C3A6E"/>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ANALYSE</a:t>
            </a:r>
            <a:endParaRPr lang="en-US" sz="1800" dirty="0"/>
          </a:p>
        </p:txBody>
      </p:sp>
      <p:sp>
        <p:nvSpPr>
          <p:cNvPr id="9" name="Shape 7"/>
          <p:cNvSpPr/>
          <p:nvPr/>
        </p:nvSpPr>
        <p:spPr>
          <a:xfrm>
            <a:off x="3108960" y="3621024"/>
            <a:ext cx="8503920" cy="868680"/>
          </a:xfrm>
          <a:prstGeom prst="roundRect">
            <a:avLst>
              <a:gd name="adj" fmla="val 7368"/>
            </a:avLst>
          </a:prstGeom>
          <a:solidFill>
            <a:srgbClr val="1B315C"/>
          </a:solidFill>
          <a:ln w="19050">
            <a:solidFill>
              <a:srgbClr val="6C3A6E"/>
            </a:solidFill>
            <a:prstDash val="solid"/>
          </a:ln>
        </p:spPr>
      </p:sp>
      <p:sp>
        <p:nvSpPr>
          <p:cNvPr id="10" name="Text 8"/>
          <p:cNvSpPr/>
          <p:nvPr/>
        </p:nvSpPr>
        <p:spPr>
          <a:xfrm>
            <a:off x="3337560" y="3621024"/>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Spot how the opening of a crime story sets up a puzzle and makes the reader want an answer.</a:t>
            </a:r>
            <a:endParaRPr lang="en-US" sz="1800" dirty="0"/>
          </a:p>
        </p:txBody>
      </p:sp>
      <p:sp>
        <p:nvSpPr>
          <p:cNvPr id="11" name="Text 9"/>
          <p:cNvSpPr/>
          <p:nvPr/>
        </p:nvSpPr>
        <p:spPr>
          <a:xfrm>
            <a:off x="548640" y="4636008"/>
            <a:ext cx="2377440" cy="868680"/>
          </a:xfrm>
          <a:prstGeom prst="roundRect">
            <a:avLst>
              <a:gd name="adj" fmla="val 10526"/>
            </a:avLst>
          </a:prstGeom>
          <a:solidFill>
            <a:srgbClr val="D0021B"/>
          </a:solidFill>
          <a:ln>
            <a:solidFill>
              <a:srgbClr val="D0021B"/>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EVALUATE</a:t>
            </a:r>
            <a:endParaRPr lang="en-US" sz="1800" dirty="0"/>
          </a:p>
        </p:txBody>
      </p:sp>
      <p:sp>
        <p:nvSpPr>
          <p:cNvPr id="12" name="Shape 10"/>
          <p:cNvSpPr/>
          <p:nvPr/>
        </p:nvSpPr>
        <p:spPr>
          <a:xfrm>
            <a:off x="3108960" y="4636008"/>
            <a:ext cx="8503920" cy="868680"/>
          </a:xfrm>
          <a:prstGeom prst="roundRect">
            <a:avLst>
              <a:gd name="adj" fmla="val 7368"/>
            </a:avLst>
          </a:prstGeom>
          <a:solidFill>
            <a:srgbClr val="1B315C"/>
          </a:solidFill>
          <a:ln w="19050">
            <a:solidFill>
              <a:srgbClr val="D0021B"/>
            </a:solidFill>
            <a:prstDash val="solid"/>
          </a:ln>
        </p:spPr>
      </p:sp>
      <p:sp>
        <p:nvSpPr>
          <p:cNvPr id="13" name="Text 11"/>
          <p:cNvSpPr/>
          <p:nvPr/>
        </p:nvSpPr>
        <p:spPr>
          <a:xfrm>
            <a:off x="3337560" y="4636008"/>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Decide which convention matters most for keeping a reader guessing — and say why.</a:t>
            </a:r>
            <a:endParaRPr lang="en-US" sz="1800" dirty="0"/>
          </a:p>
        </p:txBody>
      </p:sp>
      <p:sp>
        <p:nvSpPr>
          <p:cNvPr id="14" name="Text 12"/>
          <p:cNvSpPr/>
          <p:nvPr/>
        </p:nvSpPr>
        <p:spPr>
          <a:xfrm>
            <a:off x="548640" y="5943600"/>
            <a:ext cx="10972800" cy="457200"/>
          </a:xfrm>
          <a:prstGeom prst="rect">
            <a:avLst/>
          </a:prstGeom>
          <a:noFill/>
          <a:ln/>
        </p:spPr>
        <p:txBody>
          <a:bodyPr wrap="square" lIns="0" tIns="0" rIns="0" bIns="0" rtlCol="0" anchor="ctr"/>
          <a:lstStyle/>
          <a:p>
            <a:pPr algn="l" indent="0" marL="0">
              <a:buNone/>
            </a:pPr>
            <a:r>
              <a:rPr lang="en-US" sz="1500" b="1" i="1" dirty="0">
                <a:solidFill>
                  <a:srgbClr val="FFC93C"/>
                </a:solidFill>
                <a:latin typeface="Arial" pitchFamily="34" charset="0"/>
                <a:ea typeface="Arial" pitchFamily="34" charset="-122"/>
                <a:cs typeface="Arial" pitchFamily="34" charset="-120"/>
              </a:rPr>
              <a:t>Success = a full answer to the Big Question by the end. Everything today builds to it.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check-circle-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Bell work — mark it</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Mark honestly. Under 3? Re-read tonight.</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80ADC4"/>
          </a:solidFill>
          <a:ln>
            <a:solidFill>
              <a:srgbClr val="80ADC4"/>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Red-Headed League · What is crime fiction?</a:t>
            </a:r>
            <a:endParaRPr lang="en-US" sz="900" dirty="0"/>
          </a:p>
        </p:txBody>
      </p:sp>
      <p:sp>
        <p:nvSpPr>
          <p:cNvPr id="13" name="Text 10"/>
          <p:cNvSpPr/>
          <p:nvPr/>
        </p:nvSpPr>
        <p:spPr>
          <a:xfrm>
            <a:off x="8961120" y="6702552"/>
            <a:ext cx="2743200" cy="155448"/>
          </a:xfrm>
          <a:prstGeom prst="rect">
            <a:avLst/>
          </a:prstGeom>
          <a:noFill/>
          <a:ln/>
        </p:spPr>
        <p:txBody>
          <a:bodyPr wrap="square" lIns="0" tIns="0" rIns="0" bIns="0" rtlCol="0" anchor="t"/>
          <a:lstStyle/>
          <a:p>
            <a:pPr algn="r" indent="0" marL="0">
              <a:buNone/>
            </a:pPr>
            <a:r>
              <a:rPr lang="en-US" sz="900" dirty="0">
                <a:solidFill>
                  <a:srgbClr val="AAB4C2"/>
                </a:solidFill>
                <a:latin typeface="Arial" pitchFamily="34" charset="0"/>
                <a:ea typeface="Arial" pitchFamily="34" charset="-122"/>
                <a:cs typeface="Arial" pitchFamily="34" charset="-120"/>
              </a:rPr>
              <a:t>ANSWERS</a:t>
            </a:r>
            <a:endParaRPr lang="en-US" sz="900" dirty="0"/>
          </a:p>
        </p:txBody>
      </p:sp>
      <p:sp>
        <p:nvSpPr>
          <p:cNvPr id="14" name="Shape 11"/>
          <p:cNvSpPr/>
          <p:nvPr/>
        </p:nvSpPr>
        <p:spPr>
          <a:xfrm>
            <a:off x="548640" y="1737360"/>
            <a:ext cx="11064240" cy="749808"/>
          </a:xfrm>
          <a:prstGeom prst="roundRect">
            <a:avLst>
              <a:gd name="adj" fmla="val 8537"/>
            </a:avLst>
          </a:prstGeom>
          <a:solidFill>
            <a:srgbClr val="FEF7E4"/>
          </a:solidFill>
          <a:ln w="12700">
            <a:solidFill>
              <a:srgbClr val="E5D9B0"/>
            </a:solidFill>
            <a:prstDash val="solid"/>
          </a:ln>
        </p:spPr>
      </p:sp>
      <p:sp>
        <p:nvSpPr>
          <p:cNvPr id="15" name="Text 12"/>
          <p:cNvSpPr/>
          <p:nvPr/>
        </p:nvSpPr>
        <p:spPr>
          <a:xfrm>
            <a:off x="731520" y="1764792"/>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1.  Name one detective from a book, film or TV show.</a:t>
            </a:r>
            <a:endParaRPr lang="en-US" sz="1800" dirty="0"/>
          </a:p>
        </p:txBody>
      </p:sp>
      <p:sp>
        <p:nvSpPr>
          <p:cNvPr id="16" name="Text 13"/>
          <p:cNvSpPr/>
          <p:nvPr/>
        </p:nvSpPr>
        <p:spPr>
          <a:xfrm>
            <a:off x="6309360" y="1764792"/>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Any named detective — Sherlock Holmes, Poirot, Enola Holmes or Scooby-Doo's gang.</a:t>
            </a:r>
            <a:endParaRPr lang="en-US" sz="1800" dirty="0"/>
          </a:p>
        </p:txBody>
      </p:sp>
      <p:sp>
        <p:nvSpPr>
          <p:cNvPr id="17" name="Shape 14"/>
          <p:cNvSpPr/>
          <p:nvPr/>
        </p:nvSpPr>
        <p:spPr>
          <a:xfrm>
            <a:off x="548640" y="2633472"/>
            <a:ext cx="11064240" cy="749808"/>
          </a:xfrm>
          <a:prstGeom prst="roundRect">
            <a:avLst>
              <a:gd name="adj" fmla="val 8537"/>
            </a:avLst>
          </a:prstGeom>
          <a:solidFill>
            <a:srgbClr val="FFFFFF"/>
          </a:solidFill>
          <a:ln w="12700">
            <a:solidFill>
              <a:srgbClr val="E5D9B0"/>
            </a:solidFill>
            <a:prstDash val="solid"/>
          </a:ln>
        </p:spPr>
      </p:sp>
      <p:sp>
        <p:nvSpPr>
          <p:cNvPr id="18" name="Text 15"/>
          <p:cNvSpPr/>
          <p:nvPr/>
        </p:nvSpPr>
        <p:spPr>
          <a:xfrm>
            <a:off x="731520" y="2660904"/>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2.  What is a genre? Finish: A genre is a type of story that…</a:t>
            </a:r>
            <a:endParaRPr lang="en-US" sz="1800" dirty="0"/>
          </a:p>
        </p:txBody>
      </p:sp>
      <p:sp>
        <p:nvSpPr>
          <p:cNvPr id="19" name="Text 16"/>
          <p:cNvSpPr/>
          <p:nvPr/>
        </p:nvSpPr>
        <p:spPr>
          <a:xfrm>
            <a:off x="6309360" y="2660904"/>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…follows its own rules, so the reader knows what to expect: crime, horror, romance, fantasy.</a:t>
            </a:r>
            <a:endParaRPr lang="en-US" sz="1800" dirty="0"/>
          </a:p>
        </p:txBody>
      </p:sp>
      <p:sp>
        <p:nvSpPr>
          <p:cNvPr id="20" name="Shape 17"/>
          <p:cNvSpPr/>
          <p:nvPr/>
        </p:nvSpPr>
        <p:spPr>
          <a:xfrm>
            <a:off x="548640" y="3529584"/>
            <a:ext cx="11064240" cy="749808"/>
          </a:xfrm>
          <a:prstGeom prst="roundRect">
            <a:avLst>
              <a:gd name="adj" fmla="val 8537"/>
            </a:avLst>
          </a:prstGeom>
          <a:solidFill>
            <a:srgbClr val="FEF7E4"/>
          </a:solidFill>
          <a:ln w="12700">
            <a:solidFill>
              <a:srgbClr val="E5D9B0"/>
            </a:solidFill>
            <a:prstDash val="solid"/>
          </a:ln>
        </p:spPr>
      </p:sp>
      <p:sp>
        <p:nvSpPr>
          <p:cNvPr id="21" name="Text 18"/>
          <p:cNvSpPr/>
          <p:nvPr/>
        </p:nvSpPr>
        <p:spPr>
          <a:xfrm>
            <a:off x="731520" y="3557016"/>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3.  Last half term: what does a poet do to make a reader feel something?</a:t>
            </a:r>
            <a:endParaRPr lang="en-US" sz="1800" dirty="0"/>
          </a:p>
        </p:txBody>
      </p:sp>
      <p:sp>
        <p:nvSpPr>
          <p:cNvPr id="22" name="Text 19"/>
          <p:cNvSpPr/>
          <p:nvPr/>
        </p:nvSpPr>
        <p:spPr>
          <a:xfrm>
            <a:off x="6309360" y="3557016"/>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Chooses words, images and rhythm on purpose — sound and structure carry feeling.</a:t>
            </a:r>
            <a:endParaRPr lang="en-US" sz="1800" dirty="0"/>
          </a:p>
        </p:txBody>
      </p:sp>
      <p:sp>
        <p:nvSpPr>
          <p:cNvPr id="23" name="Shape 20"/>
          <p:cNvSpPr/>
          <p:nvPr/>
        </p:nvSpPr>
        <p:spPr>
          <a:xfrm>
            <a:off x="548640" y="4425696"/>
            <a:ext cx="11064240" cy="749808"/>
          </a:xfrm>
          <a:prstGeom prst="roundRect">
            <a:avLst>
              <a:gd name="adj" fmla="val 8537"/>
            </a:avLst>
          </a:prstGeom>
          <a:solidFill>
            <a:srgbClr val="FFFFFF"/>
          </a:solidFill>
          <a:ln w="12700">
            <a:solidFill>
              <a:srgbClr val="E5D9B0"/>
            </a:solidFill>
            <a:prstDash val="solid"/>
          </a:ln>
        </p:spPr>
      </p:sp>
      <p:sp>
        <p:nvSpPr>
          <p:cNvPr id="24" name="Text 21"/>
          <p:cNvSpPr/>
          <p:nvPr/>
        </p:nvSpPr>
        <p:spPr>
          <a:xfrm>
            <a:off x="731520" y="4453128"/>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4.  What is a clue for, in a story?</a:t>
            </a:r>
            <a:endParaRPr lang="en-US" sz="1800" dirty="0"/>
          </a:p>
        </p:txBody>
      </p:sp>
      <p:sp>
        <p:nvSpPr>
          <p:cNvPr id="25" name="Text 22"/>
          <p:cNvSpPr/>
          <p:nvPr/>
        </p:nvSpPr>
        <p:spPr>
          <a:xfrm>
            <a:off x="6309360" y="4453128"/>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To help the reader (and the detective) work out the truth — a small fact that matters later.</a:t>
            </a:r>
            <a:endParaRPr lang="en-US" sz="1800" dirty="0"/>
          </a:p>
        </p:txBody>
      </p:sp>
      <p:sp>
        <p:nvSpPr>
          <p:cNvPr id="26" name="Shape 23"/>
          <p:cNvSpPr/>
          <p:nvPr/>
        </p:nvSpPr>
        <p:spPr>
          <a:xfrm>
            <a:off x="548640" y="5321808"/>
            <a:ext cx="11064240" cy="749808"/>
          </a:xfrm>
          <a:prstGeom prst="roundRect">
            <a:avLst>
              <a:gd name="adj" fmla="val 8537"/>
            </a:avLst>
          </a:prstGeom>
          <a:solidFill>
            <a:srgbClr val="FEF7E4"/>
          </a:solidFill>
          <a:ln w="12700">
            <a:solidFill>
              <a:srgbClr val="E5D9B0"/>
            </a:solidFill>
            <a:prstDash val="solid"/>
          </a:ln>
        </p:spPr>
      </p:sp>
      <p:sp>
        <p:nvSpPr>
          <p:cNvPr id="27" name="Text 24"/>
          <p:cNvSpPr/>
          <p:nvPr/>
        </p:nvSpPr>
        <p:spPr>
          <a:xfrm>
            <a:off x="731520" y="5349240"/>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5.  Finish the sentence: A mystery keeps you reading because…</a:t>
            </a:r>
            <a:endParaRPr lang="en-US" sz="1800" dirty="0"/>
          </a:p>
        </p:txBody>
      </p:sp>
      <p:sp>
        <p:nvSpPr>
          <p:cNvPr id="28" name="Text 25"/>
          <p:cNvSpPr/>
          <p:nvPr/>
        </p:nvSpPr>
        <p:spPr>
          <a:xfrm>
            <a:off x="6309360" y="5349240"/>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…you want to know the answer, and the writer keeps holding it back.</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key-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Key words — go deeper</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Not just the meaning — the DEEP explanation. Take each key word from meaning to mastery.</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Red-Headed League · What is crime fiction?</a:t>
            </a:r>
            <a:endParaRPr lang="en-US" sz="900" dirty="0"/>
          </a:p>
        </p:txBody>
      </p:sp>
      <p:sp>
        <p:nvSpPr>
          <p:cNvPr id="13" name="Shape 10"/>
          <p:cNvSpPr/>
          <p:nvPr/>
        </p:nvSpPr>
        <p:spPr>
          <a:xfrm>
            <a:off x="548640" y="1783080"/>
            <a:ext cx="2651760" cy="914400"/>
          </a:xfrm>
          <a:prstGeom prst="roundRect">
            <a:avLst>
              <a:gd name="adj" fmla="val 8000"/>
            </a:avLst>
          </a:prstGeom>
          <a:solidFill>
            <a:srgbClr val="00A08A"/>
          </a:solidFill>
          <a:ln w="12700">
            <a:solidFill>
              <a:srgbClr val="00A08A"/>
            </a:solidFill>
            <a:prstDash val="solid"/>
          </a:ln>
        </p:spPr>
      </p:sp>
      <p:sp>
        <p:nvSpPr>
          <p:cNvPr id="14" name="Text 11"/>
          <p:cNvSpPr/>
          <p:nvPr/>
        </p:nvSpPr>
        <p:spPr>
          <a:xfrm>
            <a:off x="640080"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1 MEAN</a:t>
            </a:r>
            <a:endParaRPr lang="en-US" sz="1600" dirty="0"/>
          </a:p>
        </p:txBody>
      </p:sp>
      <p:sp>
        <p:nvSpPr>
          <p:cNvPr id="15" name="Text 12"/>
          <p:cNvSpPr/>
          <p:nvPr/>
        </p:nvSpPr>
        <p:spPr>
          <a:xfrm>
            <a:off x="658368"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say what it means in your own words</a:t>
            </a:r>
            <a:endParaRPr lang="en-US" sz="1200" dirty="0"/>
          </a:p>
        </p:txBody>
      </p:sp>
      <p:sp>
        <p:nvSpPr>
          <p:cNvPr id="16" name="Shape 13"/>
          <p:cNvSpPr/>
          <p:nvPr/>
        </p:nvSpPr>
        <p:spPr>
          <a:xfrm>
            <a:off x="3346704" y="1783080"/>
            <a:ext cx="2651760" cy="914400"/>
          </a:xfrm>
          <a:prstGeom prst="roundRect">
            <a:avLst>
              <a:gd name="adj" fmla="val 8000"/>
            </a:avLst>
          </a:prstGeom>
          <a:solidFill>
            <a:srgbClr val="80ADC4"/>
          </a:solidFill>
          <a:ln w="12700">
            <a:solidFill>
              <a:srgbClr val="80ADC4"/>
            </a:solidFill>
            <a:prstDash val="solid"/>
          </a:ln>
        </p:spPr>
      </p:sp>
      <p:sp>
        <p:nvSpPr>
          <p:cNvPr id="17" name="Text 14"/>
          <p:cNvSpPr/>
          <p:nvPr/>
        </p:nvSpPr>
        <p:spPr>
          <a:xfrm>
            <a:off x="3438144"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2 USE</a:t>
            </a:r>
            <a:endParaRPr lang="en-US" sz="1600" dirty="0"/>
          </a:p>
        </p:txBody>
      </p:sp>
      <p:sp>
        <p:nvSpPr>
          <p:cNvPr id="18" name="Text 15"/>
          <p:cNvSpPr/>
          <p:nvPr/>
        </p:nvSpPr>
        <p:spPr>
          <a:xfrm>
            <a:off x="3456432"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put it in a sentence of your own</a:t>
            </a:r>
            <a:endParaRPr lang="en-US" sz="1200" dirty="0"/>
          </a:p>
        </p:txBody>
      </p:sp>
      <p:sp>
        <p:nvSpPr>
          <p:cNvPr id="19" name="Shape 16"/>
          <p:cNvSpPr/>
          <p:nvPr/>
        </p:nvSpPr>
        <p:spPr>
          <a:xfrm>
            <a:off x="6144768" y="1783080"/>
            <a:ext cx="2651760" cy="914400"/>
          </a:xfrm>
          <a:prstGeom prst="roundRect">
            <a:avLst>
              <a:gd name="adj" fmla="val 8000"/>
            </a:avLst>
          </a:prstGeom>
          <a:solidFill>
            <a:srgbClr val="6C3A6E"/>
          </a:solidFill>
          <a:ln w="12700">
            <a:solidFill>
              <a:srgbClr val="6C3A6E"/>
            </a:solidFill>
            <a:prstDash val="solid"/>
          </a:ln>
        </p:spPr>
      </p:sp>
      <p:sp>
        <p:nvSpPr>
          <p:cNvPr id="20" name="Text 17"/>
          <p:cNvSpPr/>
          <p:nvPr/>
        </p:nvSpPr>
        <p:spPr>
          <a:xfrm>
            <a:off x="6236208"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3 SPOT</a:t>
            </a:r>
            <a:endParaRPr lang="en-US" sz="1600" dirty="0"/>
          </a:p>
        </p:txBody>
      </p:sp>
      <p:sp>
        <p:nvSpPr>
          <p:cNvPr id="21" name="Text 18"/>
          <p:cNvSpPr/>
          <p:nvPr/>
        </p:nvSpPr>
        <p:spPr>
          <a:xfrm>
            <a:off x="6254496"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find it in today's text</a:t>
            </a:r>
            <a:endParaRPr lang="en-US" sz="1200" dirty="0"/>
          </a:p>
        </p:txBody>
      </p:sp>
      <p:sp>
        <p:nvSpPr>
          <p:cNvPr id="22" name="Shape 19"/>
          <p:cNvSpPr/>
          <p:nvPr/>
        </p:nvSpPr>
        <p:spPr>
          <a:xfrm>
            <a:off x="8942832" y="1783080"/>
            <a:ext cx="2651760" cy="914400"/>
          </a:xfrm>
          <a:prstGeom prst="roundRect">
            <a:avLst>
              <a:gd name="adj" fmla="val 8000"/>
            </a:avLst>
          </a:prstGeom>
          <a:solidFill>
            <a:srgbClr val="D0021B"/>
          </a:solidFill>
          <a:ln w="12700">
            <a:solidFill>
              <a:srgbClr val="D0021B"/>
            </a:solidFill>
            <a:prstDash val="solid"/>
          </a:ln>
        </p:spPr>
      </p:sp>
      <p:sp>
        <p:nvSpPr>
          <p:cNvPr id="23" name="Text 20"/>
          <p:cNvSpPr/>
          <p:nvPr/>
        </p:nvSpPr>
        <p:spPr>
          <a:xfrm>
            <a:off x="9034272"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4 LINK</a:t>
            </a:r>
            <a:endParaRPr lang="en-US" sz="1600" dirty="0"/>
          </a:p>
        </p:txBody>
      </p:sp>
      <p:sp>
        <p:nvSpPr>
          <p:cNvPr id="24" name="Text 21"/>
          <p:cNvSpPr/>
          <p:nvPr/>
        </p:nvSpPr>
        <p:spPr>
          <a:xfrm>
            <a:off x="9052560"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link it to the Big Question</a:t>
            </a:r>
            <a:endParaRPr lang="en-US" sz="1200" dirty="0"/>
          </a:p>
        </p:txBody>
      </p:sp>
      <p:sp>
        <p:nvSpPr>
          <p:cNvPr id="25" name="Text 22"/>
          <p:cNvSpPr/>
          <p:nvPr/>
        </p:nvSpPr>
        <p:spPr>
          <a:xfrm>
            <a:off x="548640" y="2926080"/>
            <a:ext cx="10972800" cy="365760"/>
          </a:xfrm>
          <a:prstGeom prst="rect">
            <a:avLst/>
          </a:prstGeom>
          <a:noFill/>
          <a:ln/>
        </p:spPr>
        <p:txBody>
          <a:bodyPr wrap="square" lIns="0" tIns="0" rIns="0" bIns="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Do the four steps for EACH key word:</a:t>
            </a:r>
            <a:endParaRPr lang="en-US" sz="1800" dirty="0"/>
          </a:p>
        </p:txBody>
      </p:sp>
      <p:sp>
        <p:nvSpPr>
          <p:cNvPr id="26" name="Text 23"/>
          <p:cNvSpPr/>
          <p:nvPr/>
        </p:nvSpPr>
        <p:spPr>
          <a:xfrm>
            <a:off x="548640" y="3401568"/>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genre</a:t>
            </a:r>
            <a:endParaRPr lang="en-US" sz="1800" dirty="0"/>
          </a:p>
        </p:txBody>
      </p:sp>
      <p:sp>
        <p:nvSpPr>
          <p:cNvPr id="27" name="Text 24"/>
          <p:cNvSpPr/>
          <p:nvPr/>
        </p:nvSpPr>
        <p:spPr>
          <a:xfrm>
            <a:off x="3566160" y="3401568"/>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type of story with its own rules, like crime or horror</a:t>
            </a:r>
            <a:endParaRPr lang="en-US" sz="1800" dirty="0"/>
          </a:p>
        </p:txBody>
      </p:sp>
      <p:sp>
        <p:nvSpPr>
          <p:cNvPr id="28" name="Text 25"/>
          <p:cNvSpPr/>
          <p:nvPr/>
        </p:nvSpPr>
        <p:spPr>
          <a:xfrm>
            <a:off x="548640" y="3972154"/>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convention</a:t>
            </a:r>
            <a:endParaRPr lang="en-US" sz="1800" dirty="0"/>
          </a:p>
        </p:txBody>
      </p:sp>
      <p:sp>
        <p:nvSpPr>
          <p:cNvPr id="29" name="Text 26"/>
          <p:cNvSpPr/>
          <p:nvPr/>
        </p:nvSpPr>
        <p:spPr>
          <a:xfrm>
            <a:off x="3566160" y="3972154"/>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rule or feature readers expect from a genre</a:t>
            </a:r>
            <a:endParaRPr lang="en-US" sz="1800" dirty="0"/>
          </a:p>
        </p:txBody>
      </p:sp>
      <p:sp>
        <p:nvSpPr>
          <p:cNvPr id="30" name="Text 27"/>
          <p:cNvSpPr/>
          <p:nvPr/>
        </p:nvSpPr>
        <p:spPr>
          <a:xfrm>
            <a:off x="548640" y="4542739"/>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detective</a:t>
            </a:r>
            <a:endParaRPr lang="en-US" sz="1800" dirty="0"/>
          </a:p>
        </p:txBody>
      </p:sp>
      <p:sp>
        <p:nvSpPr>
          <p:cNvPr id="31" name="Text 28"/>
          <p:cNvSpPr/>
          <p:nvPr/>
        </p:nvSpPr>
        <p:spPr>
          <a:xfrm>
            <a:off x="3566160" y="4542739"/>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person who solves crimes by finding and reading clues</a:t>
            </a:r>
            <a:endParaRPr lang="en-US" sz="1800" dirty="0"/>
          </a:p>
        </p:txBody>
      </p:sp>
      <p:sp>
        <p:nvSpPr>
          <p:cNvPr id="32" name="Text 29"/>
          <p:cNvSpPr/>
          <p:nvPr/>
        </p:nvSpPr>
        <p:spPr>
          <a:xfrm>
            <a:off x="548640" y="5113325"/>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clue</a:t>
            </a:r>
            <a:endParaRPr lang="en-US" sz="1800" dirty="0"/>
          </a:p>
        </p:txBody>
      </p:sp>
      <p:sp>
        <p:nvSpPr>
          <p:cNvPr id="33" name="Text 30"/>
          <p:cNvSpPr/>
          <p:nvPr/>
        </p:nvSpPr>
        <p:spPr>
          <a:xfrm>
            <a:off x="3566160" y="5113325"/>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small fact that helps solve a mystery</a:t>
            </a:r>
            <a:endParaRPr lang="en-US" sz="1800" dirty="0"/>
          </a:p>
        </p:txBody>
      </p:sp>
      <p:sp>
        <p:nvSpPr>
          <p:cNvPr id="34" name="Text 31"/>
          <p:cNvSpPr/>
          <p:nvPr/>
        </p:nvSpPr>
        <p:spPr>
          <a:xfrm>
            <a:off x="548640" y="5683910"/>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Victorian</a:t>
            </a:r>
            <a:endParaRPr lang="en-US" sz="1800" dirty="0"/>
          </a:p>
        </p:txBody>
      </p:sp>
      <p:sp>
        <p:nvSpPr>
          <p:cNvPr id="35" name="Text 32"/>
          <p:cNvSpPr/>
          <p:nvPr/>
        </p:nvSpPr>
        <p:spPr>
          <a:xfrm>
            <a:off x="3566160" y="5683910"/>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from the reign of Queen Victoria, 1837–1901</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book-open-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The rules of crime fiction</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10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Every genre has conventions. Crime fiction has these four. Spot them in the story as we go.</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Red-Headed League · What is crime fiction?</a:t>
            </a:r>
            <a:endParaRPr lang="en-US" sz="900" dirty="0"/>
          </a:p>
        </p:txBody>
      </p:sp>
      <p:sp>
        <p:nvSpPr>
          <p:cNvPr id="13" name="Text 10"/>
          <p:cNvSpPr/>
          <p:nvPr/>
        </p:nvSpPr>
        <p:spPr>
          <a:xfrm>
            <a:off x="548640" y="1783080"/>
            <a:ext cx="2606040" cy="889254"/>
          </a:xfrm>
          <a:prstGeom prst="roundRect">
            <a:avLst>
              <a:gd name="adj" fmla="val 10283"/>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A PUZZLE</a:t>
            </a:r>
            <a:endParaRPr lang="en-US" sz="1600" dirty="0"/>
          </a:p>
        </p:txBody>
      </p:sp>
      <p:sp>
        <p:nvSpPr>
          <p:cNvPr id="14" name="Shape 11"/>
          <p:cNvSpPr/>
          <p:nvPr/>
        </p:nvSpPr>
        <p:spPr>
          <a:xfrm>
            <a:off x="3291840" y="1783080"/>
            <a:ext cx="8321040" cy="889254"/>
          </a:xfrm>
          <a:prstGeom prst="roundRect">
            <a:avLst>
              <a:gd name="adj" fmla="val 8226"/>
            </a:avLst>
          </a:prstGeom>
          <a:solidFill>
            <a:srgbClr val="FEF7E4"/>
          </a:solidFill>
          <a:ln w="12700">
            <a:solidFill>
              <a:srgbClr val="E5D9B0"/>
            </a:solidFill>
            <a:prstDash val="solid"/>
          </a:ln>
        </p:spPr>
      </p:sp>
      <p:sp>
        <p:nvSpPr>
          <p:cNvPr id="15" name="Text 12"/>
          <p:cNvSpPr/>
          <p:nvPr/>
        </p:nvSpPr>
        <p:spPr>
          <a:xfrm>
            <a:off x="3456432" y="1783080"/>
            <a:ext cx="8001000" cy="88925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Something has happened that nobody can explain. The story is the search for the answer.</a:t>
            </a:r>
            <a:endParaRPr lang="en-US" sz="1800" dirty="0"/>
          </a:p>
        </p:txBody>
      </p:sp>
      <p:sp>
        <p:nvSpPr>
          <p:cNvPr id="16" name="Text 13"/>
          <p:cNvSpPr/>
          <p:nvPr/>
        </p:nvSpPr>
        <p:spPr>
          <a:xfrm>
            <a:off x="548640" y="2782062"/>
            <a:ext cx="2606040" cy="889254"/>
          </a:xfrm>
          <a:prstGeom prst="roundRect">
            <a:avLst>
              <a:gd name="adj" fmla="val 10283"/>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A DETECTIVE</a:t>
            </a:r>
            <a:endParaRPr lang="en-US" sz="1600" dirty="0"/>
          </a:p>
        </p:txBody>
      </p:sp>
      <p:sp>
        <p:nvSpPr>
          <p:cNvPr id="17" name="Shape 14"/>
          <p:cNvSpPr/>
          <p:nvPr/>
        </p:nvSpPr>
        <p:spPr>
          <a:xfrm>
            <a:off x="3291840" y="2782062"/>
            <a:ext cx="8321040" cy="889254"/>
          </a:xfrm>
          <a:prstGeom prst="roundRect">
            <a:avLst>
              <a:gd name="adj" fmla="val 8226"/>
            </a:avLst>
          </a:prstGeom>
          <a:solidFill>
            <a:srgbClr val="FEF7E4"/>
          </a:solidFill>
          <a:ln w="12700">
            <a:solidFill>
              <a:srgbClr val="E5D9B0"/>
            </a:solidFill>
            <a:prstDash val="solid"/>
          </a:ln>
        </p:spPr>
      </p:sp>
      <p:sp>
        <p:nvSpPr>
          <p:cNvPr id="18" name="Text 15"/>
          <p:cNvSpPr/>
          <p:nvPr/>
        </p:nvSpPr>
        <p:spPr>
          <a:xfrm>
            <a:off x="3456432" y="2782062"/>
            <a:ext cx="8001000" cy="88925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Someone who sees what others miss. Holmes reads a dirty knee the way we read a sentence.</a:t>
            </a:r>
            <a:endParaRPr lang="en-US" sz="1800" dirty="0"/>
          </a:p>
        </p:txBody>
      </p:sp>
      <p:sp>
        <p:nvSpPr>
          <p:cNvPr id="19" name="Text 16"/>
          <p:cNvSpPr/>
          <p:nvPr/>
        </p:nvSpPr>
        <p:spPr>
          <a:xfrm>
            <a:off x="548640" y="3781044"/>
            <a:ext cx="2606040" cy="889254"/>
          </a:xfrm>
          <a:prstGeom prst="roundRect">
            <a:avLst>
              <a:gd name="adj" fmla="val 10283"/>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CLUES AND SUSPECTS</a:t>
            </a:r>
            <a:endParaRPr lang="en-US" sz="1600" dirty="0"/>
          </a:p>
        </p:txBody>
      </p:sp>
      <p:sp>
        <p:nvSpPr>
          <p:cNvPr id="20" name="Shape 17"/>
          <p:cNvSpPr/>
          <p:nvPr/>
        </p:nvSpPr>
        <p:spPr>
          <a:xfrm>
            <a:off x="3291840" y="3781044"/>
            <a:ext cx="8321040" cy="889254"/>
          </a:xfrm>
          <a:prstGeom prst="roundRect">
            <a:avLst>
              <a:gd name="adj" fmla="val 8226"/>
            </a:avLst>
          </a:prstGeom>
          <a:solidFill>
            <a:srgbClr val="FEF7E4"/>
          </a:solidFill>
          <a:ln w="12700">
            <a:solidFill>
              <a:srgbClr val="E5D9B0"/>
            </a:solidFill>
            <a:prstDash val="solid"/>
          </a:ln>
        </p:spPr>
      </p:sp>
      <p:sp>
        <p:nvSpPr>
          <p:cNvPr id="21" name="Text 18"/>
          <p:cNvSpPr/>
          <p:nvPr/>
        </p:nvSpPr>
        <p:spPr>
          <a:xfrm>
            <a:off x="3456432" y="3781044"/>
            <a:ext cx="8001000" cy="88925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Small facts are planted for the reader to notice. Some are true clues; some are red herrings.</a:t>
            </a:r>
            <a:endParaRPr lang="en-US" sz="1800" dirty="0"/>
          </a:p>
        </p:txBody>
      </p:sp>
      <p:sp>
        <p:nvSpPr>
          <p:cNvPr id="22" name="Text 19"/>
          <p:cNvSpPr/>
          <p:nvPr/>
        </p:nvSpPr>
        <p:spPr>
          <a:xfrm>
            <a:off x="548640" y="4780026"/>
            <a:ext cx="2606040" cy="889254"/>
          </a:xfrm>
          <a:prstGeom prst="roundRect">
            <a:avLst>
              <a:gd name="adj" fmla="val 10283"/>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THE REVEAL</a:t>
            </a:r>
            <a:endParaRPr lang="en-US" sz="1600" dirty="0"/>
          </a:p>
        </p:txBody>
      </p:sp>
      <p:sp>
        <p:nvSpPr>
          <p:cNvPr id="23" name="Shape 20"/>
          <p:cNvSpPr/>
          <p:nvPr/>
        </p:nvSpPr>
        <p:spPr>
          <a:xfrm>
            <a:off x="3291840" y="4780026"/>
            <a:ext cx="8321040" cy="889254"/>
          </a:xfrm>
          <a:prstGeom prst="roundRect">
            <a:avLst>
              <a:gd name="adj" fmla="val 8226"/>
            </a:avLst>
          </a:prstGeom>
          <a:solidFill>
            <a:srgbClr val="FEF7E4"/>
          </a:solidFill>
          <a:ln w="12700">
            <a:solidFill>
              <a:srgbClr val="E5D9B0"/>
            </a:solidFill>
            <a:prstDash val="solid"/>
          </a:ln>
        </p:spPr>
      </p:sp>
      <p:sp>
        <p:nvSpPr>
          <p:cNvPr id="24" name="Text 21"/>
          <p:cNvSpPr/>
          <p:nvPr/>
        </p:nvSpPr>
        <p:spPr>
          <a:xfrm>
            <a:off x="3456432" y="4780026"/>
            <a:ext cx="8001000" cy="88925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At the end the detective explains everything — and the reader realises the clues were there all along.</a:t>
            </a:r>
            <a:endParaRPr lang="en-US" sz="1800" dirty="0"/>
          </a:p>
        </p:txBody>
      </p:sp>
      <p:sp>
        <p:nvSpPr>
          <p:cNvPr id="25" name="Text 22"/>
          <p:cNvSpPr/>
          <p:nvPr/>
        </p:nvSpPr>
        <p:spPr>
          <a:xfrm>
            <a:off x="548640" y="5715000"/>
            <a:ext cx="11064240" cy="365760"/>
          </a:xfrm>
          <a:prstGeom prst="rect">
            <a:avLst/>
          </a:prstGeom>
          <a:noFill/>
          <a:ln/>
        </p:spPr>
        <p:txBody>
          <a:bodyPr wrap="square" lIns="0" tIns="0" rIns="0" bIns="0" rtlCol="0" anchor="ctr"/>
          <a:lstStyle/>
          <a:p>
            <a:pPr algn="l" indent="0" marL="0">
              <a:buNone/>
            </a:pPr>
            <a:r>
              <a:rPr lang="en-US" sz="1500" b="1" i="1" dirty="0">
                <a:solidFill>
                  <a:srgbClr val="12294D"/>
                </a:solidFill>
                <a:latin typeface="Arial" pitchFamily="34" charset="0"/>
                <a:ea typeface="Arial" pitchFamily="34" charset="-122"/>
                <a:cs typeface="Arial" pitchFamily="34" charset="-120"/>
              </a:rPr>
              <a:t>➜  Crime fiction is a game the writer plays fair — and still wins.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book-open-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Victorian London</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10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The world Conan Doyle wrote for in 1891. Why did these readers love detectives?</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Red-Headed League · What is crime fiction?</a:t>
            </a:r>
            <a:endParaRPr lang="en-US" sz="900" dirty="0"/>
          </a:p>
        </p:txBody>
      </p:sp>
      <p:sp>
        <p:nvSpPr>
          <p:cNvPr id="13" name="Shape 10"/>
          <p:cNvSpPr/>
          <p:nvPr/>
        </p:nvSpPr>
        <p:spPr>
          <a:xfrm>
            <a:off x="548640" y="4754880"/>
            <a:ext cx="11064240" cy="1371600"/>
          </a:xfrm>
          <a:prstGeom prst="roundRect">
            <a:avLst>
              <a:gd name="adj" fmla="val 4000"/>
            </a:avLst>
          </a:prstGeom>
          <a:solidFill>
            <a:srgbClr val="12294D"/>
          </a:solidFill>
          <a:ln w="12700">
            <a:solidFill>
              <a:srgbClr val="12294D"/>
            </a:solidFill>
            <a:prstDash val="solid"/>
          </a:ln>
        </p:spPr>
      </p:sp>
      <p:pic>
        <p:nvPicPr>
          <p:cNvPr id="14" name="Image 1" descr="/home/claude/english/kit/decks/_icons/message-circle-FFFFFF.png">    </p:cNvPr>
          <p:cNvPicPr>
            <a:picLocks noChangeAspect="1"/>
          </p:cNvPicPr>
          <p:nvPr/>
        </p:nvPicPr>
        <p:blipFill>
          <a:blip r:embed="rId2"/>
          <a:stretch>
            <a:fillRect/>
          </a:stretch>
        </p:blipFill>
        <p:spPr>
          <a:xfrm>
            <a:off x="777240" y="4956048"/>
            <a:ext cx="566928" cy="566928"/>
          </a:xfrm>
          <a:prstGeom prst="rect">
            <a:avLst/>
          </a:prstGeom>
        </p:spPr>
      </p:pic>
      <p:sp>
        <p:nvSpPr>
          <p:cNvPr id="15" name="Text 11"/>
          <p:cNvSpPr/>
          <p:nvPr/>
        </p:nvSpPr>
        <p:spPr>
          <a:xfrm>
            <a:off x="1417320" y="4919472"/>
            <a:ext cx="3200400" cy="457200"/>
          </a:xfrm>
          <a:prstGeom prst="rect">
            <a:avLst/>
          </a:prstGeom>
          <a:noFill/>
          <a:ln/>
        </p:spPr>
        <p:txBody>
          <a:bodyPr wrap="square" lIns="0" tIns="0" rIns="0" bIns="0" rtlCol="0" anchor="ctr"/>
          <a:lstStyle/>
          <a:p>
            <a:pPr indent="0" marL="0">
              <a:buNone/>
            </a:pPr>
            <a:r>
              <a:rPr lang="en-US" sz="1600" b="1" dirty="0">
                <a:solidFill>
                  <a:srgbClr val="FFC93C"/>
                </a:solidFill>
                <a:latin typeface="Arial" pitchFamily="34" charset="0"/>
                <a:ea typeface="Arial" pitchFamily="34" charset="-122"/>
                <a:cs typeface="Arial" pitchFamily="34" charset="-120"/>
              </a:rPr>
              <a:t>DISCUSS · 3 MIN</a:t>
            </a:r>
            <a:endParaRPr lang="en-US" sz="1600" dirty="0"/>
          </a:p>
        </p:txBody>
      </p:sp>
      <p:sp>
        <p:nvSpPr>
          <p:cNvPr id="16" name="Text 12"/>
          <p:cNvSpPr/>
          <p:nvPr/>
        </p:nvSpPr>
        <p:spPr>
          <a:xfrm>
            <a:off x="777240" y="5394960"/>
            <a:ext cx="10607040" cy="658368"/>
          </a:xfrm>
          <a:prstGeom prst="rect">
            <a:avLst/>
          </a:prstGeom>
          <a:noFill/>
          <a:ln/>
        </p:spPr>
        <p:txBody>
          <a:bodyPr wrap="square" lIns="0" tIns="0" rIns="0" bIns="0" rtlCol="0" anchor="ctr"/>
          <a:lstStyle/>
          <a:p>
            <a:pPr algn="l" indent="0" marL="0">
              <a:buNone/>
            </a:pPr>
            <a:r>
              <a:rPr lang="en-US" sz="1800" i="1" dirty="0">
                <a:solidFill>
                  <a:srgbClr val="CFE0F2"/>
                </a:solidFill>
                <a:latin typeface="Arial" pitchFamily="34" charset="0"/>
                <a:ea typeface="Arial" pitchFamily="34" charset="-122"/>
                <a:cs typeface="Arial" pitchFamily="34" charset="-120"/>
              </a:rPr>
              <a:t>Why might a reader in a dangerous, crowded city ENJOY a story about crime?</a:t>
            </a:r>
            <a:endParaRPr lang="en-US" sz="1800" dirty="0"/>
          </a:p>
        </p:txBody>
      </p:sp>
      <p:sp>
        <p:nvSpPr>
          <p:cNvPr id="17" name="Text 13"/>
          <p:cNvSpPr/>
          <p:nvPr/>
        </p:nvSpPr>
        <p:spPr>
          <a:xfrm>
            <a:off x="548640" y="1783080"/>
            <a:ext cx="2606040" cy="719328"/>
          </a:xfrm>
          <a:prstGeom prst="roundRect">
            <a:avLst>
              <a:gd name="adj" fmla="val 12712"/>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THE CITY</a:t>
            </a:r>
            <a:endParaRPr lang="en-US" sz="1600" dirty="0"/>
          </a:p>
        </p:txBody>
      </p:sp>
      <p:sp>
        <p:nvSpPr>
          <p:cNvPr id="18" name="Shape 14"/>
          <p:cNvSpPr/>
          <p:nvPr/>
        </p:nvSpPr>
        <p:spPr>
          <a:xfrm>
            <a:off x="3291840" y="1783080"/>
            <a:ext cx="8321040" cy="719328"/>
          </a:xfrm>
          <a:prstGeom prst="roundRect">
            <a:avLst>
              <a:gd name="adj" fmla="val 10169"/>
            </a:avLst>
          </a:prstGeom>
          <a:solidFill>
            <a:srgbClr val="FEF7E4"/>
          </a:solidFill>
          <a:ln w="12700">
            <a:solidFill>
              <a:srgbClr val="E5D9B0"/>
            </a:solidFill>
            <a:prstDash val="solid"/>
          </a:ln>
        </p:spPr>
      </p:sp>
      <p:sp>
        <p:nvSpPr>
          <p:cNvPr id="19" name="Text 15"/>
          <p:cNvSpPr/>
          <p:nvPr/>
        </p:nvSpPr>
        <p:spPr>
          <a:xfrm>
            <a:off x="3456432" y="1783080"/>
            <a:ext cx="8001000" cy="71932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biggest city on Earth: gaslight, fog, horse cabs, banks full of gold — and streets where anyone could vanish.</a:t>
            </a:r>
            <a:endParaRPr lang="en-US" sz="1800" dirty="0"/>
          </a:p>
        </p:txBody>
      </p:sp>
      <p:sp>
        <p:nvSpPr>
          <p:cNvPr id="20" name="Text 16"/>
          <p:cNvSpPr/>
          <p:nvPr/>
        </p:nvSpPr>
        <p:spPr>
          <a:xfrm>
            <a:off x="548640" y="2612136"/>
            <a:ext cx="2606040" cy="719328"/>
          </a:xfrm>
          <a:prstGeom prst="roundRect">
            <a:avLst>
              <a:gd name="adj" fmla="val 12712"/>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THE POLICE</a:t>
            </a:r>
            <a:endParaRPr lang="en-US" sz="1600" dirty="0"/>
          </a:p>
        </p:txBody>
      </p:sp>
      <p:sp>
        <p:nvSpPr>
          <p:cNvPr id="21" name="Shape 17"/>
          <p:cNvSpPr/>
          <p:nvPr/>
        </p:nvSpPr>
        <p:spPr>
          <a:xfrm>
            <a:off x="3291840" y="2612136"/>
            <a:ext cx="8321040" cy="719328"/>
          </a:xfrm>
          <a:prstGeom prst="roundRect">
            <a:avLst>
              <a:gd name="adj" fmla="val 10169"/>
            </a:avLst>
          </a:prstGeom>
          <a:solidFill>
            <a:srgbClr val="FEF7E4"/>
          </a:solidFill>
          <a:ln w="12700">
            <a:solidFill>
              <a:srgbClr val="E5D9B0"/>
            </a:solidFill>
            <a:prstDash val="solid"/>
          </a:ln>
        </p:spPr>
      </p:sp>
      <p:sp>
        <p:nvSpPr>
          <p:cNvPr id="22" name="Text 18"/>
          <p:cNvSpPr/>
          <p:nvPr/>
        </p:nvSpPr>
        <p:spPr>
          <a:xfrm>
            <a:off x="3456432" y="2612136"/>
            <a:ext cx="8001000" cy="71932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Scotland Yard was new and not trusted. Readers loved a clever amateur who beat the professionals.</a:t>
            </a:r>
            <a:endParaRPr lang="en-US" sz="1800" dirty="0"/>
          </a:p>
        </p:txBody>
      </p:sp>
      <p:sp>
        <p:nvSpPr>
          <p:cNvPr id="23" name="Text 19"/>
          <p:cNvSpPr/>
          <p:nvPr/>
        </p:nvSpPr>
        <p:spPr>
          <a:xfrm>
            <a:off x="548640" y="3441192"/>
            <a:ext cx="2606040" cy="719328"/>
          </a:xfrm>
          <a:prstGeom prst="roundRect">
            <a:avLst>
              <a:gd name="adj" fmla="val 12712"/>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THE MAGAZINE</a:t>
            </a:r>
            <a:endParaRPr lang="en-US" sz="1600" dirty="0"/>
          </a:p>
        </p:txBody>
      </p:sp>
      <p:sp>
        <p:nvSpPr>
          <p:cNvPr id="24" name="Shape 20"/>
          <p:cNvSpPr/>
          <p:nvPr/>
        </p:nvSpPr>
        <p:spPr>
          <a:xfrm>
            <a:off x="3291840" y="3441192"/>
            <a:ext cx="8321040" cy="719328"/>
          </a:xfrm>
          <a:prstGeom prst="roundRect">
            <a:avLst>
              <a:gd name="adj" fmla="val 10169"/>
            </a:avLst>
          </a:prstGeom>
          <a:solidFill>
            <a:srgbClr val="FEF7E4"/>
          </a:solidFill>
          <a:ln w="12700">
            <a:solidFill>
              <a:srgbClr val="E5D9B0"/>
            </a:solidFill>
            <a:prstDash val="solid"/>
          </a:ln>
        </p:spPr>
      </p:sp>
      <p:sp>
        <p:nvSpPr>
          <p:cNvPr id="25" name="Text 21"/>
          <p:cNvSpPr/>
          <p:nvPr/>
        </p:nvSpPr>
        <p:spPr>
          <a:xfrm>
            <a:off x="3456432" y="3441192"/>
            <a:ext cx="8001000" cy="71932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Holmes stories came out monthly in The Strand. People queued for each new case — like waiting for a series to drop.</a:t>
            </a:r>
            <a:endParaRPr lang="en-US" sz="1800" dirty="0"/>
          </a:p>
        </p:txBody>
      </p:sp>
      <p:sp>
        <p:nvSpPr>
          <p:cNvPr id="26" name="Text 22"/>
          <p:cNvSpPr/>
          <p:nvPr/>
        </p:nvSpPr>
        <p:spPr>
          <a:xfrm>
            <a:off x="548640" y="4206240"/>
            <a:ext cx="11064240" cy="365760"/>
          </a:xfrm>
          <a:prstGeom prst="rect">
            <a:avLst/>
          </a:prstGeom>
          <a:noFill/>
          <a:ln/>
        </p:spPr>
        <p:txBody>
          <a:bodyPr wrap="square" lIns="0" tIns="0" rIns="0" bIns="0" rtlCol="0" anchor="ctr"/>
          <a:lstStyle/>
          <a:p>
            <a:pPr algn="l" indent="0" marL="0">
              <a:buNone/>
            </a:pPr>
            <a:r>
              <a:rPr lang="en-US" sz="1500" b="1" i="1" dirty="0">
                <a:solidFill>
                  <a:srgbClr val="12294D"/>
                </a:solidFill>
                <a:latin typeface="Arial" pitchFamily="34" charset="0"/>
                <a:ea typeface="Arial" pitchFamily="34" charset="-122"/>
                <a:cs typeface="Arial" pitchFamily="34" charset="-120"/>
              </a:rPr>
              <a:t>➜  A frightening city plus a clever mind: that is why the genre was born here.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file-text-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Read the extract</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10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A modern retelling of the story's opening. Read it twice: once for the story, once for the conventions.</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Red-Headed League · What is crime fiction?</a:t>
            </a:r>
            <a:endParaRPr lang="en-US" sz="900" dirty="0"/>
          </a:p>
        </p:txBody>
      </p:sp>
      <p:sp>
        <p:nvSpPr>
          <p:cNvPr id="13" name="Shape 10"/>
          <p:cNvSpPr/>
          <p:nvPr/>
        </p:nvSpPr>
        <p:spPr>
          <a:xfrm>
            <a:off x="548640" y="1783080"/>
            <a:ext cx="6949440" cy="4343400"/>
          </a:xfrm>
          <a:prstGeom prst="roundRect">
            <a:avLst>
              <a:gd name="adj" fmla="val 1263"/>
            </a:avLst>
          </a:prstGeom>
          <a:solidFill>
            <a:srgbClr val="FEF7E4"/>
          </a:solidFill>
          <a:ln w="12700">
            <a:solidFill>
              <a:srgbClr val="E5D9B0"/>
            </a:solidFill>
            <a:prstDash val="solid"/>
          </a:ln>
        </p:spPr>
      </p:sp>
      <p:sp>
        <p:nvSpPr>
          <p:cNvPr id="14" name="Text 11"/>
          <p:cNvSpPr/>
          <p:nvPr/>
        </p:nvSpPr>
        <p:spPr>
          <a:xfrm>
            <a:off x="731520" y="1874520"/>
            <a:ext cx="6583680" cy="274320"/>
          </a:xfrm>
          <a:prstGeom prst="rect">
            <a:avLst/>
          </a:prstGeom>
          <a:noFill/>
          <a:ln/>
        </p:spPr>
        <p:txBody>
          <a:bodyPr wrap="square" lIns="0" tIns="0" rIns="0" bIns="0" rtlCol="0" anchor="ctr"/>
          <a:lstStyle/>
          <a:p>
            <a:pPr indent="0" marL="0">
              <a:buNone/>
            </a:pPr>
            <a:r>
              <a:rPr lang="en-US" sz="1100" b="1" spc="100" kern="0" dirty="0">
                <a:solidFill>
                  <a:srgbClr val="8A6D00"/>
                </a:solidFill>
                <a:latin typeface="Arial" pitchFamily="34" charset="0"/>
                <a:ea typeface="Arial" pitchFamily="34" charset="-122"/>
                <a:cs typeface="Arial" pitchFamily="34" charset="-120"/>
              </a:rPr>
              <a:t>ORIGINAL RETELLING WRITTEN FOR THIS LESSON</a:t>
            </a:r>
            <a:endParaRPr lang="en-US" sz="1100" dirty="0"/>
          </a:p>
        </p:txBody>
      </p:sp>
      <p:sp>
        <p:nvSpPr>
          <p:cNvPr id="15" name="Text 12"/>
          <p:cNvSpPr/>
          <p:nvPr/>
        </p:nvSpPr>
        <p:spPr>
          <a:xfrm>
            <a:off x="685800" y="2176272"/>
            <a:ext cx="6675120" cy="3840480"/>
          </a:xfrm>
          <a:prstGeom prst="rect">
            <a:avLst/>
          </a:prstGeom>
          <a:noFill/>
          <a:ln/>
        </p:spPr>
        <p:txBody>
          <a:bodyPr wrap="square" lIns="91440" tIns="137160" rIns="137160" bIns="91440" rtlCol="0" anchor="t"/>
          <a:lstStyle/>
          <a:p>
            <a:pPr algn="l" indent="0" marL="0">
              <a:buNone/>
            </a:pPr>
            <a:r>
              <a:rPr lang="en-US" sz="1800" dirty="0">
                <a:solidFill>
                  <a:srgbClr val="16171F"/>
                </a:solidFill>
                <a:latin typeface="Arial" pitchFamily="34" charset="0"/>
                <a:ea typeface="Arial" pitchFamily="34" charset="-122"/>
                <a:cs typeface="Arial" pitchFamily="34" charset="-120"/>
              </a:rPr>
              <a:t>I had called on my friend Sherlock Holmes one autumn morning and found him deep in talk with a stout, red-faced gentleman whose hair burned like a coal fire. I made to leave, but Holmes pulled me into the room. 'You could not have come at a better time, Watson,' he said. 'Mr Wilson here has begun a story that is one of the strangest I have heard for some while. You know my taste for the odd and the unlikely. Mr Wilson, would you be kind enough to begin again? My friend has not heard the opening, and I confess I should like to hear it twice.'</a:t>
            </a:r>
            <a:endParaRPr lang="en-US" sz="1800" dirty="0"/>
          </a:p>
        </p:txBody>
      </p:sp>
      <p:sp>
        <p:nvSpPr>
          <p:cNvPr id="16" name="Text 13"/>
          <p:cNvSpPr/>
          <p:nvPr/>
        </p:nvSpPr>
        <p:spPr>
          <a:xfrm>
            <a:off x="7726680" y="1783080"/>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1</a:t>
            </a:r>
            <a:endParaRPr lang="en-US" sz="1800" dirty="0"/>
          </a:p>
        </p:txBody>
      </p:sp>
      <p:sp>
        <p:nvSpPr>
          <p:cNvPr id="17" name="Shape 14"/>
          <p:cNvSpPr/>
          <p:nvPr/>
        </p:nvSpPr>
        <p:spPr>
          <a:xfrm>
            <a:off x="8321040" y="1783080"/>
            <a:ext cx="3291840" cy="960120"/>
          </a:xfrm>
          <a:prstGeom prst="roundRect">
            <a:avLst>
              <a:gd name="adj" fmla="val 6667"/>
            </a:avLst>
          </a:prstGeom>
          <a:solidFill>
            <a:srgbClr val="FFFFFF"/>
          </a:solidFill>
          <a:ln w="12700">
            <a:solidFill>
              <a:srgbClr val="80ADC4"/>
            </a:solidFill>
            <a:prstDash val="solid"/>
          </a:ln>
        </p:spPr>
      </p:sp>
      <p:sp>
        <p:nvSpPr>
          <p:cNvPr id="18" name="Text 15"/>
          <p:cNvSpPr/>
          <p:nvPr/>
        </p:nvSpPr>
        <p:spPr>
          <a:xfrm>
            <a:off x="8366760" y="1783080"/>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Who is telling us the story? How do you know?</a:t>
            </a:r>
            <a:endParaRPr lang="en-US" sz="1800" dirty="0"/>
          </a:p>
        </p:txBody>
      </p:sp>
      <p:sp>
        <p:nvSpPr>
          <p:cNvPr id="19" name="Text 16"/>
          <p:cNvSpPr/>
          <p:nvPr/>
        </p:nvSpPr>
        <p:spPr>
          <a:xfrm>
            <a:off x="7726680" y="2889504"/>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2</a:t>
            </a:r>
            <a:endParaRPr lang="en-US" sz="1800" dirty="0"/>
          </a:p>
        </p:txBody>
      </p:sp>
      <p:sp>
        <p:nvSpPr>
          <p:cNvPr id="20" name="Shape 17"/>
          <p:cNvSpPr/>
          <p:nvPr/>
        </p:nvSpPr>
        <p:spPr>
          <a:xfrm>
            <a:off x="8321040" y="2889504"/>
            <a:ext cx="3291840" cy="960120"/>
          </a:xfrm>
          <a:prstGeom prst="roundRect">
            <a:avLst>
              <a:gd name="adj" fmla="val 6667"/>
            </a:avLst>
          </a:prstGeom>
          <a:solidFill>
            <a:srgbClr val="FFFFFF"/>
          </a:solidFill>
          <a:ln w="12700">
            <a:solidFill>
              <a:srgbClr val="80ADC4"/>
            </a:solidFill>
            <a:prstDash val="solid"/>
          </a:ln>
        </p:spPr>
      </p:sp>
      <p:sp>
        <p:nvSpPr>
          <p:cNvPr id="21" name="Text 18"/>
          <p:cNvSpPr/>
          <p:nvPr/>
        </p:nvSpPr>
        <p:spPr>
          <a:xfrm>
            <a:off x="8366760" y="2889504"/>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Find two words that describe Mr Wilson's hair.</a:t>
            </a:r>
            <a:endParaRPr lang="en-US" sz="1800" dirty="0"/>
          </a:p>
        </p:txBody>
      </p:sp>
      <p:sp>
        <p:nvSpPr>
          <p:cNvPr id="22" name="Text 19"/>
          <p:cNvSpPr/>
          <p:nvPr/>
        </p:nvSpPr>
        <p:spPr>
          <a:xfrm>
            <a:off x="7726680" y="3995928"/>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3</a:t>
            </a:r>
            <a:endParaRPr lang="en-US" sz="1800" dirty="0"/>
          </a:p>
        </p:txBody>
      </p:sp>
      <p:sp>
        <p:nvSpPr>
          <p:cNvPr id="23" name="Shape 20"/>
          <p:cNvSpPr/>
          <p:nvPr/>
        </p:nvSpPr>
        <p:spPr>
          <a:xfrm>
            <a:off x="8321040" y="3995928"/>
            <a:ext cx="3291840" cy="960120"/>
          </a:xfrm>
          <a:prstGeom prst="roundRect">
            <a:avLst>
              <a:gd name="adj" fmla="val 6667"/>
            </a:avLst>
          </a:prstGeom>
          <a:solidFill>
            <a:srgbClr val="FFFFFF"/>
          </a:solidFill>
          <a:ln w="12700">
            <a:solidFill>
              <a:srgbClr val="80ADC4"/>
            </a:solidFill>
            <a:prstDash val="solid"/>
          </a:ln>
        </p:spPr>
      </p:sp>
      <p:sp>
        <p:nvSpPr>
          <p:cNvPr id="24" name="Text 21"/>
          <p:cNvSpPr/>
          <p:nvPr/>
        </p:nvSpPr>
        <p:spPr>
          <a:xfrm>
            <a:off x="8366760" y="3995928"/>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does Holmes say he enjoys? Why does that matter?</a:t>
            </a:r>
            <a:endParaRPr lang="en-US" sz="1800" dirty="0"/>
          </a:p>
        </p:txBody>
      </p:sp>
      <p:sp>
        <p:nvSpPr>
          <p:cNvPr id="25" name="Text 22"/>
          <p:cNvSpPr/>
          <p:nvPr/>
        </p:nvSpPr>
        <p:spPr>
          <a:xfrm>
            <a:off x="7726680" y="5102352"/>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4</a:t>
            </a:r>
            <a:endParaRPr lang="en-US" sz="1800" dirty="0"/>
          </a:p>
        </p:txBody>
      </p:sp>
      <p:sp>
        <p:nvSpPr>
          <p:cNvPr id="26" name="Shape 23"/>
          <p:cNvSpPr/>
          <p:nvPr/>
        </p:nvSpPr>
        <p:spPr>
          <a:xfrm>
            <a:off x="8321040" y="5102352"/>
            <a:ext cx="3291840" cy="960120"/>
          </a:xfrm>
          <a:prstGeom prst="roundRect">
            <a:avLst>
              <a:gd name="adj" fmla="val 6667"/>
            </a:avLst>
          </a:prstGeom>
          <a:solidFill>
            <a:srgbClr val="FFFFFF"/>
          </a:solidFill>
          <a:ln w="12700">
            <a:solidFill>
              <a:srgbClr val="80ADC4"/>
            </a:solidFill>
            <a:prstDash val="solid"/>
          </a:ln>
        </p:spPr>
      </p:sp>
      <p:sp>
        <p:nvSpPr>
          <p:cNvPr id="27" name="Text 24"/>
          <p:cNvSpPr/>
          <p:nvPr/>
        </p:nvSpPr>
        <p:spPr>
          <a:xfrm>
            <a:off x="8366760" y="5102352"/>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does the writer make us want to hear next?</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6C3A6E"/>
          </a:solidFill>
          <a:ln w="12700">
            <a:solidFill>
              <a:srgbClr val="6C3A6E"/>
            </a:solidFill>
            <a:prstDash val="solid"/>
          </a:ln>
        </p:spPr>
      </p:sp>
      <p:pic>
        <p:nvPicPr>
          <p:cNvPr id="3" name="Image 0" descr="/home/claude/english/kit/decks/_icons/users-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FE6F0"/>
          </a:solidFill>
          <a:ln>
            <a:solidFill>
              <a:srgbClr val="EFE6F0"/>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TALK · genre features table</a:t>
            </a:r>
            <a:endParaRPr lang="en-US" sz="2400" dirty="0"/>
          </a:p>
        </p:txBody>
      </p:sp>
      <p:sp>
        <p:nvSpPr>
          <p:cNvPr id="5" name="Text 2"/>
          <p:cNvSpPr/>
          <p:nvPr/>
        </p:nvSpPr>
        <p:spPr>
          <a:xfrm>
            <a:off x="9784080" y="457200"/>
            <a:ext cx="1874520" cy="566928"/>
          </a:xfrm>
          <a:prstGeom prst="roundRect">
            <a:avLst>
              <a:gd name="adj" fmla="val 16129"/>
            </a:avLst>
          </a:prstGeom>
          <a:solidFill>
            <a:srgbClr val="6C3A6E"/>
          </a:solidFill>
          <a:ln>
            <a:solidFill>
              <a:srgbClr val="6C3A6E"/>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12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In pairs. Fill the four-row table: convention · what it looks like · where it appears in the opening.</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6C3A6E"/>
          </a:solidFill>
          <a:ln>
            <a:solidFill>
              <a:srgbClr val="6C3A6E"/>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Red-Headed League · What is crime fiction?</a:t>
            </a:r>
            <a:endParaRPr lang="en-US" sz="900" dirty="0"/>
          </a:p>
        </p:txBody>
      </p:sp>
      <p:sp>
        <p:nvSpPr>
          <p:cNvPr id="13" name="Shape 10"/>
          <p:cNvSpPr/>
          <p:nvPr/>
        </p:nvSpPr>
        <p:spPr>
          <a:xfrm>
            <a:off x="548640" y="1783080"/>
            <a:ext cx="7772400" cy="457200"/>
          </a:xfrm>
          <a:prstGeom prst="roundRect">
            <a:avLst>
              <a:gd name="adj" fmla="val 20000"/>
            </a:avLst>
          </a:prstGeom>
          <a:solidFill>
            <a:srgbClr val="00A08A"/>
          </a:solidFill>
          <a:ln w="12700">
            <a:solidFill>
              <a:srgbClr val="00A08A"/>
            </a:solidFill>
            <a:prstDash val="solid"/>
          </a:ln>
        </p:spPr>
      </p:sp>
      <p:pic>
        <p:nvPicPr>
          <p:cNvPr id="14" name="Image 1" descr="/home/claude/english/kit/decks/_icons/users-FFFFFF.png">    </p:cNvPr>
          <p:cNvPicPr>
            <a:picLocks noChangeAspect="1"/>
          </p:cNvPicPr>
          <p:nvPr/>
        </p:nvPicPr>
        <p:blipFill>
          <a:blip r:embed="rId2"/>
          <a:stretch>
            <a:fillRect/>
          </a:stretch>
        </p:blipFill>
        <p:spPr>
          <a:xfrm>
            <a:off x="3627501" y="1888236"/>
            <a:ext cx="246888" cy="246888"/>
          </a:xfrm>
          <a:prstGeom prst="rect">
            <a:avLst/>
          </a:prstGeom>
        </p:spPr>
      </p:pic>
      <p:sp>
        <p:nvSpPr>
          <p:cNvPr id="15" name="Text 11"/>
          <p:cNvSpPr/>
          <p:nvPr/>
        </p:nvSpPr>
        <p:spPr>
          <a:xfrm>
            <a:off x="3993261" y="1783080"/>
            <a:ext cx="1523238" cy="457200"/>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TALK · PAIRS</a:t>
            </a:r>
            <a:endParaRPr lang="en-US" sz="1500" dirty="0"/>
          </a:p>
        </p:txBody>
      </p:sp>
      <p:sp>
        <p:nvSpPr>
          <p:cNvPr id="16" name="Shape 12"/>
          <p:cNvSpPr/>
          <p:nvPr/>
        </p:nvSpPr>
        <p:spPr>
          <a:xfrm>
            <a:off x="548640" y="2377440"/>
            <a:ext cx="11064240" cy="868680"/>
          </a:xfrm>
          <a:prstGeom prst="roundRect">
            <a:avLst>
              <a:gd name="adj" fmla="val 8421"/>
            </a:avLst>
          </a:prstGeom>
          <a:solidFill>
            <a:srgbClr val="FFC93C"/>
          </a:solidFill>
          <a:ln w="12700">
            <a:solidFill>
              <a:srgbClr val="FFC93C"/>
            </a:solidFill>
            <a:prstDash val="solid"/>
          </a:ln>
        </p:spPr>
      </p:sp>
      <p:sp>
        <p:nvSpPr>
          <p:cNvPr id="17" name="Text 13"/>
          <p:cNvSpPr/>
          <p:nvPr/>
        </p:nvSpPr>
        <p:spPr>
          <a:xfrm>
            <a:off x="777240" y="2377440"/>
            <a:ext cx="1920240" cy="868680"/>
          </a:xfrm>
          <a:prstGeom prst="rect">
            <a:avLst/>
          </a:prstGeom>
          <a:noFill/>
          <a:ln/>
        </p:spPr>
        <p:txBody>
          <a:bodyPr wrap="square" lIns="0" tIns="0" rIns="0" bIns="0" rtlCol="0" anchor="ctr"/>
          <a:lstStyle/>
          <a:p>
            <a:pPr indent="0" marL="0">
              <a:buNone/>
            </a:pPr>
            <a:r>
              <a:rPr lang="en-US" sz="1600" b="1" dirty="0">
                <a:solidFill>
                  <a:srgbClr val="12294D"/>
                </a:solidFill>
                <a:latin typeface="Arial" pitchFamily="34" charset="0"/>
                <a:ea typeface="Arial" pitchFamily="34" charset="-122"/>
                <a:cs typeface="Arial" pitchFamily="34" charset="-120"/>
              </a:rPr>
              <a:t>THE FOCUS:</a:t>
            </a:r>
            <a:endParaRPr lang="en-US" sz="1600" dirty="0"/>
          </a:p>
        </p:txBody>
      </p:sp>
      <p:sp>
        <p:nvSpPr>
          <p:cNvPr id="18" name="Text 14"/>
          <p:cNvSpPr/>
          <p:nvPr/>
        </p:nvSpPr>
        <p:spPr>
          <a:xfrm>
            <a:off x="2697480" y="2377440"/>
            <a:ext cx="8732520" cy="868680"/>
          </a:xfrm>
          <a:prstGeom prst="rect">
            <a:avLst/>
          </a:prstGeom>
          <a:noFill/>
          <a:ln/>
        </p:spPr>
        <p:txBody>
          <a:bodyPr wrap="square" lIns="45720" tIns="91440" rIns="91440" bIns="45720" rtlCol="0" anchor="ctr"/>
          <a:lstStyle/>
          <a:p>
            <a:pPr algn="l" indent="0" marL="0">
              <a:buNone/>
            </a:pPr>
            <a:r>
              <a:rPr lang="en-US" sz="1800" b="1" i="1" dirty="0">
                <a:solidFill>
                  <a:srgbClr val="12294D"/>
                </a:solidFill>
                <a:latin typeface="Arial" pitchFamily="34" charset="0"/>
                <a:ea typeface="Arial" pitchFamily="34" charset="-122"/>
                <a:cs typeface="Arial" pitchFamily="34" charset="-120"/>
              </a:rPr>
              <a:t>Which conventions of crime fiction are already there in the opening?</a:t>
            </a:r>
            <a:endParaRPr lang="en-US" sz="1800" dirty="0"/>
          </a:p>
        </p:txBody>
      </p:sp>
      <p:sp>
        <p:nvSpPr>
          <p:cNvPr id="19" name="Text 15"/>
          <p:cNvSpPr/>
          <p:nvPr/>
        </p:nvSpPr>
        <p:spPr>
          <a:xfrm>
            <a:off x="548640" y="3401568"/>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1</a:t>
            </a:r>
            <a:endParaRPr lang="en-US" sz="1800" dirty="0"/>
          </a:p>
        </p:txBody>
      </p:sp>
      <p:sp>
        <p:nvSpPr>
          <p:cNvPr id="20" name="Shape 16"/>
          <p:cNvSpPr/>
          <p:nvPr/>
        </p:nvSpPr>
        <p:spPr>
          <a:xfrm>
            <a:off x="1280160" y="3401568"/>
            <a:ext cx="10332720" cy="560070"/>
          </a:xfrm>
          <a:prstGeom prst="roundRect">
            <a:avLst>
              <a:gd name="adj" fmla="val 13061"/>
            </a:avLst>
          </a:prstGeom>
          <a:solidFill>
            <a:srgbClr val="FFFFFF"/>
          </a:solidFill>
          <a:ln w="12700">
            <a:solidFill>
              <a:srgbClr val="80ADC4"/>
            </a:solidFill>
            <a:prstDash val="solid"/>
          </a:ln>
        </p:spPr>
      </p:sp>
      <p:sp>
        <p:nvSpPr>
          <p:cNvPr id="21" name="Text 17"/>
          <p:cNvSpPr/>
          <p:nvPr/>
        </p:nvSpPr>
        <p:spPr>
          <a:xfrm>
            <a:off x="1463040" y="3401568"/>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Row 1 — THE PUZZLE. Copy the line that promises something strange.</a:t>
            </a:r>
            <a:endParaRPr lang="en-US" sz="1800" dirty="0"/>
          </a:p>
        </p:txBody>
      </p:sp>
      <p:sp>
        <p:nvSpPr>
          <p:cNvPr id="22" name="Text 18"/>
          <p:cNvSpPr/>
          <p:nvPr/>
        </p:nvSpPr>
        <p:spPr>
          <a:xfrm>
            <a:off x="548640" y="4062222"/>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2</a:t>
            </a:r>
            <a:endParaRPr lang="en-US" sz="1800" dirty="0"/>
          </a:p>
        </p:txBody>
      </p:sp>
      <p:sp>
        <p:nvSpPr>
          <p:cNvPr id="23" name="Shape 19"/>
          <p:cNvSpPr/>
          <p:nvPr/>
        </p:nvSpPr>
        <p:spPr>
          <a:xfrm>
            <a:off x="1280160" y="4062222"/>
            <a:ext cx="10332720" cy="560070"/>
          </a:xfrm>
          <a:prstGeom prst="roundRect">
            <a:avLst>
              <a:gd name="adj" fmla="val 13061"/>
            </a:avLst>
          </a:prstGeom>
          <a:solidFill>
            <a:srgbClr val="F4F6FA"/>
          </a:solidFill>
          <a:ln w="12700">
            <a:solidFill>
              <a:srgbClr val="80ADC4"/>
            </a:solidFill>
            <a:prstDash val="solid"/>
          </a:ln>
        </p:spPr>
      </p:sp>
      <p:sp>
        <p:nvSpPr>
          <p:cNvPr id="24" name="Text 20"/>
          <p:cNvSpPr/>
          <p:nvPr/>
        </p:nvSpPr>
        <p:spPr>
          <a:xfrm>
            <a:off x="1463040" y="4062222"/>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Row 2 — THE DETECTIVE. What do we learn about Holmes from what he says?</a:t>
            </a:r>
            <a:endParaRPr lang="en-US" sz="1800" dirty="0"/>
          </a:p>
        </p:txBody>
      </p:sp>
      <p:sp>
        <p:nvSpPr>
          <p:cNvPr id="25" name="Text 21"/>
          <p:cNvSpPr/>
          <p:nvPr/>
        </p:nvSpPr>
        <p:spPr>
          <a:xfrm>
            <a:off x="548640" y="4722876"/>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3</a:t>
            </a:r>
            <a:endParaRPr lang="en-US" sz="1800" dirty="0"/>
          </a:p>
        </p:txBody>
      </p:sp>
      <p:sp>
        <p:nvSpPr>
          <p:cNvPr id="26" name="Shape 22"/>
          <p:cNvSpPr/>
          <p:nvPr/>
        </p:nvSpPr>
        <p:spPr>
          <a:xfrm>
            <a:off x="1280160" y="4722876"/>
            <a:ext cx="10332720" cy="560070"/>
          </a:xfrm>
          <a:prstGeom prst="roundRect">
            <a:avLst>
              <a:gd name="adj" fmla="val 13061"/>
            </a:avLst>
          </a:prstGeom>
          <a:solidFill>
            <a:srgbClr val="FFFFFF"/>
          </a:solidFill>
          <a:ln w="12700">
            <a:solidFill>
              <a:srgbClr val="80ADC4"/>
            </a:solidFill>
            <a:prstDash val="solid"/>
          </a:ln>
        </p:spPr>
      </p:sp>
      <p:sp>
        <p:nvSpPr>
          <p:cNvPr id="27" name="Text 23"/>
          <p:cNvSpPr/>
          <p:nvPr/>
        </p:nvSpPr>
        <p:spPr>
          <a:xfrm>
            <a:off x="1463040" y="4722876"/>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Row 3 — THE NARRATOR. Why let Watson tell it, not Holmes?</a:t>
            </a:r>
            <a:endParaRPr lang="en-US" sz="1800" dirty="0"/>
          </a:p>
        </p:txBody>
      </p:sp>
      <p:sp>
        <p:nvSpPr>
          <p:cNvPr id="28" name="Text 24"/>
          <p:cNvSpPr/>
          <p:nvPr/>
        </p:nvSpPr>
        <p:spPr>
          <a:xfrm>
            <a:off x="548640" y="5383530"/>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4</a:t>
            </a:r>
            <a:endParaRPr lang="en-US" sz="1800" dirty="0"/>
          </a:p>
        </p:txBody>
      </p:sp>
      <p:sp>
        <p:nvSpPr>
          <p:cNvPr id="29" name="Shape 25"/>
          <p:cNvSpPr/>
          <p:nvPr/>
        </p:nvSpPr>
        <p:spPr>
          <a:xfrm>
            <a:off x="1280160" y="5383530"/>
            <a:ext cx="10332720" cy="560070"/>
          </a:xfrm>
          <a:prstGeom prst="roundRect">
            <a:avLst>
              <a:gd name="adj" fmla="val 13061"/>
            </a:avLst>
          </a:prstGeom>
          <a:solidFill>
            <a:srgbClr val="F4F6FA"/>
          </a:solidFill>
          <a:ln w="12700">
            <a:solidFill>
              <a:srgbClr val="80ADC4"/>
            </a:solidFill>
            <a:prstDash val="solid"/>
          </a:ln>
        </p:spPr>
      </p:sp>
      <p:sp>
        <p:nvSpPr>
          <p:cNvPr id="30" name="Text 26"/>
          <p:cNvSpPr/>
          <p:nvPr/>
        </p:nvSpPr>
        <p:spPr>
          <a:xfrm>
            <a:off x="1463040" y="5383530"/>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Row 4 — THE HOOK. Which convention makes you want the next page? One sentence.</a:t>
            </a:r>
            <a:endParaRPr lang="en-US" sz="1800" dirty="0"/>
          </a:p>
        </p:txBody>
      </p:sp>
      <p:sp>
        <p:nvSpPr>
          <p:cNvPr id="31" name="Text 27"/>
          <p:cNvSpPr/>
          <p:nvPr/>
        </p:nvSpPr>
        <p:spPr>
          <a:xfrm>
            <a:off x="548640" y="5998464"/>
            <a:ext cx="11064240" cy="256032"/>
          </a:xfrm>
          <a:prstGeom prst="rect">
            <a:avLst/>
          </a:prstGeom>
          <a:noFill/>
          <a:ln/>
        </p:spPr>
        <p:txBody>
          <a:bodyPr wrap="square" lIns="0" tIns="0" rIns="0" bIns="0" rtlCol="0" anchor="ctr"/>
          <a:lstStyle/>
          <a:p>
            <a:pPr algn="l" indent="0" marL="0">
              <a:buNone/>
            </a:pPr>
            <a:r>
              <a:rPr lang="en-US" sz="1200" i="1" dirty="0">
                <a:solidFill>
                  <a:srgbClr val="6E6E6E"/>
                </a:solidFill>
                <a:latin typeface="Arial" pitchFamily="34" charset="0"/>
                <a:ea typeface="Arial" pitchFamily="34" charset="-122"/>
                <a:cs typeface="Arial" pitchFamily="34" charset="-120"/>
              </a:rPr>
              <a:t>Evidence: EEF Toolkit · Oral language interventions — +6 months, very low cost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award-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Exit ticket — what a strong answer shows</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Three sentences on your exit slip. Did you make these moves?</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D0021B"/>
          </a:solidFill>
          <a:ln>
            <a:solidFill>
              <a:srgbClr val="D0021B"/>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Red-Headed League · What is crime fiction?</a:t>
            </a:r>
            <a:endParaRPr lang="en-US" sz="900" dirty="0"/>
          </a:p>
        </p:txBody>
      </p:sp>
      <p:sp>
        <p:nvSpPr>
          <p:cNvPr id="13" name="Text 10"/>
          <p:cNvSpPr/>
          <p:nvPr/>
        </p:nvSpPr>
        <p:spPr>
          <a:xfrm>
            <a:off x="8961120" y="6702552"/>
            <a:ext cx="2743200" cy="155448"/>
          </a:xfrm>
          <a:prstGeom prst="rect">
            <a:avLst/>
          </a:prstGeom>
          <a:noFill/>
          <a:ln/>
        </p:spPr>
        <p:txBody>
          <a:bodyPr wrap="square" lIns="0" tIns="0" rIns="0" bIns="0" rtlCol="0" anchor="t"/>
          <a:lstStyle/>
          <a:p>
            <a:pPr algn="r" indent="0" marL="0">
              <a:buNone/>
            </a:pPr>
            <a:r>
              <a:rPr lang="en-US" sz="900" dirty="0">
                <a:solidFill>
                  <a:srgbClr val="AAB4C2"/>
                </a:solidFill>
                <a:latin typeface="Arial" pitchFamily="34" charset="0"/>
                <a:ea typeface="Arial" pitchFamily="34" charset="-122"/>
                <a:cs typeface="Arial" pitchFamily="34" charset="-120"/>
              </a:rPr>
              <a:t>THE MOVES</a:t>
            </a:r>
            <a:endParaRPr lang="en-US" sz="900" dirty="0"/>
          </a:p>
        </p:txBody>
      </p:sp>
      <p:sp>
        <p:nvSpPr>
          <p:cNvPr id="14" name="Text 11"/>
          <p:cNvSpPr/>
          <p:nvPr/>
        </p:nvSpPr>
        <p:spPr>
          <a:xfrm>
            <a:off x="548640" y="1783080"/>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Define</a:t>
            </a:r>
            <a:endParaRPr lang="en-US" sz="1600" dirty="0"/>
          </a:p>
        </p:txBody>
      </p:sp>
      <p:sp>
        <p:nvSpPr>
          <p:cNvPr id="15" name="Shape 12"/>
          <p:cNvSpPr/>
          <p:nvPr/>
        </p:nvSpPr>
        <p:spPr>
          <a:xfrm>
            <a:off x="3703320" y="1783080"/>
            <a:ext cx="7909560" cy="914400"/>
          </a:xfrm>
          <a:prstGeom prst="roundRect">
            <a:avLst>
              <a:gd name="adj" fmla="val 6000"/>
            </a:avLst>
          </a:prstGeom>
          <a:solidFill>
            <a:srgbClr val="FEF7E4"/>
          </a:solidFill>
          <a:ln w="12700">
            <a:solidFill>
              <a:srgbClr val="E5D9B0"/>
            </a:solidFill>
            <a:prstDash val="solid"/>
          </a:ln>
        </p:spPr>
      </p:sp>
      <p:sp>
        <p:nvSpPr>
          <p:cNvPr id="16" name="Text 13"/>
          <p:cNvSpPr/>
          <p:nvPr/>
        </p:nvSpPr>
        <p:spPr>
          <a:xfrm>
            <a:off x="3886200" y="1783080"/>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Say what crime fiction is in your own words: puzzle, detective, clues, reveal.</a:t>
            </a:r>
            <a:endParaRPr lang="en-US" sz="1800" dirty="0"/>
          </a:p>
        </p:txBody>
      </p:sp>
      <p:sp>
        <p:nvSpPr>
          <p:cNvPr id="17" name="Text 14"/>
          <p:cNvSpPr/>
          <p:nvPr/>
        </p:nvSpPr>
        <p:spPr>
          <a:xfrm>
            <a:off x="548640" y="2843784"/>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Place it</a:t>
            </a:r>
            <a:endParaRPr lang="en-US" sz="1600" dirty="0"/>
          </a:p>
        </p:txBody>
      </p:sp>
      <p:sp>
        <p:nvSpPr>
          <p:cNvPr id="18" name="Shape 15"/>
          <p:cNvSpPr/>
          <p:nvPr/>
        </p:nvSpPr>
        <p:spPr>
          <a:xfrm>
            <a:off x="3703320" y="2843784"/>
            <a:ext cx="7909560" cy="914400"/>
          </a:xfrm>
          <a:prstGeom prst="roundRect">
            <a:avLst>
              <a:gd name="adj" fmla="val 6000"/>
            </a:avLst>
          </a:prstGeom>
          <a:solidFill>
            <a:srgbClr val="FEF7E4"/>
          </a:solidFill>
          <a:ln w="12700">
            <a:solidFill>
              <a:srgbClr val="E5D9B0"/>
            </a:solidFill>
            <a:prstDash val="solid"/>
          </a:ln>
        </p:spPr>
      </p:sp>
      <p:sp>
        <p:nvSpPr>
          <p:cNvPr id="19" name="Text 16"/>
          <p:cNvSpPr/>
          <p:nvPr/>
        </p:nvSpPr>
        <p:spPr>
          <a:xfrm>
            <a:off x="3886200" y="2843784"/>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Use the word Victorian with one fact about London in 1891.</a:t>
            </a:r>
            <a:endParaRPr lang="en-US" sz="1800" dirty="0"/>
          </a:p>
        </p:txBody>
      </p:sp>
      <p:sp>
        <p:nvSpPr>
          <p:cNvPr id="20" name="Text 17"/>
          <p:cNvSpPr/>
          <p:nvPr/>
        </p:nvSpPr>
        <p:spPr>
          <a:xfrm>
            <a:off x="548640" y="3904488"/>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Decide</a:t>
            </a:r>
            <a:endParaRPr lang="en-US" sz="1600" dirty="0"/>
          </a:p>
        </p:txBody>
      </p:sp>
      <p:sp>
        <p:nvSpPr>
          <p:cNvPr id="21" name="Shape 18"/>
          <p:cNvSpPr/>
          <p:nvPr/>
        </p:nvSpPr>
        <p:spPr>
          <a:xfrm>
            <a:off x="3703320" y="3904488"/>
            <a:ext cx="7909560" cy="914400"/>
          </a:xfrm>
          <a:prstGeom prst="roundRect">
            <a:avLst>
              <a:gd name="adj" fmla="val 6000"/>
            </a:avLst>
          </a:prstGeom>
          <a:solidFill>
            <a:srgbClr val="FEF7E4"/>
          </a:solidFill>
          <a:ln w="12700">
            <a:solidFill>
              <a:srgbClr val="E5D9B0"/>
            </a:solidFill>
            <a:prstDash val="solid"/>
          </a:ln>
        </p:spPr>
      </p:sp>
      <p:sp>
        <p:nvSpPr>
          <p:cNvPr id="22" name="Text 19"/>
          <p:cNvSpPr/>
          <p:nvPr/>
        </p:nvSpPr>
        <p:spPr>
          <a:xfrm>
            <a:off x="3886200" y="3904488"/>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Answer the Big Question: which convention keeps a reader guessing most — and why.</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294D"/>
        </a:solidFill>
      </p:bgPr>
    </p:bg>
    <p:spTree>
      <p:nvGrpSpPr>
        <p:cNvPr id="1" name=""/>
        <p:cNvGrpSpPr/>
        <p:nvPr/>
      </p:nvGrpSpPr>
      <p:grpSpPr>
        <a:xfrm>
          <a:off x="0" y="0"/>
          <a:ext cx="0" cy="0"/>
          <a:chOff x="0" y="0"/>
          <a:chExt cx="0" cy="0"/>
        </a:xfrm>
      </p:grpSpPr>
      <p:sp>
        <p:nvSpPr>
          <p:cNvPr id="2" name="Text 0"/>
          <p:cNvSpPr/>
          <p:nvPr/>
        </p:nvSpPr>
        <p:spPr>
          <a:xfrm>
            <a:off x="548640" y="594360"/>
            <a:ext cx="10058400" cy="365760"/>
          </a:xfrm>
          <a:prstGeom prst="rect">
            <a:avLst/>
          </a:prstGeom>
          <a:noFill/>
          <a:ln/>
        </p:spPr>
        <p:txBody>
          <a:bodyPr wrap="square" lIns="0" tIns="0" rIns="0" bIns="0" rtlCol="0" anchor="ctr"/>
          <a:lstStyle/>
          <a:p>
            <a:pPr indent="0" marL="0">
              <a:buNone/>
            </a:pPr>
            <a:r>
              <a:rPr lang="en-US" sz="1500" b="1" dirty="0">
                <a:solidFill>
                  <a:srgbClr val="FFC93C"/>
                </a:solidFill>
                <a:latin typeface="Arial" pitchFamily="34" charset="0"/>
                <a:ea typeface="Arial" pitchFamily="34" charset="-122"/>
                <a:cs typeface="Arial" pitchFamily="34" charset="-120"/>
              </a:rPr>
              <a:t>BEFORE YOU LEAVE</a:t>
            </a:r>
            <a:endParaRPr lang="en-US" sz="1500" dirty="0"/>
          </a:p>
        </p:txBody>
      </p:sp>
      <p:sp>
        <p:nvSpPr>
          <p:cNvPr id="3" name="Text 1"/>
          <p:cNvSpPr/>
          <p:nvPr/>
        </p:nvSpPr>
        <p:spPr>
          <a:xfrm>
            <a:off x="548640" y="1051560"/>
            <a:ext cx="10515600"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Home learning — the come-back loop</a:t>
            </a:r>
            <a:endParaRPr lang="en-US" sz="3000" dirty="0"/>
          </a:p>
        </p:txBody>
      </p:sp>
      <p:sp>
        <p:nvSpPr>
          <p:cNvPr id="4" name="Shape 2"/>
          <p:cNvSpPr/>
          <p:nvPr/>
        </p:nvSpPr>
        <p:spPr>
          <a:xfrm>
            <a:off x="548640" y="2011680"/>
            <a:ext cx="5349240" cy="1828800"/>
          </a:xfrm>
          <a:prstGeom prst="roundRect">
            <a:avLst>
              <a:gd name="adj" fmla="val 3000"/>
            </a:avLst>
          </a:prstGeom>
          <a:solidFill>
            <a:srgbClr val="1B315C"/>
          </a:solidFill>
          <a:ln w="12700">
            <a:solidFill>
              <a:srgbClr val="80ADC4"/>
            </a:solidFill>
            <a:prstDash val="solid"/>
          </a:ln>
        </p:spPr>
      </p:sp>
      <p:pic>
        <p:nvPicPr>
          <p:cNvPr id="5" name="Image 0" descr="/home/claude/english/kit/decks/_icons/headphones-FFFFFF.png">    </p:cNvPr>
          <p:cNvPicPr>
            <a:picLocks noChangeAspect="1"/>
          </p:cNvPicPr>
          <p:nvPr/>
        </p:nvPicPr>
        <p:blipFill>
          <a:blip r:embed="rId1"/>
          <a:stretch>
            <a:fillRect/>
          </a:stretch>
        </p:blipFill>
        <p:spPr>
          <a:xfrm>
            <a:off x="822960" y="2331720"/>
            <a:ext cx="566928" cy="566928"/>
          </a:xfrm>
          <a:prstGeom prst="rect">
            <a:avLst/>
          </a:prstGeom>
        </p:spPr>
      </p:pic>
      <p:sp>
        <p:nvSpPr>
          <p:cNvPr id="6" name="Text 3"/>
          <p:cNvSpPr/>
          <p:nvPr/>
        </p:nvSpPr>
        <p:spPr>
          <a:xfrm>
            <a:off x="1783080" y="219456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Listen</a:t>
            </a:r>
            <a:endParaRPr lang="en-US" sz="1900" dirty="0"/>
          </a:p>
        </p:txBody>
      </p:sp>
      <p:sp>
        <p:nvSpPr>
          <p:cNvPr id="7" name="Text 4"/>
          <p:cNvSpPr/>
          <p:nvPr/>
        </p:nvSpPr>
        <p:spPr>
          <a:xfrm>
            <a:off x="1783080" y="267004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Open the read-along edition and listen to pages 1 to 3. Tap any sentence you are not sure of.</a:t>
            </a:r>
            <a:endParaRPr lang="en-US" sz="1800" dirty="0"/>
          </a:p>
        </p:txBody>
      </p:sp>
      <p:sp>
        <p:nvSpPr>
          <p:cNvPr id="8" name="Shape 5"/>
          <p:cNvSpPr/>
          <p:nvPr/>
        </p:nvSpPr>
        <p:spPr>
          <a:xfrm>
            <a:off x="6172200" y="2011680"/>
            <a:ext cx="5349240" cy="1828800"/>
          </a:xfrm>
          <a:prstGeom prst="roundRect">
            <a:avLst>
              <a:gd name="adj" fmla="val 3000"/>
            </a:avLst>
          </a:prstGeom>
          <a:solidFill>
            <a:srgbClr val="1B315C"/>
          </a:solidFill>
          <a:ln w="12700">
            <a:solidFill>
              <a:srgbClr val="80ADC4"/>
            </a:solidFill>
            <a:prstDash val="solid"/>
          </a:ln>
        </p:spPr>
      </p:sp>
      <p:pic>
        <p:nvPicPr>
          <p:cNvPr id="9" name="Image 1" descr="/home/claude/english/kit/decks/_icons/search-FFFFFF.png">    </p:cNvPr>
          <p:cNvPicPr>
            <a:picLocks noChangeAspect="1"/>
          </p:cNvPicPr>
          <p:nvPr/>
        </p:nvPicPr>
        <p:blipFill>
          <a:blip r:embed="rId2"/>
          <a:stretch>
            <a:fillRect/>
          </a:stretch>
        </p:blipFill>
        <p:spPr>
          <a:xfrm>
            <a:off x="6446520" y="2331720"/>
            <a:ext cx="566928" cy="566928"/>
          </a:xfrm>
          <a:prstGeom prst="rect">
            <a:avLst/>
          </a:prstGeom>
        </p:spPr>
      </p:pic>
      <p:sp>
        <p:nvSpPr>
          <p:cNvPr id="10" name="Text 6"/>
          <p:cNvSpPr/>
          <p:nvPr/>
        </p:nvSpPr>
        <p:spPr>
          <a:xfrm>
            <a:off x="7406640" y="219456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Find out</a:t>
            </a:r>
            <a:endParaRPr lang="en-US" sz="1900" dirty="0"/>
          </a:p>
        </p:txBody>
      </p:sp>
      <p:sp>
        <p:nvSpPr>
          <p:cNvPr id="11" name="Text 7"/>
          <p:cNvSpPr/>
          <p:nvPr/>
        </p:nvSpPr>
        <p:spPr>
          <a:xfrm>
            <a:off x="7406640" y="267004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Five facts about Victorian England — one each on the city, the police, money, transport and schools.</a:t>
            </a:r>
            <a:endParaRPr lang="en-US" sz="1800" dirty="0"/>
          </a:p>
        </p:txBody>
      </p:sp>
      <p:sp>
        <p:nvSpPr>
          <p:cNvPr id="12" name="Shape 8"/>
          <p:cNvSpPr/>
          <p:nvPr/>
        </p:nvSpPr>
        <p:spPr>
          <a:xfrm>
            <a:off x="548640" y="4023360"/>
            <a:ext cx="5349240" cy="1828800"/>
          </a:xfrm>
          <a:prstGeom prst="roundRect">
            <a:avLst>
              <a:gd name="adj" fmla="val 3000"/>
            </a:avLst>
          </a:prstGeom>
          <a:solidFill>
            <a:srgbClr val="1B315C"/>
          </a:solidFill>
          <a:ln w="12700">
            <a:solidFill>
              <a:srgbClr val="80ADC4"/>
            </a:solidFill>
            <a:prstDash val="solid"/>
          </a:ln>
        </p:spPr>
      </p:sp>
      <p:pic>
        <p:nvPicPr>
          <p:cNvPr id="13" name="Image 2" descr="/home/claude/english/kit/decks/_icons/edit-3-FFFFFF.png">    </p:cNvPr>
          <p:cNvPicPr>
            <a:picLocks noChangeAspect="1"/>
          </p:cNvPicPr>
          <p:nvPr/>
        </p:nvPicPr>
        <p:blipFill>
          <a:blip r:embed="rId3"/>
          <a:stretch>
            <a:fillRect/>
          </a:stretch>
        </p:blipFill>
        <p:spPr>
          <a:xfrm>
            <a:off x="822960" y="4343400"/>
            <a:ext cx="566928" cy="566928"/>
          </a:xfrm>
          <a:prstGeom prst="rect">
            <a:avLst/>
          </a:prstGeom>
        </p:spPr>
      </p:pic>
      <p:sp>
        <p:nvSpPr>
          <p:cNvPr id="14" name="Text 9"/>
          <p:cNvSpPr/>
          <p:nvPr/>
        </p:nvSpPr>
        <p:spPr>
          <a:xfrm>
            <a:off x="1783080" y="420624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Write</a:t>
            </a:r>
            <a:endParaRPr lang="en-US" sz="1900" dirty="0"/>
          </a:p>
        </p:txBody>
      </p:sp>
      <p:sp>
        <p:nvSpPr>
          <p:cNvPr id="15" name="Text 10"/>
          <p:cNvSpPr/>
          <p:nvPr/>
        </p:nvSpPr>
        <p:spPr>
          <a:xfrm>
            <a:off x="1783080" y="468172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Five sentences: what crime fiction is, using genre, detective and clue.</a:t>
            </a:r>
            <a:endParaRPr lang="en-US" sz="1800" dirty="0"/>
          </a:p>
        </p:txBody>
      </p:sp>
      <p:sp>
        <p:nvSpPr>
          <p:cNvPr id="16" name="Shape 11"/>
          <p:cNvSpPr/>
          <p:nvPr/>
        </p:nvSpPr>
        <p:spPr>
          <a:xfrm>
            <a:off x="6172200" y="4023360"/>
            <a:ext cx="5349240" cy="1828800"/>
          </a:xfrm>
          <a:prstGeom prst="roundRect">
            <a:avLst>
              <a:gd name="adj" fmla="val 3000"/>
            </a:avLst>
          </a:prstGeom>
          <a:solidFill>
            <a:srgbClr val="1B315C"/>
          </a:solidFill>
          <a:ln w="12700">
            <a:solidFill>
              <a:srgbClr val="80ADC4"/>
            </a:solidFill>
            <a:prstDash val="solid"/>
          </a:ln>
        </p:spPr>
      </p:sp>
      <p:pic>
        <p:nvPicPr>
          <p:cNvPr id="17" name="Image 3" descr="/home/claude/english/kit/decks/_icons/repeat-FFFFFF.png">    </p:cNvPr>
          <p:cNvPicPr>
            <a:picLocks noChangeAspect="1"/>
          </p:cNvPicPr>
          <p:nvPr/>
        </p:nvPicPr>
        <p:blipFill>
          <a:blip r:embed="rId4"/>
          <a:stretch>
            <a:fillRect/>
          </a:stretch>
        </p:blipFill>
        <p:spPr>
          <a:xfrm>
            <a:off x="6446520" y="4343400"/>
            <a:ext cx="566928" cy="566928"/>
          </a:xfrm>
          <a:prstGeom prst="rect">
            <a:avLst/>
          </a:prstGeom>
        </p:spPr>
      </p:pic>
      <p:sp>
        <p:nvSpPr>
          <p:cNvPr id="18" name="Text 12"/>
          <p:cNvSpPr/>
          <p:nvPr/>
        </p:nvSpPr>
        <p:spPr>
          <a:xfrm>
            <a:off x="7406640" y="420624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Return</a:t>
            </a:r>
            <a:endParaRPr lang="en-US" sz="1900" dirty="0"/>
          </a:p>
        </p:txBody>
      </p:sp>
      <p:sp>
        <p:nvSpPr>
          <p:cNvPr id="19" name="Text 13"/>
          <p:cNvSpPr/>
          <p:nvPr/>
        </p:nvSpPr>
        <p:spPr>
          <a:xfrm>
            <a:off x="7406640" y="468172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This lesson's bell questions come back next week as a retrieval quiz. Can you beat your score of /5?</a:t>
            </a:r>
            <a:endParaRPr lang="en-US" sz="1800" dirty="0"/>
          </a:p>
        </p:txBody>
      </p:sp>
      <p:sp>
        <p:nvSpPr>
          <p:cNvPr id="20" name="Text 14"/>
          <p:cNvSpPr/>
          <p:nvPr/>
        </p:nvSpPr>
        <p:spPr>
          <a:xfrm>
            <a:off x="548640" y="6309360"/>
            <a:ext cx="10058400" cy="365760"/>
          </a:xfrm>
          <a:prstGeom prst="rect">
            <a:avLst/>
          </a:prstGeom>
          <a:noFill/>
          <a:ln/>
        </p:spPr>
        <p:txBody>
          <a:bodyPr wrap="square" lIns="0" tIns="0" rIns="0" bIns="0" rtlCol="0" anchor="ctr"/>
          <a:lstStyle/>
          <a:p>
            <a:pPr indent="0" marL="0">
              <a:buNone/>
            </a:pPr>
            <a:r>
              <a:rPr lang="en-US" sz="1200" i="1" dirty="0">
                <a:solidFill>
                  <a:srgbClr val="8FA6C4"/>
                </a:solidFill>
                <a:latin typeface="Arial" pitchFamily="34" charset="0"/>
                <a:ea typeface="Arial" pitchFamily="34" charset="-122"/>
                <a:cs typeface="Arial" pitchFamily="34" charset="-120"/>
              </a:rPr>
              <a:t>Harlington English · The Red-Headed League · Lesson 1 of 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Red-Headed League · L1 What is crime fiction?</dc:title>
  <dc:subject>PptxGenJS Presentation</dc:subject>
  <dc:creator>Harlington English</dc:creator>
  <cp:lastModifiedBy>Harlington English</cp:lastModifiedBy>
  <cp:revision>1</cp:revision>
  <dcterms:created xsi:type="dcterms:W3CDTF">2026-09-04T20:58:59Z</dcterms:created>
  <dcterms:modified xsi:type="dcterms:W3CDTF">2026-09-04T20:58:59Z</dcterms:modified>
</cp:coreProperties>
</file>