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595360" cy="960120"/>
          </a:xfrm>
          <a:prstGeom prst="roundRect">
            <a:avLst>
              <a:gd name="adj" fmla="val 7619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572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YEAR 7 · THE RED-HEADED LEAGUE · LESSON 5 of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731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an unseen short story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235440" y="36576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pic>
        <p:nvPicPr>
          <p:cNvPr id="6" name="Image 0" descr="/home/claude/english/kit/decks/_icons/bell-1229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566928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12680" y="5029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WORK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12680" y="8412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6 minutes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— no notes. Answer all five, then say one in a full sentence. Score yourself /5.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1965960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34440" y="1965960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four tools for building tension.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8640" y="2770632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34440" y="2770632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red herring?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48640" y="3575304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34440" y="3575304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deduction? Give Holmes's deduction about the knees.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4379976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34440" y="4379976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the narrator of The Red-Headed League, and why him?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48640" y="5184648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34440" y="5184648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the League really for?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Red-Headed League · Reading an unseen short story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595360" cy="777240"/>
          </a:xfrm>
          <a:prstGeom prst="roundRect">
            <a:avLst>
              <a:gd name="adj" fmla="val 8235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Red-Headed League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326880" y="4023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326880" y="713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is the Curriculum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383280" cy="4617720"/>
          </a:xfrm>
          <a:prstGeom prst="roundRect">
            <a:avLst>
              <a:gd name="adj" fmla="val 216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8" name="Image 0" descr="/home/claude/english/kit/decks/_icons/layers-1229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92224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7922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WE'VE BEEN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" y="2340864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340864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L1: the conventions of crime fiction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" y="3127248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127248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L2: plot and character in the League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85800" y="3913632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913632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L3: analysing Victorian language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85800" y="4700016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4700016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L4: extended writing on tension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11480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UNIT, LESSON BY LESSON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114800" y="2194560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242816" y="2249424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736592" y="2194560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crime fiction?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114800" y="2761488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42816" y="2816352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736592" y="2761488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League: plot and character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114800" y="3328416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242816" y="3383280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736592" y="3328416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Analysing Victorian language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114800" y="3895344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242816" y="3950208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736592" y="3895344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 writing: tension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114800" y="4462272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242816" y="4517136"/>
            <a:ext cx="310896" cy="310896"/>
          </a:xfrm>
          <a:prstGeom prst="ellipse">
            <a:avLst/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736592" y="4462272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an unseen short story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8321040" y="1600200"/>
            <a:ext cx="3383280" cy="4617720"/>
          </a:xfrm>
          <a:prstGeom prst="roundRect">
            <a:avLst>
              <a:gd name="adj" fmla="val 216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35" name="Image 1" descr="/home/claude/english/kit/decks/_icons/flag-12294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792224"/>
            <a:ext cx="365760" cy="36576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9006840" y="17922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WE'RE GOING</a:t>
            </a:r>
            <a:endParaRPr lang="en-US" sz="1400" dirty="0"/>
          </a:p>
        </p:txBody>
      </p:sp>
      <p:sp>
        <p:nvSpPr>
          <p:cNvPr id="37" name="Shape 33"/>
          <p:cNvSpPr/>
          <p:nvPr/>
        </p:nvSpPr>
        <p:spPr>
          <a:xfrm>
            <a:off x="8549640" y="2340864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8686800" y="2340864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HT5: Travel writing — making a real place alive</a:t>
            </a:r>
            <a:endParaRPr lang="en-US" sz="1400" dirty="0"/>
          </a:p>
        </p:txBody>
      </p:sp>
      <p:sp>
        <p:nvSpPr>
          <p:cNvPr id="39" name="Shape 35"/>
          <p:cNvSpPr/>
          <p:nvPr/>
        </p:nvSpPr>
        <p:spPr>
          <a:xfrm>
            <a:off x="8549640" y="3236976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8686800" y="3236976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HT6: Binti — the modern novel</a:t>
            </a:r>
            <a:endParaRPr lang="en-US" sz="1400" dirty="0"/>
          </a:p>
        </p:txBody>
      </p:sp>
      <p:sp>
        <p:nvSpPr>
          <p:cNvPr id="41" name="Shape 37"/>
          <p:cNvSpPr/>
          <p:nvPr/>
        </p:nvSpPr>
        <p:spPr>
          <a:xfrm>
            <a:off x="8549640" y="4133088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8686800" y="4133088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8: the novel and the short story</a:t>
            </a:r>
            <a:endParaRPr lang="en-US" sz="1400" dirty="0"/>
          </a:p>
        </p:txBody>
      </p:sp>
      <p:sp>
        <p:nvSpPr>
          <p:cNvPr id="43" name="Shape 39"/>
          <p:cNvSpPr/>
          <p:nvPr/>
        </p:nvSpPr>
        <p:spPr>
          <a:xfrm>
            <a:off x="8549640" y="5120640"/>
            <a:ext cx="2926080" cy="960120"/>
          </a:xfrm>
          <a:prstGeom prst="roundRect">
            <a:avLst>
              <a:gd name="adj" fmla="val 5714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8732520" y="5120640"/>
            <a:ext cx="260604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lesson answers one BIG QUESTION. Every question builds the next.</a:t>
            </a:r>
            <a:endParaRPr lang="en-US" sz="1400" dirty="0"/>
          </a:p>
        </p:txBody>
      </p:sp>
      <p:sp>
        <p:nvSpPr>
          <p:cNvPr id="45" name="Text 4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School  ·  The Red-Headed League  ·  Reading an unseen short story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5 · READING AN UNSEEN SHORT STORY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will…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aims climb Bloom's taxonomy — and you will see which step every task is on, all lesson.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108960" y="2606040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00A0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2606040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an unseen short story and say what happens, who wants what, and what is withheld.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621024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108960" y="3621024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6C3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3621024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the unit's tools — conventions, clues, word choice, tension — to a story you have never read.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636008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108960" y="4636008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D002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4636008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whether the new writer plays fair with the reader, and compare them with Conan Doyle.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= a full answer to the Big Question by the end. Everything today builds to it.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check-circle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work — mark it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honestly. Under 3? Re-read tonight.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Red-Headed League · Reading an unseen short story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0" y="670255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48640" y="173736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1764792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Name the four tools for building tension.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309360" y="1764792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Waiting, the senses, short sentences, withholding.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2633472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2660904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What is a red herring?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309360" y="2660904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false clue that leads the reader (or detective) the wrong way.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48640" y="3529584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" y="3557016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What is deduction? Give Holmes's deduction about the knees.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309360" y="3557016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it out step by step from evidence: dirty knees → kneeling → digging.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48640" y="4425696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" y="4453128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Who is the narrator of The Red-Headed League, and why him?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309360" y="4453128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Watson — he sees what Holmes sees but understands it later, so we guess with him.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548640" y="5321808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5349240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What was the League really for?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309360" y="5349240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trick to keep Mr Wilson out of his shop every morning while Clay dug the tunnel.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key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words — go deeper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the meaning — the DEEP explanation. Take each key word from meaning to mastery.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Red-Headed League · Reading an unseen short story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MEAN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58368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what it means in your own words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346704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80ADC4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38144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USE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456432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it in a sentence of your own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144768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36208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SPOT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254496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it in today's text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942832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034272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LINK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052560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it to the Big Question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the four steps for EACH key word: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548640" y="3401568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unseen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3566160" y="3401568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text you meet for the first time in the exam or lesson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548640" y="3972154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3566160" y="3972154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work out what the writer means but does not say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548640" y="4542739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herring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3566160" y="4542739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false clue that leads the reader the wrong way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548640" y="5113325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annotate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3566160" y="5113325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write notes on a text as you read it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548640" y="5683910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3566160" y="5683910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show how two things are alike and how they differ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book-open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like a detective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unseen reading scaffold. Four passes through any new story.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Red-Headed League · Reading an unseen short story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606040" cy="889254"/>
          </a:xfrm>
          <a:prstGeom prst="roundRect">
            <a:avLst>
              <a:gd name="adj" fmla="val 10283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SKIM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291840" y="1783080"/>
            <a:ext cx="8321040" cy="889254"/>
          </a:xfrm>
          <a:prstGeom prst="roundRect">
            <a:avLst>
              <a:gd name="adj" fmla="val 8226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56432" y="1783080"/>
            <a:ext cx="8001000" cy="88925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it once, fast. Who is here, where are we, what has happened? One sentence.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782062"/>
            <a:ext cx="2606040" cy="889254"/>
          </a:xfrm>
          <a:prstGeom prst="roundRect">
            <a:avLst>
              <a:gd name="adj" fmla="val 10283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HUNT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291840" y="2782062"/>
            <a:ext cx="8321040" cy="889254"/>
          </a:xfrm>
          <a:prstGeom prst="roundRect">
            <a:avLst>
              <a:gd name="adj" fmla="val 8226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56432" y="2782062"/>
            <a:ext cx="8001000" cy="88925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again with a pencil. Circle every small fact that could be a clue — or a red herring.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781044"/>
            <a:ext cx="2606040" cy="889254"/>
          </a:xfrm>
          <a:prstGeom prst="roundRect">
            <a:avLst>
              <a:gd name="adj" fmla="val 10283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INFER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291840" y="3781044"/>
            <a:ext cx="8321040" cy="889254"/>
          </a:xfrm>
          <a:prstGeom prst="roundRect">
            <a:avLst>
              <a:gd name="adj" fmla="val 8226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56432" y="3781044"/>
            <a:ext cx="8001000" cy="88925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writer make you think without saying it? Write one thing you worked out.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4780026"/>
            <a:ext cx="2606040" cy="889254"/>
          </a:xfrm>
          <a:prstGeom prst="roundRect">
            <a:avLst>
              <a:gd name="adj" fmla="val 10283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JUDGE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291840" y="4780026"/>
            <a:ext cx="8321040" cy="889254"/>
          </a:xfrm>
          <a:prstGeom prst="roundRect">
            <a:avLst>
              <a:gd name="adj" fmla="val 8226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56432" y="4780026"/>
            <a:ext cx="8001000" cy="88925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the writer play fair? Could you have guessed? Compare with Conan Doyle.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  Skim · hunt · infer · judge. Four passes, every time.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file-text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unseen story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9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original short crime story. Skim it first, then hunt with a pencil. Do not talk yet.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Red-Headed League · Reading an unseen short story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6949440" cy="4343400"/>
          </a:xfrm>
          <a:prstGeom prst="roundRect">
            <a:avLst>
              <a:gd name="adj" fmla="val 1263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18745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STORY WRITTEN FOR THIS LESSON — 'THE EMPTY FRAME'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85800" y="2176272"/>
            <a:ext cx="6675120" cy="3840480"/>
          </a:xfrm>
          <a:prstGeom prst="rect">
            <a:avLst/>
          </a:prstGeom>
          <a:noFill/>
          <a:ln/>
        </p:spPr>
        <p:txBody>
          <a:bodyPr wrap="square" lIns="91440" tIns="137160" rIns="137160" bIns="9144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painting had gone, but the frame still hung on the wall, holding a square of nothing. Mrs Okafor, the housekeeper, said the window had been shut all night. The nephew said he had been asleep. The gardener said he had heard a car at two, and everybody turned to look at him. Inspector Rai looked instead at the carpet, where a faint line of dust ran from the frame to the door — and stopped at a pair of slippers. 'A car,' she said. 'How useful. Now, whose slippers are these?' The nephew went very quiet.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726680" y="1783080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321040" y="1783080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66760" y="1783080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SKIM — what has happened, and who are the four people?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726680" y="2889504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321040" y="2889504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66760" y="2889504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 — circle three small facts. Which one is the red herring?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726680" y="3995928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8321040" y="3995928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66760" y="3995928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 — what does the writer let us work out from the dust?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726680" y="5102352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8321040" y="5102352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366760" y="5102352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— could a reader have guessed? Did the writer play fair?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pic>
        <p:nvPicPr>
          <p:cNvPr id="3" name="Image 0" descr="/home/claude/english/kit/decks/_icons/user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FE6F0"/>
          </a:solidFill>
          <a:ln>
            <a:solidFill>
              <a:srgbClr val="EFE6F0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· reciprocal reading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10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 of four. Each takes a role for one pass, then rotate.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Red-Headed League · Reading an unseen short story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7772400" cy="457200"/>
          </a:xfrm>
          <a:prstGeom prst="roundRect">
            <a:avLst>
              <a:gd name="adj" fmla="val 20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14" name="Image 1" descr="/home/claude/english/kit/decks/_icons/users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063" y="1888236"/>
            <a:ext cx="246888" cy="2468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32823" y="1783080"/>
            <a:ext cx="2444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WORK · ROLES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48640" y="23774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77240" y="23774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FOCUS: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2697480" y="2377440"/>
            <a:ext cx="873252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writer of 'The Empty Frame' doing to keep us guessing?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548640" y="3401568"/>
            <a:ext cx="427939" cy="427939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1280160" y="3401568"/>
            <a:ext cx="10332720" cy="427939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463040" y="3401568"/>
            <a:ext cx="10058400" cy="42793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SUMMARISER — retell the story in three sentences.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548640" y="3930091"/>
            <a:ext cx="427939" cy="427939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1280160" y="3930091"/>
            <a:ext cx="10332720" cy="427939"/>
          </a:xfrm>
          <a:prstGeom prst="roundRect">
            <a:avLst>
              <a:gd name="adj" fmla="val 17094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463040" y="3930091"/>
            <a:ext cx="10058400" cy="42793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QUESTIONER — ask two questions the story does not answer yet.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548640" y="4458614"/>
            <a:ext cx="427939" cy="427939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1280160" y="4458614"/>
            <a:ext cx="10332720" cy="427939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463040" y="4458614"/>
            <a:ext cx="10058400" cy="42793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CLARIFIER — pick one hard word or line and explain it to the group.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548640" y="4987138"/>
            <a:ext cx="427939" cy="427939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1280160" y="4987138"/>
            <a:ext cx="10332720" cy="427939"/>
          </a:xfrm>
          <a:prstGeom prst="roundRect">
            <a:avLst>
              <a:gd name="adj" fmla="val 17094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463040" y="4987138"/>
            <a:ext cx="10058400" cy="42793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PREDICTOR — say what happens next, using one clue from the text.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548640" y="5515661"/>
            <a:ext cx="427939" cy="427939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Shape 28"/>
          <p:cNvSpPr/>
          <p:nvPr/>
        </p:nvSpPr>
        <p:spPr>
          <a:xfrm>
            <a:off x="1280160" y="5515661"/>
            <a:ext cx="10332720" cy="427939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463040" y="5515661"/>
            <a:ext cx="10058400" cy="42793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Rotate roles and repeat on the last three lines.</a:t>
            </a:r>
            <a:endParaRPr lang="en-US" sz="1800" dirty="0"/>
          </a:p>
        </p:txBody>
      </p:sp>
      <p:sp>
        <p:nvSpPr>
          <p:cNvPr id="34" name="Text 30"/>
          <p:cNvSpPr/>
          <p:nvPr/>
        </p:nvSpPr>
        <p:spPr>
          <a:xfrm>
            <a:off x="548640" y="599846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EEF Toolkit · Reading comprehension strategies — +6 months, very low cost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pic>
        <p:nvPicPr>
          <p:cNvPr id="3" name="Image 0" descr="/home/claude/english/kit/decks/_icons/column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FE6F0"/>
          </a:solidFill>
          <a:ln>
            <a:solidFill>
              <a:srgbClr val="EFE6F0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 by side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8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Conan Doyle and the unseen writer use the same tools — differently.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Red-Headed League · Reading an unseen short story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828800"/>
            <a:ext cx="5417820" cy="868680"/>
          </a:xfrm>
          <a:prstGeom prst="roundRect">
            <a:avLst>
              <a:gd name="adj" fmla="val 8421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1874520"/>
            <a:ext cx="52349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RED-HEADED LEAGUE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0080" y="2331720"/>
            <a:ext cx="52349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4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Conan Doyle, 1891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2788920"/>
            <a:ext cx="5417820" cy="3291840"/>
          </a:xfrm>
          <a:prstGeom prst="roundRect">
            <a:avLst>
              <a:gd name="adj" fmla="val 1667"/>
            </a:avLst>
          </a:prstGeom>
          <a:solidFill>
            <a:srgbClr val="FBF0D8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2880360"/>
            <a:ext cx="5198364" cy="31089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Clues: half wages, the cellar, the knees. Red herring: the League itself. Narrator: Watson, always one step behind.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6195060" y="1828800"/>
            <a:ext cx="5417820" cy="868680"/>
          </a:xfrm>
          <a:prstGeom prst="roundRect">
            <a:avLst>
              <a:gd name="adj" fmla="val 8421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86500" y="1874520"/>
            <a:ext cx="52349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EMPTY FRAME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286500" y="2331720"/>
            <a:ext cx="52349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4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unseen, today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195060" y="2788920"/>
            <a:ext cx="5417820" cy="3291840"/>
          </a:xfrm>
          <a:prstGeom prst="roundRect">
            <a:avLst>
              <a:gd name="adj" fmla="val 1667"/>
            </a:avLst>
          </a:prstGeom>
          <a:solidFill>
            <a:srgbClr val="E4F3EF"/>
          </a:solidFill>
          <a:ln w="12700">
            <a:solidFill>
              <a:srgbClr val="00A08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04788" y="2880360"/>
            <a:ext cx="5198364" cy="31089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Clues: the shut window, the dust, the slippers. Red herring: the car at two. Narrator: outside, watching the Inspector.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pic>
        <p:nvPicPr>
          <p:cNvPr id="3" name="Image 0" descr="/home/claude/english/kit/decks/_icons/bar-chart-2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FDE6E9"/>
          </a:solidFill>
          <a:ln>
            <a:solidFill>
              <a:srgbClr val="FDE6E9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Climb the ladder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13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sentences. The top rung answers the unit's Big Question.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Red-Headed League · Reading an unseen short story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834640" y="1783080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17520" y="1783080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has happened in 'The Empty Frame', and who is the suspect at the end?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679192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834640" y="2679192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17520" y="2679192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everybody 'turn to look' at the gardener? What is the writer doing to us?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575304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2834640" y="3575304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017520" y="3575304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the dust with the trouser knees. What do both writers make us do?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4471416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2834640" y="4471416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EFE6F0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017520" y="4471416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a writer keep a reader guessing? Answer with one example from each story.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LEAVE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learning — the come-back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5" name="Image 0" descr="/home/claude/english/kit/decks/_icons/book-open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3172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783080" y="267004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unseen story sheet. Annotate it with the four passes: skim, hunt, infer, judge.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172200" y="201168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9" name="Image 1" descr="/home/claude/english/kit/decks/_icons/headphones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331720"/>
            <a:ext cx="566928" cy="5669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0664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7406640" y="267004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read-along edition and finish the retell module — the whole story in eight pictures.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548640" y="402336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13" name="Image 2" descr="/home/claude/english/kit/decks/_icons/edit-3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343400"/>
            <a:ext cx="566928" cy="5669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83080" y="4206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1783080" y="468172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paragraph answering the Big Question, using one example from each story.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172200" y="402336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17" name="Image 3" descr="/home/claude/english/kit/decks/_icons/repeat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343400"/>
            <a:ext cx="566928" cy="5669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06640" y="4206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7406640" y="468172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Easter: travel writing. Keep your list of tension tools — real places need them too.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Red-Headed League · Lesson 5 of 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Edu.Ai SV Digital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Red-Headed League · L5 Reading an unseen short story</dc:title>
  <dc:subject>PptxGenJS Presentation</dc:subject>
  <dc:creator>Harlington English</dc:creator>
  <cp:lastModifiedBy>Harlington English</cp:lastModifiedBy>
  <cp:revision>1</cp:revision>
  <dcterms:created xsi:type="dcterms:W3CDTF">2026-09-04T20:58:59Z</dcterms:created>
  <dcterms:modified xsi:type="dcterms:W3CDTF">2026-09-04T20:58:59Z</dcterms:modified>
</cp:coreProperties>
</file>