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2.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65760"/>
            <a:ext cx="8595360" cy="960120"/>
          </a:xfrm>
          <a:prstGeom prst="roundRect">
            <a:avLst>
              <a:gd name="adj" fmla="val 7619"/>
            </a:avLst>
          </a:prstGeom>
          <a:solidFill>
            <a:srgbClr val="12294D"/>
          </a:solidFill>
          <a:ln w="12700">
            <a:solidFill>
              <a:srgbClr val="12294D"/>
            </a:solidFill>
            <a:prstDash val="solid"/>
          </a:ln>
        </p:spPr>
      </p:sp>
      <p:sp>
        <p:nvSpPr>
          <p:cNvPr id="3" name="Text 1"/>
          <p:cNvSpPr/>
          <p:nvPr/>
        </p:nvSpPr>
        <p:spPr>
          <a:xfrm>
            <a:off x="777240" y="457200"/>
            <a:ext cx="8046720" cy="292608"/>
          </a:xfrm>
          <a:prstGeom prst="rect">
            <a:avLst/>
          </a:prstGeom>
          <a:noFill/>
          <a:ln/>
        </p:spPr>
        <p:txBody>
          <a:bodyPr wrap="square" lIns="0" tIns="0" rIns="0" bIns="0" rtlCol="0" anchor="ctr"/>
          <a:lstStyle/>
          <a:p>
            <a:pPr indent="0" marL="0">
              <a:buNone/>
            </a:pPr>
            <a:r>
              <a:rPr lang="en-US" sz="1100" b="1" dirty="0">
                <a:solidFill>
                  <a:srgbClr val="FFC93C"/>
                </a:solidFill>
                <a:latin typeface="Arial" pitchFamily="34" charset="0"/>
                <a:ea typeface="Arial" pitchFamily="34" charset="-122"/>
                <a:cs typeface="Arial" pitchFamily="34" charset="-120"/>
              </a:rPr>
              <a:t>HARLINGTON ENGLISH · YEAR 7 · THE RED-HEADED LEAGUE · LESSON 3 of 5</a:t>
            </a:r>
            <a:endParaRPr lang="en-US" sz="1100" dirty="0"/>
          </a:p>
        </p:txBody>
      </p:sp>
      <p:sp>
        <p:nvSpPr>
          <p:cNvPr id="4" name="Text 2"/>
          <p:cNvSpPr/>
          <p:nvPr/>
        </p:nvSpPr>
        <p:spPr>
          <a:xfrm>
            <a:off x="777240" y="731520"/>
            <a:ext cx="813816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Analysing Victorian language</a:t>
            </a:r>
            <a:endParaRPr lang="en-US" sz="2600" dirty="0"/>
          </a:p>
        </p:txBody>
      </p:sp>
      <p:sp>
        <p:nvSpPr>
          <p:cNvPr id="5" name="Shape 3"/>
          <p:cNvSpPr/>
          <p:nvPr/>
        </p:nvSpPr>
        <p:spPr>
          <a:xfrm>
            <a:off x="9235440" y="365760"/>
            <a:ext cx="2468880" cy="960120"/>
          </a:xfrm>
          <a:prstGeom prst="roundRect">
            <a:avLst>
              <a:gd name="adj" fmla="val 9524"/>
            </a:avLst>
          </a:prstGeom>
          <a:solidFill>
            <a:srgbClr val="FFC93C"/>
          </a:solidFill>
          <a:ln w="12700">
            <a:solidFill>
              <a:srgbClr val="FFC93C"/>
            </a:solidFill>
            <a:prstDash val="solid"/>
          </a:ln>
        </p:spPr>
      </p:sp>
      <p:pic>
        <p:nvPicPr>
          <p:cNvPr id="6" name="Image 0" descr="/home/claude/english/kit/decks/_icons/bell-12294D.png">    </p:cNvPr>
          <p:cNvPicPr>
            <a:picLocks noChangeAspect="1"/>
          </p:cNvPicPr>
          <p:nvPr/>
        </p:nvPicPr>
        <p:blipFill>
          <a:blip r:embed="rId1"/>
          <a:stretch>
            <a:fillRect/>
          </a:stretch>
        </p:blipFill>
        <p:spPr>
          <a:xfrm>
            <a:off x="9418320" y="566928"/>
            <a:ext cx="548640" cy="548640"/>
          </a:xfrm>
          <a:prstGeom prst="rect">
            <a:avLst/>
          </a:prstGeom>
        </p:spPr>
      </p:pic>
      <p:sp>
        <p:nvSpPr>
          <p:cNvPr id="7" name="Text 4"/>
          <p:cNvSpPr/>
          <p:nvPr/>
        </p:nvSpPr>
        <p:spPr>
          <a:xfrm>
            <a:off x="10012680" y="502920"/>
            <a:ext cx="1600200" cy="320040"/>
          </a:xfrm>
          <a:prstGeom prst="rect">
            <a:avLst/>
          </a:prstGeom>
          <a:noFill/>
          <a:ln/>
        </p:spPr>
        <p:txBody>
          <a:bodyPr wrap="square" lIns="0" tIns="0" rIns="0" bIns="0" rtlCol="0" anchor="ctr"/>
          <a:lstStyle/>
          <a:p>
            <a:pPr indent="0" marL="0">
              <a:buNone/>
            </a:pPr>
            <a:r>
              <a:rPr lang="en-US" sz="1500" b="1" dirty="0">
                <a:solidFill>
                  <a:srgbClr val="12294D"/>
                </a:solidFill>
                <a:latin typeface="Arial" pitchFamily="34" charset="0"/>
                <a:ea typeface="Arial" pitchFamily="34" charset="-122"/>
                <a:cs typeface="Arial" pitchFamily="34" charset="-120"/>
              </a:rPr>
              <a:t>BELL WORK</a:t>
            </a:r>
            <a:endParaRPr lang="en-US" sz="1500" dirty="0"/>
          </a:p>
        </p:txBody>
      </p:sp>
      <p:sp>
        <p:nvSpPr>
          <p:cNvPr id="8" name="Text 5"/>
          <p:cNvSpPr/>
          <p:nvPr/>
        </p:nvSpPr>
        <p:spPr>
          <a:xfrm>
            <a:off x="10012680" y="841248"/>
            <a:ext cx="1600200" cy="320040"/>
          </a:xfrm>
          <a:prstGeom prst="rect">
            <a:avLst/>
          </a:prstGeom>
          <a:noFill/>
          <a:ln/>
        </p:spPr>
        <p:txBody>
          <a:bodyPr wrap="square" lIns="0" tIns="0" rIns="0" bIns="0" rtlCol="0" anchor="ctr"/>
          <a:lstStyle/>
          <a:p>
            <a:pPr indent="0" marL="0">
              <a:buNone/>
            </a:pPr>
            <a:r>
              <a:rPr lang="en-US" sz="1300" b="1" dirty="0">
                <a:solidFill>
                  <a:srgbClr val="12294D"/>
                </a:solidFill>
                <a:latin typeface="Arial" pitchFamily="34" charset="0"/>
                <a:ea typeface="Arial" pitchFamily="34" charset="-122"/>
                <a:cs typeface="Arial" pitchFamily="34" charset="-120"/>
              </a:rPr>
              <a:t>⏱ 6 minutes</a:t>
            </a:r>
            <a:endParaRPr lang="en-US" sz="1300" dirty="0"/>
          </a:p>
        </p:txBody>
      </p:sp>
      <p:sp>
        <p:nvSpPr>
          <p:cNvPr id="9" name="Text 6"/>
          <p:cNvSpPr/>
          <p:nvPr/>
        </p:nvSpPr>
        <p:spPr>
          <a:xfrm>
            <a:off x="457200" y="1463040"/>
            <a:ext cx="11247120" cy="365760"/>
          </a:xfrm>
          <a:prstGeom prst="rect">
            <a:avLst/>
          </a:prstGeom>
          <a:noFill/>
          <a:ln/>
        </p:spPr>
        <p:txBody>
          <a:bodyPr wrap="square" lIns="0" tIns="0" rIns="0" bIns="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Retrieval — no notes. Answer all five, then say one in a full sentence. Score yourself /5.</a:t>
            </a:r>
            <a:endParaRPr lang="en-US" sz="1500" dirty="0"/>
          </a:p>
        </p:txBody>
      </p:sp>
      <p:sp>
        <p:nvSpPr>
          <p:cNvPr id="10" name="Text 7"/>
          <p:cNvSpPr/>
          <p:nvPr/>
        </p:nvSpPr>
        <p:spPr>
          <a:xfrm>
            <a:off x="548640" y="1965960"/>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1</a:t>
            </a:r>
            <a:endParaRPr lang="en-US" sz="1800" dirty="0"/>
          </a:p>
        </p:txBody>
      </p:sp>
      <p:sp>
        <p:nvSpPr>
          <p:cNvPr id="11" name="Text 8"/>
          <p:cNvSpPr/>
          <p:nvPr/>
        </p:nvSpPr>
        <p:spPr>
          <a:xfrm>
            <a:off x="1234440" y="1965960"/>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is a pawnbroker?</a:t>
            </a:r>
            <a:endParaRPr lang="en-US" sz="1800" dirty="0"/>
          </a:p>
        </p:txBody>
      </p:sp>
      <p:sp>
        <p:nvSpPr>
          <p:cNvPr id="12" name="Text 9"/>
          <p:cNvSpPr/>
          <p:nvPr/>
        </p:nvSpPr>
        <p:spPr>
          <a:xfrm>
            <a:off x="548640" y="2770632"/>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2</a:t>
            </a:r>
            <a:endParaRPr lang="en-US" sz="1800" dirty="0"/>
          </a:p>
        </p:txBody>
      </p:sp>
      <p:sp>
        <p:nvSpPr>
          <p:cNvPr id="13" name="Text 10"/>
          <p:cNvSpPr/>
          <p:nvPr/>
        </p:nvSpPr>
        <p:spPr>
          <a:xfrm>
            <a:off x="1234440" y="2770632"/>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Who is Vincent Spaulding really?</a:t>
            </a:r>
            <a:endParaRPr lang="en-US" sz="1800" dirty="0"/>
          </a:p>
        </p:txBody>
      </p:sp>
      <p:sp>
        <p:nvSpPr>
          <p:cNvPr id="14" name="Text 11"/>
          <p:cNvSpPr/>
          <p:nvPr/>
        </p:nvSpPr>
        <p:spPr>
          <a:xfrm>
            <a:off x="548640" y="3575304"/>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3</a:t>
            </a:r>
            <a:endParaRPr lang="en-US" sz="1800" dirty="0"/>
          </a:p>
        </p:txBody>
      </p:sp>
      <p:sp>
        <p:nvSpPr>
          <p:cNvPr id="15" name="Text 12"/>
          <p:cNvSpPr/>
          <p:nvPr/>
        </p:nvSpPr>
        <p:spPr>
          <a:xfrm>
            <a:off x="1234440" y="3575304"/>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Why did Spaulding offer to work for half wages?</a:t>
            </a:r>
            <a:endParaRPr lang="en-US" sz="1800" dirty="0"/>
          </a:p>
        </p:txBody>
      </p:sp>
      <p:sp>
        <p:nvSpPr>
          <p:cNvPr id="16" name="Text 13"/>
          <p:cNvSpPr/>
          <p:nvPr/>
        </p:nvSpPr>
        <p:spPr>
          <a:xfrm>
            <a:off x="548640" y="4379976"/>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4</a:t>
            </a:r>
            <a:endParaRPr lang="en-US" sz="1800" dirty="0"/>
          </a:p>
        </p:txBody>
      </p:sp>
      <p:sp>
        <p:nvSpPr>
          <p:cNvPr id="17" name="Text 14"/>
          <p:cNvSpPr/>
          <p:nvPr/>
        </p:nvSpPr>
        <p:spPr>
          <a:xfrm>
            <a:off x="1234440" y="4379976"/>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Name two things Holmes did outside the shop.</a:t>
            </a:r>
            <a:endParaRPr lang="en-US" sz="1800" dirty="0"/>
          </a:p>
        </p:txBody>
      </p:sp>
      <p:sp>
        <p:nvSpPr>
          <p:cNvPr id="18" name="Text 15"/>
          <p:cNvSpPr/>
          <p:nvPr/>
        </p:nvSpPr>
        <p:spPr>
          <a:xfrm>
            <a:off x="548640" y="5184648"/>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5</a:t>
            </a:r>
            <a:endParaRPr lang="en-US" sz="1800" dirty="0"/>
          </a:p>
        </p:txBody>
      </p:sp>
      <p:sp>
        <p:nvSpPr>
          <p:cNvPr id="19" name="Text 16"/>
          <p:cNvSpPr/>
          <p:nvPr/>
        </p:nvSpPr>
        <p:spPr>
          <a:xfrm>
            <a:off x="1234440" y="5184648"/>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is a narrator — and who is ours?</a:t>
            </a:r>
            <a:endParaRPr lang="en-US" sz="1800" dirty="0"/>
          </a:p>
        </p:txBody>
      </p:sp>
      <p:sp>
        <p:nvSpPr>
          <p:cNvPr id="20" name="Text 17"/>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21" name="Text 18"/>
          <p:cNvSpPr/>
          <p:nvPr/>
        </p:nvSpPr>
        <p:spPr>
          <a:xfrm>
            <a:off x="1325880" y="6291072"/>
            <a:ext cx="2514600" cy="365760"/>
          </a:xfrm>
          <a:prstGeom prst="roundRect">
            <a:avLst>
              <a:gd name="adj" fmla="val 22500"/>
            </a:avLst>
          </a:prstGeom>
          <a:solidFill>
            <a:srgbClr val="80ADC4"/>
          </a:solidFill>
          <a:ln>
            <a:solidFill>
              <a:srgbClr val="80ADC4"/>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REMEMBER</a:t>
            </a:r>
            <a:endParaRPr lang="en-US" sz="1200" dirty="0"/>
          </a:p>
        </p:txBody>
      </p:sp>
      <p:sp>
        <p:nvSpPr>
          <p:cNvPr id="22" name="Text 19"/>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23" name="Text 20"/>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24" name="Text 21"/>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25" name="Text 22"/>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Red-Headed League · Analysing Victorian language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8595360" cy="777240"/>
          </a:xfrm>
          <a:prstGeom prst="roundRect">
            <a:avLst>
              <a:gd name="adj" fmla="val 8235"/>
            </a:avLst>
          </a:prstGeom>
          <a:solidFill>
            <a:srgbClr val="12294D"/>
          </a:solidFill>
          <a:ln w="12700">
            <a:solidFill>
              <a:srgbClr val="12294D"/>
            </a:solidFill>
            <a:prstDash val="solid"/>
          </a:ln>
        </p:spPr>
      </p:sp>
      <p:sp>
        <p:nvSpPr>
          <p:cNvPr id="3" name="Text 1"/>
          <p:cNvSpPr/>
          <p:nvPr/>
        </p:nvSpPr>
        <p:spPr>
          <a:xfrm>
            <a:off x="777240" y="320040"/>
            <a:ext cx="8229600" cy="777240"/>
          </a:xfrm>
          <a:prstGeom prst="rect">
            <a:avLst/>
          </a:prstGeom>
          <a:noFill/>
          <a:ln/>
        </p:spPr>
        <p:txBody>
          <a:bodyPr wrap="square" lIns="0" tIns="0" rIns="0" bIns="0" rtlCol="0" anchor="ctr"/>
          <a:lstStyle/>
          <a:p>
            <a:pPr algn="l" indent="0" marL="0">
              <a:buNone/>
            </a:pPr>
            <a:r>
              <a:rPr lang="en-US" sz="3000" b="1" dirty="0">
                <a:solidFill>
                  <a:srgbClr val="FFFFFF"/>
                </a:solidFill>
                <a:latin typeface="Arial" pitchFamily="34" charset="0"/>
                <a:ea typeface="Arial" pitchFamily="34" charset="-122"/>
                <a:cs typeface="Arial" pitchFamily="34" charset="-120"/>
              </a:rPr>
              <a:t>The Red-Headed League</a:t>
            </a:r>
            <a:endParaRPr lang="en-US" sz="3000" dirty="0"/>
          </a:p>
        </p:txBody>
      </p:sp>
      <p:sp>
        <p:nvSpPr>
          <p:cNvPr id="4" name="Text 2"/>
          <p:cNvSpPr/>
          <p:nvPr/>
        </p:nvSpPr>
        <p:spPr>
          <a:xfrm>
            <a:off x="9326880" y="402336"/>
            <a:ext cx="2377440" cy="310896"/>
          </a:xfrm>
          <a:prstGeom prst="rect">
            <a:avLst/>
          </a:prstGeom>
          <a:noFill/>
          <a:ln/>
        </p:spPr>
        <p:txBody>
          <a:bodyPr wrap="square" lIns="0" tIns="0" rIns="0" bIns="0" rtlCol="0" anchor="ctr"/>
          <a:lstStyle/>
          <a:p>
            <a:pPr algn="r" indent="0" marL="0">
              <a:buNone/>
            </a:pPr>
            <a:r>
              <a:rPr lang="en-US" sz="1600" b="1" dirty="0">
                <a:solidFill>
                  <a:srgbClr val="12294D"/>
                </a:solidFill>
                <a:latin typeface="Arial" pitchFamily="34" charset="0"/>
                <a:ea typeface="Arial" pitchFamily="34" charset="-122"/>
                <a:cs typeface="Arial" pitchFamily="34" charset="-120"/>
              </a:rPr>
              <a:t>HARLINGTON</a:t>
            </a:r>
            <a:endParaRPr lang="en-US" sz="1600" dirty="0"/>
          </a:p>
        </p:txBody>
      </p:sp>
      <p:sp>
        <p:nvSpPr>
          <p:cNvPr id="5" name="Text 3"/>
          <p:cNvSpPr/>
          <p:nvPr/>
        </p:nvSpPr>
        <p:spPr>
          <a:xfrm>
            <a:off x="9326880" y="713232"/>
            <a:ext cx="2377440" cy="274320"/>
          </a:xfrm>
          <a:prstGeom prst="rect">
            <a:avLst/>
          </a:prstGeom>
          <a:noFill/>
          <a:ln/>
        </p:spPr>
        <p:txBody>
          <a:bodyPr wrap="square" lIns="0" tIns="0" rIns="0" bIns="0" rtlCol="0" anchor="ctr"/>
          <a:lstStyle/>
          <a:p>
            <a:pPr algn="r" indent="0" marL="0">
              <a:buNone/>
            </a:pPr>
            <a:r>
              <a:rPr lang="en-US" sz="1300" b="1" dirty="0">
                <a:solidFill>
                  <a:srgbClr val="80ADC4"/>
                </a:solidFill>
                <a:latin typeface="Arial" pitchFamily="34" charset="0"/>
                <a:ea typeface="Arial" pitchFamily="34" charset="-122"/>
                <a:cs typeface="Arial" pitchFamily="34" charset="-120"/>
              </a:rPr>
              <a:t>SCHOOL</a:t>
            </a:r>
            <a:endParaRPr lang="en-US" sz="1300" dirty="0"/>
          </a:p>
        </p:txBody>
      </p:sp>
      <p:sp>
        <p:nvSpPr>
          <p:cNvPr id="6" name="Text 4"/>
          <p:cNvSpPr/>
          <p:nvPr/>
        </p:nvSpPr>
        <p:spPr>
          <a:xfrm>
            <a:off x="502920" y="1170432"/>
            <a:ext cx="7315200" cy="365760"/>
          </a:xfrm>
          <a:prstGeom prst="rect">
            <a:avLst/>
          </a:prstGeom>
          <a:noFill/>
          <a:ln/>
        </p:spPr>
        <p:txBody>
          <a:bodyPr wrap="square" lIns="0" tIns="0" rIns="0" bIns="0" rtlCol="0" anchor="ctr"/>
          <a:lstStyle/>
          <a:p>
            <a:pPr indent="0" marL="0">
              <a:buNone/>
            </a:pPr>
            <a:r>
              <a:rPr lang="en-US" sz="1500" b="1" i="1" dirty="0">
                <a:solidFill>
                  <a:srgbClr val="80ADC4"/>
                </a:solidFill>
                <a:latin typeface="Arial" pitchFamily="34" charset="0"/>
                <a:ea typeface="Arial" pitchFamily="34" charset="-122"/>
                <a:cs typeface="Arial" pitchFamily="34" charset="-120"/>
              </a:rPr>
              <a:t>Progress is the Curriculum</a:t>
            </a:r>
            <a:endParaRPr lang="en-US" sz="1500" dirty="0"/>
          </a:p>
        </p:txBody>
      </p:sp>
      <p:sp>
        <p:nvSpPr>
          <p:cNvPr id="7" name="Shape 5"/>
          <p:cNvSpPr/>
          <p:nvPr/>
        </p:nvSpPr>
        <p:spPr>
          <a:xfrm>
            <a:off x="457200" y="1600200"/>
            <a:ext cx="3383280" cy="4617720"/>
          </a:xfrm>
          <a:prstGeom prst="roundRect">
            <a:avLst>
              <a:gd name="adj" fmla="val 2162"/>
            </a:avLst>
          </a:prstGeom>
          <a:solidFill>
            <a:srgbClr val="F4F6FA"/>
          </a:solidFill>
          <a:ln w="12700">
            <a:solidFill>
              <a:srgbClr val="F4F6FA"/>
            </a:solidFill>
            <a:prstDash val="solid"/>
          </a:ln>
        </p:spPr>
      </p:sp>
      <p:pic>
        <p:nvPicPr>
          <p:cNvPr id="8" name="Image 0" descr="/home/claude/english/kit/decks/_icons/layers-12294D.png">    </p:cNvPr>
          <p:cNvPicPr>
            <a:picLocks noChangeAspect="1"/>
          </p:cNvPicPr>
          <p:nvPr/>
        </p:nvPicPr>
        <p:blipFill>
          <a:blip r:embed="rId1"/>
          <a:stretch>
            <a:fillRect/>
          </a:stretch>
        </p:blipFill>
        <p:spPr>
          <a:xfrm>
            <a:off x="685800" y="1792224"/>
            <a:ext cx="365760" cy="365760"/>
          </a:xfrm>
          <a:prstGeom prst="rect">
            <a:avLst/>
          </a:prstGeom>
        </p:spPr>
      </p:pic>
      <p:sp>
        <p:nvSpPr>
          <p:cNvPr id="9" name="Text 6"/>
          <p:cNvSpPr/>
          <p:nvPr/>
        </p:nvSpPr>
        <p:spPr>
          <a:xfrm>
            <a:off x="1143000" y="1792224"/>
            <a:ext cx="2651760" cy="365760"/>
          </a:xfrm>
          <a:prstGeom prst="rect">
            <a:avLst/>
          </a:prstGeom>
          <a:noFill/>
          <a:ln/>
        </p:spPr>
        <p:txBody>
          <a:bodyPr wrap="square" lIns="0" tIns="0" rIns="0" bIns="0" rtlCol="0" anchor="ctr"/>
          <a:lstStyle/>
          <a:p>
            <a:pPr indent="0" marL="0">
              <a:buNone/>
            </a:pPr>
            <a:r>
              <a:rPr lang="en-US" sz="1400" b="1" dirty="0">
                <a:solidFill>
                  <a:srgbClr val="12294D"/>
                </a:solidFill>
                <a:latin typeface="Arial" pitchFamily="34" charset="0"/>
                <a:ea typeface="Arial" pitchFamily="34" charset="-122"/>
                <a:cs typeface="Arial" pitchFamily="34" charset="-120"/>
              </a:rPr>
              <a:t>WHERE WE'VE BEEN</a:t>
            </a:r>
            <a:endParaRPr lang="en-US" sz="1400" dirty="0"/>
          </a:p>
        </p:txBody>
      </p:sp>
      <p:sp>
        <p:nvSpPr>
          <p:cNvPr id="10" name="Shape 7"/>
          <p:cNvSpPr/>
          <p:nvPr/>
        </p:nvSpPr>
        <p:spPr>
          <a:xfrm>
            <a:off x="685800" y="2340864"/>
            <a:ext cx="2926080" cy="640080"/>
          </a:xfrm>
          <a:prstGeom prst="roundRect">
            <a:avLst>
              <a:gd name="adj" fmla="val 10000"/>
            </a:avLst>
          </a:prstGeom>
          <a:solidFill>
            <a:srgbClr val="FFFFFF"/>
          </a:solidFill>
          <a:ln w="12700">
            <a:solidFill>
              <a:srgbClr val="D9E2EE"/>
            </a:solidFill>
            <a:prstDash val="solid"/>
          </a:ln>
        </p:spPr>
      </p:sp>
      <p:sp>
        <p:nvSpPr>
          <p:cNvPr id="11" name="Text 8"/>
          <p:cNvSpPr/>
          <p:nvPr/>
        </p:nvSpPr>
        <p:spPr>
          <a:xfrm>
            <a:off x="822960" y="2340864"/>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KS2: mystery and adventure stories</a:t>
            </a:r>
            <a:endParaRPr lang="en-US" sz="1400" dirty="0"/>
          </a:p>
        </p:txBody>
      </p:sp>
      <p:sp>
        <p:nvSpPr>
          <p:cNvPr id="12" name="Shape 9"/>
          <p:cNvSpPr/>
          <p:nvPr/>
        </p:nvSpPr>
        <p:spPr>
          <a:xfrm>
            <a:off x="685800" y="3127248"/>
            <a:ext cx="2926080" cy="640080"/>
          </a:xfrm>
          <a:prstGeom prst="roundRect">
            <a:avLst>
              <a:gd name="adj" fmla="val 10000"/>
            </a:avLst>
          </a:prstGeom>
          <a:solidFill>
            <a:srgbClr val="FFFFFF"/>
          </a:solidFill>
          <a:ln w="12700">
            <a:solidFill>
              <a:srgbClr val="D9E2EE"/>
            </a:solidFill>
            <a:prstDash val="solid"/>
          </a:ln>
        </p:spPr>
      </p:sp>
      <p:sp>
        <p:nvSpPr>
          <p:cNvPr id="13" name="Text 10"/>
          <p:cNvSpPr/>
          <p:nvPr/>
        </p:nvSpPr>
        <p:spPr>
          <a:xfrm>
            <a:off x="822960" y="3127248"/>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HT2: language analysis — the Cyclops</a:t>
            </a:r>
            <a:endParaRPr lang="en-US" sz="1400" dirty="0"/>
          </a:p>
        </p:txBody>
      </p:sp>
      <p:sp>
        <p:nvSpPr>
          <p:cNvPr id="14" name="Shape 11"/>
          <p:cNvSpPr/>
          <p:nvPr/>
        </p:nvSpPr>
        <p:spPr>
          <a:xfrm>
            <a:off x="685800" y="3913632"/>
            <a:ext cx="2926080" cy="640080"/>
          </a:xfrm>
          <a:prstGeom prst="roundRect">
            <a:avLst>
              <a:gd name="adj" fmla="val 10000"/>
            </a:avLst>
          </a:prstGeom>
          <a:solidFill>
            <a:srgbClr val="FFFFFF"/>
          </a:solidFill>
          <a:ln w="12700">
            <a:solidFill>
              <a:srgbClr val="D9E2EE"/>
            </a:solidFill>
            <a:prstDash val="solid"/>
          </a:ln>
        </p:spPr>
      </p:sp>
      <p:sp>
        <p:nvSpPr>
          <p:cNvPr id="15" name="Text 12"/>
          <p:cNvSpPr/>
          <p:nvPr/>
        </p:nvSpPr>
        <p:spPr>
          <a:xfrm>
            <a:off x="822960" y="3913632"/>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L1: the conventions of crime fiction</a:t>
            </a:r>
            <a:endParaRPr lang="en-US" sz="1400" dirty="0"/>
          </a:p>
        </p:txBody>
      </p:sp>
      <p:sp>
        <p:nvSpPr>
          <p:cNvPr id="16" name="Shape 13"/>
          <p:cNvSpPr/>
          <p:nvPr/>
        </p:nvSpPr>
        <p:spPr>
          <a:xfrm>
            <a:off x="685800" y="4700016"/>
            <a:ext cx="2926080" cy="640080"/>
          </a:xfrm>
          <a:prstGeom prst="roundRect">
            <a:avLst>
              <a:gd name="adj" fmla="val 10000"/>
            </a:avLst>
          </a:prstGeom>
          <a:solidFill>
            <a:srgbClr val="FFFFFF"/>
          </a:solidFill>
          <a:ln w="12700">
            <a:solidFill>
              <a:srgbClr val="D9E2EE"/>
            </a:solidFill>
            <a:prstDash val="solid"/>
          </a:ln>
        </p:spPr>
      </p:sp>
      <p:sp>
        <p:nvSpPr>
          <p:cNvPr id="17" name="Text 14"/>
          <p:cNvSpPr/>
          <p:nvPr/>
        </p:nvSpPr>
        <p:spPr>
          <a:xfrm>
            <a:off x="822960" y="4700016"/>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L2: plot and character in the League</a:t>
            </a:r>
            <a:endParaRPr lang="en-US" sz="1400" dirty="0"/>
          </a:p>
        </p:txBody>
      </p:sp>
      <p:sp>
        <p:nvSpPr>
          <p:cNvPr id="18" name="Text 15"/>
          <p:cNvSpPr/>
          <p:nvPr/>
        </p:nvSpPr>
        <p:spPr>
          <a:xfrm>
            <a:off x="4114800" y="1737360"/>
            <a:ext cx="3931920" cy="365760"/>
          </a:xfrm>
          <a:prstGeom prst="rect">
            <a:avLst/>
          </a:prstGeom>
          <a:noFill/>
          <a:ln/>
        </p:spPr>
        <p:txBody>
          <a:bodyPr wrap="square" lIns="0" tIns="0" rIns="0" bIns="0" rtlCol="0" anchor="ctr"/>
          <a:lstStyle/>
          <a:p>
            <a:pPr indent="0" marL="0">
              <a:buNone/>
            </a:pPr>
            <a:r>
              <a:rPr lang="en-US" sz="1400" b="1" dirty="0">
                <a:solidFill>
                  <a:srgbClr val="80ADC4"/>
                </a:solidFill>
                <a:latin typeface="Arial" pitchFamily="34" charset="0"/>
                <a:ea typeface="Arial" pitchFamily="34" charset="-122"/>
                <a:cs typeface="Arial" pitchFamily="34" charset="-120"/>
              </a:rPr>
              <a:t>THIS UNIT, LESSON BY LESSON</a:t>
            </a:r>
            <a:endParaRPr lang="en-US" sz="1400" dirty="0"/>
          </a:p>
        </p:txBody>
      </p:sp>
      <p:sp>
        <p:nvSpPr>
          <p:cNvPr id="19" name="Shape 16"/>
          <p:cNvSpPr/>
          <p:nvPr/>
        </p:nvSpPr>
        <p:spPr>
          <a:xfrm>
            <a:off x="4114800" y="2194560"/>
            <a:ext cx="3931920" cy="420624"/>
          </a:xfrm>
          <a:prstGeom prst="roundRect">
            <a:avLst>
              <a:gd name="adj" fmla="val 26087"/>
            </a:avLst>
          </a:prstGeom>
          <a:solidFill>
            <a:srgbClr val="FFFFFF"/>
          </a:solidFill>
          <a:ln w="12700">
            <a:solidFill>
              <a:srgbClr val="D9E2EE"/>
            </a:solidFill>
            <a:prstDash val="solid"/>
          </a:ln>
        </p:spPr>
      </p:sp>
      <p:sp>
        <p:nvSpPr>
          <p:cNvPr id="20" name="Text 17"/>
          <p:cNvSpPr/>
          <p:nvPr/>
        </p:nvSpPr>
        <p:spPr>
          <a:xfrm>
            <a:off x="4242816" y="2249424"/>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1</a:t>
            </a:r>
            <a:endParaRPr lang="en-US" sz="1100" dirty="0"/>
          </a:p>
        </p:txBody>
      </p:sp>
      <p:sp>
        <p:nvSpPr>
          <p:cNvPr id="21" name="Text 18"/>
          <p:cNvSpPr/>
          <p:nvPr/>
        </p:nvSpPr>
        <p:spPr>
          <a:xfrm>
            <a:off x="4736592" y="2194560"/>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What is crime fiction?</a:t>
            </a:r>
            <a:endParaRPr lang="en-US" sz="1400" dirty="0"/>
          </a:p>
        </p:txBody>
      </p:sp>
      <p:sp>
        <p:nvSpPr>
          <p:cNvPr id="22" name="Shape 19"/>
          <p:cNvSpPr/>
          <p:nvPr/>
        </p:nvSpPr>
        <p:spPr>
          <a:xfrm>
            <a:off x="4114800" y="2761488"/>
            <a:ext cx="3931920" cy="420624"/>
          </a:xfrm>
          <a:prstGeom prst="roundRect">
            <a:avLst>
              <a:gd name="adj" fmla="val 26087"/>
            </a:avLst>
          </a:prstGeom>
          <a:solidFill>
            <a:srgbClr val="FFFFFF"/>
          </a:solidFill>
          <a:ln w="12700">
            <a:solidFill>
              <a:srgbClr val="D9E2EE"/>
            </a:solidFill>
            <a:prstDash val="solid"/>
          </a:ln>
        </p:spPr>
      </p:sp>
      <p:sp>
        <p:nvSpPr>
          <p:cNvPr id="23" name="Text 20"/>
          <p:cNvSpPr/>
          <p:nvPr/>
        </p:nvSpPr>
        <p:spPr>
          <a:xfrm>
            <a:off x="4242816" y="2816352"/>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2</a:t>
            </a:r>
            <a:endParaRPr lang="en-US" sz="1100" dirty="0"/>
          </a:p>
        </p:txBody>
      </p:sp>
      <p:sp>
        <p:nvSpPr>
          <p:cNvPr id="24" name="Text 21"/>
          <p:cNvSpPr/>
          <p:nvPr/>
        </p:nvSpPr>
        <p:spPr>
          <a:xfrm>
            <a:off x="4736592" y="2761488"/>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The League: plot and character</a:t>
            </a:r>
            <a:endParaRPr lang="en-US" sz="1400" dirty="0"/>
          </a:p>
        </p:txBody>
      </p:sp>
      <p:sp>
        <p:nvSpPr>
          <p:cNvPr id="25" name="Shape 22"/>
          <p:cNvSpPr/>
          <p:nvPr/>
        </p:nvSpPr>
        <p:spPr>
          <a:xfrm>
            <a:off x="4114800" y="3328416"/>
            <a:ext cx="3931920" cy="420624"/>
          </a:xfrm>
          <a:prstGeom prst="roundRect">
            <a:avLst>
              <a:gd name="adj" fmla="val 26087"/>
            </a:avLst>
          </a:prstGeom>
          <a:solidFill>
            <a:srgbClr val="12294D"/>
          </a:solidFill>
          <a:ln w="12700">
            <a:solidFill>
              <a:srgbClr val="12294D"/>
            </a:solidFill>
            <a:prstDash val="solid"/>
          </a:ln>
        </p:spPr>
      </p:sp>
      <p:sp>
        <p:nvSpPr>
          <p:cNvPr id="26" name="Text 23"/>
          <p:cNvSpPr/>
          <p:nvPr/>
        </p:nvSpPr>
        <p:spPr>
          <a:xfrm>
            <a:off x="4242816" y="3383280"/>
            <a:ext cx="310896" cy="310896"/>
          </a:xfrm>
          <a:prstGeom prst="ellipse">
            <a:avLst/>
          </a:prstGeom>
          <a:solidFill>
            <a:srgbClr val="FFC93C"/>
          </a:solidFill>
          <a:ln>
            <a:solidFill>
              <a:srgbClr val="FFC93C"/>
            </a:solidFill>
          </a:ln>
        </p:spPr>
        <p:txBody>
          <a:bodyPr wrap="square" lIns="0" tIns="0" rIns="0" bIns="0" rtlCol="0" anchor="ctr"/>
          <a:lstStyle/>
          <a:p>
            <a:pPr algn="ctr" indent="0" marL="0">
              <a:buNone/>
            </a:pPr>
            <a:r>
              <a:rPr lang="en-US" sz="1100" b="1" dirty="0">
                <a:solidFill>
                  <a:srgbClr val="12294D"/>
                </a:solidFill>
                <a:latin typeface="Arial" pitchFamily="34" charset="0"/>
                <a:ea typeface="Arial" pitchFamily="34" charset="-122"/>
                <a:cs typeface="Arial" pitchFamily="34" charset="-120"/>
              </a:rPr>
              <a:t>3</a:t>
            </a:r>
            <a:endParaRPr lang="en-US" sz="1100" dirty="0"/>
          </a:p>
        </p:txBody>
      </p:sp>
      <p:sp>
        <p:nvSpPr>
          <p:cNvPr id="27" name="Text 24"/>
          <p:cNvSpPr/>
          <p:nvPr/>
        </p:nvSpPr>
        <p:spPr>
          <a:xfrm>
            <a:off x="4736592" y="3328416"/>
            <a:ext cx="3200400" cy="420624"/>
          </a:xfrm>
          <a:prstGeom prst="rect">
            <a:avLst/>
          </a:prstGeom>
          <a:noFill/>
          <a:ln/>
        </p:spPr>
        <p:txBody>
          <a:bodyPr wrap="square" lIns="12700" tIns="45720" rIns="45720" bIns="12700" rtlCol="0" anchor="ctr"/>
          <a:lstStyle/>
          <a:p>
            <a:pPr algn="l" indent="0" marL="0">
              <a:buNone/>
            </a:pPr>
            <a:r>
              <a:rPr lang="en-US" sz="1400" b="1" dirty="0">
                <a:solidFill>
                  <a:srgbClr val="FFFFFF"/>
                </a:solidFill>
                <a:latin typeface="Arial" pitchFamily="34" charset="0"/>
                <a:ea typeface="Arial" pitchFamily="34" charset="-122"/>
                <a:cs typeface="Arial" pitchFamily="34" charset="-120"/>
              </a:rPr>
              <a:t>Analysing Victorian language</a:t>
            </a:r>
            <a:endParaRPr lang="en-US" sz="1400" dirty="0"/>
          </a:p>
        </p:txBody>
      </p:sp>
      <p:sp>
        <p:nvSpPr>
          <p:cNvPr id="28" name="Shape 25"/>
          <p:cNvSpPr/>
          <p:nvPr/>
        </p:nvSpPr>
        <p:spPr>
          <a:xfrm>
            <a:off x="4114800" y="3895344"/>
            <a:ext cx="3931920" cy="420624"/>
          </a:xfrm>
          <a:prstGeom prst="roundRect">
            <a:avLst>
              <a:gd name="adj" fmla="val 26087"/>
            </a:avLst>
          </a:prstGeom>
          <a:solidFill>
            <a:srgbClr val="FFFFFF"/>
          </a:solidFill>
          <a:ln w="12700">
            <a:solidFill>
              <a:srgbClr val="D9E2EE"/>
            </a:solidFill>
            <a:prstDash val="solid"/>
          </a:ln>
        </p:spPr>
      </p:sp>
      <p:sp>
        <p:nvSpPr>
          <p:cNvPr id="29" name="Text 26"/>
          <p:cNvSpPr/>
          <p:nvPr/>
        </p:nvSpPr>
        <p:spPr>
          <a:xfrm>
            <a:off x="4242816" y="3950208"/>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4</a:t>
            </a:r>
            <a:endParaRPr lang="en-US" sz="1100" dirty="0"/>
          </a:p>
        </p:txBody>
      </p:sp>
      <p:sp>
        <p:nvSpPr>
          <p:cNvPr id="30" name="Text 27"/>
          <p:cNvSpPr/>
          <p:nvPr/>
        </p:nvSpPr>
        <p:spPr>
          <a:xfrm>
            <a:off x="4736592" y="3895344"/>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Extended writing: tension</a:t>
            </a:r>
            <a:endParaRPr lang="en-US" sz="1400" dirty="0"/>
          </a:p>
        </p:txBody>
      </p:sp>
      <p:sp>
        <p:nvSpPr>
          <p:cNvPr id="31" name="Shape 28"/>
          <p:cNvSpPr/>
          <p:nvPr/>
        </p:nvSpPr>
        <p:spPr>
          <a:xfrm>
            <a:off x="4114800" y="4462272"/>
            <a:ext cx="3931920" cy="420624"/>
          </a:xfrm>
          <a:prstGeom prst="roundRect">
            <a:avLst>
              <a:gd name="adj" fmla="val 26087"/>
            </a:avLst>
          </a:prstGeom>
          <a:solidFill>
            <a:srgbClr val="FFFFFF"/>
          </a:solidFill>
          <a:ln w="12700">
            <a:solidFill>
              <a:srgbClr val="D9E2EE"/>
            </a:solidFill>
            <a:prstDash val="solid"/>
          </a:ln>
        </p:spPr>
      </p:sp>
      <p:sp>
        <p:nvSpPr>
          <p:cNvPr id="32" name="Text 29"/>
          <p:cNvSpPr/>
          <p:nvPr/>
        </p:nvSpPr>
        <p:spPr>
          <a:xfrm>
            <a:off x="4242816" y="4517136"/>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5</a:t>
            </a:r>
            <a:endParaRPr lang="en-US" sz="1100" dirty="0"/>
          </a:p>
        </p:txBody>
      </p:sp>
      <p:sp>
        <p:nvSpPr>
          <p:cNvPr id="33" name="Text 30"/>
          <p:cNvSpPr/>
          <p:nvPr/>
        </p:nvSpPr>
        <p:spPr>
          <a:xfrm>
            <a:off x="4736592" y="4462272"/>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Reading an unseen short story</a:t>
            </a:r>
            <a:endParaRPr lang="en-US" sz="1400" dirty="0"/>
          </a:p>
        </p:txBody>
      </p:sp>
      <p:sp>
        <p:nvSpPr>
          <p:cNvPr id="34" name="Shape 31"/>
          <p:cNvSpPr/>
          <p:nvPr/>
        </p:nvSpPr>
        <p:spPr>
          <a:xfrm>
            <a:off x="8321040" y="1600200"/>
            <a:ext cx="3383280" cy="4617720"/>
          </a:xfrm>
          <a:prstGeom prst="roundRect">
            <a:avLst>
              <a:gd name="adj" fmla="val 2162"/>
            </a:avLst>
          </a:prstGeom>
          <a:solidFill>
            <a:srgbClr val="F4F6FA"/>
          </a:solidFill>
          <a:ln w="12700">
            <a:solidFill>
              <a:srgbClr val="F4F6FA"/>
            </a:solidFill>
            <a:prstDash val="solid"/>
          </a:ln>
        </p:spPr>
      </p:sp>
      <p:pic>
        <p:nvPicPr>
          <p:cNvPr id="35" name="Image 1" descr="/home/claude/english/kit/decks/_icons/flag-12294D.png">    </p:cNvPr>
          <p:cNvPicPr>
            <a:picLocks noChangeAspect="1"/>
          </p:cNvPicPr>
          <p:nvPr/>
        </p:nvPicPr>
        <p:blipFill>
          <a:blip r:embed="rId2"/>
          <a:stretch>
            <a:fillRect/>
          </a:stretch>
        </p:blipFill>
        <p:spPr>
          <a:xfrm>
            <a:off x="8549640" y="1792224"/>
            <a:ext cx="365760" cy="365760"/>
          </a:xfrm>
          <a:prstGeom prst="rect">
            <a:avLst/>
          </a:prstGeom>
        </p:spPr>
      </p:pic>
      <p:sp>
        <p:nvSpPr>
          <p:cNvPr id="36" name="Text 32"/>
          <p:cNvSpPr/>
          <p:nvPr/>
        </p:nvSpPr>
        <p:spPr>
          <a:xfrm>
            <a:off x="9006840" y="1792224"/>
            <a:ext cx="2651760" cy="365760"/>
          </a:xfrm>
          <a:prstGeom prst="rect">
            <a:avLst/>
          </a:prstGeom>
          <a:noFill/>
          <a:ln/>
        </p:spPr>
        <p:txBody>
          <a:bodyPr wrap="square" lIns="0" tIns="0" rIns="0" bIns="0" rtlCol="0" anchor="ctr"/>
          <a:lstStyle/>
          <a:p>
            <a:pPr indent="0" marL="0">
              <a:buNone/>
            </a:pPr>
            <a:r>
              <a:rPr lang="en-US" sz="1400" b="1" dirty="0">
                <a:solidFill>
                  <a:srgbClr val="12294D"/>
                </a:solidFill>
                <a:latin typeface="Arial" pitchFamily="34" charset="0"/>
                <a:ea typeface="Arial" pitchFamily="34" charset="-122"/>
                <a:cs typeface="Arial" pitchFamily="34" charset="-120"/>
              </a:rPr>
              <a:t>WHERE WE'RE GOING</a:t>
            </a:r>
            <a:endParaRPr lang="en-US" sz="1400" dirty="0"/>
          </a:p>
        </p:txBody>
      </p:sp>
      <p:sp>
        <p:nvSpPr>
          <p:cNvPr id="37" name="Shape 33"/>
          <p:cNvSpPr/>
          <p:nvPr/>
        </p:nvSpPr>
        <p:spPr>
          <a:xfrm>
            <a:off x="8549640" y="2340864"/>
            <a:ext cx="2926080" cy="749808"/>
          </a:xfrm>
          <a:prstGeom prst="roundRect">
            <a:avLst>
              <a:gd name="adj" fmla="val 7317"/>
            </a:avLst>
          </a:prstGeom>
          <a:solidFill>
            <a:srgbClr val="FFFFFF"/>
          </a:solidFill>
          <a:ln w="12700">
            <a:solidFill>
              <a:srgbClr val="D9E2EE"/>
            </a:solidFill>
            <a:prstDash val="solid"/>
          </a:ln>
        </p:spPr>
      </p:sp>
      <p:sp>
        <p:nvSpPr>
          <p:cNvPr id="38" name="Text 34"/>
          <p:cNvSpPr/>
          <p:nvPr/>
        </p:nvSpPr>
        <p:spPr>
          <a:xfrm>
            <a:off x="8686800" y="2340864"/>
            <a:ext cx="2651760" cy="749808"/>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HT5: Travel writing — making a real place alive</a:t>
            </a:r>
            <a:endParaRPr lang="en-US" sz="1400" dirty="0"/>
          </a:p>
        </p:txBody>
      </p:sp>
      <p:sp>
        <p:nvSpPr>
          <p:cNvPr id="39" name="Shape 35"/>
          <p:cNvSpPr/>
          <p:nvPr/>
        </p:nvSpPr>
        <p:spPr>
          <a:xfrm>
            <a:off x="8549640" y="3236976"/>
            <a:ext cx="2926080" cy="749808"/>
          </a:xfrm>
          <a:prstGeom prst="roundRect">
            <a:avLst>
              <a:gd name="adj" fmla="val 7317"/>
            </a:avLst>
          </a:prstGeom>
          <a:solidFill>
            <a:srgbClr val="FFFFFF"/>
          </a:solidFill>
          <a:ln w="12700">
            <a:solidFill>
              <a:srgbClr val="D9E2EE"/>
            </a:solidFill>
            <a:prstDash val="solid"/>
          </a:ln>
        </p:spPr>
      </p:sp>
      <p:sp>
        <p:nvSpPr>
          <p:cNvPr id="40" name="Text 36"/>
          <p:cNvSpPr/>
          <p:nvPr/>
        </p:nvSpPr>
        <p:spPr>
          <a:xfrm>
            <a:off x="8686800" y="3236976"/>
            <a:ext cx="2651760" cy="749808"/>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HT6: Binti — the modern novel</a:t>
            </a:r>
            <a:endParaRPr lang="en-US" sz="1400" dirty="0"/>
          </a:p>
        </p:txBody>
      </p:sp>
      <p:sp>
        <p:nvSpPr>
          <p:cNvPr id="41" name="Shape 37"/>
          <p:cNvSpPr/>
          <p:nvPr/>
        </p:nvSpPr>
        <p:spPr>
          <a:xfrm>
            <a:off x="8549640" y="4133088"/>
            <a:ext cx="2926080" cy="749808"/>
          </a:xfrm>
          <a:prstGeom prst="roundRect">
            <a:avLst>
              <a:gd name="adj" fmla="val 7317"/>
            </a:avLst>
          </a:prstGeom>
          <a:solidFill>
            <a:srgbClr val="FFFFFF"/>
          </a:solidFill>
          <a:ln w="12700">
            <a:solidFill>
              <a:srgbClr val="D9E2EE"/>
            </a:solidFill>
            <a:prstDash val="solid"/>
          </a:ln>
        </p:spPr>
      </p:sp>
      <p:sp>
        <p:nvSpPr>
          <p:cNvPr id="42" name="Text 38"/>
          <p:cNvSpPr/>
          <p:nvPr/>
        </p:nvSpPr>
        <p:spPr>
          <a:xfrm>
            <a:off x="8686800" y="4133088"/>
            <a:ext cx="2651760" cy="749808"/>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Year 8: the novel and the short story</a:t>
            </a:r>
            <a:endParaRPr lang="en-US" sz="1400" dirty="0"/>
          </a:p>
        </p:txBody>
      </p:sp>
      <p:sp>
        <p:nvSpPr>
          <p:cNvPr id="43" name="Shape 39"/>
          <p:cNvSpPr/>
          <p:nvPr/>
        </p:nvSpPr>
        <p:spPr>
          <a:xfrm>
            <a:off x="8549640" y="5120640"/>
            <a:ext cx="2926080" cy="960120"/>
          </a:xfrm>
          <a:prstGeom prst="roundRect">
            <a:avLst>
              <a:gd name="adj" fmla="val 5714"/>
            </a:avLst>
          </a:prstGeom>
          <a:solidFill>
            <a:srgbClr val="12294D"/>
          </a:solidFill>
          <a:ln w="12700">
            <a:solidFill>
              <a:srgbClr val="12294D"/>
            </a:solidFill>
            <a:prstDash val="solid"/>
          </a:ln>
        </p:spPr>
      </p:sp>
      <p:sp>
        <p:nvSpPr>
          <p:cNvPr id="44" name="Text 40"/>
          <p:cNvSpPr/>
          <p:nvPr/>
        </p:nvSpPr>
        <p:spPr>
          <a:xfrm>
            <a:off x="8732520" y="5120640"/>
            <a:ext cx="2606040" cy="960120"/>
          </a:xfrm>
          <a:prstGeom prst="rect">
            <a:avLst/>
          </a:prstGeom>
          <a:noFill/>
          <a:ln/>
        </p:spPr>
        <p:txBody>
          <a:bodyPr wrap="square" lIns="45720" tIns="91440" rIns="91440" bIns="45720" rtlCol="0" anchor="ctr"/>
          <a:lstStyle/>
          <a:p>
            <a:pPr algn="l" indent="0" marL="0">
              <a:buNone/>
            </a:pPr>
            <a:r>
              <a:rPr lang="en-US" sz="1400" b="1" dirty="0">
                <a:solidFill>
                  <a:srgbClr val="FFFFFF"/>
                </a:solidFill>
                <a:latin typeface="Arial" pitchFamily="34" charset="0"/>
                <a:ea typeface="Arial" pitchFamily="34" charset="-122"/>
                <a:cs typeface="Arial" pitchFamily="34" charset="-120"/>
              </a:rPr>
              <a:t>Every lesson answers one BIG QUESTION. Every question builds the next.</a:t>
            </a:r>
            <a:endParaRPr lang="en-US" sz="1400" dirty="0"/>
          </a:p>
        </p:txBody>
      </p:sp>
      <p:sp>
        <p:nvSpPr>
          <p:cNvPr id="45" name="Text 41"/>
          <p:cNvSpPr/>
          <p:nvPr/>
        </p:nvSpPr>
        <p:spPr>
          <a:xfrm>
            <a:off x="457200" y="6446520"/>
            <a:ext cx="8229600" cy="274320"/>
          </a:xfrm>
          <a:prstGeom prst="rect">
            <a:avLst/>
          </a:prstGeom>
          <a:noFill/>
          <a:ln/>
        </p:spPr>
        <p:txBody>
          <a:bodyPr wrap="square" lIns="0" tIns="0" rIns="0" bIns="0" rtlCol="0" anchor="ctr"/>
          <a:lstStyle/>
          <a:p>
            <a:pPr indent="0" marL="0">
              <a:buNone/>
            </a:pPr>
            <a:r>
              <a:rPr lang="en-US" sz="1000" dirty="0">
                <a:solidFill>
                  <a:srgbClr val="9AA6B5"/>
                </a:solidFill>
                <a:latin typeface="Arial" pitchFamily="34" charset="0"/>
                <a:ea typeface="Arial" pitchFamily="34" charset="-122"/>
                <a:cs typeface="Arial" pitchFamily="34" charset="-120"/>
              </a:rPr>
              <a:t>Harlington School  ·  The Red-Headed League  ·  Analysing Victorian language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294D"/>
        </a:solidFill>
      </p:bgPr>
    </p:bg>
    <p:spTree>
      <p:nvGrpSpPr>
        <p:cNvPr id="1" name=""/>
        <p:cNvGrpSpPr/>
        <p:nvPr/>
      </p:nvGrpSpPr>
      <p:grpSpPr>
        <a:xfrm>
          <a:off x="0" y="0"/>
          <a:ext cx="0" cy="0"/>
          <a:chOff x="0" y="0"/>
          <a:chExt cx="0" cy="0"/>
        </a:xfrm>
      </p:grpSpPr>
      <p:sp>
        <p:nvSpPr>
          <p:cNvPr id="2" name="Text 0"/>
          <p:cNvSpPr/>
          <p:nvPr/>
        </p:nvSpPr>
        <p:spPr>
          <a:xfrm>
            <a:off x="548640" y="502920"/>
            <a:ext cx="10972800" cy="365760"/>
          </a:xfrm>
          <a:prstGeom prst="rect">
            <a:avLst/>
          </a:prstGeom>
          <a:noFill/>
          <a:ln/>
        </p:spPr>
        <p:txBody>
          <a:bodyPr wrap="square" lIns="0" tIns="0" rIns="0" bIns="0" rtlCol="0" anchor="ctr"/>
          <a:lstStyle/>
          <a:p>
            <a:pPr indent="0" marL="0">
              <a:buNone/>
            </a:pPr>
            <a:r>
              <a:rPr lang="en-US" sz="1400" b="1" dirty="0">
                <a:solidFill>
                  <a:srgbClr val="FFC93C"/>
                </a:solidFill>
                <a:latin typeface="Arial" pitchFamily="34" charset="0"/>
                <a:ea typeface="Arial" pitchFamily="34" charset="-122"/>
                <a:cs typeface="Arial" pitchFamily="34" charset="-120"/>
              </a:rPr>
              <a:t>LESSON 3 · ANALYSING VICTORIAN LANGUAGE</a:t>
            </a:r>
            <a:endParaRPr lang="en-US" sz="1400" dirty="0"/>
          </a:p>
        </p:txBody>
      </p:sp>
      <p:sp>
        <p:nvSpPr>
          <p:cNvPr id="3" name="Text 1"/>
          <p:cNvSpPr/>
          <p:nvPr/>
        </p:nvSpPr>
        <p:spPr>
          <a:xfrm>
            <a:off x="548640" y="1005840"/>
            <a:ext cx="10515600" cy="82296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Today you will…</a:t>
            </a:r>
            <a:endParaRPr lang="en-US" sz="3800" dirty="0"/>
          </a:p>
        </p:txBody>
      </p:sp>
      <p:sp>
        <p:nvSpPr>
          <p:cNvPr id="4" name="Text 2"/>
          <p:cNvSpPr/>
          <p:nvPr/>
        </p:nvSpPr>
        <p:spPr>
          <a:xfrm>
            <a:off x="548640" y="1874520"/>
            <a:ext cx="10607040" cy="457200"/>
          </a:xfrm>
          <a:prstGeom prst="rect">
            <a:avLst/>
          </a:prstGeom>
          <a:noFill/>
          <a:ln/>
        </p:spPr>
        <p:txBody>
          <a:bodyPr wrap="square" lIns="0" tIns="0" rIns="0" bIns="0" rtlCol="0" anchor="ctr"/>
          <a:lstStyle/>
          <a:p>
            <a:pPr algn="l" indent="0" marL="0">
              <a:buNone/>
            </a:pPr>
            <a:r>
              <a:rPr lang="en-US" sz="1600" i="1" dirty="0">
                <a:solidFill>
                  <a:srgbClr val="8FA6C4"/>
                </a:solidFill>
                <a:latin typeface="Arial" pitchFamily="34" charset="0"/>
                <a:ea typeface="Arial" pitchFamily="34" charset="-122"/>
                <a:cs typeface="Arial" pitchFamily="34" charset="-120"/>
              </a:rPr>
              <a:t>Our aims climb Bloom's taxonomy — and you will see which step every task is on, all lesson.</a:t>
            </a:r>
            <a:endParaRPr lang="en-US" sz="1600" dirty="0"/>
          </a:p>
        </p:txBody>
      </p:sp>
      <p:sp>
        <p:nvSpPr>
          <p:cNvPr id="5" name="Text 3"/>
          <p:cNvSpPr/>
          <p:nvPr/>
        </p:nvSpPr>
        <p:spPr>
          <a:xfrm>
            <a:off x="548640" y="2606040"/>
            <a:ext cx="2377440" cy="868680"/>
          </a:xfrm>
          <a:prstGeom prst="roundRect">
            <a:avLst>
              <a:gd name="adj" fmla="val 10526"/>
            </a:avLst>
          </a:prstGeom>
          <a:solidFill>
            <a:srgbClr val="00A08A"/>
          </a:solidFill>
          <a:ln>
            <a:solidFill>
              <a:srgbClr val="00A08A"/>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UNDERSTAND</a:t>
            </a:r>
            <a:endParaRPr lang="en-US" sz="1800" dirty="0"/>
          </a:p>
        </p:txBody>
      </p:sp>
      <p:sp>
        <p:nvSpPr>
          <p:cNvPr id="6" name="Shape 4"/>
          <p:cNvSpPr/>
          <p:nvPr/>
        </p:nvSpPr>
        <p:spPr>
          <a:xfrm>
            <a:off x="3108960" y="2606040"/>
            <a:ext cx="8503920" cy="868680"/>
          </a:xfrm>
          <a:prstGeom prst="roundRect">
            <a:avLst>
              <a:gd name="adj" fmla="val 7368"/>
            </a:avLst>
          </a:prstGeom>
          <a:solidFill>
            <a:srgbClr val="1B315C"/>
          </a:solidFill>
          <a:ln w="19050">
            <a:solidFill>
              <a:srgbClr val="00A08A"/>
            </a:solidFill>
            <a:prstDash val="solid"/>
          </a:ln>
        </p:spPr>
      </p:sp>
      <p:sp>
        <p:nvSpPr>
          <p:cNvPr id="7" name="Text 5"/>
          <p:cNvSpPr/>
          <p:nvPr/>
        </p:nvSpPr>
        <p:spPr>
          <a:xfrm>
            <a:off x="3337560" y="2606040"/>
            <a:ext cx="8092440" cy="868680"/>
          </a:xfrm>
          <a:prstGeom prst="rect">
            <a:avLst/>
          </a:prstGeom>
          <a:noFill/>
          <a:ln/>
        </p:spPr>
        <p:txBody>
          <a:bodyPr wrap="square" lIns="45720" tIns="91440" rIns="91440" bIns="45720" rtlCol="0" anchor="ctr"/>
          <a:lstStyle/>
          <a:p>
            <a:pPr algn="l" indent="0" marL="0">
              <a:buNone/>
            </a:pPr>
            <a:r>
              <a:rPr lang="en-US" sz="1800" dirty="0">
                <a:solidFill>
                  <a:srgbClr val="EAF1FB"/>
                </a:solidFill>
                <a:latin typeface="Arial" pitchFamily="34" charset="0"/>
                <a:ea typeface="Arial" pitchFamily="34" charset="-122"/>
                <a:cs typeface="Arial" pitchFamily="34" charset="-120"/>
              </a:rPr>
              <a:t>Work out the meaning of unfamiliar Victorian words from their context, roots and neighbours.</a:t>
            </a:r>
            <a:endParaRPr lang="en-US" sz="1800" dirty="0"/>
          </a:p>
        </p:txBody>
      </p:sp>
      <p:sp>
        <p:nvSpPr>
          <p:cNvPr id="8" name="Text 6"/>
          <p:cNvSpPr/>
          <p:nvPr/>
        </p:nvSpPr>
        <p:spPr>
          <a:xfrm>
            <a:off x="548640" y="3621024"/>
            <a:ext cx="2377440" cy="868680"/>
          </a:xfrm>
          <a:prstGeom prst="roundRect">
            <a:avLst>
              <a:gd name="adj" fmla="val 10526"/>
            </a:avLst>
          </a:prstGeom>
          <a:solidFill>
            <a:srgbClr val="6C3A6E"/>
          </a:solidFill>
          <a:ln>
            <a:solidFill>
              <a:srgbClr val="6C3A6E"/>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ANALYSE</a:t>
            </a:r>
            <a:endParaRPr lang="en-US" sz="1800" dirty="0"/>
          </a:p>
        </p:txBody>
      </p:sp>
      <p:sp>
        <p:nvSpPr>
          <p:cNvPr id="9" name="Shape 7"/>
          <p:cNvSpPr/>
          <p:nvPr/>
        </p:nvSpPr>
        <p:spPr>
          <a:xfrm>
            <a:off x="3108960" y="3621024"/>
            <a:ext cx="8503920" cy="868680"/>
          </a:xfrm>
          <a:prstGeom prst="roundRect">
            <a:avLst>
              <a:gd name="adj" fmla="val 7368"/>
            </a:avLst>
          </a:prstGeom>
          <a:solidFill>
            <a:srgbClr val="1B315C"/>
          </a:solidFill>
          <a:ln w="19050">
            <a:solidFill>
              <a:srgbClr val="6C3A6E"/>
            </a:solidFill>
            <a:prstDash val="solid"/>
          </a:ln>
        </p:spPr>
      </p:sp>
      <p:sp>
        <p:nvSpPr>
          <p:cNvPr id="10" name="Text 8"/>
          <p:cNvSpPr/>
          <p:nvPr/>
        </p:nvSpPr>
        <p:spPr>
          <a:xfrm>
            <a:off x="3337560" y="3621024"/>
            <a:ext cx="8092440" cy="868680"/>
          </a:xfrm>
          <a:prstGeom prst="rect">
            <a:avLst/>
          </a:prstGeom>
          <a:noFill/>
          <a:ln/>
        </p:spPr>
        <p:txBody>
          <a:bodyPr wrap="square" lIns="45720" tIns="91440" rIns="91440" bIns="45720" rtlCol="0" anchor="ctr"/>
          <a:lstStyle/>
          <a:p>
            <a:pPr algn="l" indent="0" marL="0">
              <a:buNone/>
            </a:pPr>
            <a:r>
              <a:rPr lang="en-US" sz="1800" dirty="0">
                <a:solidFill>
                  <a:srgbClr val="EAF1FB"/>
                </a:solidFill>
                <a:latin typeface="Arial" pitchFamily="34" charset="0"/>
                <a:ea typeface="Arial" pitchFamily="34" charset="-122"/>
                <a:cs typeface="Arial" pitchFamily="34" charset="-120"/>
              </a:rPr>
              <a:t>Explain how Conan Doyle's word choices make us see the scene, doubt a character and wonder what comes next.</a:t>
            </a:r>
            <a:endParaRPr lang="en-US" sz="1800" dirty="0"/>
          </a:p>
        </p:txBody>
      </p:sp>
      <p:sp>
        <p:nvSpPr>
          <p:cNvPr id="11" name="Text 9"/>
          <p:cNvSpPr/>
          <p:nvPr/>
        </p:nvSpPr>
        <p:spPr>
          <a:xfrm>
            <a:off x="548640" y="4636008"/>
            <a:ext cx="2377440" cy="868680"/>
          </a:xfrm>
          <a:prstGeom prst="roundRect">
            <a:avLst>
              <a:gd name="adj" fmla="val 10526"/>
            </a:avLst>
          </a:prstGeom>
          <a:solidFill>
            <a:srgbClr val="D0021B"/>
          </a:solidFill>
          <a:ln>
            <a:solidFill>
              <a:srgbClr val="D0021B"/>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EVALUATE</a:t>
            </a:r>
            <a:endParaRPr lang="en-US" sz="1800" dirty="0"/>
          </a:p>
        </p:txBody>
      </p:sp>
      <p:sp>
        <p:nvSpPr>
          <p:cNvPr id="12" name="Shape 10"/>
          <p:cNvSpPr/>
          <p:nvPr/>
        </p:nvSpPr>
        <p:spPr>
          <a:xfrm>
            <a:off x="3108960" y="4636008"/>
            <a:ext cx="8503920" cy="868680"/>
          </a:xfrm>
          <a:prstGeom prst="roundRect">
            <a:avLst>
              <a:gd name="adj" fmla="val 7368"/>
            </a:avLst>
          </a:prstGeom>
          <a:solidFill>
            <a:srgbClr val="1B315C"/>
          </a:solidFill>
          <a:ln w="19050">
            <a:solidFill>
              <a:srgbClr val="D0021B"/>
            </a:solidFill>
            <a:prstDash val="solid"/>
          </a:ln>
        </p:spPr>
      </p:sp>
      <p:sp>
        <p:nvSpPr>
          <p:cNvPr id="13" name="Text 11"/>
          <p:cNvSpPr/>
          <p:nvPr/>
        </p:nvSpPr>
        <p:spPr>
          <a:xfrm>
            <a:off x="3337560" y="4636008"/>
            <a:ext cx="8092440" cy="868680"/>
          </a:xfrm>
          <a:prstGeom prst="rect">
            <a:avLst/>
          </a:prstGeom>
          <a:noFill/>
          <a:ln/>
        </p:spPr>
        <p:txBody>
          <a:bodyPr wrap="square" lIns="45720" tIns="91440" rIns="91440" bIns="45720" rtlCol="0" anchor="ctr"/>
          <a:lstStyle/>
          <a:p>
            <a:pPr algn="l" indent="0" marL="0">
              <a:buNone/>
            </a:pPr>
            <a:r>
              <a:rPr lang="en-US" sz="1800" dirty="0">
                <a:solidFill>
                  <a:srgbClr val="EAF1FB"/>
                </a:solidFill>
                <a:latin typeface="Arial" pitchFamily="34" charset="0"/>
                <a:ea typeface="Arial" pitchFamily="34" charset="-122"/>
                <a:cs typeface="Arial" pitchFamily="34" charset="-120"/>
              </a:rPr>
              <a:t>Write one analytical paragraph — method, quotation, effect — on how the writer keeps us guessing.</a:t>
            </a:r>
            <a:endParaRPr lang="en-US" sz="1800" dirty="0"/>
          </a:p>
        </p:txBody>
      </p:sp>
      <p:sp>
        <p:nvSpPr>
          <p:cNvPr id="14" name="Text 12"/>
          <p:cNvSpPr/>
          <p:nvPr/>
        </p:nvSpPr>
        <p:spPr>
          <a:xfrm>
            <a:off x="548640" y="5943600"/>
            <a:ext cx="10972800" cy="457200"/>
          </a:xfrm>
          <a:prstGeom prst="rect">
            <a:avLst/>
          </a:prstGeom>
          <a:noFill/>
          <a:ln/>
        </p:spPr>
        <p:txBody>
          <a:bodyPr wrap="square" lIns="0" tIns="0" rIns="0" bIns="0" rtlCol="0" anchor="ctr"/>
          <a:lstStyle/>
          <a:p>
            <a:pPr algn="l" indent="0" marL="0">
              <a:buNone/>
            </a:pPr>
            <a:r>
              <a:rPr lang="en-US" sz="1500" b="1" i="1" dirty="0">
                <a:solidFill>
                  <a:srgbClr val="FFC93C"/>
                </a:solidFill>
                <a:latin typeface="Arial" pitchFamily="34" charset="0"/>
                <a:ea typeface="Arial" pitchFamily="34" charset="-122"/>
                <a:cs typeface="Arial" pitchFamily="34" charset="-120"/>
              </a:rPr>
              <a:t>Success = a full answer to the Big Question by the end. Everything today builds to it.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check-circle-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Bell work — mark it</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Mark honestly. Under 3? Re-read tonight.</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80ADC4"/>
          </a:solidFill>
          <a:ln>
            <a:solidFill>
              <a:srgbClr val="80ADC4"/>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Red-Headed League · Analysing Victorian language</a:t>
            </a:r>
            <a:endParaRPr lang="en-US" sz="900" dirty="0"/>
          </a:p>
        </p:txBody>
      </p:sp>
      <p:sp>
        <p:nvSpPr>
          <p:cNvPr id="13" name="Text 10"/>
          <p:cNvSpPr/>
          <p:nvPr/>
        </p:nvSpPr>
        <p:spPr>
          <a:xfrm>
            <a:off x="8961120" y="6702552"/>
            <a:ext cx="2743200" cy="155448"/>
          </a:xfrm>
          <a:prstGeom prst="rect">
            <a:avLst/>
          </a:prstGeom>
          <a:noFill/>
          <a:ln/>
        </p:spPr>
        <p:txBody>
          <a:bodyPr wrap="square" lIns="0" tIns="0" rIns="0" bIns="0" rtlCol="0" anchor="t"/>
          <a:lstStyle/>
          <a:p>
            <a:pPr algn="r" indent="0" marL="0">
              <a:buNone/>
            </a:pPr>
            <a:r>
              <a:rPr lang="en-US" sz="900" dirty="0">
                <a:solidFill>
                  <a:srgbClr val="AAB4C2"/>
                </a:solidFill>
                <a:latin typeface="Arial" pitchFamily="34" charset="0"/>
                <a:ea typeface="Arial" pitchFamily="34" charset="-122"/>
                <a:cs typeface="Arial" pitchFamily="34" charset="-120"/>
              </a:rPr>
              <a:t>ANSWERS</a:t>
            </a:r>
            <a:endParaRPr lang="en-US" sz="900" dirty="0"/>
          </a:p>
        </p:txBody>
      </p:sp>
      <p:sp>
        <p:nvSpPr>
          <p:cNvPr id="14" name="Shape 11"/>
          <p:cNvSpPr/>
          <p:nvPr/>
        </p:nvSpPr>
        <p:spPr>
          <a:xfrm>
            <a:off x="548640" y="1737360"/>
            <a:ext cx="11064240" cy="749808"/>
          </a:xfrm>
          <a:prstGeom prst="roundRect">
            <a:avLst>
              <a:gd name="adj" fmla="val 8537"/>
            </a:avLst>
          </a:prstGeom>
          <a:solidFill>
            <a:srgbClr val="FEF7E4"/>
          </a:solidFill>
          <a:ln w="12700">
            <a:solidFill>
              <a:srgbClr val="E5D9B0"/>
            </a:solidFill>
            <a:prstDash val="solid"/>
          </a:ln>
        </p:spPr>
      </p:sp>
      <p:sp>
        <p:nvSpPr>
          <p:cNvPr id="15" name="Text 12"/>
          <p:cNvSpPr/>
          <p:nvPr/>
        </p:nvSpPr>
        <p:spPr>
          <a:xfrm>
            <a:off x="731520" y="1764792"/>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1.  What is a pawnbroker?</a:t>
            </a:r>
            <a:endParaRPr lang="en-US" sz="1800" dirty="0"/>
          </a:p>
        </p:txBody>
      </p:sp>
      <p:sp>
        <p:nvSpPr>
          <p:cNvPr id="16" name="Text 13"/>
          <p:cNvSpPr/>
          <p:nvPr/>
        </p:nvSpPr>
        <p:spPr>
          <a:xfrm>
            <a:off x="6309360" y="1764792"/>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 shopkeeper who lends money and keeps your things until you pay it back.</a:t>
            </a:r>
            <a:endParaRPr lang="en-US" sz="1800" dirty="0"/>
          </a:p>
        </p:txBody>
      </p:sp>
      <p:sp>
        <p:nvSpPr>
          <p:cNvPr id="17" name="Shape 14"/>
          <p:cNvSpPr/>
          <p:nvPr/>
        </p:nvSpPr>
        <p:spPr>
          <a:xfrm>
            <a:off x="548640" y="2633472"/>
            <a:ext cx="11064240" cy="749808"/>
          </a:xfrm>
          <a:prstGeom prst="roundRect">
            <a:avLst>
              <a:gd name="adj" fmla="val 8537"/>
            </a:avLst>
          </a:prstGeom>
          <a:solidFill>
            <a:srgbClr val="FFFFFF"/>
          </a:solidFill>
          <a:ln w="12700">
            <a:solidFill>
              <a:srgbClr val="E5D9B0"/>
            </a:solidFill>
            <a:prstDash val="solid"/>
          </a:ln>
        </p:spPr>
      </p:sp>
      <p:sp>
        <p:nvSpPr>
          <p:cNvPr id="18" name="Text 15"/>
          <p:cNvSpPr/>
          <p:nvPr/>
        </p:nvSpPr>
        <p:spPr>
          <a:xfrm>
            <a:off x="731520" y="2660904"/>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2.  Who is Vincent Spaulding really?</a:t>
            </a:r>
            <a:endParaRPr lang="en-US" sz="1800" dirty="0"/>
          </a:p>
        </p:txBody>
      </p:sp>
      <p:sp>
        <p:nvSpPr>
          <p:cNvPr id="19" name="Text 16"/>
          <p:cNvSpPr/>
          <p:nvPr/>
        </p:nvSpPr>
        <p:spPr>
          <a:xfrm>
            <a:off x="6309360" y="2660904"/>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John Clay — a famous thief in disguise.</a:t>
            </a:r>
            <a:endParaRPr lang="en-US" sz="1800" dirty="0"/>
          </a:p>
        </p:txBody>
      </p:sp>
      <p:sp>
        <p:nvSpPr>
          <p:cNvPr id="20" name="Shape 17"/>
          <p:cNvSpPr/>
          <p:nvPr/>
        </p:nvSpPr>
        <p:spPr>
          <a:xfrm>
            <a:off x="548640" y="3529584"/>
            <a:ext cx="11064240" cy="749808"/>
          </a:xfrm>
          <a:prstGeom prst="roundRect">
            <a:avLst>
              <a:gd name="adj" fmla="val 8537"/>
            </a:avLst>
          </a:prstGeom>
          <a:solidFill>
            <a:srgbClr val="FEF7E4"/>
          </a:solidFill>
          <a:ln w="12700">
            <a:solidFill>
              <a:srgbClr val="E5D9B0"/>
            </a:solidFill>
            <a:prstDash val="solid"/>
          </a:ln>
        </p:spPr>
      </p:sp>
      <p:sp>
        <p:nvSpPr>
          <p:cNvPr id="21" name="Text 18"/>
          <p:cNvSpPr/>
          <p:nvPr/>
        </p:nvSpPr>
        <p:spPr>
          <a:xfrm>
            <a:off x="731520" y="3557016"/>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3.  Why did Spaulding offer to work for half wages?</a:t>
            </a:r>
            <a:endParaRPr lang="en-US" sz="1800" dirty="0"/>
          </a:p>
        </p:txBody>
      </p:sp>
      <p:sp>
        <p:nvSpPr>
          <p:cNvPr id="22" name="Text 19"/>
          <p:cNvSpPr/>
          <p:nvPr/>
        </p:nvSpPr>
        <p:spPr>
          <a:xfrm>
            <a:off x="6309360" y="3557016"/>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So Wilson would hire him — he needed to be in that shop, above that cellar, next to that bank.</a:t>
            </a:r>
            <a:endParaRPr lang="en-US" sz="1800" dirty="0"/>
          </a:p>
        </p:txBody>
      </p:sp>
      <p:sp>
        <p:nvSpPr>
          <p:cNvPr id="23" name="Shape 20"/>
          <p:cNvSpPr/>
          <p:nvPr/>
        </p:nvSpPr>
        <p:spPr>
          <a:xfrm>
            <a:off x="548640" y="4425696"/>
            <a:ext cx="11064240" cy="749808"/>
          </a:xfrm>
          <a:prstGeom prst="roundRect">
            <a:avLst>
              <a:gd name="adj" fmla="val 8537"/>
            </a:avLst>
          </a:prstGeom>
          <a:solidFill>
            <a:srgbClr val="FFFFFF"/>
          </a:solidFill>
          <a:ln w="12700">
            <a:solidFill>
              <a:srgbClr val="E5D9B0"/>
            </a:solidFill>
            <a:prstDash val="solid"/>
          </a:ln>
        </p:spPr>
      </p:sp>
      <p:sp>
        <p:nvSpPr>
          <p:cNvPr id="24" name="Text 21"/>
          <p:cNvSpPr/>
          <p:nvPr/>
        </p:nvSpPr>
        <p:spPr>
          <a:xfrm>
            <a:off x="731520" y="4453128"/>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4.  Name two things Holmes did outside the shop.</a:t>
            </a:r>
            <a:endParaRPr lang="en-US" sz="1800" dirty="0"/>
          </a:p>
        </p:txBody>
      </p:sp>
      <p:sp>
        <p:nvSpPr>
          <p:cNvPr id="25" name="Text 22"/>
          <p:cNvSpPr/>
          <p:nvPr/>
        </p:nvSpPr>
        <p:spPr>
          <a:xfrm>
            <a:off x="6309360" y="4453128"/>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Tapped the pavement with his stick; looked at the assistant's trouser knees.</a:t>
            </a:r>
            <a:endParaRPr lang="en-US" sz="1800" dirty="0"/>
          </a:p>
        </p:txBody>
      </p:sp>
      <p:sp>
        <p:nvSpPr>
          <p:cNvPr id="26" name="Shape 23"/>
          <p:cNvSpPr/>
          <p:nvPr/>
        </p:nvSpPr>
        <p:spPr>
          <a:xfrm>
            <a:off x="548640" y="5321808"/>
            <a:ext cx="11064240" cy="749808"/>
          </a:xfrm>
          <a:prstGeom prst="roundRect">
            <a:avLst>
              <a:gd name="adj" fmla="val 8537"/>
            </a:avLst>
          </a:prstGeom>
          <a:solidFill>
            <a:srgbClr val="FEF7E4"/>
          </a:solidFill>
          <a:ln w="12700">
            <a:solidFill>
              <a:srgbClr val="E5D9B0"/>
            </a:solidFill>
            <a:prstDash val="solid"/>
          </a:ln>
        </p:spPr>
      </p:sp>
      <p:sp>
        <p:nvSpPr>
          <p:cNvPr id="27" name="Text 24"/>
          <p:cNvSpPr/>
          <p:nvPr/>
        </p:nvSpPr>
        <p:spPr>
          <a:xfrm>
            <a:off x="731520" y="5349240"/>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5.  What is a narrator — and who is ours?</a:t>
            </a:r>
            <a:endParaRPr lang="en-US" sz="1800" dirty="0"/>
          </a:p>
        </p:txBody>
      </p:sp>
      <p:sp>
        <p:nvSpPr>
          <p:cNvPr id="28" name="Text 25"/>
          <p:cNvSpPr/>
          <p:nvPr/>
        </p:nvSpPr>
        <p:spPr>
          <a:xfrm>
            <a:off x="6309360" y="5349240"/>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The voice that tells the story. Ours is Dr Watson, Holmes's friend.</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key-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Key words — go deeper</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8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Not just the meaning — the DEEP explanation. Take each key word from meaning to mastery.</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00A08A"/>
          </a:solidFill>
          <a:ln>
            <a:solidFill>
              <a:srgbClr val="00A08A"/>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Red-Headed League · Analysing Victorian language</a:t>
            </a:r>
            <a:endParaRPr lang="en-US" sz="900" dirty="0"/>
          </a:p>
        </p:txBody>
      </p:sp>
      <p:sp>
        <p:nvSpPr>
          <p:cNvPr id="13" name="Shape 10"/>
          <p:cNvSpPr/>
          <p:nvPr/>
        </p:nvSpPr>
        <p:spPr>
          <a:xfrm>
            <a:off x="548640" y="1783080"/>
            <a:ext cx="2651760" cy="914400"/>
          </a:xfrm>
          <a:prstGeom prst="roundRect">
            <a:avLst>
              <a:gd name="adj" fmla="val 8000"/>
            </a:avLst>
          </a:prstGeom>
          <a:solidFill>
            <a:srgbClr val="00A08A"/>
          </a:solidFill>
          <a:ln w="12700">
            <a:solidFill>
              <a:srgbClr val="00A08A"/>
            </a:solidFill>
            <a:prstDash val="solid"/>
          </a:ln>
        </p:spPr>
      </p:sp>
      <p:sp>
        <p:nvSpPr>
          <p:cNvPr id="14" name="Text 11"/>
          <p:cNvSpPr/>
          <p:nvPr/>
        </p:nvSpPr>
        <p:spPr>
          <a:xfrm>
            <a:off x="640080"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1 MEAN</a:t>
            </a:r>
            <a:endParaRPr lang="en-US" sz="1600" dirty="0"/>
          </a:p>
        </p:txBody>
      </p:sp>
      <p:sp>
        <p:nvSpPr>
          <p:cNvPr id="15" name="Text 12"/>
          <p:cNvSpPr/>
          <p:nvPr/>
        </p:nvSpPr>
        <p:spPr>
          <a:xfrm>
            <a:off x="658368"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say what it means in your own words</a:t>
            </a:r>
            <a:endParaRPr lang="en-US" sz="1200" dirty="0"/>
          </a:p>
        </p:txBody>
      </p:sp>
      <p:sp>
        <p:nvSpPr>
          <p:cNvPr id="16" name="Shape 13"/>
          <p:cNvSpPr/>
          <p:nvPr/>
        </p:nvSpPr>
        <p:spPr>
          <a:xfrm>
            <a:off x="3346704" y="1783080"/>
            <a:ext cx="2651760" cy="914400"/>
          </a:xfrm>
          <a:prstGeom prst="roundRect">
            <a:avLst>
              <a:gd name="adj" fmla="val 8000"/>
            </a:avLst>
          </a:prstGeom>
          <a:solidFill>
            <a:srgbClr val="80ADC4"/>
          </a:solidFill>
          <a:ln w="12700">
            <a:solidFill>
              <a:srgbClr val="80ADC4"/>
            </a:solidFill>
            <a:prstDash val="solid"/>
          </a:ln>
        </p:spPr>
      </p:sp>
      <p:sp>
        <p:nvSpPr>
          <p:cNvPr id="17" name="Text 14"/>
          <p:cNvSpPr/>
          <p:nvPr/>
        </p:nvSpPr>
        <p:spPr>
          <a:xfrm>
            <a:off x="3438144"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2 USE</a:t>
            </a:r>
            <a:endParaRPr lang="en-US" sz="1600" dirty="0"/>
          </a:p>
        </p:txBody>
      </p:sp>
      <p:sp>
        <p:nvSpPr>
          <p:cNvPr id="18" name="Text 15"/>
          <p:cNvSpPr/>
          <p:nvPr/>
        </p:nvSpPr>
        <p:spPr>
          <a:xfrm>
            <a:off x="3456432"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put it in a sentence of your own</a:t>
            </a:r>
            <a:endParaRPr lang="en-US" sz="1200" dirty="0"/>
          </a:p>
        </p:txBody>
      </p:sp>
      <p:sp>
        <p:nvSpPr>
          <p:cNvPr id="19" name="Shape 16"/>
          <p:cNvSpPr/>
          <p:nvPr/>
        </p:nvSpPr>
        <p:spPr>
          <a:xfrm>
            <a:off x="6144768" y="1783080"/>
            <a:ext cx="2651760" cy="914400"/>
          </a:xfrm>
          <a:prstGeom prst="roundRect">
            <a:avLst>
              <a:gd name="adj" fmla="val 8000"/>
            </a:avLst>
          </a:prstGeom>
          <a:solidFill>
            <a:srgbClr val="6C3A6E"/>
          </a:solidFill>
          <a:ln w="12700">
            <a:solidFill>
              <a:srgbClr val="6C3A6E"/>
            </a:solidFill>
            <a:prstDash val="solid"/>
          </a:ln>
        </p:spPr>
      </p:sp>
      <p:sp>
        <p:nvSpPr>
          <p:cNvPr id="20" name="Text 17"/>
          <p:cNvSpPr/>
          <p:nvPr/>
        </p:nvSpPr>
        <p:spPr>
          <a:xfrm>
            <a:off x="6236208"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3 SPOT</a:t>
            </a:r>
            <a:endParaRPr lang="en-US" sz="1600" dirty="0"/>
          </a:p>
        </p:txBody>
      </p:sp>
      <p:sp>
        <p:nvSpPr>
          <p:cNvPr id="21" name="Text 18"/>
          <p:cNvSpPr/>
          <p:nvPr/>
        </p:nvSpPr>
        <p:spPr>
          <a:xfrm>
            <a:off x="6254496"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find it in today's text</a:t>
            </a:r>
            <a:endParaRPr lang="en-US" sz="1200" dirty="0"/>
          </a:p>
        </p:txBody>
      </p:sp>
      <p:sp>
        <p:nvSpPr>
          <p:cNvPr id="22" name="Shape 19"/>
          <p:cNvSpPr/>
          <p:nvPr/>
        </p:nvSpPr>
        <p:spPr>
          <a:xfrm>
            <a:off x="8942832" y="1783080"/>
            <a:ext cx="2651760" cy="914400"/>
          </a:xfrm>
          <a:prstGeom prst="roundRect">
            <a:avLst>
              <a:gd name="adj" fmla="val 8000"/>
            </a:avLst>
          </a:prstGeom>
          <a:solidFill>
            <a:srgbClr val="D0021B"/>
          </a:solidFill>
          <a:ln w="12700">
            <a:solidFill>
              <a:srgbClr val="D0021B"/>
            </a:solidFill>
            <a:prstDash val="solid"/>
          </a:ln>
        </p:spPr>
      </p:sp>
      <p:sp>
        <p:nvSpPr>
          <p:cNvPr id="23" name="Text 20"/>
          <p:cNvSpPr/>
          <p:nvPr/>
        </p:nvSpPr>
        <p:spPr>
          <a:xfrm>
            <a:off x="9034272"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4 LINK</a:t>
            </a:r>
            <a:endParaRPr lang="en-US" sz="1600" dirty="0"/>
          </a:p>
        </p:txBody>
      </p:sp>
      <p:sp>
        <p:nvSpPr>
          <p:cNvPr id="24" name="Text 21"/>
          <p:cNvSpPr/>
          <p:nvPr/>
        </p:nvSpPr>
        <p:spPr>
          <a:xfrm>
            <a:off x="9052560"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link it to the Big Question</a:t>
            </a:r>
            <a:endParaRPr lang="en-US" sz="1200" dirty="0"/>
          </a:p>
        </p:txBody>
      </p:sp>
      <p:sp>
        <p:nvSpPr>
          <p:cNvPr id="25" name="Text 22"/>
          <p:cNvSpPr/>
          <p:nvPr/>
        </p:nvSpPr>
        <p:spPr>
          <a:xfrm>
            <a:off x="548640" y="2926080"/>
            <a:ext cx="10972800" cy="365760"/>
          </a:xfrm>
          <a:prstGeom prst="rect">
            <a:avLst/>
          </a:prstGeom>
          <a:noFill/>
          <a:ln/>
        </p:spPr>
        <p:txBody>
          <a:bodyPr wrap="square" lIns="0" tIns="0" rIns="0" bIns="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Do the four steps for EACH key word:</a:t>
            </a:r>
            <a:endParaRPr lang="en-US" sz="1800" dirty="0"/>
          </a:p>
        </p:txBody>
      </p:sp>
      <p:sp>
        <p:nvSpPr>
          <p:cNvPr id="26" name="Text 23"/>
          <p:cNvSpPr/>
          <p:nvPr/>
        </p:nvSpPr>
        <p:spPr>
          <a:xfrm>
            <a:off x="548640" y="3401568"/>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context</a:t>
            </a:r>
            <a:endParaRPr lang="en-US" sz="1800" dirty="0"/>
          </a:p>
        </p:txBody>
      </p:sp>
      <p:sp>
        <p:nvSpPr>
          <p:cNvPr id="27" name="Text 24"/>
          <p:cNvSpPr/>
          <p:nvPr/>
        </p:nvSpPr>
        <p:spPr>
          <a:xfrm>
            <a:off x="3566160" y="3401568"/>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the words around a word — they help you guess what it means</a:t>
            </a:r>
            <a:endParaRPr lang="en-US" sz="1800" dirty="0"/>
          </a:p>
        </p:txBody>
      </p:sp>
      <p:sp>
        <p:nvSpPr>
          <p:cNvPr id="28" name="Text 25"/>
          <p:cNvSpPr/>
          <p:nvPr/>
        </p:nvSpPr>
        <p:spPr>
          <a:xfrm>
            <a:off x="548640" y="3972154"/>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connotation</a:t>
            </a:r>
            <a:endParaRPr lang="en-US" sz="1800" dirty="0"/>
          </a:p>
        </p:txBody>
      </p:sp>
      <p:sp>
        <p:nvSpPr>
          <p:cNvPr id="29" name="Text 26"/>
          <p:cNvSpPr/>
          <p:nvPr/>
        </p:nvSpPr>
        <p:spPr>
          <a:xfrm>
            <a:off x="3566160" y="3972154"/>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the feeling or idea a word carries beyond its plain meaning</a:t>
            </a:r>
            <a:endParaRPr lang="en-US" sz="1800" dirty="0"/>
          </a:p>
        </p:txBody>
      </p:sp>
      <p:sp>
        <p:nvSpPr>
          <p:cNvPr id="30" name="Text 27"/>
          <p:cNvSpPr/>
          <p:nvPr/>
        </p:nvSpPr>
        <p:spPr>
          <a:xfrm>
            <a:off x="548640" y="4542739"/>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verb</a:t>
            </a:r>
            <a:endParaRPr lang="en-US" sz="1800" dirty="0"/>
          </a:p>
        </p:txBody>
      </p:sp>
      <p:sp>
        <p:nvSpPr>
          <p:cNvPr id="31" name="Text 28"/>
          <p:cNvSpPr/>
          <p:nvPr/>
        </p:nvSpPr>
        <p:spPr>
          <a:xfrm>
            <a:off x="3566160" y="4542739"/>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 doing word; strong verbs carry mood and speed</a:t>
            </a:r>
            <a:endParaRPr lang="en-US" sz="1800" dirty="0"/>
          </a:p>
        </p:txBody>
      </p:sp>
      <p:sp>
        <p:nvSpPr>
          <p:cNvPr id="32" name="Text 29"/>
          <p:cNvSpPr/>
          <p:nvPr/>
        </p:nvSpPr>
        <p:spPr>
          <a:xfrm>
            <a:off x="548640" y="5113325"/>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adjective</a:t>
            </a:r>
            <a:endParaRPr lang="en-US" sz="1800" dirty="0"/>
          </a:p>
        </p:txBody>
      </p:sp>
      <p:sp>
        <p:nvSpPr>
          <p:cNvPr id="33" name="Text 30"/>
          <p:cNvSpPr/>
          <p:nvPr/>
        </p:nvSpPr>
        <p:spPr>
          <a:xfrm>
            <a:off x="3566160" y="5113325"/>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 describing word that tells you what something is like</a:t>
            </a:r>
            <a:endParaRPr lang="en-US" sz="1800" dirty="0"/>
          </a:p>
        </p:txBody>
      </p:sp>
      <p:sp>
        <p:nvSpPr>
          <p:cNvPr id="34" name="Text 31"/>
          <p:cNvSpPr/>
          <p:nvPr/>
        </p:nvSpPr>
        <p:spPr>
          <a:xfrm>
            <a:off x="548640" y="5683910"/>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effect</a:t>
            </a:r>
            <a:endParaRPr lang="en-US" sz="1800" dirty="0"/>
          </a:p>
        </p:txBody>
      </p:sp>
      <p:sp>
        <p:nvSpPr>
          <p:cNvPr id="35" name="Text 32"/>
          <p:cNvSpPr/>
          <p:nvPr/>
        </p:nvSpPr>
        <p:spPr>
          <a:xfrm>
            <a:off x="3566160" y="5683910"/>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a word choice makes the reader see, feel or think</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book-open-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Cracking a Victorian word</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9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Four strategies for a word you have never met. Use them on the Victorian vocabulary list.</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00A08A"/>
          </a:solidFill>
          <a:ln>
            <a:solidFill>
              <a:srgbClr val="00A08A"/>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Red-Headed League · Analysing Victorian language</a:t>
            </a:r>
            <a:endParaRPr lang="en-US" sz="900" dirty="0"/>
          </a:p>
        </p:txBody>
      </p:sp>
      <p:sp>
        <p:nvSpPr>
          <p:cNvPr id="13" name="Text 10"/>
          <p:cNvSpPr/>
          <p:nvPr/>
        </p:nvSpPr>
        <p:spPr>
          <a:xfrm>
            <a:off x="548640" y="1783080"/>
            <a:ext cx="2606040" cy="889254"/>
          </a:xfrm>
          <a:prstGeom prst="roundRect">
            <a:avLst>
              <a:gd name="adj" fmla="val 10283"/>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CONTEXT</a:t>
            </a:r>
            <a:endParaRPr lang="en-US" sz="1600" dirty="0"/>
          </a:p>
        </p:txBody>
      </p:sp>
      <p:sp>
        <p:nvSpPr>
          <p:cNvPr id="14" name="Shape 11"/>
          <p:cNvSpPr/>
          <p:nvPr/>
        </p:nvSpPr>
        <p:spPr>
          <a:xfrm>
            <a:off x="3291840" y="1783080"/>
            <a:ext cx="8321040" cy="889254"/>
          </a:xfrm>
          <a:prstGeom prst="roundRect">
            <a:avLst>
              <a:gd name="adj" fmla="val 8226"/>
            </a:avLst>
          </a:prstGeom>
          <a:solidFill>
            <a:srgbClr val="FEF7E4"/>
          </a:solidFill>
          <a:ln w="12700">
            <a:solidFill>
              <a:srgbClr val="E5D9B0"/>
            </a:solidFill>
            <a:prstDash val="solid"/>
          </a:ln>
        </p:spPr>
      </p:sp>
      <p:sp>
        <p:nvSpPr>
          <p:cNvPr id="15" name="Text 12"/>
          <p:cNvSpPr/>
          <p:nvPr/>
        </p:nvSpPr>
        <p:spPr>
          <a:xfrm>
            <a:off x="3456432" y="1783080"/>
            <a:ext cx="8001000" cy="88925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Read the sentence either side. 'The League is dissolved' sits on a locked door — so dissolved must mean ended.</a:t>
            </a:r>
            <a:endParaRPr lang="en-US" sz="1800" dirty="0"/>
          </a:p>
        </p:txBody>
      </p:sp>
      <p:sp>
        <p:nvSpPr>
          <p:cNvPr id="16" name="Text 13"/>
          <p:cNvSpPr/>
          <p:nvPr/>
        </p:nvSpPr>
        <p:spPr>
          <a:xfrm>
            <a:off x="548640" y="2782062"/>
            <a:ext cx="2606040" cy="889254"/>
          </a:xfrm>
          <a:prstGeom prst="roundRect">
            <a:avLst>
              <a:gd name="adj" fmla="val 10283"/>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ROOTS</a:t>
            </a:r>
            <a:endParaRPr lang="en-US" sz="1600" dirty="0"/>
          </a:p>
        </p:txBody>
      </p:sp>
      <p:sp>
        <p:nvSpPr>
          <p:cNvPr id="17" name="Shape 14"/>
          <p:cNvSpPr/>
          <p:nvPr/>
        </p:nvSpPr>
        <p:spPr>
          <a:xfrm>
            <a:off x="3291840" y="2782062"/>
            <a:ext cx="8321040" cy="889254"/>
          </a:xfrm>
          <a:prstGeom prst="roundRect">
            <a:avLst>
              <a:gd name="adj" fmla="val 8226"/>
            </a:avLst>
          </a:prstGeom>
          <a:solidFill>
            <a:srgbClr val="FEF7E4"/>
          </a:solidFill>
          <a:ln w="12700">
            <a:solidFill>
              <a:srgbClr val="E5D9B0"/>
            </a:solidFill>
            <a:prstDash val="solid"/>
          </a:ln>
        </p:spPr>
      </p:sp>
      <p:sp>
        <p:nvSpPr>
          <p:cNvPr id="18" name="Text 15"/>
          <p:cNvSpPr/>
          <p:nvPr/>
        </p:nvSpPr>
        <p:spPr>
          <a:xfrm>
            <a:off x="3456432" y="2782062"/>
            <a:ext cx="8001000" cy="88925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Break the word up. Pawn-broker: a broker deals in things; to pawn is to hand over for money.</a:t>
            </a:r>
            <a:endParaRPr lang="en-US" sz="1800" dirty="0"/>
          </a:p>
        </p:txBody>
      </p:sp>
      <p:sp>
        <p:nvSpPr>
          <p:cNvPr id="19" name="Text 16"/>
          <p:cNvSpPr/>
          <p:nvPr/>
        </p:nvSpPr>
        <p:spPr>
          <a:xfrm>
            <a:off x="548640" y="3781044"/>
            <a:ext cx="2606040" cy="889254"/>
          </a:xfrm>
          <a:prstGeom prst="roundRect">
            <a:avLst>
              <a:gd name="adj" fmla="val 10283"/>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SWAP</a:t>
            </a:r>
            <a:endParaRPr lang="en-US" sz="1600" dirty="0"/>
          </a:p>
        </p:txBody>
      </p:sp>
      <p:sp>
        <p:nvSpPr>
          <p:cNvPr id="20" name="Shape 17"/>
          <p:cNvSpPr/>
          <p:nvPr/>
        </p:nvSpPr>
        <p:spPr>
          <a:xfrm>
            <a:off x="3291840" y="3781044"/>
            <a:ext cx="8321040" cy="889254"/>
          </a:xfrm>
          <a:prstGeom prst="roundRect">
            <a:avLst>
              <a:gd name="adj" fmla="val 8226"/>
            </a:avLst>
          </a:prstGeom>
          <a:solidFill>
            <a:srgbClr val="FEF7E4"/>
          </a:solidFill>
          <a:ln w="12700">
            <a:solidFill>
              <a:srgbClr val="E5D9B0"/>
            </a:solidFill>
            <a:prstDash val="solid"/>
          </a:ln>
        </p:spPr>
      </p:sp>
      <p:sp>
        <p:nvSpPr>
          <p:cNvPr id="21" name="Text 18"/>
          <p:cNvSpPr/>
          <p:nvPr/>
        </p:nvSpPr>
        <p:spPr>
          <a:xfrm>
            <a:off x="3456432" y="3781044"/>
            <a:ext cx="8001000" cy="88925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Try a word you know in its place. Does 'stout gentleman' still make sense as 'large gentleman'? Yes.</a:t>
            </a:r>
            <a:endParaRPr lang="en-US" sz="1800" dirty="0"/>
          </a:p>
        </p:txBody>
      </p:sp>
      <p:sp>
        <p:nvSpPr>
          <p:cNvPr id="22" name="Text 19"/>
          <p:cNvSpPr/>
          <p:nvPr/>
        </p:nvSpPr>
        <p:spPr>
          <a:xfrm>
            <a:off x="548640" y="4780026"/>
            <a:ext cx="2606040" cy="889254"/>
          </a:xfrm>
          <a:prstGeom prst="roundRect">
            <a:avLst>
              <a:gd name="adj" fmla="val 10283"/>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CONNOTATION</a:t>
            </a:r>
            <a:endParaRPr lang="en-US" sz="1600" dirty="0"/>
          </a:p>
        </p:txBody>
      </p:sp>
      <p:sp>
        <p:nvSpPr>
          <p:cNvPr id="23" name="Shape 20"/>
          <p:cNvSpPr/>
          <p:nvPr/>
        </p:nvSpPr>
        <p:spPr>
          <a:xfrm>
            <a:off x="3291840" y="4780026"/>
            <a:ext cx="8321040" cy="889254"/>
          </a:xfrm>
          <a:prstGeom prst="roundRect">
            <a:avLst>
              <a:gd name="adj" fmla="val 8226"/>
            </a:avLst>
          </a:prstGeom>
          <a:solidFill>
            <a:srgbClr val="FEF7E4"/>
          </a:solidFill>
          <a:ln w="12700">
            <a:solidFill>
              <a:srgbClr val="E5D9B0"/>
            </a:solidFill>
            <a:prstDash val="solid"/>
          </a:ln>
        </p:spPr>
      </p:sp>
      <p:sp>
        <p:nvSpPr>
          <p:cNvPr id="24" name="Text 21"/>
          <p:cNvSpPr/>
          <p:nvPr/>
        </p:nvSpPr>
        <p:spPr>
          <a:xfrm>
            <a:off x="3456432" y="4780026"/>
            <a:ext cx="8001000" cy="88925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Ask what the word makes you feel. 'Burrow' is a rabbit's word — a man who burrows is animal, secret, low.</a:t>
            </a:r>
            <a:endParaRPr lang="en-US" sz="1800" dirty="0"/>
          </a:p>
        </p:txBody>
      </p:sp>
      <p:sp>
        <p:nvSpPr>
          <p:cNvPr id="25" name="Text 22"/>
          <p:cNvSpPr/>
          <p:nvPr/>
        </p:nvSpPr>
        <p:spPr>
          <a:xfrm>
            <a:off x="548640" y="5715000"/>
            <a:ext cx="11064240" cy="365760"/>
          </a:xfrm>
          <a:prstGeom prst="rect">
            <a:avLst/>
          </a:prstGeom>
          <a:noFill/>
          <a:ln/>
        </p:spPr>
        <p:txBody>
          <a:bodyPr wrap="square" lIns="0" tIns="0" rIns="0" bIns="0" rtlCol="0" anchor="ctr"/>
          <a:lstStyle/>
          <a:p>
            <a:pPr algn="l" indent="0" marL="0">
              <a:buNone/>
            </a:pPr>
            <a:r>
              <a:rPr lang="en-US" sz="1500" b="1" i="1" dirty="0">
                <a:solidFill>
                  <a:srgbClr val="12294D"/>
                </a:solidFill>
                <a:latin typeface="Arial" pitchFamily="34" charset="0"/>
                <a:ea typeface="Arial" pitchFamily="34" charset="-122"/>
                <a:cs typeface="Arial" pitchFamily="34" charset="-120"/>
              </a:rPr>
              <a:t>➜  Meaning first, then feeling. A word does two jobs at once.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file-text-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Read the extract</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9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Holmes and Watson outside the pawnbroker's shop. Read once for the story, once hunting for verbs and adjectives.</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00A08A"/>
          </a:solidFill>
          <a:ln>
            <a:solidFill>
              <a:srgbClr val="00A08A"/>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Red-Headed League · Analysing Victorian language</a:t>
            </a:r>
            <a:endParaRPr lang="en-US" sz="900" dirty="0"/>
          </a:p>
        </p:txBody>
      </p:sp>
      <p:sp>
        <p:nvSpPr>
          <p:cNvPr id="13" name="Shape 10"/>
          <p:cNvSpPr/>
          <p:nvPr/>
        </p:nvSpPr>
        <p:spPr>
          <a:xfrm>
            <a:off x="548640" y="1783080"/>
            <a:ext cx="6949440" cy="4343400"/>
          </a:xfrm>
          <a:prstGeom prst="roundRect">
            <a:avLst>
              <a:gd name="adj" fmla="val 1263"/>
            </a:avLst>
          </a:prstGeom>
          <a:solidFill>
            <a:srgbClr val="FEF7E4"/>
          </a:solidFill>
          <a:ln w="12700">
            <a:solidFill>
              <a:srgbClr val="E5D9B0"/>
            </a:solidFill>
            <a:prstDash val="solid"/>
          </a:ln>
        </p:spPr>
      </p:sp>
      <p:sp>
        <p:nvSpPr>
          <p:cNvPr id="14" name="Text 11"/>
          <p:cNvSpPr/>
          <p:nvPr/>
        </p:nvSpPr>
        <p:spPr>
          <a:xfrm>
            <a:off x="731520" y="1874520"/>
            <a:ext cx="6583680" cy="274320"/>
          </a:xfrm>
          <a:prstGeom prst="rect">
            <a:avLst/>
          </a:prstGeom>
          <a:noFill/>
          <a:ln/>
        </p:spPr>
        <p:txBody>
          <a:bodyPr wrap="square" lIns="0" tIns="0" rIns="0" bIns="0" rtlCol="0" anchor="ctr"/>
          <a:lstStyle/>
          <a:p>
            <a:pPr indent="0" marL="0">
              <a:buNone/>
            </a:pPr>
            <a:r>
              <a:rPr lang="en-US" sz="1100" b="1" spc="100" kern="0" dirty="0">
                <a:solidFill>
                  <a:srgbClr val="8A6D00"/>
                </a:solidFill>
                <a:latin typeface="Arial" pitchFamily="34" charset="0"/>
                <a:ea typeface="Arial" pitchFamily="34" charset="-122"/>
                <a:cs typeface="Arial" pitchFamily="34" charset="-120"/>
              </a:rPr>
              <a:t>ORIGINAL RETELLING WRITTEN FOR THIS LESSON</a:t>
            </a:r>
            <a:endParaRPr lang="en-US" sz="1100" dirty="0"/>
          </a:p>
        </p:txBody>
      </p:sp>
      <p:sp>
        <p:nvSpPr>
          <p:cNvPr id="15" name="Text 12"/>
          <p:cNvSpPr/>
          <p:nvPr/>
        </p:nvSpPr>
        <p:spPr>
          <a:xfrm>
            <a:off x="685800" y="2176272"/>
            <a:ext cx="6675120" cy="3840480"/>
          </a:xfrm>
          <a:prstGeom prst="rect">
            <a:avLst/>
          </a:prstGeom>
          <a:noFill/>
          <a:ln/>
        </p:spPr>
        <p:txBody>
          <a:bodyPr wrap="square" lIns="91440" tIns="137160" rIns="137160" bIns="91440" rtlCol="0" anchor="t"/>
          <a:lstStyle/>
          <a:p>
            <a:pPr algn="l" indent="0" marL="0">
              <a:buNone/>
            </a:pPr>
            <a:r>
              <a:rPr lang="en-US" sz="1800" dirty="0">
                <a:solidFill>
                  <a:srgbClr val="16171F"/>
                </a:solidFill>
                <a:latin typeface="Arial" pitchFamily="34" charset="0"/>
                <a:ea typeface="Arial" pitchFamily="34" charset="-122"/>
                <a:cs typeface="Arial" pitchFamily="34" charset="-120"/>
              </a:rPr>
              <a:t>It was a poky, shabby little square. Three gilt balls and a brown board announced the pawnbroker's trade. Holmes stopped in front of it with his head on one side, his eyes glittering. Then he walked slowly up the street and down again, studying the houses. At last he thumped his stick twice upon the pavement and knocked at the door. A bright-faced young fellow opened it. 'Thank you,' said Holmes, 'I only wished to ask the way to the Strand.' The door closed. 'Smart fellow,' murmured Holmes. 'I have seen his knees. Now, Watson — what lies behind that shabby shop?'</a:t>
            </a:r>
            <a:endParaRPr lang="en-US" sz="1800" dirty="0"/>
          </a:p>
        </p:txBody>
      </p:sp>
      <p:sp>
        <p:nvSpPr>
          <p:cNvPr id="16" name="Text 13"/>
          <p:cNvSpPr/>
          <p:nvPr/>
        </p:nvSpPr>
        <p:spPr>
          <a:xfrm>
            <a:off x="7726680" y="1783080"/>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1</a:t>
            </a:r>
            <a:endParaRPr lang="en-US" sz="1800" dirty="0"/>
          </a:p>
        </p:txBody>
      </p:sp>
      <p:sp>
        <p:nvSpPr>
          <p:cNvPr id="17" name="Shape 14"/>
          <p:cNvSpPr/>
          <p:nvPr/>
        </p:nvSpPr>
        <p:spPr>
          <a:xfrm>
            <a:off x="8321040" y="1783080"/>
            <a:ext cx="3291840" cy="960120"/>
          </a:xfrm>
          <a:prstGeom prst="roundRect">
            <a:avLst>
              <a:gd name="adj" fmla="val 6667"/>
            </a:avLst>
          </a:prstGeom>
          <a:solidFill>
            <a:srgbClr val="FFFFFF"/>
          </a:solidFill>
          <a:ln w="12700">
            <a:solidFill>
              <a:srgbClr val="80ADC4"/>
            </a:solidFill>
            <a:prstDash val="solid"/>
          </a:ln>
        </p:spPr>
      </p:sp>
      <p:sp>
        <p:nvSpPr>
          <p:cNvPr id="18" name="Text 15"/>
          <p:cNvSpPr/>
          <p:nvPr/>
        </p:nvSpPr>
        <p:spPr>
          <a:xfrm>
            <a:off x="8366760" y="1783080"/>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Find three adjectives for the square and the shop. What do they share?</a:t>
            </a:r>
            <a:endParaRPr lang="en-US" sz="1800" dirty="0"/>
          </a:p>
        </p:txBody>
      </p:sp>
      <p:sp>
        <p:nvSpPr>
          <p:cNvPr id="19" name="Text 16"/>
          <p:cNvSpPr/>
          <p:nvPr/>
        </p:nvSpPr>
        <p:spPr>
          <a:xfrm>
            <a:off x="7726680" y="2889504"/>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2</a:t>
            </a:r>
            <a:endParaRPr lang="en-US" sz="1800" dirty="0"/>
          </a:p>
        </p:txBody>
      </p:sp>
      <p:sp>
        <p:nvSpPr>
          <p:cNvPr id="20" name="Shape 17"/>
          <p:cNvSpPr/>
          <p:nvPr/>
        </p:nvSpPr>
        <p:spPr>
          <a:xfrm>
            <a:off x="8321040" y="2889504"/>
            <a:ext cx="3291840" cy="960120"/>
          </a:xfrm>
          <a:prstGeom prst="roundRect">
            <a:avLst>
              <a:gd name="adj" fmla="val 6667"/>
            </a:avLst>
          </a:prstGeom>
          <a:solidFill>
            <a:srgbClr val="FFFFFF"/>
          </a:solidFill>
          <a:ln w="12700">
            <a:solidFill>
              <a:srgbClr val="80ADC4"/>
            </a:solidFill>
            <a:prstDash val="solid"/>
          </a:ln>
        </p:spPr>
      </p:sp>
      <p:sp>
        <p:nvSpPr>
          <p:cNvPr id="21" name="Text 18"/>
          <p:cNvSpPr/>
          <p:nvPr/>
        </p:nvSpPr>
        <p:spPr>
          <a:xfrm>
            <a:off x="8366760" y="2889504"/>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Which verbs describe what Holmes does? What mood do they make?</a:t>
            </a:r>
            <a:endParaRPr lang="en-US" sz="1800" dirty="0"/>
          </a:p>
        </p:txBody>
      </p:sp>
      <p:sp>
        <p:nvSpPr>
          <p:cNvPr id="22" name="Text 19"/>
          <p:cNvSpPr/>
          <p:nvPr/>
        </p:nvSpPr>
        <p:spPr>
          <a:xfrm>
            <a:off x="7726680" y="3995928"/>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3</a:t>
            </a:r>
            <a:endParaRPr lang="en-US" sz="1800" dirty="0"/>
          </a:p>
        </p:txBody>
      </p:sp>
      <p:sp>
        <p:nvSpPr>
          <p:cNvPr id="23" name="Shape 20"/>
          <p:cNvSpPr/>
          <p:nvPr/>
        </p:nvSpPr>
        <p:spPr>
          <a:xfrm>
            <a:off x="8321040" y="3995928"/>
            <a:ext cx="3291840" cy="960120"/>
          </a:xfrm>
          <a:prstGeom prst="roundRect">
            <a:avLst>
              <a:gd name="adj" fmla="val 6667"/>
            </a:avLst>
          </a:prstGeom>
          <a:solidFill>
            <a:srgbClr val="FFFFFF"/>
          </a:solidFill>
          <a:ln w="12700">
            <a:solidFill>
              <a:srgbClr val="80ADC4"/>
            </a:solidFill>
            <a:prstDash val="solid"/>
          </a:ln>
        </p:spPr>
      </p:sp>
      <p:sp>
        <p:nvSpPr>
          <p:cNvPr id="24" name="Text 21"/>
          <p:cNvSpPr/>
          <p:nvPr/>
        </p:nvSpPr>
        <p:spPr>
          <a:xfrm>
            <a:off x="8366760" y="3995928"/>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Why does the writer give us 'glittering' eyes?</a:t>
            </a:r>
            <a:endParaRPr lang="en-US" sz="1800" dirty="0"/>
          </a:p>
        </p:txBody>
      </p:sp>
      <p:sp>
        <p:nvSpPr>
          <p:cNvPr id="25" name="Text 22"/>
          <p:cNvSpPr/>
          <p:nvPr/>
        </p:nvSpPr>
        <p:spPr>
          <a:xfrm>
            <a:off x="7726680" y="5102352"/>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4</a:t>
            </a:r>
            <a:endParaRPr lang="en-US" sz="1800" dirty="0"/>
          </a:p>
        </p:txBody>
      </p:sp>
      <p:sp>
        <p:nvSpPr>
          <p:cNvPr id="26" name="Shape 23"/>
          <p:cNvSpPr/>
          <p:nvPr/>
        </p:nvSpPr>
        <p:spPr>
          <a:xfrm>
            <a:off x="8321040" y="5102352"/>
            <a:ext cx="3291840" cy="960120"/>
          </a:xfrm>
          <a:prstGeom prst="roundRect">
            <a:avLst>
              <a:gd name="adj" fmla="val 6667"/>
            </a:avLst>
          </a:prstGeom>
          <a:solidFill>
            <a:srgbClr val="FFFFFF"/>
          </a:solidFill>
          <a:ln w="12700">
            <a:solidFill>
              <a:srgbClr val="80ADC4"/>
            </a:solidFill>
            <a:prstDash val="solid"/>
          </a:ln>
        </p:spPr>
      </p:sp>
      <p:sp>
        <p:nvSpPr>
          <p:cNvPr id="27" name="Text 24"/>
          <p:cNvSpPr/>
          <p:nvPr/>
        </p:nvSpPr>
        <p:spPr>
          <a:xfrm>
            <a:off x="8366760" y="5102352"/>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question does the last line leave in the reader's mind?</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6C3A6E"/>
          </a:solidFill>
          <a:ln w="12700">
            <a:solidFill>
              <a:srgbClr val="6C3A6E"/>
            </a:solidFill>
            <a:prstDash val="solid"/>
          </a:ln>
        </p:spPr>
      </p:sp>
      <p:pic>
        <p:nvPicPr>
          <p:cNvPr id="3" name="Image 0" descr="/home/claude/english/kit/decks/_icons/message-circle-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FE6F0"/>
          </a:solidFill>
          <a:ln>
            <a:solidFill>
              <a:srgbClr val="EFE6F0"/>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Two lines — analyse</a:t>
            </a:r>
            <a:endParaRPr lang="en-US" sz="2400" dirty="0"/>
          </a:p>
        </p:txBody>
      </p:sp>
      <p:sp>
        <p:nvSpPr>
          <p:cNvPr id="5" name="Text 2"/>
          <p:cNvSpPr/>
          <p:nvPr/>
        </p:nvSpPr>
        <p:spPr>
          <a:xfrm>
            <a:off x="9784080" y="457200"/>
            <a:ext cx="1874520" cy="566928"/>
          </a:xfrm>
          <a:prstGeom prst="roundRect">
            <a:avLst>
              <a:gd name="adj" fmla="val 16129"/>
            </a:avLst>
          </a:prstGeom>
          <a:solidFill>
            <a:srgbClr val="6C3A6E"/>
          </a:solidFill>
          <a:ln>
            <a:solidFill>
              <a:srgbClr val="6C3A6E"/>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11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For EACH quotation: what does it MEAN · what METHOD is used · what EFFECT does it have on the reader?</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6C3A6E"/>
          </a:solidFill>
          <a:ln>
            <a:solidFill>
              <a:srgbClr val="6C3A6E"/>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Red-Headed League · Analysing Victorian language</a:t>
            </a:r>
            <a:endParaRPr lang="en-US" sz="900" dirty="0"/>
          </a:p>
        </p:txBody>
      </p:sp>
      <p:sp>
        <p:nvSpPr>
          <p:cNvPr id="13" name="Shape 10"/>
          <p:cNvSpPr/>
          <p:nvPr/>
        </p:nvSpPr>
        <p:spPr>
          <a:xfrm>
            <a:off x="548640" y="1783080"/>
            <a:ext cx="5417820" cy="502920"/>
          </a:xfrm>
          <a:prstGeom prst="roundRect">
            <a:avLst>
              <a:gd name="adj" fmla="val 14545"/>
            </a:avLst>
          </a:prstGeom>
          <a:solidFill>
            <a:srgbClr val="8A6D00"/>
          </a:solidFill>
          <a:ln w="12700">
            <a:solidFill>
              <a:srgbClr val="8A6D00"/>
            </a:solidFill>
            <a:prstDash val="solid"/>
          </a:ln>
        </p:spPr>
      </p:sp>
      <p:pic>
        <p:nvPicPr>
          <p:cNvPr id="14" name="Image 1" descr="/home/claude/english/kit/decks/_icons/book-open-FFFFFF.png">    </p:cNvPr>
          <p:cNvPicPr>
            <a:picLocks noChangeAspect="1"/>
          </p:cNvPicPr>
          <p:nvPr/>
        </p:nvPicPr>
        <p:blipFill>
          <a:blip r:embed="rId2"/>
          <a:stretch>
            <a:fillRect/>
          </a:stretch>
        </p:blipFill>
        <p:spPr>
          <a:xfrm>
            <a:off x="685800" y="1911096"/>
            <a:ext cx="246888" cy="246888"/>
          </a:xfrm>
          <a:prstGeom prst="rect">
            <a:avLst/>
          </a:prstGeom>
        </p:spPr>
      </p:pic>
      <p:sp>
        <p:nvSpPr>
          <p:cNvPr id="15" name="Text 11"/>
          <p:cNvSpPr/>
          <p:nvPr/>
        </p:nvSpPr>
        <p:spPr>
          <a:xfrm>
            <a:off x="960120" y="1783080"/>
            <a:ext cx="4960620" cy="502920"/>
          </a:xfrm>
          <a:prstGeom prst="rect">
            <a:avLst/>
          </a:prstGeom>
          <a:noFill/>
          <a:ln/>
        </p:spPr>
        <p:txBody>
          <a:bodyPr wrap="square" lIns="45720" tIns="91440" rIns="91440" bIns="45720" rtlCol="0" anchor="ctr"/>
          <a:lstStyle/>
          <a:p>
            <a:pPr algn="l" indent="0" marL="0">
              <a:buNone/>
            </a:pPr>
            <a:r>
              <a:rPr lang="en-US" sz="1800" b="1" dirty="0">
                <a:solidFill>
                  <a:srgbClr val="FFFFFF"/>
                </a:solidFill>
                <a:latin typeface="Arial" pitchFamily="34" charset="0"/>
                <a:ea typeface="Arial" pitchFamily="34" charset="-122"/>
                <a:cs typeface="Arial" pitchFamily="34" charset="-120"/>
              </a:rPr>
              <a:t>Line 3</a:t>
            </a:r>
            <a:endParaRPr lang="en-US" sz="1800" dirty="0"/>
          </a:p>
        </p:txBody>
      </p:sp>
      <p:sp>
        <p:nvSpPr>
          <p:cNvPr id="16" name="Shape 12"/>
          <p:cNvSpPr/>
          <p:nvPr/>
        </p:nvSpPr>
        <p:spPr>
          <a:xfrm>
            <a:off x="548640" y="2377440"/>
            <a:ext cx="5417820" cy="1691640"/>
          </a:xfrm>
          <a:prstGeom prst="roundRect">
            <a:avLst>
              <a:gd name="adj" fmla="val 3243"/>
            </a:avLst>
          </a:prstGeom>
          <a:solidFill>
            <a:srgbClr val="FBF0D8"/>
          </a:solidFill>
          <a:ln w="12700">
            <a:solidFill>
              <a:srgbClr val="8A6D00"/>
            </a:solidFill>
            <a:prstDash val="solid"/>
          </a:ln>
        </p:spPr>
      </p:sp>
      <p:sp>
        <p:nvSpPr>
          <p:cNvPr id="17" name="Text 13"/>
          <p:cNvSpPr/>
          <p:nvPr/>
        </p:nvSpPr>
        <p:spPr>
          <a:xfrm>
            <a:off x="685800" y="2450592"/>
            <a:ext cx="5143500" cy="1554480"/>
          </a:xfrm>
          <a:prstGeom prst="rect">
            <a:avLst/>
          </a:prstGeom>
          <a:noFill/>
          <a:ln/>
        </p:spPr>
        <p:txBody>
          <a:bodyPr wrap="square" lIns="45720" tIns="91440" rIns="91440" bIns="45720" rtlCol="0" anchor="ctr"/>
          <a:lstStyle/>
          <a:p>
            <a:pPr algn="l" indent="0" marL="0">
              <a:buNone/>
            </a:pPr>
            <a:r>
              <a:rPr lang="en-US" sz="1800" i="1" dirty="0">
                <a:solidFill>
                  <a:srgbClr val="16171F"/>
                </a:solidFill>
                <a:latin typeface="Arial" pitchFamily="34" charset="0"/>
                <a:ea typeface="Arial" pitchFamily="34" charset="-122"/>
                <a:cs typeface="Arial" pitchFamily="34" charset="-120"/>
              </a:rPr>
              <a:t>Holmes stopped in front of it with his head on one side, his eyes glittering.</a:t>
            </a:r>
            <a:endParaRPr lang="en-US" sz="1800" dirty="0"/>
          </a:p>
        </p:txBody>
      </p:sp>
      <p:sp>
        <p:nvSpPr>
          <p:cNvPr id="18" name="Text 14"/>
          <p:cNvSpPr/>
          <p:nvPr/>
        </p:nvSpPr>
        <p:spPr>
          <a:xfrm>
            <a:off x="548640" y="4206240"/>
            <a:ext cx="1234440" cy="548640"/>
          </a:xfrm>
          <a:prstGeom prst="roundRect">
            <a:avLst>
              <a:gd name="adj" fmla="val 13333"/>
            </a:avLst>
          </a:prstGeom>
          <a:solidFill>
            <a:srgbClr val="12294D"/>
          </a:solidFill>
          <a:ln>
            <a:solidFill>
              <a:srgbClr val="12294D"/>
            </a:solidFill>
          </a:ln>
        </p:spPr>
        <p:txBody>
          <a:bodyPr wrap="square" lIns="0" tIns="0" rIns="0" bIns="0" rtlCol="0" anchor="ctr"/>
          <a:lstStyle/>
          <a:p>
            <a:pPr algn="ctr" indent="0" marL="0">
              <a:buNone/>
            </a:pPr>
            <a:r>
              <a:rPr lang="en-US" sz="1400" b="1" dirty="0">
                <a:solidFill>
                  <a:srgbClr val="FFC93C"/>
                </a:solidFill>
                <a:latin typeface="Arial" pitchFamily="34" charset="0"/>
                <a:ea typeface="Arial" pitchFamily="34" charset="-122"/>
                <a:cs typeface="Arial" pitchFamily="34" charset="-120"/>
              </a:rPr>
              <a:t>MEAN</a:t>
            </a:r>
            <a:endParaRPr lang="en-US" sz="1400" dirty="0"/>
          </a:p>
        </p:txBody>
      </p:sp>
      <p:sp>
        <p:nvSpPr>
          <p:cNvPr id="19" name="Shape 15"/>
          <p:cNvSpPr/>
          <p:nvPr/>
        </p:nvSpPr>
        <p:spPr>
          <a:xfrm>
            <a:off x="1920240" y="4206240"/>
            <a:ext cx="4046220" cy="548640"/>
          </a:xfrm>
          <a:prstGeom prst="roundRect">
            <a:avLst>
              <a:gd name="adj" fmla="val 11667"/>
            </a:avLst>
          </a:prstGeom>
          <a:solidFill>
            <a:srgbClr val="F4F6FA"/>
          </a:solidFill>
          <a:ln w="12700">
            <a:solidFill>
              <a:srgbClr val="80ADC4"/>
            </a:solidFill>
            <a:prstDash val="solid"/>
          </a:ln>
        </p:spPr>
      </p:sp>
      <p:sp>
        <p:nvSpPr>
          <p:cNvPr id="20" name="Text 16"/>
          <p:cNvSpPr/>
          <p:nvPr/>
        </p:nvSpPr>
        <p:spPr>
          <a:xfrm>
            <a:off x="2011680" y="4206240"/>
            <a:ext cx="3863340" cy="548640"/>
          </a:xfrm>
          <a:prstGeom prst="rect">
            <a:avLst/>
          </a:prstGeom>
          <a:noFill/>
          <a:ln/>
        </p:spPr>
        <p:txBody>
          <a:bodyPr wrap="square" lIns="45720" tIns="91440" rIns="91440" bIns="45720" rtlCol="0" anchor="ctr"/>
          <a:lstStyle/>
          <a:p>
            <a:pPr algn="l" indent="0" marL="0">
              <a:buNone/>
            </a:pPr>
            <a:r>
              <a:rPr lang="en-US" sz="1400" dirty="0">
                <a:solidFill>
                  <a:srgbClr val="404040"/>
                </a:solidFill>
                <a:latin typeface="Arial" pitchFamily="34" charset="0"/>
                <a:ea typeface="Arial" pitchFamily="34" charset="-122"/>
                <a:cs typeface="Arial" pitchFamily="34" charset="-120"/>
              </a:rPr>
              <a:t>what does it actually mean?</a:t>
            </a:r>
            <a:endParaRPr lang="en-US" sz="1400" dirty="0"/>
          </a:p>
        </p:txBody>
      </p:sp>
      <p:sp>
        <p:nvSpPr>
          <p:cNvPr id="21" name="Text 17"/>
          <p:cNvSpPr/>
          <p:nvPr/>
        </p:nvSpPr>
        <p:spPr>
          <a:xfrm>
            <a:off x="548640" y="4892040"/>
            <a:ext cx="1234440" cy="548640"/>
          </a:xfrm>
          <a:prstGeom prst="roundRect">
            <a:avLst>
              <a:gd name="adj" fmla="val 13333"/>
            </a:avLst>
          </a:prstGeom>
          <a:solidFill>
            <a:srgbClr val="12294D"/>
          </a:solidFill>
          <a:ln>
            <a:solidFill>
              <a:srgbClr val="12294D"/>
            </a:solidFill>
          </a:ln>
        </p:spPr>
        <p:txBody>
          <a:bodyPr wrap="square" lIns="0" tIns="0" rIns="0" bIns="0" rtlCol="0" anchor="ctr"/>
          <a:lstStyle/>
          <a:p>
            <a:pPr algn="ctr" indent="0" marL="0">
              <a:buNone/>
            </a:pPr>
            <a:r>
              <a:rPr lang="en-US" sz="1400" b="1" dirty="0">
                <a:solidFill>
                  <a:srgbClr val="FFC93C"/>
                </a:solidFill>
                <a:latin typeface="Arial" pitchFamily="34" charset="0"/>
                <a:ea typeface="Arial" pitchFamily="34" charset="-122"/>
                <a:cs typeface="Arial" pitchFamily="34" charset="-120"/>
              </a:rPr>
              <a:t>METHOD</a:t>
            </a:r>
            <a:endParaRPr lang="en-US" sz="1400" dirty="0"/>
          </a:p>
        </p:txBody>
      </p:sp>
      <p:sp>
        <p:nvSpPr>
          <p:cNvPr id="22" name="Shape 18"/>
          <p:cNvSpPr/>
          <p:nvPr/>
        </p:nvSpPr>
        <p:spPr>
          <a:xfrm>
            <a:off x="1920240" y="4892040"/>
            <a:ext cx="4046220" cy="548640"/>
          </a:xfrm>
          <a:prstGeom prst="roundRect">
            <a:avLst>
              <a:gd name="adj" fmla="val 11667"/>
            </a:avLst>
          </a:prstGeom>
          <a:solidFill>
            <a:srgbClr val="F4F6FA"/>
          </a:solidFill>
          <a:ln w="12700">
            <a:solidFill>
              <a:srgbClr val="80ADC4"/>
            </a:solidFill>
            <a:prstDash val="solid"/>
          </a:ln>
        </p:spPr>
      </p:sp>
      <p:sp>
        <p:nvSpPr>
          <p:cNvPr id="23" name="Text 19"/>
          <p:cNvSpPr/>
          <p:nvPr/>
        </p:nvSpPr>
        <p:spPr>
          <a:xfrm>
            <a:off x="2011680" y="4892040"/>
            <a:ext cx="3863340" cy="548640"/>
          </a:xfrm>
          <a:prstGeom prst="rect">
            <a:avLst/>
          </a:prstGeom>
          <a:noFill/>
          <a:ln/>
        </p:spPr>
        <p:txBody>
          <a:bodyPr wrap="square" lIns="45720" tIns="91440" rIns="91440" bIns="45720" rtlCol="0" anchor="ctr"/>
          <a:lstStyle/>
          <a:p>
            <a:pPr algn="l" indent="0" marL="0">
              <a:buNone/>
            </a:pPr>
            <a:r>
              <a:rPr lang="en-US" sz="1400" dirty="0">
                <a:solidFill>
                  <a:srgbClr val="404040"/>
                </a:solidFill>
                <a:latin typeface="Arial" pitchFamily="34" charset="0"/>
                <a:ea typeface="Arial" pitchFamily="34" charset="-122"/>
                <a:cs typeface="Arial" pitchFamily="34" charset="-120"/>
              </a:rPr>
              <a:t>which method is the writer using?</a:t>
            </a:r>
            <a:endParaRPr lang="en-US" sz="1400" dirty="0"/>
          </a:p>
        </p:txBody>
      </p:sp>
      <p:sp>
        <p:nvSpPr>
          <p:cNvPr id="24" name="Text 20"/>
          <p:cNvSpPr/>
          <p:nvPr/>
        </p:nvSpPr>
        <p:spPr>
          <a:xfrm>
            <a:off x="548640" y="5577840"/>
            <a:ext cx="1234440" cy="548640"/>
          </a:xfrm>
          <a:prstGeom prst="roundRect">
            <a:avLst>
              <a:gd name="adj" fmla="val 13333"/>
            </a:avLst>
          </a:prstGeom>
          <a:solidFill>
            <a:srgbClr val="12294D"/>
          </a:solidFill>
          <a:ln>
            <a:solidFill>
              <a:srgbClr val="12294D"/>
            </a:solidFill>
          </a:ln>
        </p:spPr>
        <p:txBody>
          <a:bodyPr wrap="square" lIns="0" tIns="0" rIns="0" bIns="0" rtlCol="0" anchor="ctr"/>
          <a:lstStyle/>
          <a:p>
            <a:pPr algn="ctr" indent="0" marL="0">
              <a:buNone/>
            </a:pPr>
            <a:r>
              <a:rPr lang="en-US" sz="1400" b="1" dirty="0">
                <a:solidFill>
                  <a:srgbClr val="FFC93C"/>
                </a:solidFill>
                <a:latin typeface="Arial" pitchFamily="34" charset="0"/>
                <a:ea typeface="Arial" pitchFamily="34" charset="-122"/>
                <a:cs typeface="Arial" pitchFamily="34" charset="-120"/>
              </a:rPr>
              <a:t>EFFECT</a:t>
            </a:r>
            <a:endParaRPr lang="en-US" sz="1400" dirty="0"/>
          </a:p>
        </p:txBody>
      </p:sp>
      <p:sp>
        <p:nvSpPr>
          <p:cNvPr id="25" name="Shape 21"/>
          <p:cNvSpPr/>
          <p:nvPr/>
        </p:nvSpPr>
        <p:spPr>
          <a:xfrm>
            <a:off x="1920240" y="5577840"/>
            <a:ext cx="4046220" cy="548640"/>
          </a:xfrm>
          <a:prstGeom prst="roundRect">
            <a:avLst>
              <a:gd name="adj" fmla="val 11667"/>
            </a:avLst>
          </a:prstGeom>
          <a:solidFill>
            <a:srgbClr val="F4F6FA"/>
          </a:solidFill>
          <a:ln w="12700">
            <a:solidFill>
              <a:srgbClr val="80ADC4"/>
            </a:solidFill>
            <a:prstDash val="solid"/>
          </a:ln>
        </p:spPr>
      </p:sp>
      <p:sp>
        <p:nvSpPr>
          <p:cNvPr id="26" name="Text 22"/>
          <p:cNvSpPr/>
          <p:nvPr/>
        </p:nvSpPr>
        <p:spPr>
          <a:xfrm>
            <a:off x="2011680" y="5577840"/>
            <a:ext cx="3863340" cy="548640"/>
          </a:xfrm>
          <a:prstGeom prst="rect">
            <a:avLst/>
          </a:prstGeom>
          <a:noFill/>
          <a:ln/>
        </p:spPr>
        <p:txBody>
          <a:bodyPr wrap="square" lIns="45720" tIns="91440" rIns="91440" bIns="45720" rtlCol="0" anchor="ctr"/>
          <a:lstStyle/>
          <a:p>
            <a:pPr algn="l" indent="0" marL="0">
              <a:buNone/>
            </a:pPr>
            <a:r>
              <a:rPr lang="en-US" sz="1400" dirty="0">
                <a:solidFill>
                  <a:srgbClr val="404040"/>
                </a:solidFill>
                <a:latin typeface="Arial" pitchFamily="34" charset="0"/>
                <a:ea typeface="Arial" pitchFamily="34" charset="-122"/>
                <a:cs typeface="Arial" pitchFamily="34" charset="-120"/>
              </a:rPr>
              <a:t>what effect does it have on the reader?</a:t>
            </a:r>
            <a:endParaRPr lang="en-US" sz="1400" dirty="0"/>
          </a:p>
        </p:txBody>
      </p:sp>
      <p:sp>
        <p:nvSpPr>
          <p:cNvPr id="27" name="Shape 23"/>
          <p:cNvSpPr/>
          <p:nvPr/>
        </p:nvSpPr>
        <p:spPr>
          <a:xfrm>
            <a:off x="6195060" y="1783080"/>
            <a:ext cx="5417820" cy="502920"/>
          </a:xfrm>
          <a:prstGeom prst="roundRect">
            <a:avLst>
              <a:gd name="adj" fmla="val 14545"/>
            </a:avLst>
          </a:prstGeom>
          <a:solidFill>
            <a:srgbClr val="8A6D00"/>
          </a:solidFill>
          <a:ln w="12700">
            <a:solidFill>
              <a:srgbClr val="8A6D00"/>
            </a:solidFill>
            <a:prstDash val="solid"/>
          </a:ln>
        </p:spPr>
      </p:sp>
      <p:pic>
        <p:nvPicPr>
          <p:cNvPr id="28" name="Image 2" descr="/home/claude/english/kit/decks/_icons/book-open-FFFFFF.png">    </p:cNvPr>
          <p:cNvPicPr>
            <a:picLocks noChangeAspect="1"/>
          </p:cNvPicPr>
          <p:nvPr/>
        </p:nvPicPr>
        <p:blipFill>
          <a:blip r:embed="rId3"/>
          <a:stretch>
            <a:fillRect/>
          </a:stretch>
        </p:blipFill>
        <p:spPr>
          <a:xfrm>
            <a:off x="6332220" y="1911096"/>
            <a:ext cx="246888" cy="246888"/>
          </a:xfrm>
          <a:prstGeom prst="rect">
            <a:avLst/>
          </a:prstGeom>
        </p:spPr>
      </p:pic>
      <p:sp>
        <p:nvSpPr>
          <p:cNvPr id="29" name="Text 24"/>
          <p:cNvSpPr/>
          <p:nvPr/>
        </p:nvSpPr>
        <p:spPr>
          <a:xfrm>
            <a:off x="6606540" y="1783080"/>
            <a:ext cx="4960620" cy="502920"/>
          </a:xfrm>
          <a:prstGeom prst="rect">
            <a:avLst/>
          </a:prstGeom>
          <a:noFill/>
          <a:ln/>
        </p:spPr>
        <p:txBody>
          <a:bodyPr wrap="square" lIns="45720" tIns="91440" rIns="91440" bIns="45720" rtlCol="0" anchor="ctr"/>
          <a:lstStyle/>
          <a:p>
            <a:pPr algn="l" indent="0" marL="0">
              <a:buNone/>
            </a:pPr>
            <a:r>
              <a:rPr lang="en-US" sz="1800" b="1" dirty="0">
                <a:solidFill>
                  <a:srgbClr val="FFFFFF"/>
                </a:solidFill>
                <a:latin typeface="Arial" pitchFamily="34" charset="0"/>
                <a:ea typeface="Arial" pitchFamily="34" charset="-122"/>
                <a:cs typeface="Arial" pitchFamily="34" charset="-120"/>
              </a:rPr>
              <a:t>Line 5</a:t>
            </a:r>
            <a:endParaRPr lang="en-US" sz="1800" dirty="0"/>
          </a:p>
        </p:txBody>
      </p:sp>
      <p:sp>
        <p:nvSpPr>
          <p:cNvPr id="30" name="Shape 25"/>
          <p:cNvSpPr/>
          <p:nvPr/>
        </p:nvSpPr>
        <p:spPr>
          <a:xfrm>
            <a:off x="6195060" y="2377440"/>
            <a:ext cx="5417820" cy="1691640"/>
          </a:xfrm>
          <a:prstGeom prst="roundRect">
            <a:avLst>
              <a:gd name="adj" fmla="val 3243"/>
            </a:avLst>
          </a:prstGeom>
          <a:solidFill>
            <a:srgbClr val="FBF0D8"/>
          </a:solidFill>
          <a:ln w="12700">
            <a:solidFill>
              <a:srgbClr val="8A6D00"/>
            </a:solidFill>
            <a:prstDash val="solid"/>
          </a:ln>
        </p:spPr>
      </p:sp>
      <p:sp>
        <p:nvSpPr>
          <p:cNvPr id="31" name="Text 26"/>
          <p:cNvSpPr/>
          <p:nvPr/>
        </p:nvSpPr>
        <p:spPr>
          <a:xfrm>
            <a:off x="6332220" y="2450592"/>
            <a:ext cx="5143500" cy="1554480"/>
          </a:xfrm>
          <a:prstGeom prst="rect">
            <a:avLst/>
          </a:prstGeom>
          <a:noFill/>
          <a:ln/>
        </p:spPr>
        <p:txBody>
          <a:bodyPr wrap="square" lIns="45720" tIns="91440" rIns="91440" bIns="45720" rtlCol="0" anchor="ctr"/>
          <a:lstStyle/>
          <a:p>
            <a:pPr algn="l" indent="0" marL="0">
              <a:buNone/>
            </a:pPr>
            <a:r>
              <a:rPr lang="en-US" sz="1800" i="1" dirty="0">
                <a:solidFill>
                  <a:srgbClr val="16171F"/>
                </a:solidFill>
                <a:latin typeface="Arial" pitchFamily="34" charset="0"/>
                <a:ea typeface="Arial" pitchFamily="34" charset="-122"/>
                <a:cs typeface="Arial" pitchFamily="34" charset="-120"/>
              </a:rPr>
              <a:t>At last he thumped his stick twice upon the pavement and knocked at the door.</a:t>
            </a:r>
            <a:endParaRPr lang="en-US" sz="1800" dirty="0"/>
          </a:p>
        </p:txBody>
      </p:sp>
      <p:sp>
        <p:nvSpPr>
          <p:cNvPr id="32" name="Text 27"/>
          <p:cNvSpPr/>
          <p:nvPr/>
        </p:nvSpPr>
        <p:spPr>
          <a:xfrm>
            <a:off x="6195060" y="4206240"/>
            <a:ext cx="1234440" cy="548640"/>
          </a:xfrm>
          <a:prstGeom prst="roundRect">
            <a:avLst>
              <a:gd name="adj" fmla="val 13333"/>
            </a:avLst>
          </a:prstGeom>
          <a:solidFill>
            <a:srgbClr val="12294D"/>
          </a:solidFill>
          <a:ln>
            <a:solidFill>
              <a:srgbClr val="12294D"/>
            </a:solidFill>
          </a:ln>
        </p:spPr>
        <p:txBody>
          <a:bodyPr wrap="square" lIns="0" tIns="0" rIns="0" bIns="0" rtlCol="0" anchor="ctr"/>
          <a:lstStyle/>
          <a:p>
            <a:pPr algn="ctr" indent="0" marL="0">
              <a:buNone/>
            </a:pPr>
            <a:r>
              <a:rPr lang="en-US" sz="1400" b="1" dirty="0">
                <a:solidFill>
                  <a:srgbClr val="FFC93C"/>
                </a:solidFill>
                <a:latin typeface="Arial" pitchFamily="34" charset="0"/>
                <a:ea typeface="Arial" pitchFamily="34" charset="-122"/>
                <a:cs typeface="Arial" pitchFamily="34" charset="-120"/>
              </a:rPr>
              <a:t>MEAN</a:t>
            </a:r>
            <a:endParaRPr lang="en-US" sz="1400" dirty="0"/>
          </a:p>
        </p:txBody>
      </p:sp>
      <p:sp>
        <p:nvSpPr>
          <p:cNvPr id="33" name="Shape 28"/>
          <p:cNvSpPr/>
          <p:nvPr/>
        </p:nvSpPr>
        <p:spPr>
          <a:xfrm>
            <a:off x="7566660" y="4206240"/>
            <a:ext cx="4046220" cy="548640"/>
          </a:xfrm>
          <a:prstGeom prst="roundRect">
            <a:avLst>
              <a:gd name="adj" fmla="val 11667"/>
            </a:avLst>
          </a:prstGeom>
          <a:solidFill>
            <a:srgbClr val="F4F6FA"/>
          </a:solidFill>
          <a:ln w="12700">
            <a:solidFill>
              <a:srgbClr val="80ADC4"/>
            </a:solidFill>
            <a:prstDash val="solid"/>
          </a:ln>
        </p:spPr>
      </p:sp>
      <p:sp>
        <p:nvSpPr>
          <p:cNvPr id="34" name="Text 29"/>
          <p:cNvSpPr/>
          <p:nvPr/>
        </p:nvSpPr>
        <p:spPr>
          <a:xfrm>
            <a:off x="7658100" y="4206240"/>
            <a:ext cx="3863340" cy="548640"/>
          </a:xfrm>
          <a:prstGeom prst="rect">
            <a:avLst/>
          </a:prstGeom>
          <a:noFill/>
          <a:ln/>
        </p:spPr>
        <p:txBody>
          <a:bodyPr wrap="square" lIns="45720" tIns="91440" rIns="91440" bIns="45720" rtlCol="0" anchor="ctr"/>
          <a:lstStyle/>
          <a:p>
            <a:pPr algn="l" indent="0" marL="0">
              <a:buNone/>
            </a:pPr>
            <a:r>
              <a:rPr lang="en-US" sz="1400" dirty="0">
                <a:solidFill>
                  <a:srgbClr val="404040"/>
                </a:solidFill>
                <a:latin typeface="Arial" pitchFamily="34" charset="0"/>
                <a:ea typeface="Arial" pitchFamily="34" charset="-122"/>
                <a:cs typeface="Arial" pitchFamily="34" charset="-120"/>
              </a:rPr>
              <a:t>what does it actually mean?</a:t>
            </a:r>
            <a:endParaRPr lang="en-US" sz="1400" dirty="0"/>
          </a:p>
        </p:txBody>
      </p:sp>
      <p:sp>
        <p:nvSpPr>
          <p:cNvPr id="35" name="Text 30"/>
          <p:cNvSpPr/>
          <p:nvPr/>
        </p:nvSpPr>
        <p:spPr>
          <a:xfrm>
            <a:off x="6195060" y="4892040"/>
            <a:ext cx="1234440" cy="548640"/>
          </a:xfrm>
          <a:prstGeom prst="roundRect">
            <a:avLst>
              <a:gd name="adj" fmla="val 13333"/>
            </a:avLst>
          </a:prstGeom>
          <a:solidFill>
            <a:srgbClr val="12294D"/>
          </a:solidFill>
          <a:ln>
            <a:solidFill>
              <a:srgbClr val="12294D"/>
            </a:solidFill>
          </a:ln>
        </p:spPr>
        <p:txBody>
          <a:bodyPr wrap="square" lIns="0" tIns="0" rIns="0" bIns="0" rtlCol="0" anchor="ctr"/>
          <a:lstStyle/>
          <a:p>
            <a:pPr algn="ctr" indent="0" marL="0">
              <a:buNone/>
            </a:pPr>
            <a:r>
              <a:rPr lang="en-US" sz="1400" b="1" dirty="0">
                <a:solidFill>
                  <a:srgbClr val="FFC93C"/>
                </a:solidFill>
                <a:latin typeface="Arial" pitchFamily="34" charset="0"/>
                <a:ea typeface="Arial" pitchFamily="34" charset="-122"/>
                <a:cs typeface="Arial" pitchFamily="34" charset="-120"/>
              </a:rPr>
              <a:t>METHOD</a:t>
            </a:r>
            <a:endParaRPr lang="en-US" sz="1400" dirty="0"/>
          </a:p>
        </p:txBody>
      </p:sp>
      <p:sp>
        <p:nvSpPr>
          <p:cNvPr id="36" name="Shape 31"/>
          <p:cNvSpPr/>
          <p:nvPr/>
        </p:nvSpPr>
        <p:spPr>
          <a:xfrm>
            <a:off x="7566660" y="4892040"/>
            <a:ext cx="4046220" cy="548640"/>
          </a:xfrm>
          <a:prstGeom prst="roundRect">
            <a:avLst>
              <a:gd name="adj" fmla="val 11667"/>
            </a:avLst>
          </a:prstGeom>
          <a:solidFill>
            <a:srgbClr val="F4F6FA"/>
          </a:solidFill>
          <a:ln w="12700">
            <a:solidFill>
              <a:srgbClr val="80ADC4"/>
            </a:solidFill>
            <a:prstDash val="solid"/>
          </a:ln>
        </p:spPr>
      </p:sp>
      <p:sp>
        <p:nvSpPr>
          <p:cNvPr id="37" name="Text 32"/>
          <p:cNvSpPr/>
          <p:nvPr/>
        </p:nvSpPr>
        <p:spPr>
          <a:xfrm>
            <a:off x="7658100" y="4892040"/>
            <a:ext cx="3863340" cy="548640"/>
          </a:xfrm>
          <a:prstGeom prst="rect">
            <a:avLst/>
          </a:prstGeom>
          <a:noFill/>
          <a:ln/>
        </p:spPr>
        <p:txBody>
          <a:bodyPr wrap="square" lIns="45720" tIns="91440" rIns="91440" bIns="45720" rtlCol="0" anchor="ctr"/>
          <a:lstStyle/>
          <a:p>
            <a:pPr algn="l" indent="0" marL="0">
              <a:buNone/>
            </a:pPr>
            <a:r>
              <a:rPr lang="en-US" sz="1400" dirty="0">
                <a:solidFill>
                  <a:srgbClr val="404040"/>
                </a:solidFill>
                <a:latin typeface="Arial" pitchFamily="34" charset="0"/>
                <a:ea typeface="Arial" pitchFamily="34" charset="-122"/>
                <a:cs typeface="Arial" pitchFamily="34" charset="-120"/>
              </a:rPr>
              <a:t>which method is the writer using?</a:t>
            </a:r>
            <a:endParaRPr lang="en-US" sz="1400" dirty="0"/>
          </a:p>
        </p:txBody>
      </p:sp>
      <p:sp>
        <p:nvSpPr>
          <p:cNvPr id="38" name="Text 33"/>
          <p:cNvSpPr/>
          <p:nvPr/>
        </p:nvSpPr>
        <p:spPr>
          <a:xfrm>
            <a:off x="6195060" y="5577840"/>
            <a:ext cx="1234440" cy="548640"/>
          </a:xfrm>
          <a:prstGeom prst="roundRect">
            <a:avLst>
              <a:gd name="adj" fmla="val 13333"/>
            </a:avLst>
          </a:prstGeom>
          <a:solidFill>
            <a:srgbClr val="12294D"/>
          </a:solidFill>
          <a:ln>
            <a:solidFill>
              <a:srgbClr val="12294D"/>
            </a:solidFill>
          </a:ln>
        </p:spPr>
        <p:txBody>
          <a:bodyPr wrap="square" lIns="0" tIns="0" rIns="0" bIns="0" rtlCol="0" anchor="ctr"/>
          <a:lstStyle/>
          <a:p>
            <a:pPr algn="ctr" indent="0" marL="0">
              <a:buNone/>
            </a:pPr>
            <a:r>
              <a:rPr lang="en-US" sz="1400" b="1" dirty="0">
                <a:solidFill>
                  <a:srgbClr val="FFC93C"/>
                </a:solidFill>
                <a:latin typeface="Arial" pitchFamily="34" charset="0"/>
                <a:ea typeface="Arial" pitchFamily="34" charset="-122"/>
                <a:cs typeface="Arial" pitchFamily="34" charset="-120"/>
              </a:rPr>
              <a:t>EFFECT</a:t>
            </a:r>
            <a:endParaRPr lang="en-US" sz="1400" dirty="0"/>
          </a:p>
        </p:txBody>
      </p:sp>
      <p:sp>
        <p:nvSpPr>
          <p:cNvPr id="39" name="Shape 34"/>
          <p:cNvSpPr/>
          <p:nvPr/>
        </p:nvSpPr>
        <p:spPr>
          <a:xfrm>
            <a:off x="7566660" y="5577840"/>
            <a:ext cx="4046220" cy="548640"/>
          </a:xfrm>
          <a:prstGeom prst="roundRect">
            <a:avLst>
              <a:gd name="adj" fmla="val 11667"/>
            </a:avLst>
          </a:prstGeom>
          <a:solidFill>
            <a:srgbClr val="F4F6FA"/>
          </a:solidFill>
          <a:ln w="12700">
            <a:solidFill>
              <a:srgbClr val="80ADC4"/>
            </a:solidFill>
            <a:prstDash val="solid"/>
          </a:ln>
        </p:spPr>
      </p:sp>
      <p:sp>
        <p:nvSpPr>
          <p:cNvPr id="40" name="Text 35"/>
          <p:cNvSpPr/>
          <p:nvPr/>
        </p:nvSpPr>
        <p:spPr>
          <a:xfrm>
            <a:off x="7658100" y="5577840"/>
            <a:ext cx="3863340" cy="548640"/>
          </a:xfrm>
          <a:prstGeom prst="rect">
            <a:avLst/>
          </a:prstGeom>
          <a:noFill/>
          <a:ln/>
        </p:spPr>
        <p:txBody>
          <a:bodyPr wrap="square" lIns="45720" tIns="91440" rIns="91440" bIns="45720" rtlCol="0" anchor="ctr"/>
          <a:lstStyle/>
          <a:p>
            <a:pPr algn="l" indent="0" marL="0">
              <a:buNone/>
            </a:pPr>
            <a:r>
              <a:rPr lang="en-US" sz="1400" dirty="0">
                <a:solidFill>
                  <a:srgbClr val="404040"/>
                </a:solidFill>
                <a:latin typeface="Arial" pitchFamily="34" charset="0"/>
                <a:ea typeface="Arial" pitchFamily="34" charset="-122"/>
                <a:cs typeface="Arial" pitchFamily="34" charset="-120"/>
              </a:rPr>
              <a:t>what effect does it have on the reader?</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D0021B"/>
          </a:solidFill>
          <a:ln w="12700">
            <a:solidFill>
              <a:srgbClr val="D0021B"/>
            </a:solidFill>
            <a:prstDash val="solid"/>
          </a:ln>
        </p:spPr>
      </p:sp>
      <p:pic>
        <p:nvPicPr>
          <p:cNvPr id="3" name="Image 0" descr="/home/claude/english/kit/decks/_icons/bar-chart-2-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FDE6E9"/>
          </a:solidFill>
          <a:ln>
            <a:solidFill>
              <a:srgbClr val="FDE6E9"/>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Climb the ladder</a:t>
            </a:r>
            <a:endParaRPr lang="en-US" sz="2400" dirty="0"/>
          </a:p>
        </p:txBody>
      </p:sp>
      <p:sp>
        <p:nvSpPr>
          <p:cNvPr id="5" name="Text 2"/>
          <p:cNvSpPr/>
          <p:nvPr/>
        </p:nvSpPr>
        <p:spPr>
          <a:xfrm>
            <a:off x="9784080" y="457200"/>
            <a:ext cx="1874520" cy="566928"/>
          </a:xfrm>
          <a:prstGeom prst="roundRect">
            <a:avLst>
              <a:gd name="adj" fmla="val 16129"/>
            </a:avLst>
          </a:prstGeom>
          <a:solidFill>
            <a:srgbClr val="D0021B"/>
          </a:solidFill>
          <a:ln>
            <a:solidFill>
              <a:srgbClr val="D0021B"/>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10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Each rung is harder. Full sentences. The top rung is your analytical paragraph — it will be marked.</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D0021B"/>
          </a:solidFill>
          <a:ln>
            <a:solidFill>
              <a:srgbClr val="D0021B"/>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Red-Headed League · Analysing Victorian language</a:t>
            </a:r>
            <a:endParaRPr lang="en-US" sz="900" dirty="0"/>
          </a:p>
        </p:txBody>
      </p:sp>
      <p:sp>
        <p:nvSpPr>
          <p:cNvPr id="13" name="Text 10"/>
          <p:cNvSpPr/>
          <p:nvPr/>
        </p:nvSpPr>
        <p:spPr>
          <a:xfrm>
            <a:off x="548640" y="1783080"/>
            <a:ext cx="2148840" cy="749808"/>
          </a:xfrm>
          <a:prstGeom prst="roundRect">
            <a:avLst>
              <a:gd name="adj" fmla="val 12195"/>
            </a:avLst>
          </a:prstGeom>
          <a:solidFill>
            <a:srgbClr val="00A08A"/>
          </a:solidFill>
          <a:ln>
            <a:solidFill>
              <a:srgbClr val="00A08A"/>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UNDERSTAND</a:t>
            </a:r>
            <a:endParaRPr lang="en-US" sz="1400" dirty="0"/>
          </a:p>
        </p:txBody>
      </p:sp>
      <p:sp>
        <p:nvSpPr>
          <p:cNvPr id="14" name="Shape 11"/>
          <p:cNvSpPr/>
          <p:nvPr/>
        </p:nvSpPr>
        <p:spPr>
          <a:xfrm>
            <a:off x="2834640" y="1783080"/>
            <a:ext cx="8778240" cy="749808"/>
          </a:xfrm>
          <a:prstGeom prst="roundRect">
            <a:avLst>
              <a:gd name="adj" fmla="val 9756"/>
            </a:avLst>
          </a:prstGeom>
          <a:solidFill>
            <a:srgbClr val="F4F6FA"/>
          </a:solidFill>
          <a:ln w="12700">
            <a:solidFill>
              <a:srgbClr val="80ADC4"/>
            </a:solidFill>
            <a:prstDash val="solid"/>
          </a:ln>
        </p:spPr>
      </p:sp>
      <p:sp>
        <p:nvSpPr>
          <p:cNvPr id="15" name="Text 12"/>
          <p:cNvSpPr/>
          <p:nvPr/>
        </p:nvSpPr>
        <p:spPr>
          <a:xfrm>
            <a:off x="3017520" y="1783080"/>
            <a:ext cx="8412480" cy="74980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does Holmes do outside the shop, in three sentences?</a:t>
            </a:r>
            <a:endParaRPr lang="en-US" sz="1800" dirty="0"/>
          </a:p>
        </p:txBody>
      </p:sp>
      <p:sp>
        <p:nvSpPr>
          <p:cNvPr id="16" name="Text 13"/>
          <p:cNvSpPr/>
          <p:nvPr/>
        </p:nvSpPr>
        <p:spPr>
          <a:xfrm>
            <a:off x="548640" y="2679192"/>
            <a:ext cx="2148840" cy="749808"/>
          </a:xfrm>
          <a:prstGeom prst="roundRect">
            <a:avLst>
              <a:gd name="adj" fmla="val 12195"/>
            </a:avLst>
          </a:prstGeom>
          <a:solidFill>
            <a:srgbClr val="6C3A6E"/>
          </a:solidFill>
          <a:ln>
            <a:solidFill>
              <a:srgbClr val="6C3A6E"/>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ANALYSE</a:t>
            </a:r>
            <a:endParaRPr lang="en-US" sz="1400" dirty="0"/>
          </a:p>
        </p:txBody>
      </p:sp>
      <p:sp>
        <p:nvSpPr>
          <p:cNvPr id="17" name="Shape 14"/>
          <p:cNvSpPr/>
          <p:nvPr/>
        </p:nvSpPr>
        <p:spPr>
          <a:xfrm>
            <a:off x="2834640" y="2679192"/>
            <a:ext cx="8778240" cy="749808"/>
          </a:xfrm>
          <a:prstGeom prst="roundRect">
            <a:avLst>
              <a:gd name="adj" fmla="val 9756"/>
            </a:avLst>
          </a:prstGeom>
          <a:solidFill>
            <a:srgbClr val="F4F6FA"/>
          </a:solidFill>
          <a:ln w="12700">
            <a:solidFill>
              <a:srgbClr val="80ADC4"/>
            </a:solidFill>
            <a:prstDash val="solid"/>
          </a:ln>
        </p:spPr>
      </p:sp>
      <p:sp>
        <p:nvSpPr>
          <p:cNvPr id="18" name="Text 15"/>
          <p:cNvSpPr/>
          <p:nvPr/>
        </p:nvSpPr>
        <p:spPr>
          <a:xfrm>
            <a:off x="3017520" y="2679192"/>
            <a:ext cx="8412480" cy="74980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Pick 'thumped'. What does it sound like, and why tap the pavement at all?</a:t>
            </a:r>
            <a:endParaRPr lang="en-US" sz="1800" dirty="0"/>
          </a:p>
        </p:txBody>
      </p:sp>
      <p:sp>
        <p:nvSpPr>
          <p:cNvPr id="19" name="Text 16"/>
          <p:cNvSpPr/>
          <p:nvPr/>
        </p:nvSpPr>
        <p:spPr>
          <a:xfrm>
            <a:off x="548640" y="3575304"/>
            <a:ext cx="2148840" cy="749808"/>
          </a:xfrm>
          <a:prstGeom prst="roundRect">
            <a:avLst>
              <a:gd name="adj" fmla="val 12195"/>
            </a:avLst>
          </a:prstGeom>
          <a:solidFill>
            <a:srgbClr val="6C3A6E"/>
          </a:solidFill>
          <a:ln>
            <a:solidFill>
              <a:srgbClr val="6C3A6E"/>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ANALYSE</a:t>
            </a:r>
            <a:endParaRPr lang="en-US" sz="1400" dirty="0"/>
          </a:p>
        </p:txBody>
      </p:sp>
      <p:sp>
        <p:nvSpPr>
          <p:cNvPr id="20" name="Shape 17"/>
          <p:cNvSpPr/>
          <p:nvPr/>
        </p:nvSpPr>
        <p:spPr>
          <a:xfrm>
            <a:off x="2834640" y="3575304"/>
            <a:ext cx="8778240" cy="749808"/>
          </a:xfrm>
          <a:prstGeom prst="roundRect">
            <a:avLst>
              <a:gd name="adj" fmla="val 9756"/>
            </a:avLst>
          </a:prstGeom>
          <a:solidFill>
            <a:srgbClr val="F4F6FA"/>
          </a:solidFill>
          <a:ln w="12700">
            <a:solidFill>
              <a:srgbClr val="80ADC4"/>
            </a:solidFill>
            <a:prstDash val="solid"/>
          </a:ln>
        </p:spPr>
      </p:sp>
      <p:sp>
        <p:nvSpPr>
          <p:cNvPr id="21" name="Text 18"/>
          <p:cNvSpPr/>
          <p:nvPr/>
        </p:nvSpPr>
        <p:spPr>
          <a:xfrm>
            <a:off x="3017520" y="3575304"/>
            <a:ext cx="8412480" cy="74980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Why is the square 'poky' and 'shabby'? What does that make us expect — and not expect?</a:t>
            </a:r>
            <a:endParaRPr lang="en-US" sz="1800" dirty="0"/>
          </a:p>
        </p:txBody>
      </p:sp>
      <p:sp>
        <p:nvSpPr>
          <p:cNvPr id="22" name="Text 19"/>
          <p:cNvSpPr/>
          <p:nvPr/>
        </p:nvSpPr>
        <p:spPr>
          <a:xfrm>
            <a:off x="548640" y="4471416"/>
            <a:ext cx="2148840" cy="749808"/>
          </a:xfrm>
          <a:prstGeom prst="roundRect">
            <a:avLst>
              <a:gd name="adj" fmla="val 12195"/>
            </a:avLst>
          </a:prstGeom>
          <a:solidFill>
            <a:srgbClr val="D0021B"/>
          </a:solidFill>
          <a:ln>
            <a:solidFill>
              <a:srgbClr val="D0021B"/>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EVALUATE</a:t>
            </a:r>
            <a:endParaRPr lang="en-US" sz="1400" dirty="0"/>
          </a:p>
        </p:txBody>
      </p:sp>
      <p:sp>
        <p:nvSpPr>
          <p:cNvPr id="23" name="Shape 20"/>
          <p:cNvSpPr/>
          <p:nvPr/>
        </p:nvSpPr>
        <p:spPr>
          <a:xfrm>
            <a:off x="2834640" y="4471416"/>
            <a:ext cx="8778240" cy="749808"/>
          </a:xfrm>
          <a:prstGeom prst="roundRect">
            <a:avLst>
              <a:gd name="adj" fmla="val 9756"/>
            </a:avLst>
          </a:prstGeom>
          <a:solidFill>
            <a:srgbClr val="EFE6F0"/>
          </a:solidFill>
          <a:ln w="12700">
            <a:solidFill>
              <a:srgbClr val="80ADC4"/>
            </a:solidFill>
            <a:prstDash val="solid"/>
          </a:ln>
        </p:spPr>
      </p:sp>
      <p:sp>
        <p:nvSpPr>
          <p:cNvPr id="24" name="Text 21"/>
          <p:cNvSpPr/>
          <p:nvPr/>
        </p:nvSpPr>
        <p:spPr>
          <a:xfrm>
            <a:off x="3017520" y="4471416"/>
            <a:ext cx="8412480" cy="74980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How does the writer keep us guessing in this extract? One paragraph: method, quotation, effect.</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D0021B"/>
          </a:solidFill>
          <a:ln w="12700">
            <a:solidFill>
              <a:srgbClr val="D0021B"/>
            </a:solidFill>
            <a:prstDash val="solid"/>
          </a:ln>
        </p:spPr>
      </p:sp>
      <p:pic>
        <p:nvPicPr>
          <p:cNvPr id="3" name="Image 0" descr="/home/claude/english/kit/decks/_icons/users-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FDE6E9"/>
          </a:solidFill>
          <a:ln>
            <a:solidFill>
              <a:srgbClr val="FDE6E9"/>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WRITE · the analytical paragraph</a:t>
            </a:r>
            <a:endParaRPr lang="en-US" sz="2400" dirty="0"/>
          </a:p>
        </p:txBody>
      </p:sp>
      <p:sp>
        <p:nvSpPr>
          <p:cNvPr id="5" name="Text 2"/>
          <p:cNvSpPr/>
          <p:nvPr/>
        </p:nvSpPr>
        <p:spPr>
          <a:xfrm>
            <a:off x="9784080" y="457200"/>
            <a:ext cx="1874520" cy="566928"/>
          </a:xfrm>
          <a:prstGeom prst="roundRect">
            <a:avLst>
              <a:gd name="adj" fmla="val 16129"/>
            </a:avLst>
          </a:prstGeom>
          <a:solidFill>
            <a:srgbClr val="D0021B"/>
          </a:solidFill>
          <a:ln>
            <a:solidFill>
              <a:srgbClr val="D0021B"/>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7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Seven minutes, in silence. Then swap and check for the moves.</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D0021B"/>
          </a:solidFill>
          <a:ln>
            <a:solidFill>
              <a:srgbClr val="D0021B"/>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Red-Headed League · Analysing Victorian language</a:t>
            </a:r>
            <a:endParaRPr lang="en-US" sz="900" dirty="0"/>
          </a:p>
        </p:txBody>
      </p:sp>
      <p:sp>
        <p:nvSpPr>
          <p:cNvPr id="13" name="Shape 10"/>
          <p:cNvSpPr/>
          <p:nvPr/>
        </p:nvSpPr>
        <p:spPr>
          <a:xfrm>
            <a:off x="548640" y="1783080"/>
            <a:ext cx="7772400" cy="457200"/>
          </a:xfrm>
          <a:prstGeom prst="roundRect">
            <a:avLst>
              <a:gd name="adj" fmla="val 20000"/>
            </a:avLst>
          </a:prstGeom>
          <a:solidFill>
            <a:srgbClr val="00A08A"/>
          </a:solidFill>
          <a:ln w="12700">
            <a:solidFill>
              <a:srgbClr val="00A08A"/>
            </a:solidFill>
            <a:prstDash val="solid"/>
          </a:ln>
        </p:spPr>
      </p:sp>
      <p:pic>
        <p:nvPicPr>
          <p:cNvPr id="14" name="Image 1" descr="/home/claude/english/kit/decks/_icons/users-FFFFFF.png">    </p:cNvPr>
          <p:cNvPicPr>
            <a:picLocks noChangeAspect="1"/>
          </p:cNvPicPr>
          <p:nvPr/>
        </p:nvPicPr>
        <p:blipFill>
          <a:blip r:embed="rId2"/>
          <a:stretch>
            <a:fillRect/>
          </a:stretch>
        </p:blipFill>
        <p:spPr>
          <a:xfrm>
            <a:off x="3130106" y="1888236"/>
            <a:ext cx="246888" cy="246888"/>
          </a:xfrm>
          <a:prstGeom prst="rect">
            <a:avLst/>
          </a:prstGeom>
        </p:spPr>
      </p:pic>
      <p:sp>
        <p:nvSpPr>
          <p:cNvPr id="15" name="Text 11"/>
          <p:cNvSpPr/>
          <p:nvPr/>
        </p:nvSpPr>
        <p:spPr>
          <a:xfrm>
            <a:off x="3495865" y="1783080"/>
            <a:ext cx="2518029" cy="457200"/>
          </a:xfrm>
          <a:prstGeom prst="rect">
            <a:avLst/>
          </a:prstGeom>
          <a:noFill/>
          <a:ln/>
        </p:spPr>
        <p:txBody>
          <a:bodyPr wrap="square" lIns="0" tIns="0" rIns="0" bIns="0"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INDEPENDENT WRITING</a:t>
            </a:r>
            <a:endParaRPr lang="en-US" sz="1500" dirty="0"/>
          </a:p>
        </p:txBody>
      </p:sp>
      <p:sp>
        <p:nvSpPr>
          <p:cNvPr id="16" name="Shape 12"/>
          <p:cNvSpPr/>
          <p:nvPr/>
        </p:nvSpPr>
        <p:spPr>
          <a:xfrm>
            <a:off x="548640" y="2377440"/>
            <a:ext cx="11064240" cy="868680"/>
          </a:xfrm>
          <a:prstGeom prst="roundRect">
            <a:avLst>
              <a:gd name="adj" fmla="val 8421"/>
            </a:avLst>
          </a:prstGeom>
          <a:solidFill>
            <a:srgbClr val="FFC93C"/>
          </a:solidFill>
          <a:ln w="12700">
            <a:solidFill>
              <a:srgbClr val="FFC93C"/>
            </a:solidFill>
            <a:prstDash val="solid"/>
          </a:ln>
        </p:spPr>
      </p:sp>
      <p:sp>
        <p:nvSpPr>
          <p:cNvPr id="17" name="Text 13"/>
          <p:cNvSpPr/>
          <p:nvPr/>
        </p:nvSpPr>
        <p:spPr>
          <a:xfrm>
            <a:off x="777240" y="2377440"/>
            <a:ext cx="1920240" cy="868680"/>
          </a:xfrm>
          <a:prstGeom prst="rect">
            <a:avLst/>
          </a:prstGeom>
          <a:noFill/>
          <a:ln/>
        </p:spPr>
        <p:txBody>
          <a:bodyPr wrap="square" lIns="0" tIns="0" rIns="0" bIns="0" rtlCol="0" anchor="ctr"/>
          <a:lstStyle/>
          <a:p>
            <a:pPr indent="0" marL="0">
              <a:buNone/>
            </a:pPr>
            <a:r>
              <a:rPr lang="en-US" sz="1600" b="1" dirty="0">
                <a:solidFill>
                  <a:srgbClr val="12294D"/>
                </a:solidFill>
                <a:latin typeface="Arial" pitchFamily="34" charset="0"/>
                <a:ea typeface="Arial" pitchFamily="34" charset="-122"/>
                <a:cs typeface="Arial" pitchFamily="34" charset="-120"/>
              </a:rPr>
              <a:t>THE FOCUS:</a:t>
            </a:r>
            <a:endParaRPr lang="en-US" sz="1600" dirty="0"/>
          </a:p>
        </p:txBody>
      </p:sp>
      <p:sp>
        <p:nvSpPr>
          <p:cNvPr id="18" name="Text 14"/>
          <p:cNvSpPr/>
          <p:nvPr/>
        </p:nvSpPr>
        <p:spPr>
          <a:xfrm>
            <a:off x="2697480" y="2377440"/>
            <a:ext cx="8732520" cy="868680"/>
          </a:xfrm>
          <a:prstGeom prst="rect">
            <a:avLst/>
          </a:prstGeom>
          <a:noFill/>
          <a:ln/>
        </p:spPr>
        <p:txBody>
          <a:bodyPr wrap="square" lIns="45720" tIns="91440" rIns="91440" bIns="45720" rtlCol="0" anchor="ctr"/>
          <a:lstStyle/>
          <a:p>
            <a:pPr algn="l" indent="0" marL="0">
              <a:buNone/>
            </a:pPr>
            <a:r>
              <a:rPr lang="en-US" sz="1800" b="1" i="1" dirty="0">
                <a:solidFill>
                  <a:srgbClr val="12294D"/>
                </a:solidFill>
                <a:latin typeface="Arial" pitchFamily="34" charset="0"/>
                <a:ea typeface="Arial" pitchFamily="34" charset="-122"/>
                <a:cs typeface="Arial" pitchFamily="34" charset="-120"/>
              </a:rPr>
              <a:t>How does the writer keep us guessing outside the shop?</a:t>
            </a:r>
            <a:endParaRPr lang="en-US" sz="1800" dirty="0"/>
          </a:p>
        </p:txBody>
      </p:sp>
      <p:sp>
        <p:nvSpPr>
          <p:cNvPr id="19" name="Text 15"/>
          <p:cNvSpPr/>
          <p:nvPr/>
        </p:nvSpPr>
        <p:spPr>
          <a:xfrm>
            <a:off x="548640" y="3401568"/>
            <a:ext cx="427939" cy="427939"/>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1</a:t>
            </a:r>
            <a:endParaRPr lang="en-US" sz="1800" dirty="0"/>
          </a:p>
        </p:txBody>
      </p:sp>
      <p:sp>
        <p:nvSpPr>
          <p:cNvPr id="20" name="Shape 16"/>
          <p:cNvSpPr/>
          <p:nvPr/>
        </p:nvSpPr>
        <p:spPr>
          <a:xfrm>
            <a:off x="1280160" y="3401568"/>
            <a:ext cx="10332720" cy="427939"/>
          </a:xfrm>
          <a:prstGeom prst="roundRect">
            <a:avLst>
              <a:gd name="adj" fmla="val 17094"/>
            </a:avLst>
          </a:prstGeom>
          <a:solidFill>
            <a:srgbClr val="FFFFFF"/>
          </a:solidFill>
          <a:ln w="12700">
            <a:solidFill>
              <a:srgbClr val="80ADC4"/>
            </a:solidFill>
            <a:prstDash val="solid"/>
          </a:ln>
        </p:spPr>
      </p:sp>
      <p:sp>
        <p:nvSpPr>
          <p:cNvPr id="21" name="Text 17"/>
          <p:cNvSpPr/>
          <p:nvPr/>
        </p:nvSpPr>
        <p:spPr>
          <a:xfrm>
            <a:off x="1463040" y="3401568"/>
            <a:ext cx="10058400" cy="427939"/>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POINT — one sentence that answers the question.</a:t>
            </a:r>
            <a:endParaRPr lang="en-US" sz="1800" dirty="0"/>
          </a:p>
        </p:txBody>
      </p:sp>
      <p:sp>
        <p:nvSpPr>
          <p:cNvPr id="22" name="Text 18"/>
          <p:cNvSpPr/>
          <p:nvPr/>
        </p:nvSpPr>
        <p:spPr>
          <a:xfrm>
            <a:off x="548640" y="3930091"/>
            <a:ext cx="427939" cy="427939"/>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2</a:t>
            </a:r>
            <a:endParaRPr lang="en-US" sz="1800" dirty="0"/>
          </a:p>
        </p:txBody>
      </p:sp>
      <p:sp>
        <p:nvSpPr>
          <p:cNvPr id="23" name="Shape 19"/>
          <p:cNvSpPr/>
          <p:nvPr/>
        </p:nvSpPr>
        <p:spPr>
          <a:xfrm>
            <a:off x="1280160" y="3930091"/>
            <a:ext cx="10332720" cy="427939"/>
          </a:xfrm>
          <a:prstGeom prst="roundRect">
            <a:avLst>
              <a:gd name="adj" fmla="val 17094"/>
            </a:avLst>
          </a:prstGeom>
          <a:solidFill>
            <a:srgbClr val="F4F6FA"/>
          </a:solidFill>
          <a:ln w="12700">
            <a:solidFill>
              <a:srgbClr val="80ADC4"/>
            </a:solidFill>
            <a:prstDash val="solid"/>
          </a:ln>
        </p:spPr>
      </p:sp>
      <p:sp>
        <p:nvSpPr>
          <p:cNvPr id="24" name="Text 20"/>
          <p:cNvSpPr/>
          <p:nvPr/>
        </p:nvSpPr>
        <p:spPr>
          <a:xfrm>
            <a:off x="1463040" y="3930091"/>
            <a:ext cx="10058400" cy="427939"/>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EVIDENCE — one short quotation, in quotation marks.</a:t>
            </a:r>
            <a:endParaRPr lang="en-US" sz="1800" dirty="0"/>
          </a:p>
        </p:txBody>
      </p:sp>
      <p:sp>
        <p:nvSpPr>
          <p:cNvPr id="25" name="Text 21"/>
          <p:cNvSpPr/>
          <p:nvPr/>
        </p:nvSpPr>
        <p:spPr>
          <a:xfrm>
            <a:off x="548640" y="4458614"/>
            <a:ext cx="427939" cy="427939"/>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3</a:t>
            </a:r>
            <a:endParaRPr lang="en-US" sz="1800" dirty="0"/>
          </a:p>
        </p:txBody>
      </p:sp>
      <p:sp>
        <p:nvSpPr>
          <p:cNvPr id="26" name="Shape 22"/>
          <p:cNvSpPr/>
          <p:nvPr/>
        </p:nvSpPr>
        <p:spPr>
          <a:xfrm>
            <a:off x="1280160" y="4458614"/>
            <a:ext cx="10332720" cy="427939"/>
          </a:xfrm>
          <a:prstGeom prst="roundRect">
            <a:avLst>
              <a:gd name="adj" fmla="val 17094"/>
            </a:avLst>
          </a:prstGeom>
          <a:solidFill>
            <a:srgbClr val="FFFFFF"/>
          </a:solidFill>
          <a:ln w="12700">
            <a:solidFill>
              <a:srgbClr val="80ADC4"/>
            </a:solidFill>
            <a:prstDash val="solid"/>
          </a:ln>
        </p:spPr>
      </p:sp>
      <p:sp>
        <p:nvSpPr>
          <p:cNvPr id="27" name="Text 23"/>
          <p:cNvSpPr/>
          <p:nvPr/>
        </p:nvSpPr>
        <p:spPr>
          <a:xfrm>
            <a:off x="1463040" y="4458614"/>
            <a:ext cx="10058400" cy="427939"/>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METHOD — name it: verb, adjective, connotation or sentence length.</a:t>
            </a:r>
            <a:endParaRPr lang="en-US" sz="1800" dirty="0"/>
          </a:p>
        </p:txBody>
      </p:sp>
      <p:sp>
        <p:nvSpPr>
          <p:cNvPr id="28" name="Text 24"/>
          <p:cNvSpPr/>
          <p:nvPr/>
        </p:nvSpPr>
        <p:spPr>
          <a:xfrm>
            <a:off x="548640" y="4987138"/>
            <a:ext cx="427939" cy="427939"/>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4</a:t>
            </a:r>
            <a:endParaRPr lang="en-US" sz="1800" dirty="0"/>
          </a:p>
        </p:txBody>
      </p:sp>
      <p:sp>
        <p:nvSpPr>
          <p:cNvPr id="29" name="Shape 25"/>
          <p:cNvSpPr/>
          <p:nvPr/>
        </p:nvSpPr>
        <p:spPr>
          <a:xfrm>
            <a:off x="1280160" y="4987138"/>
            <a:ext cx="10332720" cy="427939"/>
          </a:xfrm>
          <a:prstGeom prst="roundRect">
            <a:avLst>
              <a:gd name="adj" fmla="val 17094"/>
            </a:avLst>
          </a:prstGeom>
          <a:solidFill>
            <a:srgbClr val="F4F6FA"/>
          </a:solidFill>
          <a:ln w="12700">
            <a:solidFill>
              <a:srgbClr val="80ADC4"/>
            </a:solidFill>
            <a:prstDash val="solid"/>
          </a:ln>
        </p:spPr>
      </p:sp>
      <p:sp>
        <p:nvSpPr>
          <p:cNvPr id="30" name="Text 26"/>
          <p:cNvSpPr/>
          <p:nvPr/>
        </p:nvSpPr>
        <p:spPr>
          <a:xfrm>
            <a:off x="1463040" y="4987138"/>
            <a:ext cx="10058400" cy="427939"/>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EFFECT — what it makes the reader see, doubt or wonder.</a:t>
            </a:r>
            <a:endParaRPr lang="en-US" sz="1800" dirty="0"/>
          </a:p>
        </p:txBody>
      </p:sp>
      <p:sp>
        <p:nvSpPr>
          <p:cNvPr id="31" name="Text 27"/>
          <p:cNvSpPr/>
          <p:nvPr/>
        </p:nvSpPr>
        <p:spPr>
          <a:xfrm>
            <a:off x="548640" y="5515661"/>
            <a:ext cx="427939" cy="427939"/>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5</a:t>
            </a:r>
            <a:endParaRPr lang="en-US" sz="1800" dirty="0"/>
          </a:p>
        </p:txBody>
      </p:sp>
      <p:sp>
        <p:nvSpPr>
          <p:cNvPr id="32" name="Shape 28"/>
          <p:cNvSpPr/>
          <p:nvPr/>
        </p:nvSpPr>
        <p:spPr>
          <a:xfrm>
            <a:off x="1280160" y="5515661"/>
            <a:ext cx="10332720" cy="427939"/>
          </a:xfrm>
          <a:prstGeom prst="roundRect">
            <a:avLst>
              <a:gd name="adj" fmla="val 17094"/>
            </a:avLst>
          </a:prstGeom>
          <a:solidFill>
            <a:srgbClr val="FFFFFF"/>
          </a:solidFill>
          <a:ln w="12700">
            <a:solidFill>
              <a:srgbClr val="80ADC4"/>
            </a:solidFill>
            <a:prstDash val="solid"/>
          </a:ln>
        </p:spPr>
      </p:sp>
      <p:sp>
        <p:nvSpPr>
          <p:cNvPr id="33" name="Text 29"/>
          <p:cNvSpPr/>
          <p:nvPr/>
        </p:nvSpPr>
        <p:spPr>
          <a:xfrm>
            <a:off x="1463040" y="5515661"/>
            <a:ext cx="10058400" cy="427939"/>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ZOOM — one single word, and what that word alone does.</a:t>
            </a:r>
            <a:endParaRPr lang="en-US" sz="1800" dirty="0"/>
          </a:p>
        </p:txBody>
      </p:sp>
      <p:sp>
        <p:nvSpPr>
          <p:cNvPr id="34" name="Text 30"/>
          <p:cNvSpPr/>
          <p:nvPr/>
        </p:nvSpPr>
        <p:spPr>
          <a:xfrm>
            <a:off x="548640" y="5998464"/>
            <a:ext cx="11064240" cy="256032"/>
          </a:xfrm>
          <a:prstGeom prst="rect">
            <a:avLst/>
          </a:prstGeom>
          <a:noFill/>
          <a:ln/>
        </p:spPr>
        <p:txBody>
          <a:bodyPr wrap="square" lIns="0" tIns="0" rIns="0" bIns="0" rtlCol="0" anchor="ctr"/>
          <a:lstStyle/>
          <a:p>
            <a:pPr algn="l" indent="0" marL="0">
              <a:buNone/>
            </a:pPr>
            <a:r>
              <a:rPr lang="en-US" sz="1200" i="1" dirty="0">
                <a:solidFill>
                  <a:srgbClr val="6E6E6E"/>
                </a:solidFill>
                <a:latin typeface="Arial" pitchFamily="34" charset="0"/>
                <a:ea typeface="Arial" pitchFamily="34" charset="-122"/>
                <a:cs typeface="Arial" pitchFamily="34" charset="-120"/>
              </a:rPr>
              <a:t>Evidence: EEF Toolkit · Feedback — +6 months; peer check against the moves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award-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What a strong paragraph shows</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Not a model answer — the MOVES a good paragraph makes. Tick the ones your partner made.</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D0021B"/>
          </a:solidFill>
          <a:ln>
            <a:solidFill>
              <a:srgbClr val="D0021B"/>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The Red-Headed League · Analysing Victorian language</a:t>
            </a:r>
            <a:endParaRPr lang="en-US" sz="900" dirty="0"/>
          </a:p>
        </p:txBody>
      </p:sp>
      <p:sp>
        <p:nvSpPr>
          <p:cNvPr id="13" name="Text 10"/>
          <p:cNvSpPr/>
          <p:nvPr/>
        </p:nvSpPr>
        <p:spPr>
          <a:xfrm>
            <a:off x="8961120" y="6702552"/>
            <a:ext cx="2743200" cy="155448"/>
          </a:xfrm>
          <a:prstGeom prst="rect">
            <a:avLst/>
          </a:prstGeom>
          <a:noFill/>
          <a:ln/>
        </p:spPr>
        <p:txBody>
          <a:bodyPr wrap="square" lIns="0" tIns="0" rIns="0" bIns="0" rtlCol="0" anchor="t"/>
          <a:lstStyle/>
          <a:p>
            <a:pPr algn="r" indent="0" marL="0">
              <a:buNone/>
            </a:pPr>
            <a:r>
              <a:rPr lang="en-US" sz="900" dirty="0">
                <a:solidFill>
                  <a:srgbClr val="AAB4C2"/>
                </a:solidFill>
                <a:latin typeface="Arial" pitchFamily="34" charset="0"/>
                <a:ea typeface="Arial" pitchFamily="34" charset="-122"/>
                <a:cs typeface="Arial" pitchFamily="34" charset="-120"/>
              </a:rPr>
              <a:t>THE MOVES</a:t>
            </a:r>
            <a:endParaRPr lang="en-US" sz="900" dirty="0"/>
          </a:p>
        </p:txBody>
      </p:sp>
      <p:sp>
        <p:nvSpPr>
          <p:cNvPr id="14" name="Text 11"/>
          <p:cNvSpPr/>
          <p:nvPr/>
        </p:nvSpPr>
        <p:spPr>
          <a:xfrm>
            <a:off x="548640" y="1783080"/>
            <a:ext cx="3017520" cy="914400"/>
          </a:xfrm>
          <a:prstGeom prst="roundRect">
            <a:avLst>
              <a:gd name="adj" fmla="val 7000"/>
            </a:avLst>
          </a:prstGeom>
          <a:solidFill>
            <a:srgbClr val="12294D"/>
          </a:solidFill>
          <a:ln>
            <a:solidFill>
              <a:srgbClr val="12294D"/>
            </a:solidFill>
          </a:ln>
        </p:spPr>
        <p:txBody>
          <a:bodyPr wrap="square" lIns="45720" tIns="137160" rIns="91440" bIns="45720" rtlCol="0" anchor="ctr"/>
          <a:lstStyle/>
          <a:p>
            <a:pPr algn="l" indent="0" marL="0">
              <a:buNone/>
            </a:pPr>
            <a:r>
              <a:rPr lang="en-US" sz="1600" b="1" dirty="0">
                <a:solidFill>
                  <a:srgbClr val="FFC93C"/>
                </a:solidFill>
                <a:latin typeface="Arial" pitchFamily="34" charset="0"/>
                <a:ea typeface="Arial" pitchFamily="34" charset="-122"/>
                <a:cs typeface="Arial" pitchFamily="34" charset="-120"/>
              </a:rPr>
              <a:t>Answer first</a:t>
            </a:r>
            <a:endParaRPr lang="en-US" sz="1600" dirty="0"/>
          </a:p>
        </p:txBody>
      </p:sp>
      <p:sp>
        <p:nvSpPr>
          <p:cNvPr id="15" name="Shape 12"/>
          <p:cNvSpPr/>
          <p:nvPr/>
        </p:nvSpPr>
        <p:spPr>
          <a:xfrm>
            <a:off x="3703320" y="1783080"/>
            <a:ext cx="7909560" cy="914400"/>
          </a:xfrm>
          <a:prstGeom prst="roundRect">
            <a:avLst>
              <a:gd name="adj" fmla="val 6000"/>
            </a:avLst>
          </a:prstGeom>
          <a:solidFill>
            <a:srgbClr val="FEF7E4"/>
          </a:solidFill>
          <a:ln w="12700">
            <a:solidFill>
              <a:srgbClr val="E5D9B0"/>
            </a:solidFill>
            <a:prstDash val="solid"/>
          </a:ln>
        </p:spPr>
      </p:sp>
      <p:sp>
        <p:nvSpPr>
          <p:cNvPr id="16" name="Text 13"/>
          <p:cNvSpPr/>
          <p:nvPr/>
        </p:nvSpPr>
        <p:spPr>
          <a:xfrm>
            <a:off x="3886200" y="1783080"/>
            <a:ext cx="758952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The first sentence answers the question; it does not retell the story.</a:t>
            </a:r>
            <a:endParaRPr lang="en-US" sz="1800" dirty="0"/>
          </a:p>
        </p:txBody>
      </p:sp>
      <p:sp>
        <p:nvSpPr>
          <p:cNvPr id="17" name="Text 14"/>
          <p:cNvSpPr/>
          <p:nvPr/>
        </p:nvSpPr>
        <p:spPr>
          <a:xfrm>
            <a:off x="548640" y="2843784"/>
            <a:ext cx="3017520" cy="914400"/>
          </a:xfrm>
          <a:prstGeom prst="roundRect">
            <a:avLst>
              <a:gd name="adj" fmla="val 7000"/>
            </a:avLst>
          </a:prstGeom>
          <a:solidFill>
            <a:srgbClr val="12294D"/>
          </a:solidFill>
          <a:ln>
            <a:solidFill>
              <a:srgbClr val="12294D"/>
            </a:solidFill>
          </a:ln>
        </p:spPr>
        <p:txBody>
          <a:bodyPr wrap="square" lIns="45720" tIns="137160" rIns="91440" bIns="45720" rtlCol="0" anchor="ctr"/>
          <a:lstStyle/>
          <a:p>
            <a:pPr algn="l" indent="0" marL="0">
              <a:buNone/>
            </a:pPr>
            <a:r>
              <a:rPr lang="en-US" sz="1600" b="1" dirty="0">
                <a:solidFill>
                  <a:srgbClr val="FFC93C"/>
                </a:solidFill>
                <a:latin typeface="Arial" pitchFamily="34" charset="0"/>
                <a:ea typeface="Arial" pitchFamily="34" charset="-122"/>
                <a:cs typeface="Arial" pitchFamily="34" charset="-120"/>
              </a:rPr>
              <a:t>Quote short</a:t>
            </a:r>
            <a:endParaRPr lang="en-US" sz="1600" dirty="0"/>
          </a:p>
        </p:txBody>
      </p:sp>
      <p:sp>
        <p:nvSpPr>
          <p:cNvPr id="18" name="Shape 15"/>
          <p:cNvSpPr/>
          <p:nvPr/>
        </p:nvSpPr>
        <p:spPr>
          <a:xfrm>
            <a:off x="3703320" y="2843784"/>
            <a:ext cx="7909560" cy="914400"/>
          </a:xfrm>
          <a:prstGeom prst="roundRect">
            <a:avLst>
              <a:gd name="adj" fmla="val 6000"/>
            </a:avLst>
          </a:prstGeom>
          <a:solidFill>
            <a:srgbClr val="FEF7E4"/>
          </a:solidFill>
          <a:ln w="12700">
            <a:solidFill>
              <a:srgbClr val="E5D9B0"/>
            </a:solidFill>
            <a:prstDash val="solid"/>
          </a:ln>
        </p:spPr>
      </p:sp>
      <p:sp>
        <p:nvSpPr>
          <p:cNvPr id="19" name="Text 16"/>
          <p:cNvSpPr/>
          <p:nvPr/>
        </p:nvSpPr>
        <p:spPr>
          <a:xfrm>
            <a:off x="3886200" y="2843784"/>
            <a:ext cx="758952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 few words, not a whole line — then the sentence that says what they show.</a:t>
            </a:r>
            <a:endParaRPr lang="en-US" sz="1800" dirty="0"/>
          </a:p>
        </p:txBody>
      </p:sp>
      <p:sp>
        <p:nvSpPr>
          <p:cNvPr id="20" name="Text 17"/>
          <p:cNvSpPr/>
          <p:nvPr/>
        </p:nvSpPr>
        <p:spPr>
          <a:xfrm>
            <a:off x="548640" y="3904488"/>
            <a:ext cx="3017520" cy="914400"/>
          </a:xfrm>
          <a:prstGeom prst="roundRect">
            <a:avLst>
              <a:gd name="adj" fmla="val 7000"/>
            </a:avLst>
          </a:prstGeom>
          <a:solidFill>
            <a:srgbClr val="12294D"/>
          </a:solidFill>
          <a:ln>
            <a:solidFill>
              <a:srgbClr val="12294D"/>
            </a:solidFill>
          </a:ln>
        </p:spPr>
        <p:txBody>
          <a:bodyPr wrap="square" lIns="45720" tIns="137160" rIns="91440" bIns="45720" rtlCol="0" anchor="ctr"/>
          <a:lstStyle/>
          <a:p>
            <a:pPr algn="l" indent="0" marL="0">
              <a:buNone/>
            </a:pPr>
            <a:r>
              <a:rPr lang="en-US" sz="1600" b="1" dirty="0">
                <a:solidFill>
                  <a:srgbClr val="FFC93C"/>
                </a:solidFill>
                <a:latin typeface="Arial" pitchFamily="34" charset="0"/>
                <a:ea typeface="Arial" pitchFamily="34" charset="-122"/>
                <a:cs typeface="Arial" pitchFamily="34" charset="-120"/>
              </a:rPr>
              <a:t>Name the method</a:t>
            </a:r>
            <a:endParaRPr lang="en-US" sz="1600" dirty="0"/>
          </a:p>
        </p:txBody>
      </p:sp>
      <p:sp>
        <p:nvSpPr>
          <p:cNvPr id="21" name="Shape 18"/>
          <p:cNvSpPr/>
          <p:nvPr/>
        </p:nvSpPr>
        <p:spPr>
          <a:xfrm>
            <a:off x="3703320" y="3904488"/>
            <a:ext cx="7909560" cy="914400"/>
          </a:xfrm>
          <a:prstGeom prst="roundRect">
            <a:avLst>
              <a:gd name="adj" fmla="val 6000"/>
            </a:avLst>
          </a:prstGeom>
          <a:solidFill>
            <a:srgbClr val="FEF7E4"/>
          </a:solidFill>
          <a:ln w="12700">
            <a:solidFill>
              <a:srgbClr val="E5D9B0"/>
            </a:solidFill>
            <a:prstDash val="solid"/>
          </a:ln>
        </p:spPr>
      </p:sp>
      <p:sp>
        <p:nvSpPr>
          <p:cNvPr id="22" name="Text 19"/>
          <p:cNvSpPr/>
          <p:nvPr/>
        </p:nvSpPr>
        <p:spPr>
          <a:xfrm>
            <a:off x="3886200" y="3904488"/>
            <a:ext cx="758952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Verb, adjective, connotation, sentence length — and what that method DOES here.</a:t>
            </a:r>
            <a:endParaRPr lang="en-US" sz="1800" dirty="0"/>
          </a:p>
        </p:txBody>
      </p:sp>
      <p:sp>
        <p:nvSpPr>
          <p:cNvPr id="23" name="Text 20"/>
          <p:cNvSpPr/>
          <p:nvPr/>
        </p:nvSpPr>
        <p:spPr>
          <a:xfrm>
            <a:off x="548640" y="4965192"/>
            <a:ext cx="3017520" cy="914400"/>
          </a:xfrm>
          <a:prstGeom prst="roundRect">
            <a:avLst>
              <a:gd name="adj" fmla="val 7000"/>
            </a:avLst>
          </a:prstGeom>
          <a:solidFill>
            <a:srgbClr val="12294D"/>
          </a:solidFill>
          <a:ln>
            <a:solidFill>
              <a:srgbClr val="12294D"/>
            </a:solidFill>
          </a:ln>
        </p:spPr>
        <p:txBody>
          <a:bodyPr wrap="square" lIns="45720" tIns="137160" rIns="91440" bIns="45720" rtlCol="0" anchor="ctr"/>
          <a:lstStyle/>
          <a:p>
            <a:pPr algn="l" indent="0" marL="0">
              <a:buNone/>
            </a:pPr>
            <a:r>
              <a:rPr lang="en-US" sz="1600" b="1" dirty="0">
                <a:solidFill>
                  <a:srgbClr val="FFC93C"/>
                </a:solidFill>
                <a:latin typeface="Arial" pitchFamily="34" charset="0"/>
                <a:ea typeface="Arial" pitchFamily="34" charset="-122"/>
                <a:cs typeface="Arial" pitchFamily="34" charset="-120"/>
              </a:rPr>
              <a:t>Zoom in</a:t>
            </a:r>
            <a:endParaRPr lang="en-US" sz="1600" dirty="0"/>
          </a:p>
        </p:txBody>
      </p:sp>
      <p:sp>
        <p:nvSpPr>
          <p:cNvPr id="24" name="Shape 21"/>
          <p:cNvSpPr/>
          <p:nvPr/>
        </p:nvSpPr>
        <p:spPr>
          <a:xfrm>
            <a:off x="3703320" y="4965192"/>
            <a:ext cx="7909560" cy="914400"/>
          </a:xfrm>
          <a:prstGeom prst="roundRect">
            <a:avLst>
              <a:gd name="adj" fmla="val 6000"/>
            </a:avLst>
          </a:prstGeom>
          <a:solidFill>
            <a:srgbClr val="FEF7E4"/>
          </a:solidFill>
          <a:ln w="12700">
            <a:solidFill>
              <a:srgbClr val="E5D9B0"/>
            </a:solidFill>
            <a:prstDash val="solid"/>
          </a:ln>
        </p:spPr>
      </p:sp>
      <p:sp>
        <p:nvSpPr>
          <p:cNvPr id="25" name="Text 22"/>
          <p:cNvSpPr/>
          <p:nvPr/>
        </p:nvSpPr>
        <p:spPr>
          <a:xfrm>
            <a:off x="3886200" y="4965192"/>
            <a:ext cx="758952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Pick one word — 'glittering', 'thumped', 'shabby' — and say what it makes us feel.</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294D"/>
        </a:solidFill>
      </p:bgPr>
    </p:bg>
    <p:spTree>
      <p:nvGrpSpPr>
        <p:cNvPr id="1" name=""/>
        <p:cNvGrpSpPr/>
        <p:nvPr/>
      </p:nvGrpSpPr>
      <p:grpSpPr>
        <a:xfrm>
          <a:off x="0" y="0"/>
          <a:ext cx="0" cy="0"/>
          <a:chOff x="0" y="0"/>
          <a:chExt cx="0" cy="0"/>
        </a:xfrm>
      </p:grpSpPr>
      <p:sp>
        <p:nvSpPr>
          <p:cNvPr id="2" name="Text 0"/>
          <p:cNvSpPr/>
          <p:nvPr/>
        </p:nvSpPr>
        <p:spPr>
          <a:xfrm>
            <a:off x="548640" y="594360"/>
            <a:ext cx="10058400" cy="365760"/>
          </a:xfrm>
          <a:prstGeom prst="rect">
            <a:avLst/>
          </a:prstGeom>
          <a:noFill/>
          <a:ln/>
        </p:spPr>
        <p:txBody>
          <a:bodyPr wrap="square" lIns="0" tIns="0" rIns="0" bIns="0" rtlCol="0" anchor="ctr"/>
          <a:lstStyle/>
          <a:p>
            <a:pPr indent="0" marL="0">
              <a:buNone/>
            </a:pPr>
            <a:r>
              <a:rPr lang="en-US" sz="1500" b="1" dirty="0">
                <a:solidFill>
                  <a:srgbClr val="FFC93C"/>
                </a:solidFill>
                <a:latin typeface="Arial" pitchFamily="34" charset="0"/>
                <a:ea typeface="Arial" pitchFamily="34" charset="-122"/>
                <a:cs typeface="Arial" pitchFamily="34" charset="-120"/>
              </a:rPr>
              <a:t>BEFORE YOU LEAVE</a:t>
            </a:r>
            <a:endParaRPr lang="en-US" sz="1500" dirty="0"/>
          </a:p>
        </p:txBody>
      </p:sp>
      <p:sp>
        <p:nvSpPr>
          <p:cNvPr id="3" name="Text 1"/>
          <p:cNvSpPr/>
          <p:nvPr/>
        </p:nvSpPr>
        <p:spPr>
          <a:xfrm>
            <a:off x="548640" y="1051560"/>
            <a:ext cx="10515600" cy="731520"/>
          </a:xfrm>
          <a:prstGeom prst="rect">
            <a:avLst/>
          </a:prstGeom>
          <a:noFill/>
          <a:ln/>
        </p:spPr>
        <p:txBody>
          <a:bodyPr wrap="square" lIns="0" tIns="0" rIns="0" bIns="0" rtlCol="0" anchor="ctr"/>
          <a:lstStyle/>
          <a:p>
            <a:pPr algn="l" indent="0" marL="0">
              <a:buNone/>
            </a:pPr>
            <a:r>
              <a:rPr lang="en-US" sz="3000" b="1" dirty="0">
                <a:solidFill>
                  <a:srgbClr val="FFFFFF"/>
                </a:solidFill>
                <a:latin typeface="Arial" pitchFamily="34" charset="0"/>
                <a:ea typeface="Arial" pitchFamily="34" charset="-122"/>
                <a:cs typeface="Arial" pitchFamily="34" charset="-120"/>
              </a:rPr>
              <a:t>Home learning — the come-back loop</a:t>
            </a:r>
            <a:endParaRPr lang="en-US" sz="3000" dirty="0"/>
          </a:p>
        </p:txBody>
      </p:sp>
      <p:sp>
        <p:nvSpPr>
          <p:cNvPr id="4" name="Shape 2"/>
          <p:cNvSpPr/>
          <p:nvPr/>
        </p:nvSpPr>
        <p:spPr>
          <a:xfrm>
            <a:off x="548640" y="2011680"/>
            <a:ext cx="5349240" cy="1828800"/>
          </a:xfrm>
          <a:prstGeom prst="roundRect">
            <a:avLst>
              <a:gd name="adj" fmla="val 3000"/>
            </a:avLst>
          </a:prstGeom>
          <a:solidFill>
            <a:srgbClr val="1B315C"/>
          </a:solidFill>
          <a:ln w="12700">
            <a:solidFill>
              <a:srgbClr val="80ADC4"/>
            </a:solidFill>
            <a:prstDash val="solid"/>
          </a:ln>
        </p:spPr>
      </p:sp>
      <p:pic>
        <p:nvPicPr>
          <p:cNvPr id="5" name="Image 0" descr="/home/claude/english/kit/decks/_icons/headphones-FFFFFF.png">    </p:cNvPr>
          <p:cNvPicPr>
            <a:picLocks noChangeAspect="1"/>
          </p:cNvPicPr>
          <p:nvPr/>
        </p:nvPicPr>
        <p:blipFill>
          <a:blip r:embed="rId1"/>
          <a:stretch>
            <a:fillRect/>
          </a:stretch>
        </p:blipFill>
        <p:spPr>
          <a:xfrm>
            <a:off x="822960" y="2331720"/>
            <a:ext cx="566928" cy="566928"/>
          </a:xfrm>
          <a:prstGeom prst="rect">
            <a:avLst/>
          </a:prstGeom>
        </p:spPr>
      </p:pic>
      <p:sp>
        <p:nvSpPr>
          <p:cNvPr id="6" name="Text 3"/>
          <p:cNvSpPr/>
          <p:nvPr/>
        </p:nvSpPr>
        <p:spPr>
          <a:xfrm>
            <a:off x="1783080" y="219456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Listen</a:t>
            </a:r>
            <a:endParaRPr lang="en-US" sz="1900" dirty="0"/>
          </a:p>
        </p:txBody>
      </p:sp>
      <p:sp>
        <p:nvSpPr>
          <p:cNvPr id="7" name="Text 4"/>
          <p:cNvSpPr/>
          <p:nvPr/>
        </p:nvSpPr>
        <p:spPr>
          <a:xfrm>
            <a:off x="1783080" y="267004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Open the read-along edition and do the words module. Say each glossary word out loud twice.</a:t>
            </a:r>
            <a:endParaRPr lang="en-US" sz="1800" dirty="0"/>
          </a:p>
        </p:txBody>
      </p:sp>
      <p:sp>
        <p:nvSpPr>
          <p:cNvPr id="8" name="Shape 5"/>
          <p:cNvSpPr/>
          <p:nvPr/>
        </p:nvSpPr>
        <p:spPr>
          <a:xfrm>
            <a:off x="6172200" y="2011680"/>
            <a:ext cx="5349240" cy="1828800"/>
          </a:xfrm>
          <a:prstGeom prst="roundRect">
            <a:avLst>
              <a:gd name="adj" fmla="val 3000"/>
            </a:avLst>
          </a:prstGeom>
          <a:solidFill>
            <a:srgbClr val="1B315C"/>
          </a:solidFill>
          <a:ln w="12700">
            <a:solidFill>
              <a:srgbClr val="80ADC4"/>
            </a:solidFill>
            <a:prstDash val="solid"/>
          </a:ln>
        </p:spPr>
      </p:sp>
      <p:pic>
        <p:nvPicPr>
          <p:cNvPr id="9" name="Image 1" descr="/home/claude/english/kit/decks/_icons/edit-3-FFFFFF.png">    </p:cNvPr>
          <p:cNvPicPr>
            <a:picLocks noChangeAspect="1"/>
          </p:cNvPicPr>
          <p:nvPr/>
        </p:nvPicPr>
        <p:blipFill>
          <a:blip r:embed="rId2"/>
          <a:stretch>
            <a:fillRect/>
          </a:stretch>
        </p:blipFill>
        <p:spPr>
          <a:xfrm>
            <a:off x="6446520" y="2331720"/>
            <a:ext cx="566928" cy="566928"/>
          </a:xfrm>
          <a:prstGeom prst="rect">
            <a:avLst/>
          </a:prstGeom>
        </p:spPr>
      </p:pic>
      <p:sp>
        <p:nvSpPr>
          <p:cNvPr id="10" name="Text 6"/>
          <p:cNvSpPr/>
          <p:nvPr/>
        </p:nvSpPr>
        <p:spPr>
          <a:xfrm>
            <a:off x="7406640" y="219456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Write</a:t>
            </a:r>
            <a:endParaRPr lang="en-US" sz="1900" dirty="0"/>
          </a:p>
        </p:txBody>
      </p:sp>
      <p:sp>
        <p:nvSpPr>
          <p:cNvPr id="11" name="Text 7"/>
          <p:cNvSpPr/>
          <p:nvPr/>
        </p:nvSpPr>
        <p:spPr>
          <a:xfrm>
            <a:off x="7406640" y="267004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One language analysis paragraph on a different line from the extract: method, quotation, effect.</a:t>
            </a:r>
            <a:endParaRPr lang="en-US" sz="1800" dirty="0"/>
          </a:p>
        </p:txBody>
      </p:sp>
      <p:sp>
        <p:nvSpPr>
          <p:cNvPr id="12" name="Shape 8"/>
          <p:cNvSpPr/>
          <p:nvPr/>
        </p:nvSpPr>
        <p:spPr>
          <a:xfrm>
            <a:off x="548640" y="4023360"/>
            <a:ext cx="5349240" cy="1828800"/>
          </a:xfrm>
          <a:prstGeom prst="roundRect">
            <a:avLst>
              <a:gd name="adj" fmla="val 3000"/>
            </a:avLst>
          </a:prstGeom>
          <a:solidFill>
            <a:srgbClr val="1B315C"/>
          </a:solidFill>
          <a:ln w="12700">
            <a:solidFill>
              <a:srgbClr val="80ADC4"/>
            </a:solidFill>
            <a:prstDash val="solid"/>
          </a:ln>
        </p:spPr>
      </p:sp>
      <p:pic>
        <p:nvPicPr>
          <p:cNvPr id="13" name="Image 2" descr="/home/claude/english/kit/decks/_icons/book-open-FFFFFF.png">    </p:cNvPr>
          <p:cNvPicPr>
            <a:picLocks noChangeAspect="1"/>
          </p:cNvPicPr>
          <p:nvPr/>
        </p:nvPicPr>
        <p:blipFill>
          <a:blip r:embed="rId3"/>
          <a:stretch>
            <a:fillRect/>
          </a:stretch>
        </p:blipFill>
        <p:spPr>
          <a:xfrm>
            <a:off x="822960" y="4343400"/>
            <a:ext cx="566928" cy="566928"/>
          </a:xfrm>
          <a:prstGeom prst="rect">
            <a:avLst/>
          </a:prstGeom>
        </p:spPr>
      </p:pic>
      <p:sp>
        <p:nvSpPr>
          <p:cNvPr id="14" name="Text 9"/>
          <p:cNvSpPr/>
          <p:nvPr/>
        </p:nvSpPr>
        <p:spPr>
          <a:xfrm>
            <a:off x="1783080" y="420624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Read</a:t>
            </a:r>
            <a:endParaRPr lang="en-US" sz="1900" dirty="0"/>
          </a:p>
        </p:txBody>
      </p:sp>
      <p:sp>
        <p:nvSpPr>
          <p:cNvPr id="15" name="Text 10"/>
          <p:cNvSpPr/>
          <p:nvPr/>
        </p:nvSpPr>
        <p:spPr>
          <a:xfrm>
            <a:off x="1783080" y="468172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Victorian vocabulary list: pick five words, write each in a sentence of your own.</a:t>
            </a:r>
            <a:endParaRPr lang="en-US" sz="1800" dirty="0"/>
          </a:p>
        </p:txBody>
      </p:sp>
      <p:sp>
        <p:nvSpPr>
          <p:cNvPr id="16" name="Shape 11"/>
          <p:cNvSpPr/>
          <p:nvPr/>
        </p:nvSpPr>
        <p:spPr>
          <a:xfrm>
            <a:off x="6172200" y="4023360"/>
            <a:ext cx="5349240" cy="1828800"/>
          </a:xfrm>
          <a:prstGeom prst="roundRect">
            <a:avLst>
              <a:gd name="adj" fmla="val 3000"/>
            </a:avLst>
          </a:prstGeom>
          <a:solidFill>
            <a:srgbClr val="1B315C"/>
          </a:solidFill>
          <a:ln w="12700">
            <a:solidFill>
              <a:srgbClr val="80ADC4"/>
            </a:solidFill>
            <a:prstDash val="solid"/>
          </a:ln>
        </p:spPr>
      </p:sp>
      <p:pic>
        <p:nvPicPr>
          <p:cNvPr id="17" name="Image 3" descr="/home/claude/english/kit/decks/_icons/repeat-FFFFFF.png">    </p:cNvPr>
          <p:cNvPicPr>
            <a:picLocks noChangeAspect="1"/>
          </p:cNvPicPr>
          <p:nvPr/>
        </p:nvPicPr>
        <p:blipFill>
          <a:blip r:embed="rId4"/>
          <a:stretch>
            <a:fillRect/>
          </a:stretch>
        </p:blipFill>
        <p:spPr>
          <a:xfrm>
            <a:off x="6446520" y="4343400"/>
            <a:ext cx="566928" cy="566928"/>
          </a:xfrm>
          <a:prstGeom prst="rect">
            <a:avLst/>
          </a:prstGeom>
        </p:spPr>
      </p:pic>
      <p:sp>
        <p:nvSpPr>
          <p:cNvPr id="18" name="Text 12"/>
          <p:cNvSpPr/>
          <p:nvPr/>
        </p:nvSpPr>
        <p:spPr>
          <a:xfrm>
            <a:off x="7406640" y="420624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Return</a:t>
            </a:r>
            <a:endParaRPr lang="en-US" sz="1900" dirty="0"/>
          </a:p>
        </p:txBody>
      </p:sp>
      <p:sp>
        <p:nvSpPr>
          <p:cNvPr id="19" name="Text 13"/>
          <p:cNvSpPr/>
          <p:nvPr/>
        </p:nvSpPr>
        <p:spPr>
          <a:xfrm>
            <a:off x="7406640" y="468172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Next week is the extended writing assessment. Reread your L2 and L3 paragraphs — they are your plan.</a:t>
            </a:r>
            <a:endParaRPr lang="en-US" sz="1800" dirty="0"/>
          </a:p>
        </p:txBody>
      </p:sp>
      <p:sp>
        <p:nvSpPr>
          <p:cNvPr id="20" name="Text 14"/>
          <p:cNvSpPr/>
          <p:nvPr/>
        </p:nvSpPr>
        <p:spPr>
          <a:xfrm>
            <a:off x="548640" y="6309360"/>
            <a:ext cx="10058400" cy="365760"/>
          </a:xfrm>
          <a:prstGeom prst="rect">
            <a:avLst/>
          </a:prstGeom>
          <a:noFill/>
          <a:ln/>
        </p:spPr>
        <p:txBody>
          <a:bodyPr wrap="square" lIns="0" tIns="0" rIns="0" bIns="0" rtlCol="0" anchor="ctr"/>
          <a:lstStyle/>
          <a:p>
            <a:pPr indent="0" marL="0">
              <a:buNone/>
            </a:pPr>
            <a:r>
              <a:rPr lang="en-US" sz="1200" i="1" dirty="0">
                <a:solidFill>
                  <a:srgbClr val="8FA6C4"/>
                </a:solidFill>
                <a:latin typeface="Arial" pitchFamily="34" charset="0"/>
                <a:ea typeface="Arial" pitchFamily="34" charset="-122"/>
                <a:cs typeface="Arial" pitchFamily="34" charset="-120"/>
              </a:rPr>
              <a:t>Harlington English · The Red-Headed League · Lesson 3 of 5</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Red-Headed League · L3 Analysing Victorian language</dc:title>
  <dc:subject>PptxGenJS Presentation</dc:subject>
  <dc:creator>Harlington English</dc:creator>
  <cp:lastModifiedBy>Harlington English</cp:lastModifiedBy>
  <cp:revision>1</cp:revision>
  <dcterms:created xsi:type="dcterms:W3CDTF">2026-09-04T20:58:59Z</dcterms:created>
  <dcterms:modified xsi:type="dcterms:W3CDTF">2026-09-04T20:58:59Z</dcterms:modified>
</cp:coreProperties>
</file>