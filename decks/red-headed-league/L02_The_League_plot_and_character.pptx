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65760"/>
            <a:ext cx="8595360" cy="960120"/>
          </a:xfrm>
          <a:prstGeom prst="roundRect">
            <a:avLst>
              <a:gd name="adj" fmla="val 7619"/>
            </a:avLst>
          </a:prstGeom>
          <a:solidFill>
            <a:srgbClr val="12294D"/>
          </a:solidFill>
          <a:ln w="12700">
            <a:solidFill>
              <a:srgbClr val="12294D"/>
            </a:solidFill>
            <a:prstDash val="solid"/>
          </a:ln>
        </p:spPr>
      </p:sp>
      <p:sp>
        <p:nvSpPr>
          <p:cNvPr id="3" name="Text 1"/>
          <p:cNvSpPr/>
          <p:nvPr/>
        </p:nvSpPr>
        <p:spPr>
          <a:xfrm>
            <a:off x="777240" y="457200"/>
            <a:ext cx="8046720" cy="292608"/>
          </a:xfrm>
          <a:prstGeom prst="rect">
            <a:avLst/>
          </a:prstGeom>
          <a:noFill/>
          <a:ln/>
        </p:spPr>
        <p:txBody>
          <a:bodyPr wrap="square" lIns="0" tIns="0" rIns="0" bIns="0" rtlCol="0" anchor="ctr"/>
          <a:lstStyle/>
          <a:p>
            <a:pPr indent="0" marL="0">
              <a:buNone/>
            </a:pPr>
            <a:r>
              <a:rPr lang="en-US" sz="1100" b="1" dirty="0">
                <a:solidFill>
                  <a:srgbClr val="FFC93C"/>
                </a:solidFill>
                <a:latin typeface="Arial" pitchFamily="34" charset="0"/>
                <a:ea typeface="Arial" pitchFamily="34" charset="-122"/>
                <a:cs typeface="Arial" pitchFamily="34" charset="-120"/>
              </a:rPr>
              <a:t>HARLINGTON ENGLISH · YEAR 7 · THE RED-HEADED LEAGUE · LESSON 2 of 5</a:t>
            </a:r>
            <a:endParaRPr lang="en-US" sz="1100" dirty="0"/>
          </a:p>
        </p:txBody>
      </p:sp>
      <p:sp>
        <p:nvSpPr>
          <p:cNvPr id="4" name="Text 2"/>
          <p:cNvSpPr/>
          <p:nvPr/>
        </p:nvSpPr>
        <p:spPr>
          <a:xfrm>
            <a:off x="777240" y="731520"/>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The League: plot and character</a:t>
            </a:r>
            <a:endParaRPr lang="en-US" sz="2600" dirty="0"/>
          </a:p>
        </p:txBody>
      </p:sp>
      <p:sp>
        <p:nvSpPr>
          <p:cNvPr id="5" name="Shape 3"/>
          <p:cNvSpPr/>
          <p:nvPr/>
        </p:nvSpPr>
        <p:spPr>
          <a:xfrm>
            <a:off x="9235440" y="365760"/>
            <a:ext cx="2468880" cy="960120"/>
          </a:xfrm>
          <a:prstGeom prst="roundRect">
            <a:avLst>
              <a:gd name="adj" fmla="val 9524"/>
            </a:avLst>
          </a:prstGeom>
          <a:solidFill>
            <a:srgbClr val="FFC93C"/>
          </a:solidFill>
          <a:ln w="12700">
            <a:solidFill>
              <a:srgbClr val="FFC93C"/>
            </a:solidFill>
            <a:prstDash val="solid"/>
          </a:ln>
        </p:spPr>
      </p:sp>
      <p:pic>
        <p:nvPicPr>
          <p:cNvPr id="6" name="Image 0" descr="/home/claude/english/kit/decks/_icons/bell-12294D.png">    </p:cNvPr>
          <p:cNvPicPr>
            <a:picLocks noChangeAspect="1"/>
          </p:cNvPicPr>
          <p:nvPr/>
        </p:nvPicPr>
        <p:blipFill>
          <a:blip r:embed="rId1"/>
          <a:stretch>
            <a:fillRect/>
          </a:stretch>
        </p:blipFill>
        <p:spPr>
          <a:xfrm>
            <a:off x="9418320" y="566928"/>
            <a:ext cx="548640" cy="548640"/>
          </a:xfrm>
          <a:prstGeom prst="rect">
            <a:avLst/>
          </a:prstGeom>
        </p:spPr>
      </p:pic>
      <p:sp>
        <p:nvSpPr>
          <p:cNvPr id="7" name="Text 4"/>
          <p:cNvSpPr/>
          <p:nvPr/>
        </p:nvSpPr>
        <p:spPr>
          <a:xfrm>
            <a:off x="10012680" y="502920"/>
            <a:ext cx="1600200" cy="320040"/>
          </a:xfrm>
          <a:prstGeom prst="rect">
            <a:avLst/>
          </a:prstGeom>
          <a:noFill/>
          <a:ln/>
        </p:spPr>
        <p:txBody>
          <a:bodyPr wrap="square" lIns="0" tIns="0" rIns="0" bIns="0" rtlCol="0" anchor="ctr"/>
          <a:lstStyle/>
          <a:p>
            <a:pPr indent="0" marL="0">
              <a:buNone/>
            </a:pPr>
            <a:r>
              <a:rPr lang="en-US" sz="1500" b="1" dirty="0">
                <a:solidFill>
                  <a:srgbClr val="12294D"/>
                </a:solidFill>
                <a:latin typeface="Arial" pitchFamily="34" charset="0"/>
                <a:ea typeface="Arial" pitchFamily="34" charset="-122"/>
                <a:cs typeface="Arial" pitchFamily="34" charset="-120"/>
              </a:rPr>
              <a:t>BELL WORK</a:t>
            </a:r>
            <a:endParaRPr lang="en-US" sz="1500" dirty="0"/>
          </a:p>
        </p:txBody>
      </p:sp>
      <p:sp>
        <p:nvSpPr>
          <p:cNvPr id="8" name="Text 5"/>
          <p:cNvSpPr/>
          <p:nvPr/>
        </p:nvSpPr>
        <p:spPr>
          <a:xfrm>
            <a:off x="10012680" y="841248"/>
            <a:ext cx="1600200" cy="320040"/>
          </a:xfrm>
          <a:prstGeom prst="rect">
            <a:avLst/>
          </a:prstGeom>
          <a:noFill/>
          <a:ln/>
        </p:spPr>
        <p:txBody>
          <a:bodyPr wrap="square" lIns="0" tIns="0" rIns="0" bIns="0" rtlCol="0" anchor="ctr"/>
          <a:lstStyle/>
          <a:p>
            <a:pPr indent="0" marL="0">
              <a:buNone/>
            </a:pPr>
            <a:r>
              <a:rPr lang="en-US" sz="1300" b="1" dirty="0">
                <a:solidFill>
                  <a:srgbClr val="12294D"/>
                </a:solidFill>
                <a:latin typeface="Arial" pitchFamily="34" charset="0"/>
                <a:ea typeface="Arial" pitchFamily="34" charset="-122"/>
                <a:cs typeface="Arial" pitchFamily="34" charset="-120"/>
              </a:rPr>
              <a:t>⏱ 6 minutes</a:t>
            </a:r>
            <a:endParaRPr lang="en-US" sz="1300" dirty="0"/>
          </a:p>
        </p:txBody>
      </p:sp>
      <p:sp>
        <p:nvSpPr>
          <p:cNvPr id="9" name="Text 6"/>
          <p:cNvSpPr/>
          <p:nvPr/>
        </p:nvSpPr>
        <p:spPr>
          <a:xfrm>
            <a:off x="457200" y="1463040"/>
            <a:ext cx="11247120" cy="365760"/>
          </a:xfrm>
          <a:prstGeom prst="rect">
            <a:avLst/>
          </a:prstGeom>
          <a:noFill/>
          <a:ln/>
        </p:spPr>
        <p:txBody>
          <a:bodyPr wrap="square" lIns="0" tIns="0" rIns="0" bIns="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Retrieval — no notes. Answer all five, then say one in a full sentence. Score yourself /5.</a:t>
            </a:r>
            <a:endParaRPr lang="en-US" sz="1500" dirty="0"/>
          </a:p>
        </p:txBody>
      </p:sp>
      <p:sp>
        <p:nvSpPr>
          <p:cNvPr id="10" name="Text 7"/>
          <p:cNvSpPr/>
          <p:nvPr/>
        </p:nvSpPr>
        <p:spPr>
          <a:xfrm>
            <a:off x="548640" y="1965960"/>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1" name="Text 8"/>
          <p:cNvSpPr/>
          <p:nvPr/>
        </p:nvSpPr>
        <p:spPr>
          <a:xfrm>
            <a:off x="1234440" y="1965960"/>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the four conventions of crime fiction.</a:t>
            </a:r>
            <a:endParaRPr lang="en-US" sz="1800" dirty="0"/>
          </a:p>
        </p:txBody>
      </p:sp>
      <p:sp>
        <p:nvSpPr>
          <p:cNvPr id="12" name="Text 9"/>
          <p:cNvSpPr/>
          <p:nvPr/>
        </p:nvSpPr>
        <p:spPr>
          <a:xfrm>
            <a:off x="548640" y="2770632"/>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234440" y="2770632"/>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Who narrates the Sherlock Holmes stories?</a:t>
            </a:r>
            <a:endParaRPr lang="en-US" sz="1800" dirty="0"/>
          </a:p>
        </p:txBody>
      </p:sp>
      <p:sp>
        <p:nvSpPr>
          <p:cNvPr id="14" name="Text 11"/>
          <p:cNvSpPr/>
          <p:nvPr/>
        </p:nvSpPr>
        <p:spPr>
          <a:xfrm>
            <a:off x="548640" y="3575304"/>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15" name="Text 12"/>
          <p:cNvSpPr/>
          <p:nvPr/>
        </p:nvSpPr>
        <p:spPr>
          <a:xfrm>
            <a:off x="1234440" y="3575304"/>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a clue? Give one example from any story.</a:t>
            </a:r>
            <a:endParaRPr lang="en-US" sz="1800" dirty="0"/>
          </a:p>
        </p:txBody>
      </p:sp>
      <p:sp>
        <p:nvSpPr>
          <p:cNvPr id="16" name="Text 13"/>
          <p:cNvSpPr/>
          <p:nvPr/>
        </p:nvSpPr>
        <p:spPr>
          <a:xfrm>
            <a:off x="548640" y="4379976"/>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17" name="Text 14"/>
          <p:cNvSpPr/>
          <p:nvPr/>
        </p:nvSpPr>
        <p:spPr>
          <a:xfrm>
            <a:off x="1234440" y="4379976"/>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In which years did Queen Victoria reign?</a:t>
            </a:r>
            <a:endParaRPr lang="en-US" sz="1800" dirty="0"/>
          </a:p>
        </p:txBody>
      </p:sp>
      <p:sp>
        <p:nvSpPr>
          <p:cNvPr id="18" name="Text 15"/>
          <p:cNvSpPr/>
          <p:nvPr/>
        </p:nvSpPr>
        <p:spPr>
          <a:xfrm>
            <a:off x="548640" y="5184648"/>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5</a:t>
            </a:r>
            <a:endParaRPr lang="en-US" sz="1800" dirty="0"/>
          </a:p>
        </p:txBody>
      </p:sp>
      <p:sp>
        <p:nvSpPr>
          <p:cNvPr id="19" name="Text 16"/>
          <p:cNvSpPr/>
          <p:nvPr/>
        </p:nvSpPr>
        <p:spPr>
          <a:xfrm>
            <a:off x="1234440" y="5184648"/>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did Victorian readers enjoy a clever amateur detective?</a:t>
            </a:r>
            <a:endParaRPr lang="en-US" sz="1800" dirty="0"/>
          </a:p>
        </p:txBody>
      </p:sp>
      <p:sp>
        <p:nvSpPr>
          <p:cNvPr id="20" name="Text 17"/>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21" name="Text 18"/>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22" name="Text 19"/>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23" name="Text 20"/>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24" name="Text 21"/>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25" name="Text 22"/>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The League: plot and character</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8595360" cy="777240"/>
          </a:xfrm>
          <a:prstGeom prst="roundRect">
            <a:avLst>
              <a:gd name="adj" fmla="val 8235"/>
            </a:avLst>
          </a:prstGeom>
          <a:solidFill>
            <a:srgbClr val="12294D"/>
          </a:solidFill>
          <a:ln w="12700">
            <a:solidFill>
              <a:srgbClr val="12294D"/>
            </a:solidFill>
            <a:prstDash val="solid"/>
          </a:ln>
        </p:spPr>
      </p:sp>
      <p:sp>
        <p:nvSpPr>
          <p:cNvPr id="3" name="Text 1"/>
          <p:cNvSpPr/>
          <p:nvPr/>
        </p:nvSpPr>
        <p:spPr>
          <a:xfrm>
            <a:off x="777240" y="320040"/>
            <a:ext cx="8229600" cy="7772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The Red-Headed League</a:t>
            </a:r>
            <a:endParaRPr lang="en-US" sz="3000" dirty="0"/>
          </a:p>
        </p:txBody>
      </p:sp>
      <p:sp>
        <p:nvSpPr>
          <p:cNvPr id="4" name="Text 2"/>
          <p:cNvSpPr/>
          <p:nvPr/>
        </p:nvSpPr>
        <p:spPr>
          <a:xfrm>
            <a:off x="9326880" y="402336"/>
            <a:ext cx="2377440" cy="310896"/>
          </a:xfrm>
          <a:prstGeom prst="rect">
            <a:avLst/>
          </a:prstGeom>
          <a:noFill/>
          <a:ln/>
        </p:spPr>
        <p:txBody>
          <a:bodyPr wrap="square" lIns="0" tIns="0" rIns="0" bIns="0" rtlCol="0" anchor="ctr"/>
          <a:lstStyle/>
          <a:p>
            <a:pPr algn="r" indent="0" marL="0">
              <a:buNone/>
            </a:pPr>
            <a:r>
              <a:rPr lang="en-US" sz="1600" b="1" dirty="0">
                <a:solidFill>
                  <a:srgbClr val="12294D"/>
                </a:solidFill>
                <a:latin typeface="Arial" pitchFamily="34" charset="0"/>
                <a:ea typeface="Arial" pitchFamily="34" charset="-122"/>
                <a:cs typeface="Arial" pitchFamily="34" charset="-120"/>
              </a:rPr>
              <a:t>HARLINGTON</a:t>
            </a:r>
            <a:endParaRPr lang="en-US" sz="1600" dirty="0"/>
          </a:p>
        </p:txBody>
      </p:sp>
      <p:sp>
        <p:nvSpPr>
          <p:cNvPr id="5" name="Text 3"/>
          <p:cNvSpPr/>
          <p:nvPr/>
        </p:nvSpPr>
        <p:spPr>
          <a:xfrm>
            <a:off x="9326880" y="713232"/>
            <a:ext cx="2377440" cy="274320"/>
          </a:xfrm>
          <a:prstGeom prst="rect">
            <a:avLst/>
          </a:prstGeom>
          <a:noFill/>
          <a:ln/>
        </p:spPr>
        <p:txBody>
          <a:bodyPr wrap="square" lIns="0" tIns="0" rIns="0" bIns="0" rtlCol="0" anchor="ctr"/>
          <a:lstStyle/>
          <a:p>
            <a:pPr algn="r" indent="0" marL="0">
              <a:buNone/>
            </a:pPr>
            <a:r>
              <a:rPr lang="en-US" sz="1300" b="1" dirty="0">
                <a:solidFill>
                  <a:srgbClr val="80ADC4"/>
                </a:solidFill>
                <a:latin typeface="Arial" pitchFamily="34" charset="0"/>
                <a:ea typeface="Arial" pitchFamily="34" charset="-122"/>
                <a:cs typeface="Arial" pitchFamily="34" charset="-120"/>
              </a:rPr>
              <a:t>SCHOOL</a:t>
            </a:r>
            <a:endParaRPr lang="en-US" sz="1300" dirty="0"/>
          </a:p>
        </p:txBody>
      </p:sp>
      <p:sp>
        <p:nvSpPr>
          <p:cNvPr id="6" name="Text 4"/>
          <p:cNvSpPr/>
          <p:nvPr/>
        </p:nvSpPr>
        <p:spPr>
          <a:xfrm>
            <a:off x="502920" y="1170432"/>
            <a:ext cx="7315200" cy="365760"/>
          </a:xfrm>
          <a:prstGeom prst="rect">
            <a:avLst/>
          </a:prstGeom>
          <a:noFill/>
          <a:ln/>
        </p:spPr>
        <p:txBody>
          <a:bodyPr wrap="square" lIns="0" tIns="0" rIns="0" bIns="0" rtlCol="0" anchor="ctr"/>
          <a:lstStyle/>
          <a:p>
            <a:pPr indent="0" marL="0">
              <a:buNone/>
            </a:pPr>
            <a:r>
              <a:rPr lang="en-US" sz="1500" b="1" i="1" dirty="0">
                <a:solidFill>
                  <a:srgbClr val="80ADC4"/>
                </a:solidFill>
                <a:latin typeface="Arial" pitchFamily="34" charset="0"/>
                <a:ea typeface="Arial" pitchFamily="34" charset="-122"/>
                <a:cs typeface="Arial" pitchFamily="34" charset="-120"/>
              </a:rPr>
              <a:t>Progress is the Curriculum</a:t>
            </a:r>
            <a:endParaRPr lang="en-US" sz="1500" dirty="0"/>
          </a:p>
        </p:txBody>
      </p:sp>
      <p:sp>
        <p:nvSpPr>
          <p:cNvPr id="7" name="Shape 5"/>
          <p:cNvSpPr/>
          <p:nvPr/>
        </p:nvSpPr>
        <p:spPr>
          <a:xfrm>
            <a:off x="457200" y="1600200"/>
            <a:ext cx="3383280" cy="4617720"/>
          </a:xfrm>
          <a:prstGeom prst="roundRect">
            <a:avLst>
              <a:gd name="adj" fmla="val 2162"/>
            </a:avLst>
          </a:prstGeom>
          <a:solidFill>
            <a:srgbClr val="F4F6FA"/>
          </a:solidFill>
          <a:ln w="12700">
            <a:solidFill>
              <a:srgbClr val="F4F6FA"/>
            </a:solidFill>
            <a:prstDash val="solid"/>
          </a:ln>
        </p:spPr>
      </p:sp>
      <p:pic>
        <p:nvPicPr>
          <p:cNvPr id="8" name="Image 0" descr="/home/claude/english/kit/decks/_icons/layers-12294D.png">    </p:cNvPr>
          <p:cNvPicPr>
            <a:picLocks noChangeAspect="1"/>
          </p:cNvPicPr>
          <p:nvPr/>
        </p:nvPicPr>
        <p:blipFill>
          <a:blip r:embed="rId1"/>
          <a:stretch>
            <a:fillRect/>
          </a:stretch>
        </p:blipFill>
        <p:spPr>
          <a:xfrm>
            <a:off x="685800" y="1792224"/>
            <a:ext cx="365760" cy="365760"/>
          </a:xfrm>
          <a:prstGeom prst="rect">
            <a:avLst/>
          </a:prstGeom>
        </p:spPr>
      </p:pic>
      <p:sp>
        <p:nvSpPr>
          <p:cNvPr id="9" name="Text 6"/>
          <p:cNvSpPr/>
          <p:nvPr/>
        </p:nvSpPr>
        <p:spPr>
          <a:xfrm>
            <a:off x="114300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WE'VE BEEN</a:t>
            </a:r>
            <a:endParaRPr lang="en-US" sz="1400" dirty="0"/>
          </a:p>
        </p:txBody>
      </p:sp>
      <p:sp>
        <p:nvSpPr>
          <p:cNvPr id="10" name="Shape 7"/>
          <p:cNvSpPr/>
          <p:nvPr/>
        </p:nvSpPr>
        <p:spPr>
          <a:xfrm>
            <a:off x="685800" y="2340864"/>
            <a:ext cx="2926080" cy="640080"/>
          </a:xfrm>
          <a:prstGeom prst="roundRect">
            <a:avLst>
              <a:gd name="adj" fmla="val 10000"/>
            </a:avLst>
          </a:prstGeom>
          <a:solidFill>
            <a:srgbClr val="FFFFFF"/>
          </a:solidFill>
          <a:ln w="12700">
            <a:solidFill>
              <a:srgbClr val="D9E2EE"/>
            </a:solidFill>
            <a:prstDash val="solid"/>
          </a:ln>
        </p:spPr>
      </p:sp>
      <p:sp>
        <p:nvSpPr>
          <p:cNvPr id="11" name="Text 8"/>
          <p:cNvSpPr/>
          <p:nvPr/>
        </p:nvSpPr>
        <p:spPr>
          <a:xfrm>
            <a:off x="822960" y="2340864"/>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mystery and adventure stories</a:t>
            </a:r>
            <a:endParaRPr lang="en-US" sz="1400" dirty="0"/>
          </a:p>
        </p:txBody>
      </p:sp>
      <p:sp>
        <p:nvSpPr>
          <p:cNvPr id="12" name="Shape 9"/>
          <p:cNvSpPr/>
          <p:nvPr/>
        </p:nvSpPr>
        <p:spPr>
          <a:xfrm>
            <a:off x="685800" y="3127248"/>
            <a:ext cx="2926080" cy="640080"/>
          </a:xfrm>
          <a:prstGeom prst="roundRect">
            <a:avLst>
              <a:gd name="adj" fmla="val 10000"/>
            </a:avLst>
          </a:prstGeom>
          <a:solidFill>
            <a:srgbClr val="FFFFFF"/>
          </a:solidFill>
          <a:ln w="12700">
            <a:solidFill>
              <a:srgbClr val="D9E2EE"/>
            </a:solidFill>
            <a:prstDash val="solid"/>
          </a:ln>
        </p:spPr>
      </p:sp>
      <p:sp>
        <p:nvSpPr>
          <p:cNvPr id="13" name="Text 10"/>
          <p:cNvSpPr/>
          <p:nvPr/>
        </p:nvSpPr>
        <p:spPr>
          <a:xfrm>
            <a:off x="822960" y="3127248"/>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HT2: The Odyssey — how a hero is built</a:t>
            </a:r>
            <a:endParaRPr lang="en-US" sz="1400" dirty="0"/>
          </a:p>
        </p:txBody>
      </p:sp>
      <p:sp>
        <p:nvSpPr>
          <p:cNvPr id="14" name="Shape 11"/>
          <p:cNvSpPr/>
          <p:nvPr/>
        </p:nvSpPr>
        <p:spPr>
          <a:xfrm>
            <a:off x="685800" y="3913632"/>
            <a:ext cx="2926080" cy="640080"/>
          </a:xfrm>
          <a:prstGeom prst="roundRect">
            <a:avLst>
              <a:gd name="adj" fmla="val 10000"/>
            </a:avLst>
          </a:prstGeom>
          <a:solidFill>
            <a:srgbClr val="FFFFFF"/>
          </a:solidFill>
          <a:ln w="12700">
            <a:solidFill>
              <a:srgbClr val="D9E2EE"/>
            </a:solidFill>
            <a:prstDash val="solid"/>
          </a:ln>
        </p:spPr>
      </p:sp>
      <p:sp>
        <p:nvSpPr>
          <p:cNvPr id="15" name="Text 12"/>
          <p:cNvSpPr/>
          <p:nvPr/>
        </p:nvSpPr>
        <p:spPr>
          <a:xfrm>
            <a:off x="822960" y="3913632"/>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HT3: British Poetry — how a poem makes you feel</a:t>
            </a:r>
            <a:endParaRPr lang="en-US" sz="1400" dirty="0"/>
          </a:p>
        </p:txBody>
      </p:sp>
      <p:sp>
        <p:nvSpPr>
          <p:cNvPr id="16" name="Shape 13"/>
          <p:cNvSpPr/>
          <p:nvPr/>
        </p:nvSpPr>
        <p:spPr>
          <a:xfrm>
            <a:off x="685800" y="4700016"/>
            <a:ext cx="2926080" cy="640080"/>
          </a:xfrm>
          <a:prstGeom prst="roundRect">
            <a:avLst>
              <a:gd name="adj" fmla="val 10000"/>
            </a:avLst>
          </a:prstGeom>
          <a:solidFill>
            <a:srgbClr val="FFFFFF"/>
          </a:solidFill>
          <a:ln w="12700">
            <a:solidFill>
              <a:srgbClr val="D9E2EE"/>
            </a:solidFill>
            <a:prstDash val="solid"/>
          </a:ln>
        </p:spPr>
      </p:sp>
      <p:sp>
        <p:nvSpPr>
          <p:cNvPr id="17" name="Text 14"/>
          <p:cNvSpPr/>
          <p:nvPr/>
        </p:nvSpPr>
        <p:spPr>
          <a:xfrm>
            <a:off x="822960" y="4700016"/>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L1: the conventions of crime fiction</a:t>
            </a:r>
            <a:endParaRPr lang="en-US" sz="1400" dirty="0"/>
          </a:p>
        </p:txBody>
      </p:sp>
      <p:sp>
        <p:nvSpPr>
          <p:cNvPr id="18" name="Text 15"/>
          <p:cNvSpPr/>
          <p:nvPr/>
        </p:nvSpPr>
        <p:spPr>
          <a:xfrm>
            <a:off x="4114800" y="1737360"/>
            <a:ext cx="3931920" cy="365760"/>
          </a:xfrm>
          <a:prstGeom prst="rect">
            <a:avLst/>
          </a:prstGeom>
          <a:noFill/>
          <a:ln/>
        </p:spPr>
        <p:txBody>
          <a:bodyPr wrap="square" lIns="0" tIns="0" rIns="0" bIns="0" rtlCol="0" anchor="ctr"/>
          <a:lstStyle/>
          <a:p>
            <a:pPr indent="0" marL="0">
              <a:buNone/>
            </a:pPr>
            <a:r>
              <a:rPr lang="en-US" sz="1400" b="1" dirty="0">
                <a:solidFill>
                  <a:srgbClr val="80ADC4"/>
                </a:solidFill>
                <a:latin typeface="Arial" pitchFamily="34" charset="0"/>
                <a:ea typeface="Arial" pitchFamily="34" charset="-122"/>
                <a:cs typeface="Arial" pitchFamily="34" charset="-120"/>
              </a:rPr>
              <a:t>THIS UNIT, LESSON BY LESSON</a:t>
            </a:r>
            <a:endParaRPr lang="en-US" sz="1400" dirty="0"/>
          </a:p>
        </p:txBody>
      </p:sp>
      <p:sp>
        <p:nvSpPr>
          <p:cNvPr id="19" name="Shape 16"/>
          <p:cNvSpPr/>
          <p:nvPr/>
        </p:nvSpPr>
        <p:spPr>
          <a:xfrm>
            <a:off x="4114800" y="2194560"/>
            <a:ext cx="3931920" cy="420624"/>
          </a:xfrm>
          <a:prstGeom prst="roundRect">
            <a:avLst>
              <a:gd name="adj" fmla="val 26087"/>
            </a:avLst>
          </a:prstGeom>
          <a:solidFill>
            <a:srgbClr val="FFFFFF"/>
          </a:solidFill>
          <a:ln w="12700">
            <a:solidFill>
              <a:srgbClr val="D9E2EE"/>
            </a:solidFill>
            <a:prstDash val="solid"/>
          </a:ln>
        </p:spPr>
      </p:sp>
      <p:sp>
        <p:nvSpPr>
          <p:cNvPr id="20" name="Text 17"/>
          <p:cNvSpPr/>
          <p:nvPr/>
        </p:nvSpPr>
        <p:spPr>
          <a:xfrm>
            <a:off x="4242816" y="224942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1</a:t>
            </a:r>
            <a:endParaRPr lang="en-US" sz="1100" dirty="0"/>
          </a:p>
        </p:txBody>
      </p:sp>
      <p:sp>
        <p:nvSpPr>
          <p:cNvPr id="21" name="Text 18"/>
          <p:cNvSpPr/>
          <p:nvPr/>
        </p:nvSpPr>
        <p:spPr>
          <a:xfrm>
            <a:off x="4736592" y="219456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What is crime fiction?</a:t>
            </a:r>
            <a:endParaRPr lang="en-US" sz="1400" dirty="0"/>
          </a:p>
        </p:txBody>
      </p:sp>
      <p:sp>
        <p:nvSpPr>
          <p:cNvPr id="22" name="Shape 19"/>
          <p:cNvSpPr/>
          <p:nvPr/>
        </p:nvSpPr>
        <p:spPr>
          <a:xfrm>
            <a:off x="4114800" y="2761488"/>
            <a:ext cx="3931920" cy="420624"/>
          </a:xfrm>
          <a:prstGeom prst="roundRect">
            <a:avLst>
              <a:gd name="adj" fmla="val 26087"/>
            </a:avLst>
          </a:prstGeom>
          <a:solidFill>
            <a:srgbClr val="12294D"/>
          </a:solidFill>
          <a:ln w="12700">
            <a:solidFill>
              <a:srgbClr val="12294D"/>
            </a:solidFill>
            <a:prstDash val="solid"/>
          </a:ln>
        </p:spPr>
      </p:sp>
      <p:sp>
        <p:nvSpPr>
          <p:cNvPr id="23" name="Text 20"/>
          <p:cNvSpPr/>
          <p:nvPr/>
        </p:nvSpPr>
        <p:spPr>
          <a:xfrm>
            <a:off x="4242816" y="2816352"/>
            <a:ext cx="310896" cy="310896"/>
          </a:xfrm>
          <a:prstGeom prst="ellipse">
            <a:avLst/>
          </a:prstGeom>
          <a:solidFill>
            <a:srgbClr val="FFC93C"/>
          </a:solidFill>
          <a:ln>
            <a:solidFill>
              <a:srgbClr val="FFC93C"/>
            </a:solidFill>
          </a:ln>
        </p:spPr>
        <p:txBody>
          <a:bodyPr wrap="square" lIns="0" tIns="0" rIns="0" bIns="0" rtlCol="0" anchor="ctr"/>
          <a:lstStyle/>
          <a:p>
            <a:pPr algn="ctr" indent="0" marL="0">
              <a:buNone/>
            </a:pPr>
            <a:r>
              <a:rPr lang="en-US" sz="1100" b="1" dirty="0">
                <a:solidFill>
                  <a:srgbClr val="12294D"/>
                </a:solidFill>
                <a:latin typeface="Arial" pitchFamily="34" charset="0"/>
                <a:ea typeface="Arial" pitchFamily="34" charset="-122"/>
                <a:cs typeface="Arial" pitchFamily="34" charset="-120"/>
              </a:rPr>
              <a:t>2</a:t>
            </a:r>
            <a:endParaRPr lang="en-US" sz="1100" dirty="0"/>
          </a:p>
        </p:txBody>
      </p:sp>
      <p:sp>
        <p:nvSpPr>
          <p:cNvPr id="24" name="Text 21"/>
          <p:cNvSpPr/>
          <p:nvPr/>
        </p:nvSpPr>
        <p:spPr>
          <a:xfrm>
            <a:off x="4736592" y="2761488"/>
            <a:ext cx="3200400" cy="420624"/>
          </a:xfrm>
          <a:prstGeom prst="rect">
            <a:avLst/>
          </a:prstGeom>
          <a:noFill/>
          <a:ln/>
        </p:spPr>
        <p:txBody>
          <a:bodyPr wrap="square" lIns="12700" tIns="45720" rIns="45720" bIns="1270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The League: plot and character</a:t>
            </a:r>
            <a:endParaRPr lang="en-US" sz="1400" dirty="0"/>
          </a:p>
        </p:txBody>
      </p:sp>
      <p:sp>
        <p:nvSpPr>
          <p:cNvPr id="25" name="Shape 22"/>
          <p:cNvSpPr/>
          <p:nvPr/>
        </p:nvSpPr>
        <p:spPr>
          <a:xfrm>
            <a:off x="4114800" y="3328416"/>
            <a:ext cx="3931920" cy="420624"/>
          </a:xfrm>
          <a:prstGeom prst="roundRect">
            <a:avLst>
              <a:gd name="adj" fmla="val 26087"/>
            </a:avLst>
          </a:prstGeom>
          <a:solidFill>
            <a:srgbClr val="FFFFFF"/>
          </a:solidFill>
          <a:ln w="12700">
            <a:solidFill>
              <a:srgbClr val="D9E2EE"/>
            </a:solidFill>
            <a:prstDash val="solid"/>
          </a:ln>
        </p:spPr>
      </p:sp>
      <p:sp>
        <p:nvSpPr>
          <p:cNvPr id="26" name="Text 23"/>
          <p:cNvSpPr/>
          <p:nvPr/>
        </p:nvSpPr>
        <p:spPr>
          <a:xfrm>
            <a:off x="4242816" y="3383280"/>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3</a:t>
            </a:r>
            <a:endParaRPr lang="en-US" sz="1100" dirty="0"/>
          </a:p>
        </p:txBody>
      </p:sp>
      <p:sp>
        <p:nvSpPr>
          <p:cNvPr id="27" name="Text 24"/>
          <p:cNvSpPr/>
          <p:nvPr/>
        </p:nvSpPr>
        <p:spPr>
          <a:xfrm>
            <a:off x="4736592" y="3328416"/>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Analysing Victorian language</a:t>
            </a:r>
            <a:endParaRPr lang="en-US" sz="1400" dirty="0"/>
          </a:p>
        </p:txBody>
      </p:sp>
      <p:sp>
        <p:nvSpPr>
          <p:cNvPr id="28" name="Shape 25"/>
          <p:cNvSpPr/>
          <p:nvPr/>
        </p:nvSpPr>
        <p:spPr>
          <a:xfrm>
            <a:off x="4114800" y="3895344"/>
            <a:ext cx="3931920" cy="420624"/>
          </a:xfrm>
          <a:prstGeom prst="roundRect">
            <a:avLst>
              <a:gd name="adj" fmla="val 26087"/>
            </a:avLst>
          </a:prstGeom>
          <a:solidFill>
            <a:srgbClr val="FFFFFF"/>
          </a:solidFill>
          <a:ln w="12700">
            <a:solidFill>
              <a:srgbClr val="D9E2EE"/>
            </a:solidFill>
            <a:prstDash val="solid"/>
          </a:ln>
        </p:spPr>
      </p:sp>
      <p:sp>
        <p:nvSpPr>
          <p:cNvPr id="29" name="Text 26"/>
          <p:cNvSpPr/>
          <p:nvPr/>
        </p:nvSpPr>
        <p:spPr>
          <a:xfrm>
            <a:off x="4242816" y="3950208"/>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4</a:t>
            </a:r>
            <a:endParaRPr lang="en-US" sz="1100" dirty="0"/>
          </a:p>
        </p:txBody>
      </p:sp>
      <p:sp>
        <p:nvSpPr>
          <p:cNvPr id="30" name="Text 27"/>
          <p:cNvSpPr/>
          <p:nvPr/>
        </p:nvSpPr>
        <p:spPr>
          <a:xfrm>
            <a:off x="4736592" y="3895344"/>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Extended writing: tension</a:t>
            </a:r>
            <a:endParaRPr lang="en-US" sz="1400" dirty="0"/>
          </a:p>
        </p:txBody>
      </p:sp>
      <p:sp>
        <p:nvSpPr>
          <p:cNvPr id="31" name="Shape 28"/>
          <p:cNvSpPr/>
          <p:nvPr/>
        </p:nvSpPr>
        <p:spPr>
          <a:xfrm>
            <a:off x="4114800" y="4462272"/>
            <a:ext cx="3931920" cy="420624"/>
          </a:xfrm>
          <a:prstGeom prst="roundRect">
            <a:avLst>
              <a:gd name="adj" fmla="val 26087"/>
            </a:avLst>
          </a:prstGeom>
          <a:solidFill>
            <a:srgbClr val="FFFFFF"/>
          </a:solidFill>
          <a:ln w="12700">
            <a:solidFill>
              <a:srgbClr val="D9E2EE"/>
            </a:solidFill>
            <a:prstDash val="solid"/>
          </a:ln>
        </p:spPr>
      </p:sp>
      <p:sp>
        <p:nvSpPr>
          <p:cNvPr id="32" name="Text 29"/>
          <p:cNvSpPr/>
          <p:nvPr/>
        </p:nvSpPr>
        <p:spPr>
          <a:xfrm>
            <a:off x="4242816" y="4517136"/>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5</a:t>
            </a:r>
            <a:endParaRPr lang="en-US" sz="1100" dirty="0"/>
          </a:p>
        </p:txBody>
      </p:sp>
      <p:sp>
        <p:nvSpPr>
          <p:cNvPr id="33" name="Text 30"/>
          <p:cNvSpPr/>
          <p:nvPr/>
        </p:nvSpPr>
        <p:spPr>
          <a:xfrm>
            <a:off x="4736592" y="4462272"/>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Reading an unseen short story</a:t>
            </a:r>
            <a:endParaRPr lang="en-US" sz="1400" dirty="0"/>
          </a:p>
        </p:txBody>
      </p:sp>
      <p:sp>
        <p:nvSpPr>
          <p:cNvPr id="34" name="Shape 31"/>
          <p:cNvSpPr/>
          <p:nvPr/>
        </p:nvSpPr>
        <p:spPr>
          <a:xfrm>
            <a:off x="8321040" y="1600200"/>
            <a:ext cx="3383280" cy="4617720"/>
          </a:xfrm>
          <a:prstGeom prst="roundRect">
            <a:avLst>
              <a:gd name="adj" fmla="val 2162"/>
            </a:avLst>
          </a:prstGeom>
          <a:solidFill>
            <a:srgbClr val="F4F6FA"/>
          </a:solidFill>
          <a:ln w="12700">
            <a:solidFill>
              <a:srgbClr val="F4F6FA"/>
            </a:solidFill>
            <a:prstDash val="solid"/>
          </a:ln>
        </p:spPr>
      </p:sp>
      <p:pic>
        <p:nvPicPr>
          <p:cNvPr id="35" name="Image 1" descr="/home/claude/english/kit/decks/_icons/flag-12294D.png">    </p:cNvPr>
          <p:cNvPicPr>
            <a:picLocks noChangeAspect="1"/>
          </p:cNvPicPr>
          <p:nvPr/>
        </p:nvPicPr>
        <p:blipFill>
          <a:blip r:embed="rId2"/>
          <a:stretch>
            <a:fillRect/>
          </a:stretch>
        </p:blipFill>
        <p:spPr>
          <a:xfrm>
            <a:off x="8549640" y="1792224"/>
            <a:ext cx="365760" cy="365760"/>
          </a:xfrm>
          <a:prstGeom prst="rect">
            <a:avLst/>
          </a:prstGeom>
        </p:spPr>
      </p:pic>
      <p:sp>
        <p:nvSpPr>
          <p:cNvPr id="36" name="Text 32"/>
          <p:cNvSpPr/>
          <p:nvPr/>
        </p:nvSpPr>
        <p:spPr>
          <a:xfrm>
            <a:off x="900684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WE'RE GOING</a:t>
            </a:r>
            <a:endParaRPr lang="en-US" sz="1400" dirty="0"/>
          </a:p>
        </p:txBody>
      </p:sp>
      <p:sp>
        <p:nvSpPr>
          <p:cNvPr id="37" name="Shape 33"/>
          <p:cNvSpPr/>
          <p:nvPr/>
        </p:nvSpPr>
        <p:spPr>
          <a:xfrm>
            <a:off x="8549640" y="2340864"/>
            <a:ext cx="2926080" cy="749808"/>
          </a:xfrm>
          <a:prstGeom prst="roundRect">
            <a:avLst>
              <a:gd name="adj" fmla="val 7317"/>
            </a:avLst>
          </a:prstGeom>
          <a:solidFill>
            <a:srgbClr val="FFFFFF"/>
          </a:solidFill>
          <a:ln w="12700">
            <a:solidFill>
              <a:srgbClr val="D9E2EE"/>
            </a:solidFill>
            <a:prstDash val="solid"/>
          </a:ln>
        </p:spPr>
      </p:sp>
      <p:sp>
        <p:nvSpPr>
          <p:cNvPr id="38" name="Text 34"/>
          <p:cNvSpPr/>
          <p:nvPr/>
        </p:nvSpPr>
        <p:spPr>
          <a:xfrm>
            <a:off x="8686800" y="2340864"/>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HT5: Travel writing — making a real place alive</a:t>
            </a:r>
            <a:endParaRPr lang="en-US" sz="1400" dirty="0"/>
          </a:p>
        </p:txBody>
      </p:sp>
      <p:sp>
        <p:nvSpPr>
          <p:cNvPr id="39" name="Shape 35"/>
          <p:cNvSpPr/>
          <p:nvPr/>
        </p:nvSpPr>
        <p:spPr>
          <a:xfrm>
            <a:off x="8549640" y="3236976"/>
            <a:ext cx="2926080" cy="749808"/>
          </a:xfrm>
          <a:prstGeom prst="roundRect">
            <a:avLst>
              <a:gd name="adj" fmla="val 7317"/>
            </a:avLst>
          </a:prstGeom>
          <a:solidFill>
            <a:srgbClr val="FFFFFF"/>
          </a:solidFill>
          <a:ln w="12700">
            <a:solidFill>
              <a:srgbClr val="D9E2EE"/>
            </a:solidFill>
            <a:prstDash val="solid"/>
          </a:ln>
        </p:spPr>
      </p:sp>
      <p:sp>
        <p:nvSpPr>
          <p:cNvPr id="40" name="Text 36"/>
          <p:cNvSpPr/>
          <p:nvPr/>
        </p:nvSpPr>
        <p:spPr>
          <a:xfrm>
            <a:off x="8686800" y="3236976"/>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HT6: Binti — the modern novel</a:t>
            </a:r>
            <a:endParaRPr lang="en-US" sz="1400" dirty="0"/>
          </a:p>
        </p:txBody>
      </p:sp>
      <p:sp>
        <p:nvSpPr>
          <p:cNvPr id="41" name="Shape 37"/>
          <p:cNvSpPr/>
          <p:nvPr/>
        </p:nvSpPr>
        <p:spPr>
          <a:xfrm>
            <a:off x="8549640" y="4133088"/>
            <a:ext cx="2926080" cy="749808"/>
          </a:xfrm>
          <a:prstGeom prst="roundRect">
            <a:avLst>
              <a:gd name="adj" fmla="val 7317"/>
            </a:avLst>
          </a:prstGeom>
          <a:solidFill>
            <a:srgbClr val="FFFFFF"/>
          </a:solidFill>
          <a:ln w="12700">
            <a:solidFill>
              <a:srgbClr val="D9E2EE"/>
            </a:solidFill>
            <a:prstDash val="solid"/>
          </a:ln>
        </p:spPr>
      </p:sp>
      <p:sp>
        <p:nvSpPr>
          <p:cNvPr id="42" name="Text 38"/>
          <p:cNvSpPr/>
          <p:nvPr/>
        </p:nvSpPr>
        <p:spPr>
          <a:xfrm>
            <a:off x="8686800" y="4133088"/>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Year 8: the novel and the short story</a:t>
            </a:r>
            <a:endParaRPr lang="en-US" sz="1400" dirty="0"/>
          </a:p>
        </p:txBody>
      </p:sp>
      <p:sp>
        <p:nvSpPr>
          <p:cNvPr id="43" name="Shape 39"/>
          <p:cNvSpPr/>
          <p:nvPr/>
        </p:nvSpPr>
        <p:spPr>
          <a:xfrm>
            <a:off x="8549640" y="5120640"/>
            <a:ext cx="2926080" cy="960120"/>
          </a:xfrm>
          <a:prstGeom prst="roundRect">
            <a:avLst>
              <a:gd name="adj" fmla="val 5714"/>
            </a:avLst>
          </a:prstGeom>
          <a:solidFill>
            <a:srgbClr val="12294D"/>
          </a:solidFill>
          <a:ln w="12700">
            <a:solidFill>
              <a:srgbClr val="12294D"/>
            </a:solidFill>
            <a:prstDash val="solid"/>
          </a:ln>
        </p:spPr>
      </p:sp>
      <p:sp>
        <p:nvSpPr>
          <p:cNvPr id="44" name="Text 40"/>
          <p:cNvSpPr/>
          <p:nvPr/>
        </p:nvSpPr>
        <p:spPr>
          <a:xfrm>
            <a:off x="8732520" y="5120640"/>
            <a:ext cx="2606040" cy="960120"/>
          </a:xfrm>
          <a:prstGeom prst="rect">
            <a:avLst/>
          </a:prstGeom>
          <a:noFill/>
          <a:ln/>
        </p:spPr>
        <p:txBody>
          <a:bodyPr wrap="square" lIns="45720" tIns="91440" rIns="91440" bIns="4572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Every lesson answers one BIG QUESTION. Every question builds the next.</a:t>
            </a:r>
            <a:endParaRPr lang="en-US" sz="1400" dirty="0"/>
          </a:p>
        </p:txBody>
      </p:sp>
      <p:sp>
        <p:nvSpPr>
          <p:cNvPr id="45" name="Text 41"/>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9AA6B5"/>
                </a:solidFill>
                <a:latin typeface="Arial" pitchFamily="34" charset="0"/>
                <a:ea typeface="Arial" pitchFamily="34" charset="-122"/>
                <a:cs typeface="Arial" pitchFamily="34" charset="-120"/>
              </a:rPr>
              <a:t>Harlington School  ·  The Red-Headed League  ·  The League: plot and character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02920"/>
            <a:ext cx="10972800" cy="365760"/>
          </a:xfrm>
          <a:prstGeom prst="rect">
            <a:avLst/>
          </a:prstGeom>
          <a:noFill/>
          <a:ln/>
        </p:spPr>
        <p:txBody>
          <a:bodyPr wrap="square" lIns="0" tIns="0" rIns="0" bIns="0" rtlCol="0" anchor="ctr"/>
          <a:lstStyle/>
          <a:p>
            <a:pPr indent="0" marL="0">
              <a:buNone/>
            </a:pPr>
            <a:r>
              <a:rPr lang="en-US" sz="1400" b="1" dirty="0">
                <a:solidFill>
                  <a:srgbClr val="FFC93C"/>
                </a:solidFill>
                <a:latin typeface="Arial" pitchFamily="34" charset="0"/>
                <a:ea typeface="Arial" pitchFamily="34" charset="-122"/>
                <a:cs typeface="Arial" pitchFamily="34" charset="-120"/>
              </a:rPr>
              <a:t>LESSON 2 · THE LEAGUE: PLOT AND CHARACTER</a:t>
            </a:r>
            <a:endParaRPr lang="en-US" sz="1400" dirty="0"/>
          </a:p>
        </p:txBody>
      </p:sp>
      <p:sp>
        <p:nvSpPr>
          <p:cNvPr id="3" name="Text 1"/>
          <p:cNvSpPr/>
          <p:nvPr/>
        </p:nvSpPr>
        <p:spPr>
          <a:xfrm>
            <a:off x="548640" y="100584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Today you will…</a:t>
            </a:r>
            <a:endParaRPr lang="en-US" sz="3800" dirty="0"/>
          </a:p>
        </p:txBody>
      </p:sp>
      <p:sp>
        <p:nvSpPr>
          <p:cNvPr id="4" name="Text 2"/>
          <p:cNvSpPr/>
          <p:nvPr/>
        </p:nvSpPr>
        <p:spPr>
          <a:xfrm>
            <a:off x="548640" y="1874520"/>
            <a:ext cx="10607040" cy="457200"/>
          </a:xfrm>
          <a:prstGeom prst="rect">
            <a:avLst/>
          </a:prstGeom>
          <a:noFill/>
          <a:ln/>
        </p:spPr>
        <p:txBody>
          <a:bodyPr wrap="square" lIns="0" tIns="0" rIns="0" bIns="0" rtlCol="0" anchor="ctr"/>
          <a:lstStyle/>
          <a:p>
            <a:pPr algn="l" indent="0" marL="0">
              <a:buNone/>
            </a:pPr>
            <a:r>
              <a:rPr lang="en-US" sz="1600" i="1" dirty="0">
                <a:solidFill>
                  <a:srgbClr val="8FA6C4"/>
                </a:solidFill>
                <a:latin typeface="Arial" pitchFamily="34" charset="0"/>
                <a:ea typeface="Arial" pitchFamily="34" charset="-122"/>
                <a:cs typeface="Arial" pitchFamily="34" charset="-120"/>
              </a:rPr>
              <a:t>Our aims climb Bloom's taxonomy — and you will see which step every task is on, all lesson.</a:t>
            </a:r>
            <a:endParaRPr lang="en-US" sz="1600" dirty="0"/>
          </a:p>
        </p:txBody>
      </p:sp>
      <p:sp>
        <p:nvSpPr>
          <p:cNvPr id="5" name="Text 3"/>
          <p:cNvSpPr/>
          <p:nvPr/>
        </p:nvSpPr>
        <p:spPr>
          <a:xfrm>
            <a:off x="548640" y="2606040"/>
            <a:ext cx="2377440" cy="868680"/>
          </a:xfrm>
          <a:prstGeom prst="roundRect">
            <a:avLst>
              <a:gd name="adj" fmla="val 10526"/>
            </a:avLst>
          </a:prstGeom>
          <a:solidFill>
            <a:srgbClr val="00A08A"/>
          </a:solidFill>
          <a:ln>
            <a:solidFill>
              <a:srgbClr val="00A08A"/>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UNDERSTAND</a:t>
            </a:r>
            <a:endParaRPr lang="en-US" sz="1800" dirty="0"/>
          </a:p>
        </p:txBody>
      </p:sp>
      <p:sp>
        <p:nvSpPr>
          <p:cNvPr id="6" name="Shape 4"/>
          <p:cNvSpPr/>
          <p:nvPr/>
        </p:nvSpPr>
        <p:spPr>
          <a:xfrm>
            <a:off x="3108960" y="2606040"/>
            <a:ext cx="8503920" cy="868680"/>
          </a:xfrm>
          <a:prstGeom prst="roundRect">
            <a:avLst>
              <a:gd name="adj" fmla="val 7368"/>
            </a:avLst>
          </a:prstGeom>
          <a:solidFill>
            <a:srgbClr val="1B315C"/>
          </a:solidFill>
          <a:ln w="19050">
            <a:solidFill>
              <a:srgbClr val="00A08A"/>
            </a:solidFill>
            <a:prstDash val="solid"/>
          </a:ln>
        </p:spPr>
      </p:sp>
      <p:sp>
        <p:nvSpPr>
          <p:cNvPr id="7" name="Text 5"/>
          <p:cNvSpPr/>
          <p:nvPr/>
        </p:nvSpPr>
        <p:spPr>
          <a:xfrm>
            <a:off x="3337560" y="2606040"/>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Retell the plot of The Red-Headed League in order and name what each main character wants.</a:t>
            </a:r>
            <a:endParaRPr lang="en-US" sz="1800" dirty="0"/>
          </a:p>
        </p:txBody>
      </p:sp>
      <p:sp>
        <p:nvSpPr>
          <p:cNvPr id="8" name="Text 6"/>
          <p:cNvSpPr/>
          <p:nvPr/>
        </p:nvSpPr>
        <p:spPr>
          <a:xfrm>
            <a:off x="548640" y="3621024"/>
            <a:ext cx="2377440" cy="868680"/>
          </a:xfrm>
          <a:prstGeom prst="roundRect">
            <a:avLst>
              <a:gd name="adj" fmla="val 10526"/>
            </a:avLst>
          </a:prstGeom>
          <a:solidFill>
            <a:srgbClr val="6C3A6E"/>
          </a:solidFill>
          <a:ln>
            <a:solidFill>
              <a:srgbClr val="6C3A6E"/>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ANALYSE</a:t>
            </a:r>
            <a:endParaRPr lang="en-US" sz="1800" dirty="0"/>
          </a:p>
        </p:txBody>
      </p:sp>
      <p:sp>
        <p:nvSpPr>
          <p:cNvPr id="9" name="Shape 7"/>
          <p:cNvSpPr/>
          <p:nvPr/>
        </p:nvSpPr>
        <p:spPr>
          <a:xfrm>
            <a:off x="3108960" y="3621024"/>
            <a:ext cx="8503920" cy="868680"/>
          </a:xfrm>
          <a:prstGeom prst="roundRect">
            <a:avLst>
              <a:gd name="adj" fmla="val 7368"/>
            </a:avLst>
          </a:prstGeom>
          <a:solidFill>
            <a:srgbClr val="1B315C"/>
          </a:solidFill>
          <a:ln w="19050">
            <a:solidFill>
              <a:srgbClr val="6C3A6E"/>
            </a:solidFill>
            <a:prstDash val="solid"/>
          </a:ln>
        </p:spPr>
      </p:sp>
      <p:sp>
        <p:nvSpPr>
          <p:cNvPr id="10" name="Text 8"/>
          <p:cNvSpPr/>
          <p:nvPr/>
        </p:nvSpPr>
        <p:spPr>
          <a:xfrm>
            <a:off x="3337560" y="3621024"/>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Explain how the writer uses a narrator and a suspect in disguise to keep the reader guessing.</a:t>
            </a:r>
            <a:endParaRPr lang="en-US" sz="1800" dirty="0"/>
          </a:p>
        </p:txBody>
      </p:sp>
      <p:sp>
        <p:nvSpPr>
          <p:cNvPr id="11" name="Text 9"/>
          <p:cNvSpPr/>
          <p:nvPr/>
        </p:nvSpPr>
        <p:spPr>
          <a:xfrm>
            <a:off x="548640" y="4636008"/>
            <a:ext cx="2377440" cy="868680"/>
          </a:xfrm>
          <a:prstGeom prst="roundRect">
            <a:avLst>
              <a:gd name="adj" fmla="val 10526"/>
            </a:avLst>
          </a:prstGeom>
          <a:solidFill>
            <a:srgbClr val="D0021B"/>
          </a:solidFill>
          <a:ln>
            <a:solidFill>
              <a:srgbClr val="D0021B"/>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EVALUATE</a:t>
            </a:r>
            <a:endParaRPr lang="en-US" sz="1800" dirty="0"/>
          </a:p>
        </p:txBody>
      </p:sp>
      <p:sp>
        <p:nvSpPr>
          <p:cNvPr id="12" name="Shape 10"/>
          <p:cNvSpPr/>
          <p:nvPr/>
        </p:nvSpPr>
        <p:spPr>
          <a:xfrm>
            <a:off x="3108960" y="4636008"/>
            <a:ext cx="8503920" cy="868680"/>
          </a:xfrm>
          <a:prstGeom prst="roundRect">
            <a:avLst>
              <a:gd name="adj" fmla="val 7368"/>
            </a:avLst>
          </a:prstGeom>
          <a:solidFill>
            <a:srgbClr val="1B315C"/>
          </a:solidFill>
          <a:ln w="19050">
            <a:solidFill>
              <a:srgbClr val="D0021B"/>
            </a:solidFill>
            <a:prstDash val="solid"/>
          </a:ln>
        </p:spPr>
      </p:sp>
      <p:sp>
        <p:nvSpPr>
          <p:cNvPr id="13" name="Text 11"/>
          <p:cNvSpPr/>
          <p:nvPr/>
        </p:nvSpPr>
        <p:spPr>
          <a:xfrm>
            <a:off x="3337560" y="4636008"/>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Judge which character trait of Holmes matters most to solving the case — with evidence.</a:t>
            </a:r>
            <a:endParaRPr lang="en-US" sz="1800" dirty="0"/>
          </a:p>
        </p:txBody>
      </p:sp>
      <p:sp>
        <p:nvSpPr>
          <p:cNvPr id="14" name="Text 12"/>
          <p:cNvSpPr/>
          <p:nvPr/>
        </p:nvSpPr>
        <p:spPr>
          <a:xfrm>
            <a:off x="548640" y="5943600"/>
            <a:ext cx="10972800" cy="457200"/>
          </a:xfrm>
          <a:prstGeom prst="rect">
            <a:avLst/>
          </a:prstGeom>
          <a:noFill/>
          <a:ln/>
        </p:spPr>
        <p:txBody>
          <a:bodyPr wrap="square" lIns="0" tIns="0" rIns="0" bIns="0" rtlCol="0" anchor="ctr"/>
          <a:lstStyle/>
          <a:p>
            <a:pPr algn="l" indent="0" marL="0">
              <a:buNone/>
            </a:pPr>
            <a:r>
              <a:rPr lang="en-US" sz="1500" b="1" i="1" dirty="0">
                <a:solidFill>
                  <a:srgbClr val="FFC93C"/>
                </a:solidFill>
                <a:latin typeface="Arial" pitchFamily="34" charset="0"/>
                <a:ea typeface="Arial" pitchFamily="34" charset="-122"/>
                <a:cs typeface="Arial" pitchFamily="34" charset="-120"/>
              </a:rPr>
              <a:t>Success = a full answer to the Big Question by the end. Everything today builds to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check-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Bell work — mark it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Mark honestly. Under 3? Re-read tonight.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The League: plot and character</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ANSWERS</a:t>
            </a:r>
            <a:endParaRPr lang="en-US" sz="900" dirty="0"/>
          </a:p>
        </p:txBody>
      </p:sp>
      <p:sp>
        <p:nvSpPr>
          <p:cNvPr id="14" name="Shape 11"/>
          <p:cNvSpPr/>
          <p:nvPr/>
        </p:nvSpPr>
        <p:spPr>
          <a:xfrm>
            <a:off x="548640" y="1737360"/>
            <a:ext cx="11064240" cy="749808"/>
          </a:xfrm>
          <a:prstGeom prst="roundRect">
            <a:avLst>
              <a:gd name="adj" fmla="val 8537"/>
            </a:avLst>
          </a:prstGeom>
          <a:solidFill>
            <a:srgbClr val="FEF7E4"/>
          </a:solidFill>
          <a:ln w="12700">
            <a:solidFill>
              <a:srgbClr val="E5D9B0"/>
            </a:solidFill>
            <a:prstDash val="solid"/>
          </a:ln>
        </p:spPr>
      </p:sp>
      <p:sp>
        <p:nvSpPr>
          <p:cNvPr id="15" name="Text 12"/>
          <p:cNvSpPr/>
          <p:nvPr/>
        </p:nvSpPr>
        <p:spPr>
          <a:xfrm>
            <a:off x="731520" y="1764792"/>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1.  Name the four conventions of crime fiction.</a:t>
            </a:r>
            <a:endParaRPr lang="en-US" sz="1800" dirty="0"/>
          </a:p>
        </p:txBody>
      </p:sp>
      <p:sp>
        <p:nvSpPr>
          <p:cNvPr id="16" name="Text 13"/>
          <p:cNvSpPr/>
          <p:nvPr/>
        </p:nvSpPr>
        <p:spPr>
          <a:xfrm>
            <a:off x="6309360" y="1764792"/>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puzzle, a detective, clues and suspects, the reveal.</a:t>
            </a:r>
            <a:endParaRPr lang="en-US" sz="1800" dirty="0"/>
          </a:p>
        </p:txBody>
      </p:sp>
      <p:sp>
        <p:nvSpPr>
          <p:cNvPr id="17" name="Shape 14"/>
          <p:cNvSpPr/>
          <p:nvPr/>
        </p:nvSpPr>
        <p:spPr>
          <a:xfrm>
            <a:off x="548640" y="2633472"/>
            <a:ext cx="11064240" cy="749808"/>
          </a:xfrm>
          <a:prstGeom prst="roundRect">
            <a:avLst>
              <a:gd name="adj" fmla="val 8537"/>
            </a:avLst>
          </a:prstGeom>
          <a:solidFill>
            <a:srgbClr val="FFFFFF"/>
          </a:solidFill>
          <a:ln w="12700">
            <a:solidFill>
              <a:srgbClr val="E5D9B0"/>
            </a:solidFill>
            <a:prstDash val="solid"/>
          </a:ln>
        </p:spPr>
      </p:sp>
      <p:sp>
        <p:nvSpPr>
          <p:cNvPr id="18" name="Text 15"/>
          <p:cNvSpPr/>
          <p:nvPr/>
        </p:nvSpPr>
        <p:spPr>
          <a:xfrm>
            <a:off x="731520" y="2660904"/>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2.  Who narrates the Sherlock Holmes stories?</a:t>
            </a:r>
            <a:endParaRPr lang="en-US" sz="1800" dirty="0"/>
          </a:p>
        </p:txBody>
      </p:sp>
      <p:sp>
        <p:nvSpPr>
          <p:cNvPr id="19" name="Text 16"/>
          <p:cNvSpPr/>
          <p:nvPr/>
        </p:nvSpPr>
        <p:spPr>
          <a:xfrm>
            <a:off x="6309360" y="2660904"/>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Dr Watson — Holmes's friend, who watches and writes the cases down.</a:t>
            </a:r>
            <a:endParaRPr lang="en-US" sz="1800" dirty="0"/>
          </a:p>
        </p:txBody>
      </p:sp>
      <p:sp>
        <p:nvSpPr>
          <p:cNvPr id="20" name="Shape 17"/>
          <p:cNvSpPr/>
          <p:nvPr/>
        </p:nvSpPr>
        <p:spPr>
          <a:xfrm>
            <a:off x="548640" y="3529584"/>
            <a:ext cx="11064240" cy="749808"/>
          </a:xfrm>
          <a:prstGeom prst="roundRect">
            <a:avLst>
              <a:gd name="adj" fmla="val 8537"/>
            </a:avLst>
          </a:prstGeom>
          <a:solidFill>
            <a:srgbClr val="FEF7E4"/>
          </a:solidFill>
          <a:ln w="12700">
            <a:solidFill>
              <a:srgbClr val="E5D9B0"/>
            </a:solidFill>
            <a:prstDash val="solid"/>
          </a:ln>
        </p:spPr>
      </p:sp>
      <p:sp>
        <p:nvSpPr>
          <p:cNvPr id="21" name="Text 18"/>
          <p:cNvSpPr/>
          <p:nvPr/>
        </p:nvSpPr>
        <p:spPr>
          <a:xfrm>
            <a:off x="731520" y="3557016"/>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3.  What is a clue? Give one example from any story.</a:t>
            </a:r>
            <a:endParaRPr lang="en-US" sz="1800" dirty="0"/>
          </a:p>
        </p:txBody>
      </p:sp>
      <p:sp>
        <p:nvSpPr>
          <p:cNvPr id="22" name="Text 19"/>
          <p:cNvSpPr/>
          <p:nvPr/>
        </p:nvSpPr>
        <p:spPr>
          <a:xfrm>
            <a:off x="6309360" y="3557016"/>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small fact that helps solve the mystery — e.g. the dirty knees of a man who has been digging.</a:t>
            </a:r>
            <a:endParaRPr lang="en-US" sz="1800" dirty="0"/>
          </a:p>
        </p:txBody>
      </p:sp>
      <p:sp>
        <p:nvSpPr>
          <p:cNvPr id="23" name="Shape 20"/>
          <p:cNvSpPr/>
          <p:nvPr/>
        </p:nvSpPr>
        <p:spPr>
          <a:xfrm>
            <a:off x="548640" y="4425696"/>
            <a:ext cx="11064240" cy="749808"/>
          </a:xfrm>
          <a:prstGeom prst="roundRect">
            <a:avLst>
              <a:gd name="adj" fmla="val 8537"/>
            </a:avLst>
          </a:prstGeom>
          <a:solidFill>
            <a:srgbClr val="FFFFFF"/>
          </a:solidFill>
          <a:ln w="12700">
            <a:solidFill>
              <a:srgbClr val="E5D9B0"/>
            </a:solidFill>
            <a:prstDash val="solid"/>
          </a:ln>
        </p:spPr>
      </p:sp>
      <p:sp>
        <p:nvSpPr>
          <p:cNvPr id="24" name="Text 21"/>
          <p:cNvSpPr/>
          <p:nvPr/>
        </p:nvSpPr>
        <p:spPr>
          <a:xfrm>
            <a:off x="731520" y="4453128"/>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4.  In which years did Queen Victoria reign?</a:t>
            </a:r>
            <a:endParaRPr lang="en-US" sz="1800" dirty="0"/>
          </a:p>
        </p:txBody>
      </p:sp>
      <p:sp>
        <p:nvSpPr>
          <p:cNvPr id="25" name="Text 22"/>
          <p:cNvSpPr/>
          <p:nvPr/>
        </p:nvSpPr>
        <p:spPr>
          <a:xfrm>
            <a:off x="6309360" y="4453128"/>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1837 to 1901.</a:t>
            </a:r>
            <a:endParaRPr lang="en-US" sz="1800" dirty="0"/>
          </a:p>
        </p:txBody>
      </p:sp>
      <p:sp>
        <p:nvSpPr>
          <p:cNvPr id="26" name="Shape 23"/>
          <p:cNvSpPr/>
          <p:nvPr/>
        </p:nvSpPr>
        <p:spPr>
          <a:xfrm>
            <a:off x="548640" y="5321808"/>
            <a:ext cx="11064240" cy="749808"/>
          </a:xfrm>
          <a:prstGeom prst="roundRect">
            <a:avLst>
              <a:gd name="adj" fmla="val 8537"/>
            </a:avLst>
          </a:prstGeom>
          <a:solidFill>
            <a:srgbClr val="FEF7E4"/>
          </a:solidFill>
          <a:ln w="12700">
            <a:solidFill>
              <a:srgbClr val="E5D9B0"/>
            </a:solidFill>
            <a:prstDash val="solid"/>
          </a:ln>
        </p:spPr>
      </p:sp>
      <p:sp>
        <p:nvSpPr>
          <p:cNvPr id="27" name="Text 24"/>
          <p:cNvSpPr/>
          <p:nvPr/>
        </p:nvSpPr>
        <p:spPr>
          <a:xfrm>
            <a:off x="731520" y="5349240"/>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5.  Why did Victorian readers enjoy a clever amateur detective?</a:t>
            </a:r>
            <a:endParaRPr lang="en-US" sz="1800" dirty="0"/>
          </a:p>
        </p:txBody>
      </p:sp>
      <p:sp>
        <p:nvSpPr>
          <p:cNvPr id="28" name="Text 25"/>
          <p:cNvSpPr/>
          <p:nvPr/>
        </p:nvSpPr>
        <p:spPr>
          <a:xfrm>
            <a:off x="6309360" y="5349240"/>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police were new and not trusted; a clever outsider who beat them was satisfying.</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key-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Key words — go deeper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just the meaning — the DEEP explanation. Take each key word from meaning to mastery.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The League: plot and character</a:t>
            </a:r>
            <a:endParaRPr lang="en-US" sz="900" dirty="0"/>
          </a:p>
        </p:txBody>
      </p:sp>
      <p:sp>
        <p:nvSpPr>
          <p:cNvPr id="13" name="Shape 10"/>
          <p:cNvSpPr/>
          <p:nvPr/>
        </p:nvSpPr>
        <p:spPr>
          <a:xfrm>
            <a:off x="548640" y="1783080"/>
            <a:ext cx="2651760" cy="914400"/>
          </a:xfrm>
          <a:prstGeom prst="roundRect">
            <a:avLst>
              <a:gd name="adj" fmla="val 8000"/>
            </a:avLst>
          </a:prstGeom>
          <a:solidFill>
            <a:srgbClr val="00A08A"/>
          </a:solidFill>
          <a:ln w="12700">
            <a:solidFill>
              <a:srgbClr val="00A08A"/>
            </a:solidFill>
            <a:prstDash val="solid"/>
          </a:ln>
        </p:spPr>
      </p:sp>
      <p:sp>
        <p:nvSpPr>
          <p:cNvPr id="14" name="Text 11"/>
          <p:cNvSpPr/>
          <p:nvPr/>
        </p:nvSpPr>
        <p:spPr>
          <a:xfrm>
            <a:off x="640080"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 MEAN</a:t>
            </a:r>
            <a:endParaRPr lang="en-US" sz="1600" dirty="0"/>
          </a:p>
        </p:txBody>
      </p:sp>
      <p:sp>
        <p:nvSpPr>
          <p:cNvPr id="15" name="Text 12"/>
          <p:cNvSpPr/>
          <p:nvPr/>
        </p:nvSpPr>
        <p:spPr>
          <a:xfrm>
            <a:off x="658368"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say what it means in your own words</a:t>
            </a:r>
            <a:endParaRPr lang="en-US" sz="1200" dirty="0"/>
          </a:p>
        </p:txBody>
      </p:sp>
      <p:sp>
        <p:nvSpPr>
          <p:cNvPr id="16" name="Shape 13"/>
          <p:cNvSpPr/>
          <p:nvPr/>
        </p:nvSpPr>
        <p:spPr>
          <a:xfrm>
            <a:off x="3346704" y="1783080"/>
            <a:ext cx="2651760" cy="914400"/>
          </a:xfrm>
          <a:prstGeom prst="roundRect">
            <a:avLst>
              <a:gd name="adj" fmla="val 8000"/>
            </a:avLst>
          </a:prstGeom>
          <a:solidFill>
            <a:srgbClr val="80ADC4"/>
          </a:solidFill>
          <a:ln w="12700">
            <a:solidFill>
              <a:srgbClr val="80ADC4"/>
            </a:solidFill>
            <a:prstDash val="solid"/>
          </a:ln>
        </p:spPr>
      </p:sp>
      <p:sp>
        <p:nvSpPr>
          <p:cNvPr id="17" name="Text 14"/>
          <p:cNvSpPr/>
          <p:nvPr/>
        </p:nvSpPr>
        <p:spPr>
          <a:xfrm>
            <a:off x="3438144"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2 USE</a:t>
            </a:r>
            <a:endParaRPr lang="en-US" sz="1600" dirty="0"/>
          </a:p>
        </p:txBody>
      </p:sp>
      <p:sp>
        <p:nvSpPr>
          <p:cNvPr id="18" name="Text 15"/>
          <p:cNvSpPr/>
          <p:nvPr/>
        </p:nvSpPr>
        <p:spPr>
          <a:xfrm>
            <a:off x="3456432"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put it in a sentence of your own</a:t>
            </a:r>
            <a:endParaRPr lang="en-US" sz="1200" dirty="0"/>
          </a:p>
        </p:txBody>
      </p:sp>
      <p:sp>
        <p:nvSpPr>
          <p:cNvPr id="19" name="Shape 16"/>
          <p:cNvSpPr/>
          <p:nvPr/>
        </p:nvSpPr>
        <p:spPr>
          <a:xfrm>
            <a:off x="6144768" y="1783080"/>
            <a:ext cx="2651760" cy="914400"/>
          </a:xfrm>
          <a:prstGeom prst="roundRect">
            <a:avLst>
              <a:gd name="adj" fmla="val 8000"/>
            </a:avLst>
          </a:prstGeom>
          <a:solidFill>
            <a:srgbClr val="6C3A6E"/>
          </a:solidFill>
          <a:ln w="12700">
            <a:solidFill>
              <a:srgbClr val="6C3A6E"/>
            </a:solidFill>
            <a:prstDash val="solid"/>
          </a:ln>
        </p:spPr>
      </p:sp>
      <p:sp>
        <p:nvSpPr>
          <p:cNvPr id="20" name="Text 17"/>
          <p:cNvSpPr/>
          <p:nvPr/>
        </p:nvSpPr>
        <p:spPr>
          <a:xfrm>
            <a:off x="6236208"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3 SPOT</a:t>
            </a:r>
            <a:endParaRPr lang="en-US" sz="1600" dirty="0"/>
          </a:p>
        </p:txBody>
      </p:sp>
      <p:sp>
        <p:nvSpPr>
          <p:cNvPr id="21" name="Text 18"/>
          <p:cNvSpPr/>
          <p:nvPr/>
        </p:nvSpPr>
        <p:spPr>
          <a:xfrm>
            <a:off x="6254496"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find it in today's text</a:t>
            </a:r>
            <a:endParaRPr lang="en-US" sz="1200" dirty="0"/>
          </a:p>
        </p:txBody>
      </p:sp>
      <p:sp>
        <p:nvSpPr>
          <p:cNvPr id="22" name="Shape 19"/>
          <p:cNvSpPr/>
          <p:nvPr/>
        </p:nvSpPr>
        <p:spPr>
          <a:xfrm>
            <a:off x="8942832" y="1783080"/>
            <a:ext cx="2651760" cy="914400"/>
          </a:xfrm>
          <a:prstGeom prst="roundRect">
            <a:avLst>
              <a:gd name="adj" fmla="val 8000"/>
            </a:avLst>
          </a:prstGeom>
          <a:solidFill>
            <a:srgbClr val="D0021B"/>
          </a:solidFill>
          <a:ln w="12700">
            <a:solidFill>
              <a:srgbClr val="D0021B"/>
            </a:solidFill>
            <a:prstDash val="solid"/>
          </a:ln>
        </p:spPr>
      </p:sp>
      <p:sp>
        <p:nvSpPr>
          <p:cNvPr id="23" name="Text 20"/>
          <p:cNvSpPr/>
          <p:nvPr/>
        </p:nvSpPr>
        <p:spPr>
          <a:xfrm>
            <a:off x="9034272"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4 LINK</a:t>
            </a:r>
            <a:endParaRPr lang="en-US" sz="1600" dirty="0"/>
          </a:p>
        </p:txBody>
      </p:sp>
      <p:sp>
        <p:nvSpPr>
          <p:cNvPr id="24" name="Text 21"/>
          <p:cNvSpPr/>
          <p:nvPr/>
        </p:nvSpPr>
        <p:spPr>
          <a:xfrm>
            <a:off x="9052560"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link it to the Big Question</a:t>
            </a:r>
            <a:endParaRPr lang="en-US" sz="1200" dirty="0"/>
          </a:p>
        </p:txBody>
      </p:sp>
      <p:sp>
        <p:nvSpPr>
          <p:cNvPr id="25" name="Text 22"/>
          <p:cNvSpPr/>
          <p:nvPr/>
        </p:nvSpPr>
        <p:spPr>
          <a:xfrm>
            <a:off x="548640" y="2926080"/>
            <a:ext cx="10972800" cy="365760"/>
          </a:xfrm>
          <a:prstGeom prst="rect">
            <a:avLst/>
          </a:prstGeom>
          <a:noFill/>
          <a:ln/>
        </p:spPr>
        <p:txBody>
          <a:bodyPr wrap="square" lIns="0" tIns="0" rIns="0" bIns="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Do the four steps for EACH key word:</a:t>
            </a:r>
            <a:endParaRPr lang="en-US" sz="1800" dirty="0"/>
          </a:p>
        </p:txBody>
      </p:sp>
      <p:sp>
        <p:nvSpPr>
          <p:cNvPr id="26" name="Text 23"/>
          <p:cNvSpPr/>
          <p:nvPr/>
        </p:nvSpPr>
        <p:spPr>
          <a:xfrm>
            <a:off x="548640" y="3401568"/>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narrator</a:t>
            </a:r>
            <a:endParaRPr lang="en-US" sz="1800" dirty="0"/>
          </a:p>
        </p:txBody>
      </p:sp>
      <p:sp>
        <p:nvSpPr>
          <p:cNvPr id="27" name="Text 24"/>
          <p:cNvSpPr/>
          <p:nvPr/>
        </p:nvSpPr>
        <p:spPr>
          <a:xfrm>
            <a:off x="3566160" y="3401568"/>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voice that tells the story — here, Dr Watson</a:t>
            </a:r>
            <a:endParaRPr lang="en-US" sz="1800" dirty="0"/>
          </a:p>
        </p:txBody>
      </p:sp>
      <p:sp>
        <p:nvSpPr>
          <p:cNvPr id="28" name="Text 25"/>
          <p:cNvSpPr/>
          <p:nvPr/>
        </p:nvSpPr>
        <p:spPr>
          <a:xfrm>
            <a:off x="548640" y="3972154"/>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suspect</a:t>
            </a:r>
            <a:endParaRPr lang="en-US" sz="1800" dirty="0"/>
          </a:p>
        </p:txBody>
      </p:sp>
      <p:sp>
        <p:nvSpPr>
          <p:cNvPr id="29" name="Text 26"/>
          <p:cNvSpPr/>
          <p:nvPr/>
        </p:nvSpPr>
        <p:spPr>
          <a:xfrm>
            <a:off x="3566160" y="3972154"/>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person who might have done the crime</a:t>
            </a:r>
            <a:endParaRPr lang="en-US" sz="1800" dirty="0"/>
          </a:p>
        </p:txBody>
      </p:sp>
      <p:sp>
        <p:nvSpPr>
          <p:cNvPr id="30" name="Text 27"/>
          <p:cNvSpPr/>
          <p:nvPr/>
        </p:nvSpPr>
        <p:spPr>
          <a:xfrm>
            <a:off x="548640" y="4542739"/>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pawnbroker</a:t>
            </a:r>
            <a:endParaRPr lang="en-US" sz="1800" dirty="0"/>
          </a:p>
        </p:txBody>
      </p:sp>
      <p:sp>
        <p:nvSpPr>
          <p:cNvPr id="31" name="Text 28"/>
          <p:cNvSpPr/>
          <p:nvPr/>
        </p:nvSpPr>
        <p:spPr>
          <a:xfrm>
            <a:off x="3566160" y="4542739"/>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shopkeeper who lends money against things you leave there</a:t>
            </a:r>
            <a:endParaRPr lang="en-US" sz="1800" dirty="0"/>
          </a:p>
        </p:txBody>
      </p:sp>
      <p:sp>
        <p:nvSpPr>
          <p:cNvPr id="32" name="Text 29"/>
          <p:cNvSpPr/>
          <p:nvPr/>
        </p:nvSpPr>
        <p:spPr>
          <a:xfrm>
            <a:off x="548640" y="5113325"/>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deduction</a:t>
            </a:r>
            <a:endParaRPr lang="en-US" sz="1800" dirty="0"/>
          </a:p>
        </p:txBody>
      </p:sp>
      <p:sp>
        <p:nvSpPr>
          <p:cNvPr id="33" name="Text 30"/>
          <p:cNvSpPr/>
          <p:nvPr/>
        </p:nvSpPr>
        <p:spPr>
          <a:xfrm>
            <a:off x="3566160" y="5113325"/>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working something out step by step from the evidence</a:t>
            </a:r>
            <a:endParaRPr lang="en-US" sz="1800" dirty="0"/>
          </a:p>
        </p:txBody>
      </p:sp>
      <p:sp>
        <p:nvSpPr>
          <p:cNvPr id="34" name="Text 31"/>
          <p:cNvSpPr/>
          <p:nvPr/>
        </p:nvSpPr>
        <p:spPr>
          <a:xfrm>
            <a:off x="548640" y="5683910"/>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trait</a:t>
            </a:r>
            <a:endParaRPr lang="en-US" sz="1800" dirty="0"/>
          </a:p>
        </p:txBody>
      </p:sp>
      <p:sp>
        <p:nvSpPr>
          <p:cNvPr id="35" name="Text 32"/>
          <p:cNvSpPr/>
          <p:nvPr/>
        </p:nvSpPr>
        <p:spPr>
          <a:xfrm>
            <a:off x="3566160" y="5683910"/>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one part of a character's personality, shown by what they do</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The plot in five steps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9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The whole case, in order. Keep this on the wall until week 5.</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The League: plot and character</a:t>
            </a:r>
            <a:endParaRPr lang="en-US" sz="900" dirty="0"/>
          </a:p>
        </p:txBody>
      </p:sp>
      <p:sp>
        <p:nvSpPr>
          <p:cNvPr id="13" name="Text 10"/>
          <p:cNvSpPr/>
          <p:nvPr/>
        </p:nvSpPr>
        <p:spPr>
          <a:xfrm>
            <a:off x="548640" y="1783080"/>
            <a:ext cx="2606040" cy="780898"/>
          </a:xfrm>
          <a:prstGeom prst="roundRect">
            <a:avLst>
              <a:gd name="adj" fmla="val 1171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1 · THE PUZZLE</a:t>
            </a:r>
            <a:endParaRPr lang="en-US" sz="1600" dirty="0"/>
          </a:p>
        </p:txBody>
      </p:sp>
      <p:sp>
        <p:nvSpPr>
          <p:cNvPr id="14" name="Shape 11"/>
          <p:cNvSpPr/>
          <p:nvPr/>
        </p:nvSpPr>
        <p:spPr>
          <a:xfrm>
            <a:off x="3291840" y="1783080"/>
            <a:ext cx="8321040" cy="780898"/>
          </a:xfrm>
          <a:prstGeom prst="roundRect">
            <a:avLst>
              <a:gd name="adj" fmla="val 9368"/>
            </a:avLst>
          </a:prstGeom>
          <a:solidFill>
            <a:srgbClr val="FEF7E4"/>
          </a:solidFill>
          <a:ln w="12700">
            <a:solidFill>
              <a:srgbClr val="E5D9B0"/>
            </a:solidFill>
            <a:prstDash val="solid"/>
          </a:ln>
        </p:spPr>
      </p:sp>
      <p:sp>
        <p:nvSpPr>
          <p:cNvPr id="15" name="Text 12"/>
          <p:cNvSpPr/>
          <p:nvPr/>
        </p:nvSpPr>
        <p:spPr>
          <a:xfrm>
            <a:off x="3456432" y="1783080"/>
            <a:ext cx="8001000" cy="78089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Jabez Wilson, a pawnbroker, is paid four pounds a week to copy out an encyclopaedia every morning.</a:t>
            </a:r>
            <a:endParaRPr lang="en-US" sz="1800" dirty="0"/>
          </a:p>
        </p:txBody>
      </p:sp>
      <p:sp>
        <p:nvSpPr>
          <p:cNvPr id="16" name="Text 13"/>
          <p:cNvSpPr/>
          <p:nvPr/>
        </p:nvSpPr>
        <p:spPr>
          <a:xfrm>
            <a:off x="548640" y="2673706"/>
            <a:ext cx="2606040" cy="780898"/>
          </a:xfrm>
          <a:prstGeom prst="roundRect">
            <a:avLst>
              <a:gd name="adj" fmla="val 1171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2 · THE LEAGUE CLOSES</a:t>
            </a:r>
            <a:endParaRPr lang="en-US" sz="1600" dirty="0"/>
          </a:p>
        </p:txBody>
      </p:sp>
      <p:sp>
        <p:nvSpPr>
          <p:cNvPr id="17" name="Shape 14"/>
          <p:cNvSpPr/>
          <p:nvPr/>
        </p:nvSpPr>
        <p:spPr>
          <a:xfrm>
            <a:off x="3291840" y="2673706"/>
            <a:ext cx="8321040" cy="780898"/>
          </a:xfrm>
          <a:prstGeom prst="roundRect">
            <a:avLst>
              <a:gd name="adj" fmla="val 9368"/>
            </a:avLst>
          </a:prstGeom>
          <a:solidFill>
            <a:srgbClr val="FEF7E4"/>
          </a:solidFill>
          <a:ln w="12700">
            <a:solidFill>
              <a:srgbClr val="E5D9B0"/>
            </a:solidFill>
            <a:prstDash val="solid"/>
          </a:ln>
        </p:spPr>
      </p:sp>
      <p:sp>
        <p:nvSpPr>
          <p:cNvPr id="18" name="Text 15"/>
          <p:cNvSpPr/>
          <p:nvPr/>
        </p:nvSpPr>
        <p:spPr>
          <a:xfrm>
            <a:off x="3456432" y="2673706"/>
            <a:ext cx="8001000" cy="78089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After eight weeks a card on the door says the League is dissolved. Nobody has heard of it.</a:t>
            </a:r>
            <a:endParaRPr lang="en-US" sz="1800" dirty="0"/>
          </a:p>
        </p:txBody>
      </p:sp>
      <p:sp>
        <p:nvSpPr>
          <p:cNvPr id="19" name="Text 16"/>
          <p:cNvSpPr/>
          <p:nvPr/>
        </p:nvSpPr>
        <p:spPr>
          <a:xfrm>
            <a:off x="548640" y="3564331"/>
            <a:ext cx="2606040" cy="780898"/>
          </a:xfrm>
          <a:prstGeom prst="roundRect">
            <a:avLst>
              <a:gd name="adj" fmla="val 1171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3 · THE VISIT</a:t>
            </a:r>
            <a:endParaRPr lang="en-US" sz="1600" dirty="0"/>
          </a:p>
        </p:txBody>
      </p:sp>
      <p:sp>
        <p:nvSpPr>
          <p:cNvPr id="20" name="Shape 17"/>
          <p:cNvSpPr/>
          <p:nvPr/>
        </p:nvSpPr>
        <p:spPr>
          <a:xfrm>
            <a:off x="3291840" y="3564331"/>
            <a:ext cx="8321040" cy="780898"/>
          </a:xfrm>
          <a:prstGeom prst="roundRect">
            <a:avLst>
              <a:gd name="adj" fmla="val 9368"/>
            </a:avLst>
          </a:prstGeom>
          <a:solidFill>
            <a:srgbClr val="FEF7E4"/>
          </a:solidFill>
          <a:ln w="12700">
            <a:solidFill>
              <a:srgbClr val="E5D9B0"/>
            </a:solidFill>
            <a:prstDash val="solid"/>
          </a:ln>
        </p:spPr>
      </p:sp>
      <p:sp>
        <p:nvSpPr>
          <p:cNvPr id="21" name="Text 18"/>
          <p:cNvSpPr/>
          <p:nvPr/>
        </p:nvSpPr>
        <p:spPr>
          <a:xfrm>
            <a:off x="3456432" y="3564331"/>
            <a:ext cx="8001000" cy="78089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Holmes taps the pavement outside the shop and stares at the assistant's trouser knees. A bank stands behind.</a:t>
            </a:r>
            <a:endParaRPr lang="en-US" sz="1800" dirty="0"/>
          </a:p>
        </p:txBody>
      </p:sp>
      <p:sp>
        <p:nvSpPr>
          <p:cNvPr id="22" name="Text 19"/>
          <p:cNvSpPr/>
          <p:nvPr/>
        </p:nvSpPr>
        <p:spPr>
          <a:xfrm>
            <a:off x="548640" y="4454957"/>
            <a:ext cx="2606040" cy="780898"/>
          </a:xfrm>
          <a:prstGeom prst="roundRect">
            <a:avLst>
              <a:gd name="adj" fmla="val 1171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4 · THE NIGHT</a:t>
            </a:r>
            <a:endParaRPr lang="en-US" sz="1600" dirty="0"/>
          </a:p>
        </p:txBody>
      </p:sp>
      <p:sp>
        <p:nvSpPr>
          <p:cNvPr id="23" name="Shape 20"/>
          <p:cNvSpPr/>
          <p:nvPr/>
        </p:nvSpPr>
        <p:spPr>
          <a:xfrm>
            <a:off x="3291840" y="4454957"/>
            <a:ext cx="8321040" cy="780898"/>
          </a:xfrm>
          <a:prstGeom prst="roundRect">
            <a:avLst>
              <a:gd name="adj" fmla="val 9368"/>
            </a:avLst>
          </a:prstGeom>
          <a:solidFill>
            <a:srgbClr val="FEF7E4"/>
          </a:solidFill>
          <a:ln w="12700">
            <a:solidFill>
              <a:srgbClr val="E5D9B0"/>
            </a:solidFill>
            <a:prstDash val="solid"/>
          </a:ln>
        </p:spPr>
      </p:sp>
      <p:sp>
        <p:nvSpPr>
          <p:cNvPr id="24" name="Text 21"/>
          <p:cNvSpPr/>
          <p:nvPr/>
        </p:nvSpPr>
        <p:spPr>
          <a:xfrm>
            <a:off x="3456432" y="4454957"/>
            <a:ext cx="8001000" cy="78089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Holmes, Watson, a policeman and the bank director wait in the dark vault. A stone lifts.</a:t>
            </a:r>
            <a:endParaRPr lang="en-US" sz="1800" dirty="0"/>
          </a:p>
        </p:txBody>
      </p:sp>
      <p:sp>
        <p:nvSpPr>
          <p:cNvPr id="25" name="Text 22"/>
          <p:cNvSpPr/>
          <p:nvPr/>
        </p:nvSpPr>
        <p:spPr>
          <a:xfrm>
            <a:off x="548640" y="5345582"/>
            <a:ext cx="2606040" cy="780898"/>
          </a:xfrm>
          <a:prstGeom prst="roundRect">
            <a:avLst>
              <a:gd name="adj" fmla="val 1171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5 · THE REVEAL</a:t>
            </a:r>
            <a:endParaRPr lang="en-US" sz="1600" dirty="0"/>
          </a:p>
        </p:txBody>
      </p:sp>
      <p:sp>
        <p:nvSpPr>
          <p:cNvPr id="26" name="Shape 23"/>
          <p:cNvSpPr/>
          <p:nvPr/>
        </p:nvSpPr>
        <p:spPr>
          <a:xfrm>
            <a:off x="3291840" y="5345582"/>
            <a:ext cx="8321040" cy="780898"/>
          </a:xfrm>
          <a:prstGeom prst="roundRect">
            <a:avLst>
              <a:gd name="adj" fmla="val 9368"/>
            </a:avLst>
          </a:prstGeom>
          <a:solidFill>
            <a:srgbClr val="FEF7E4"/>
          </a:solidFill>
          <a:ln w="12700">
            <a:solidFill>
              <a:srgbClr val="E5D9B0"/>
            </a:solidFill>
            <a:prstDash val="solid"/>
          </a:ln>
        </p:spPr>
      </p:sp>
      <p:sp>
        <p:nvSpPr>
          <p:cNvPr id="27" name="Text 24"/>
          <p:cNvSpPr/>
          <p:nvPr/>
        </p:nvSpPr>
        <p:spPr>
          <a:xfrm>
            <a:off x="3456432" y="5345582"/>
            <a:ext cx="8001000" cy="78089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assistant is John Clay, a famous thief. The League was a trick to empty the shop while he dug.</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column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Three men, three wants</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9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Every character wants something. The plot is what happens when their wants collide.</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The League: plot and character</a:t>
            </a:r>
            <a:endParaRPr lang="en-US" sz="900" dirty="0"/>
          </a:p>
        </p:txBody>
      </p:sp>
      <p:sp>
        <p:nvSpPr>
          <p:cNvPr id="13" name="Shape 10"/>
          <p:cNvSpPr/>
          <p:nvPr/>
        </p:nvSpPr>
        <p:spPr>
          <a:xfrm>
            <a:off x="548640" y="1828800"/>
            <a:ext cx="3535680" cy="868680"/>
          </a:xfrm>
          <a:prstGeom prst="roundRect">
            <a:avLst>
              <a:gd name="adj" fmla="val 8421"/>
            </a:avLst>
          </a:prstGeom>
          <a:solidFill>
            <a:srgbClr val="12294D"/>
          </a:solidFill>
          <a:ln w="12700">
            <a:solidFill>
              <a:srgbClr val="12294D"/>
            </a:solidFill>
            <a:prstDash val="solid"/>
          </a:ln>
        </p:spPr>
      </p:sp>
      <p:sp>
        <p:nvSpPr>
          <p:cNvPr id="14" name="Text 11"/>
          <p:cNvSpPr/>
          <p:nvPr/>
        </p:nvSpPr>
        <p:spPr>
          <a:xfrm>
            <a:off x="640080" y="1874520"/>
            <a:ext cx="335280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JABEZ WILSON</a:t>
            </a:r>
            <a:endParaRPr lang="en-US" sz="1600" dirty="0"/>
          </a:p>
        </p:txBody>
      </p:sp>
      <p:sp>
        <p:nvSpPr>
          <p:cNvPr id="15" name="Text 12"/>
          <p:cNvSpPr/>
          <p:nvPr/>
        </p:nvSpPr>
        <p:spPr>
          <a:xfrm>
            <a:off x="640080" y="2331720"/>
            <a:ext cx="335280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the client</a:t>
            </a:r>
            <a:endParaRPr lang="en-US" sz="1400" dirty="0"/>
          </a:p>
        </p:txBody>
      </p:sp>
      <p:sp>
        <p:nvSpPr>
          <p:cNvPr id="16" name="Shape 13"/>
          <p:cNvSpPr/>
          <p:nvPr/>
        </p:nvSpPr>
        <p:spPr>
          <a:xfrm>
            <a:off x="548640" y="2788920"/>
            <a:ext cx="3535680" cy="3291840"/>
          </a:xfrm>
          <a:prstGeom prst="roundRect">
            <a:avLst>
              <a:gd name="adj" fmla="val 1667"/>
            </a:avLst>
          </a:prstGeom>
          <a:solidFill>
            <a:srgbClr val="FBF0D8"/>
          </a:solidFill>
          <a:ln w="12700">
            <a:solidFill>
              <a:srgbClr val="12294D"/>
            </a:solidFill>
            <a:prstDash val="solid"/>
          </a:ln>
        </p:spPr>
      </p:sp>
      <p:sp>
        <p:nvSpPr>
          <p:cNvPr id="17" name="Text 14"/>
          <p:cNvSpPr/>
          <p:nvPr/>
        </p:nvSpPr>
        <p:spPr>
          <a:xfrm>
            <a:off x="658368" y="2880360"/>
            <a:ext cx="331622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Wants easy money and to understand why it stopped. Slow, honest, a little greedy. Notices nothing — which is exactly why he was chosen.</a:t>
            </a:r>
            <a:endParaRPr lang="en-US" sz="1800" dirty="0"/>
          </a:p>
        </p:txBody>
      </p:sp>
      <p:sp>
        <p:nvSpPr>
          <p:cNvPr id="18" name="Shape 15"/>
          <p:cNvSpPr/>
          <p:nvPr/>
        </p:nvSpPr>
        <p:spPr>
          <a:xfrm>
            <a:off x="4312920" y="1828800"/>
            <a:ext cx="3535680" cy="868680"/>
          </a:xfrm>
          <a:prstGeom prst="roundRect">
            <a:avLst>
              <a:gd name="adj" fmla="val 8421"/>
            </a:avLst>
          </a:prstGeom>
          <a:solidFill>
            <a:srgbClr val="00A08A"/>
          </a:solidFill>
          <a:ln w="12700">
            <a:solidFill>
              <a:srgbClr val="00A08A"/>
            </a:solidFill>
            <a:prstDash val="solid"/>
          </a:ln>
        </p:spPr>
      </p:sp>
      <p:sp>
        <p:nvSpPr>
          <p:cNvPr id="19" name="Text 16"/>
          <p:cNvSpPr/>
          <p:nvPr/>
        </p:nvSpPr>
        <p:spPr>
          <a:xfrm>
            <a:off x="4404360" y="1874520"/>
            <a:ext cx="335280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SHERLOCK HOLMES</a:t>
            </a:r>
            <a:endParaRPr lang="en-US" sz="1600" dirty="0"/>
          </a:p>
        </p:txBody>
      </p:sp>
      <p:sp>
        <p:nvSpPr>
          <p:cNvPr id="20" name="Text 17"/>
          <p:cNvSpPr/>
          <p:nvPr/>
        </p:nvSpPr>
        <p:spPr>
          <a:xfrm>
            <a:off x="4404360" y="2331720"/>
            <a:ext cx="335280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the detective</a:t>
            </a:r>
            <a:endParaRPr lang="en-US" sz="1400" dirty="0"/>
          </a:p>
        </p:txBody>
      </p:sp>
      <p:sp>
        <p:nvSpPr>
          <p:cNvPr id="21" name="Shape 18"/>
          <p:cNvSpPr/>
          <p:nvPr/>
        </p:nvSpPr>
        <p:spPr>
          <a:xfrm>
            <a:off x="4312920" y="2788920"/>
            <a:ext cx="3535680" cy="3291840"/>
          </a:xfrm>
          <a:prstGeom prst="roundRect">
            <a:avLst>
              <a:gd name="adj" fmla="val 1667"/>
            </a:avLst>
          </a:prstGeom>
          <a:solidFill>
            <a:srgbClr val="E4F3EF"/>
          </a:solidFill>
          <a:ln w="12700">
            <a:solidFill>
              <a:srgbClr val="00A08A"/>
            </a:solidFill>
            <a:prstDash val="solid"/>
          </a:ln>
        </p:spPr>
      </p:sp>
      <p:sp>
        <p:nvSpPr>
          <p:cNvPr id="22" name="Text 19"/>
          <p:cNvSpPr/>
          <p:nvPr/>
        </p:nvSpPr>
        <p:spPr>
          <a:xfrm>
            <a:off x="4422648" y="2880360"/>
            <a:ext cx="331622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Wants a puzzle worth his time. Watches, taps, asks odd questions, then goes silent. Bored by anything ordinary.</a:t>
            </a:r>
            <a:endParaRPr lang="en-US" sz="1800" dirty="0"/>
          </a:p>
        </p:txBody>
      </p:sp>
      <p:sp>
        <p:nvSpPr>
          <p:cNvPr id="23" name="Shape 20"/>
          <p:cNvSpPr/>
          <p:nvPr/>
        </p:nvSpPr>
        <p:spPr>
          <a:xfrm>
            <a:off x="8077200" y="1828800"/>
            <a:ext cx="3535680" cy="868680"/>
          </a:xfrm>
          <a:prstGeom prst="roundRect">
            <a:avLst>
              <a:gd name="adj" fmla="val 8421"/>
            </a:avLst>
          </a:prstGeom>
          <a:solidFill>
            <a:srgbClr val="FF5470"/>
          </a:solidFill>
          <a:ln w="12700">
            <a:solidFill>
              <a:srgbClr val="FF5470"/>
            </a:solidFill>
            <a:prstDash val="solid"/>
          </a:ln>
        </p:spPr>
      </p:sp>
      <p:sp>
        <p:nvSpPr>
          <p:cNvPr id="24" name="Text 21"/>
          <p:cNvSpPr/>
          <p:nvPr/>
        </p:nvSpPr>
        <p:spPr>
          <a:xfrm>
            <a:off x="8168640" y="1874520"/>
            <a:ext cx="3352800" cy="50292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VINCENT SPAULDING</a:t>
            </a:r>
            <a:endParaRPr lang="en-US" sz="1600" dirty="0"/>
          </a:p>
        </p:txBody>
      </p:sp>
      <p:sp>
        <p:nvSpPr>
          <p:cNvPr id="25" name="Text 22"/>
          <p:cNvSpPr/>
          <p:nvPr/>
        </p:nvSpPr>
        <p:spPr>
          <a:xfrm>
            <a:off x="8168640" y="2331720"/>
            <a:ext cx="3352800" cy="320040"/>
          </a:xfrm>
          <a:prstGeom prst="rect">
            <a:avLst/>
          </a:prstGeom>
          <a:noFill/>
          <a:ln/>
        </p:spPr>
        <p:txBody>
          <a:bodyPr wrap="square" lIns="0" tIns="0" rIns="0" bIns="0" rtlCol="0" anchor="ctr"/>
          <a:lstStyle/>
          <a:p>
            <a:pPr algn="l" indent="0" marL="0">
              <a:buNone/>
            </a:pPr>
            <a:r>
              <a:rPr lang="en-US" sz="1400" i="1" dirty="0">
                <a:solidFill>
                  <a:srgbClr val="F4F6FA"/>
                </a:solidFill>
                <a:latin typeface="Arial" pitchFamily="34" charset="0"/>
                <a:ea typeface="Arial" pitchFamily="34" charset="-122"/>
                <a:cs typeface="Arial" pitchFamily="34" charset="-120"/>
              </a:rPr>
              <a:t>the suspect</a:t>
            </a:r>
            <a:endParaRPr lang="en-US" sz="1400" dirty="0"/>
          </a:p>
        </p:txBody>
      </p:sp>
      <p:sp>
        <p:nvSpPr>
          <p:cNvPr id="26" name="Shape 23"/>
          <p:cNvSpPr/>
          <p:nvPr/>
        </p:nvSpPr>
        <p:spPr>
          <a:xfrm>
            <a:off x="8077200" y="2788920"/>
            <a:ext cx="3535680" cy="3291840"/>
          </a:xfrm>
          <a:prstGeom prst="roundRect">
            <a:avLst>
              <a:gd name="adj" fmla="val 1667"/>
            </a:avLst>
          </a:prstGeom>
          <a:solidFill>
            <a:srgbClr val="FBE4E4"/>
          </a:solidFill>
          <a:ln w="12700">
            <a:solidFill>
              <a:srgbClr val="FF5470"/>
            </a:solidFill>
            <a:prstDash val="solid"/>
          </a:ln>
        </p:spPr>
      </p:sp>
      <p:sp>
        <p:nvSpPr>
          <p:cNvPr id="27" name="Text 24"/>
          <p:cNvSpPr/>
          <p:nvPr/>
        </p:nvSpPr>
        <p:spPr>
          <a:xfrm>
            <a:off x="8186928" y="2880360"/>
            <a:ext cx="3316224" cy="3108960"/>
          </a:xfrm>
          <a:prstGeom prst="rect">
            <a:avLst/>
          </a:prstGeom>
          <a:noFill/>
          <a:ln/>
        </p:spPr>
        <p:txBody>
          <a:bodyPr wrap="square" lIns="45720" tIns="91440" rIns="91440" bIns="45720" rtlCol="0" anchor="t"/>
          <a:lstStyle/>
          <a:p>
            <a:pPr algn="l" indent="0" marL="0">
              <a:buNone/>
            </a:pPr>
            <a:r>
              <a:rPr lang="en-US" sz="1800" dirty="0">
                <a:solidFill>
                  <a:srgbClr val="16171F"/>
                </a:solidFill>
                <a:latin typeface="Arial" pitchFamily="34" charset="0"/>
                <a:ea typeface="Arial" pitchFamily="34" charset="-122"/>
                <a:cs typeface="Arial" pitchFamily="34" charset="-120"/>
              </a:rPr>
              <a:t>Wants the gold under the bank. Clever, polite, works for half wages, loves the cellar. His real name is John Clay.</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Read the extract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9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Holmes questions Mr Wilson about his assistant. Read once for the facts, once for what Holmes is really asking.</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The League: plot and character</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RETELLING WRITTEN FOR THIS LESSON</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'This assistant of yours,' said Holmes. 'How did you come by him?' 'He answered my advertisement,' said Wilson, 'and he offered to work for half the wages of any other man, so that he might learn the trade.' 'Half wages,' Holmes repeated softly. 'And what is he like?' 'Small, quick, no hair on his face, though he must be thirty. A white splash of acid on his forehead. He is a good worker, Mr Holmes — only he is forever in the cellar with his photographs.' Holmes sat up in his chair. 'Ah,' he said. 'The cellar.' And he said nothing more for a full minute.</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three facts does Wilson give about Spaulding?</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fact does Holmes repeat? Why might he?</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Holmes say after 'Ah'? What does his silence tell us?</a:t>
            </a:r>
            <a:endParaRPr lang="en-US" sz="1800" dirty="0"/>
          </a:p>
        </p:txBody>
      </p:sp>
      <p:sp>
        <p:nvSpPr>
          <p:cNvPr id="25" name="Text 22"/>
          <p:cNvSpPr/>
          <p:nvPr/>
        </p:nvSpPr>
        <p:spPr>
          <a:xfrm>
            <a:off x="7726680" y="5102352"/>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26" name="Shape 23"/>
          <p:cNvSpPr/>
          <p:nvPr/>
        </p:nvSpPr>
        <p:spPr>
          <a:xfrm>
            <a:off x="8321040" y="5102352"/>
            <a:ext cx="3291840" cy="960120"/>
          </a:xfrm>
          <a:prstGeom prst="roundRect">
            <a:avLst>
              <a:gd name="adj" fmla="val 6667"/>
            </a:avLst>
          </a:prstGeom>
          <a:solidFill>
            <a:srgbClr val="FFFFFF"/>
          </a:solidFill>
          <a:ln w="12700">
            <a:solidFill>
              <a:srgbClr val="80ADC4"/>
            </a:solidFill>
            <a:prstDash val="solid"/>
          </a:ln>
        </p:spPr>
      </p:sp>
      <p:sp>
        <p:nvSpPr>
          <p:cNvPr id="27" name="Text 24"/>
          <p:cNvSpPr/>
          <p:nvPr/>
        </p:nvSpPr>
        <p:spPr>
          <a:xfrm>
            <a:off x="8366760" y="5102352"/>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is Watson the right person to tell us this scene?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message-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Two lines — analyse</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10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400" i="1" dirty="0">
                <a:solidFill>
                  <a:srgbClr val="404040"/>
                </a:solidFill>
                <a:latin typeface="Arial" pitchFamily="34" charset="0"/>
                <a:ea typeface="Arial" pitchFamily="34" charset="-122"/>
                <a:cs typeface="Arial" pitchFamily="34" charset="-120"/>
              </a:rPr>
              <a:t>For EACH quotation: what does it MEAN · what does it SHOW about the character · what EFFECT does it have on the reader?</a:t>
            </a:r>
            <a:endParaRPr lang="en-US" sz="14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The League: plot and character</a:t>
            </a:r>
            <a:endParaRPr lang="en-US" sz="900" dirty="0"/>
          </a:p>
        </p:txBody>
      </p:sp>
      <p:sp>
        <p:nvSpPr>
          <p:cNvPr id="13" name="Shape 10"/>
          <p:cNvSpPr/>
          <p:nvPr/>
        </p:nvSpPr>
        <p:spPr>
          <a:xfrm>
            <a:off x="548640" y="1783080"/>
            <a:ext cx="5417820" cy="502920"/>
          </a:xfrm>
          <a:prstGeom prst="roundRect">
            <a:avLst>
              <a:gd name="adj" fmla="val 14545"/>
            </a:avLst>
          </a:prstGeom>
          <a:solidFill>
            <a:srgbClr val="8A6D00"/>
          </a:solidFill>
          <a:ln w="12700">
            <a:solidFill>
              <a:srgbClr val="8A6D00"/>
            </a:solidFill>
            <a:prstDash val="solid"/>
          </a:ln>
        </p:spPr>
      </p:sp>
      <p:pic>
        <p:nvPicPr>
          <p:cNvPr id="14" name="Image 1" descr="/home/claude/english/kit/decks/_icons/book-open-FFFFFF.png">    </p:cNvPr>
          <p:cNvPicPr>
            <a:picLocks noChangeAspect="1"/>
          </p:cNvPicPr>
          <p:nvPr/>
        </p:nvPicPr>
        <p:blipFill>
          <a:blip r:embed="rId2"/>
          <a:stretch>
            <a:fillRect/>
          </a:stretch>
        </p:blipFill>
        <p:spPr>
          <a:xfrm>
            <a:off x="685800" y="1911096"/>
            <a:ext cx="246888" cy="246888"/>
          </a:xfrm>
          <a:prstGeom prst="rect">
            <a:avLst/>
          </a:prstGeom>
        </p:spPr>
      </p:pic>
      <p:sp>
        <p:nvSpPr>
          <p:cNvPr id="15" name="Text 11"/>
          <p:cNvSpPr/>
          <p:nvPr/>
        </p:nvSpPr>
        <p:spPr>
          <a:xfrm>
            <a:off x="960120" y="1783080"/>
            <a:ext cx="4960620" cy="502920"/>
          </a:xfrm>
          <a:prstGeom prst="rect">
            <a:avLst/>
          </a:prstGeom>
          <a:noFill/>
          <a:ln/>
        </p:spPr>
        <p:txBody>
          <a:bodyPr wrap="square" lIns="45720" tIns="91440" rIns="91440" bIns="4572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Wilson, on Spaulding</a:t>
            </a:r>
            <a:endParaRPr lang="en-US" sz="1800" dirty="0"/>
          </a:p>
        </p:txBody>
      </p:sp>
      <p:sp>
        <p:nvSpPr>
          <p:cNvPr id="16" name="Shape 12"/>
          <p:cNvSpPr/>
          <p:nvPr/>
        </p:nvSpPr>
        <p:spPr>
          <a:xfrm>
            <a:off x="548640" y="2377440"/>
            <a:ext cx="5417820" cy="1691640"/>
          </a:xfrm>
          <a:prstGeom prst="roundRect">
            <a:avLst>
              <a:gd name="adj" fmla="val 3243"/>
            </a:avLst>
          </a:prstGeom>
          <a:solidFill>
            <a:srgbClr val="FBF0D8"/>
          </a:solidFill>
          <a:ln w="12700">
            <a:solidFill>
              <a:srgbClr val="8A6D00"/>
            </a:solidFill>
            <a:prstDash val="solid"/>
          </a:ln>
        </p:spPr>
      </p:sp>
      <p:sp>
        <p:nvSpPr>
          <p:cNvPr id="17" name="Text 13"/>
          <p:cNvSpPr/>
          <p:nvPr/>
        </p:nvSpPr>
        <p:spPr>
          <a:xfrm>
            <a:off x="685800" y="2450592"/>
            <a:ext cx="5143500" cy="1554480"/>
          </a:xfrm>
          <a:prstGeom prst="rect">
            <a:avLst/>
          </a:prstGeom>
          <a:noFill/>
          <a:ln/>
        </p:spPr>
        <p:txBody>
          <a:bodyPr wrap="square" lIns="45720" tIns="91440" rIns="91440" bIns="45720" rtlCol="0" anchor="ctr"/>
          <a:lstStyle/>
          <a:p>
            <a:pPr algn="l" indent="0" marL="0">
              <a:buNone/>
            </a:pPr>
            <a:r>
              <a:rPr lang="en-US" sz="1800" i="1" dirty="0">
                <a:solidFill>
                  <a:srgbClr val="16171F"/>
                </a:solidFill>
                <a:latin typeface="Arial" pitchFamily="34" charset="0"/>
                <a:ea typeface="Arial" pitchFamily="34" charset="-122"/>
                <a:cs typeface="Arial" pitchFamily="34" charset="-120"/>
              </a:rPr>
              <a:t>He offered to work for half the wages of any other man, so that he might learn the trade.</a:t>
            </a:r>
            <a:endParaRPr lang="en-US" sz="1800" dirty="0"/>
          </a:p>
        </p:txBody>
      </p:sp>
      <p:sp>
        <p:nvSpPr>
          <p:cNvPr id="18" name="Text 14"/>
          <p:cNvSpPr/>
          <p:nvPr/>
        </p:nvSpPr>
        <p:spPr>
          <a:xfrm>
            <a:off x="548640" y="42062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MEAN</a:t>
            </a:r>
            <a:endParaRPr lang="en-US" sz="1400" dirty="0"/>
          </a:p>
        </p:txBody>
      </p:sp>
      <p:sp>
        <p:nvSpPr>
          <p:cNvPr id="19" name="Shape 15"/>
          <p:cNvSpPr/>
          <p:nvPr/>
        </p:nvSpPr>
        <p:spPr>
          <a:xfrm>
            <a:off x="1920240" y="4206240"/>
            <a:ext cx="4046220" cy="548640"/>
          </a:xfrm>
          <a:prstGeom prst="roundRect">
            <a:avLst>
              <a:gd name="adj" fmla="val 11667"/>
            </a:avLst>
          </a:prstGeom>
          <a:solidFill>
            <a:srgbClr val="F4F6FA"/>
          </a:solidFill>
          <a:ln w="12700">
            <a:solidFill>
              <a:srgbClr val="80ADC4"/>
            </a:solidFill>
            <a:prstDash val="solid"/>
          </a:ln>
        </p:spPr>
      </p:sp>
      <p:sp>
        <p:nvSpPr>
          <p:cNvPr id="20" name="Text 16"/>
          <p:cNvSpPr/>
          <p:nvPr/>
        </p:nvSpPr>
        <p:spPr>
          <a:xfrm>
            <a:off x="2011680" y="42062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does it actually mean?</a:t>
            </a:r>
            <a:endParaRPr lang="en-US" sz="1400" dirty="0"/>
          </a:p>
        </p:txBody>
      </p:sp>
      <p:sp>
        <p:nvSpPr>
          <p:cNvPr id="21" name="Text 17"/>
          <p:cNvSpPr/>
          <p:nvPr/>
        </p:nvSpPr>
        <p:spPr>
          <a:xfrm>
            <a:off x="548640" y="48920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SHOW</a:t>
            </a:r>
            <a:endParaRPr lang="en-US" sz="1400" dirty="0"/>
          </a:p>
        </p:txBody>
      </p:sp>
      <p:sp>
        <p:nvSpPr>
          <p:cNvPr id="22" name="Shape 18"/>
          <p:cNvSpPr/>
          <p:nvPr/>
        </p:nvSpPr>
        <p:spPr>
          <a:xfrm>
            <a:off x="1920240" y="4892040"/>
            <a:ext cx="4046220" cy="548640"/>
          </a:xfrm>
          <a:prstGeom prst="roundRect">
            <a:avLst>
              <a:gd name="adj" fmla="val 11667"/>
            </a:avLst>
          </a:prstGeom>
          <a:solidFill>
            <a:srgbClr val="F4F6FA"/>
          </a:solidFill>
          <a:ln w="12700">
            <a:solidFill>
              <a:srgbClr val="80ADC4"/>
            </a:solidFill>
            <a:prstDash val="solid"/>
          </a:ln>
        </p:spPr>
      </p:sp>
      <p:sp>
        <p:nvSpPr>
          <p:cNvPr id="23" name="Text 19"/>
          <p:cNvSpPr/>
          <p:nvPr/>
        </p:nvSpPr>
        <p:spPr>
          <a:xfrm>
            <a:off x="2011680" y="48920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does it show us about the character?</a:t>
            </a:r>
            <a:endParaRPr lang="en-US" sz="1400" dirty="0"/>
          </a:p>
        </p:txBody>
      </p:sp>
      <p:sp>
        <p:nvSpPr>
          <p:cNvPr id="24" name="Text 20"/>
          <p:cNvSpPr/>
          <p:nvPr/>
        </p:nvSpPr>
        <p:spPr>
          <a:xfrm>
            <a:off x="548640" y="55778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EFFECT</a:t>
            </a:r>
            <a:endParaRPr lang="en-US" sz="1400" dirty="0"/>
          </a:p>
        </p:txBody>
      </p:sp>
      <p:sp>
        <p:nvSpPr>
          <p:cNvPr id="25" name="Shape 21"/>
          <p:cNvSpPr/>
          <p:nvPr/>
        </p:nvSpPr>
        <p:spPr>
          <a:xfrm>
            <a:off x="1920240" y="5577840"/>
            <a:ext cx="4046220" cy="548640"/>
          </a:xfrm>
          <a:prstGeom prst="roundRect">
            <a:avLst>
              <a:gd name="adj" fmla="val 11667"/>
            </a:avLst>
          </a:prstGeom>
          <a:solidFill>
            <a:srgbClr val="F4F6FA"/>
          </a:solidFill>
          <a:ln w="12700">
            <a:solidFill>
              <a:srgbClr val="80ADC4"/>
            </a:solidFill>
            <a:prstDash val="solid"/>
          </a:ln>
        </p:spPr>
      </p:sp>
      <p:sp>
        <p:nvSpPr>
          <p:cNvPr id="26" name="Text 22"/>
          <p:cNvSpPr/>
          <p:nvPr/>
        </p:nvSpPr>
        <p:spPr>
          <a:xfrm>
            <a:off x="2011680" y="55778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effect does it have on the reader?</a:t>
            </a:r>
            <a:endParaRPr lang="en-US" sz="1400" dirty="0"/>
          </a:p>
        </p:txBody>
      </p:sp>
      <p:sp>
        <p:nvSpPr>
          <p:cNvPr id="27" name="Shape 23"/>
          <p:cNvSpPr/>
          <p:nvPr/>
        </p:nvSpPr>
        <p:spPr>
          <a:xfrm>
            <a:off x="6195060" y="1783080"/>
            <a:ext cx="5417820" cy="502920"/>
          </a:xfrm>
          <a:prstGeom prst="roundRect">
            <a:avLst>
              <a:gd name="adj" fmla="val 14545"/>
            </a:avLst>
          </a:prstGeom>
          <a:solidFill>
            <a:srgbClr val="8A6D00"/>
          </a:solidFill>
          <a:ln w="12700">
            <a:solidFill>
              <a:srgbClr val="8A6D00"/>
            </a:solidFill>
            <a:prstDash val="solid"/>
          </a:ln>
        </p:spPr>
      </p:sp>
      <p:pic>
        <p:nvPicPr>
          <p:cNvPr id="28" name="Image 2" descr="/home/claude/english/kit/decks/_icons/book-open-FFFFFF.png">    </p:cNvPr>
          <p:cNvPicPr>
            <a:picLocks noChangeAspect="1"/>
          </p:cNvPicPr>
          <p:nvPr/>
        </p:nvPicPr>
        <p:blipFill>
          <a:blip r:embed="rId3"/>
          <a:stretch>
            <a:fillRect/>
          </a:stretch>
        </p:blipFill>
        <p:spPr>
          <a:xfrm>
            <a:off x="6332220" y="1911096"/>
            <a:ext cx="246888" cy="246888"/>
          </a:xfrm>
          <a:prstGeom prst="rect">
            <a:avLst/>
          </a:prstGeom>
        </p:spPr>
      </p:pic>
      <p:sp>
        <p:nvSpPr>
          <p:cNvPr id="29" name="Text 24"/>
          <p:cNvSpPr/>
          <p:nvPr/>
        </p:nvSpPr>
        <p:spPr>
          <a:xfrm>
            <a:off x="6606540" y="1783080"/>
            <a:ext cx="4960620" cy="502920"/>
          </a:xfrm>
          <a:prstGeom prst="rect">
            <a:avLst/>
          </a:prstGeom>
          <a:noFill/>
          <a:ln/>
        </p:spPr>
        <p:txBody>
          <a:bodyPr wrap="square" lIns="45720" tIns="91440" rIns="91440" bIns="4572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Holmes</a:t>
            </a:r>
            <a:endParaRPr lang="en-US" sz="1800" dirty="0"/>
          </a:p>
        </p:txBody>
      </p:sp>
      <p:sp>
        <p:nvSpPr>
          <p:cNvPr id="30" name="Shape 25"/>
          <p:cNvSpPr/>
          <p:nvPr/>
        </p:nvSpPr>
        <p:spPr>
          <a:xfrm>
            <a:off x="6195060" y="2377440"/>
            <a:ext cx="5417820" cy="1691640"/>
          </a:xfrm>
          <a:prstGeom prst="roundRect">
            <a:avLst>
              <a:gd name="adj" fmla="val 3243"/>
            </a:avLst>
          </a:prstGeom>
          <a:solidFill>
            <a:srgbClr val="FBF0D8"/>
          </a:solidFill>
          <a:ln w="12700">
            <a:solidFill>
              <a:srgbClr val="8A6D00"/>
            </a:solidFill>
            <a:prstDash val="solid"/>
          </a:ln>
        </p:spPr>
      </p:sp>
      <p:sp>
        <p:nvSpPr>
          <p:cNvPr id="31" name="Text 26"/>
          <p:cNvSpPr/>
          <p:nvPr/>
        </p:nvSpPr>
        <p:spPr>
          <a:xfrm>
            <a:off x="6332220" y="2450592"/>
            <a:ext cx="5143500" cy="1554480"/>
          </a:xfrm>
          <a:prstGeom prst="rect">
            <a:avLst/>
          </a:prstGeom>
          <a:noFill/>
          <a:ln/>
        </p:spPr>
        <p:txBody>
          <a:bodyPr wrap="square" lIns="45720" tIns="91440" rIns="91440" bIns="45720" rtlCol="0" anchor="ctr"/>
          <a:lstStyle/>
          <a:p>
            <a:pPr algn="l" indent="0" marL="0">
              <a:buNone/>
            </a:pPr>
            <a:r>
              <a:rPr lang="en-US" sz="1800" i="1" dirty="0">
                <a:solidFill>
                  <a:srgbClr val="16171F"/>
                </a:solidFill>
                <a:latin typeface="Arial" pitchFamily="34" charset="0"/>
                <a:ea typeface="Arial" pitchFamily="34" charset="-122"/>
                <a:cs typeface="Arial" pitchFamily="34" charset="-120"/>
              </a:rPr>
              <a:t>'Ah,' he said. 'The cellar.' And he said nothing more for a full minute.</a:t>
            </a:r>
            <a:endParaRPr lang="en-US" sz="1800" dirty="0"/>
          </a:p>
        </p:txBody>
      </p:sp>
      <p:sp>
        <p:nvSpPr>
          <p:cNvPr id="32" name="Text 27"/>
          <p:cNvSpPr/>
          <p:nvPr/>
        </p:nvSpPr>
        <p:spPr>
          <a:xfrm>
            <a:off x="6195060" y="42062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MEAN</a:t>
            </a:r>
            <a:endParaRPr lang="en-US" sz="1400" dirty="0"/>
          </a:p>
        </p:txBody>
      </p:sp>
      <p:sp>
        <p:nvSpPr>
          <p:cNvPr id="33" name="Shape 28"/>
          <p:cNvSpPr/>
          <p:nvPr/>
        </p:nvSpPr>
        <p:spPr>
          <a:xfrm>
            <a:off x="7566660" y="4206240"/>
            <a:ext cx="4046220" cy="548640"/>
          </a:xfrm>
          <a:prstGeom prst="roundRect">
            <a:avLst>
              <a:gd name="adj" fmla="val 11667"/>
            </a:avLst>
          </a:prstGeom>
          <a:solidFill>
            <a:srgbClr val="F4F6FA"/>
          </a:solidFill>
          <a:ln w="12700">
            <a:solidFill>
              <a:srgbClr val="80ADC4"/>
            </a:solidFill>
            <a:prstDash val="solid"/>
          </a:ln>
        </p:spPr>
      </p:sp>
      <p:sp>
        <p:nvSpPr>
          <p:cNvPr id="34" name="Text 29"/>
          <p:cNvSpPr/>
          <p:nvPr/>
        </p:nvSpPr>
        <p:spPr>
          <a:xfrm>
            <a:off x="7658100" y="42062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does it actually mean?</a:t>
            </a:r>
            <a:endParaRPr lang="en-US" sz="1400" dirty="0"/>
          </a:p>
        </p:txBody>
      </p:sp>
      <p:sp>
        <p:nvSpPr>
          <p:cNvPr id="35" name="Text 30"/>
          <p:cNvSpPr/>
          <p:nvPr/>
        </p:nvSpPr>
        <p:spPr>
          <a:xfrm>
            <a:off x="6195060" y="48920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SHOW</a:t>
            </a:r>
            <a:endParaRPr lang="en-US" sz="1400" dirty="0"/>
          </a:p>
        </p:txBody>
      </p:sp>
      <p:sp>
        <p:nvSpPr>
          <p:cNvPr id="36" name="Shape 31"/>
          <p:cNvSpPr/>
          <p:nvPr/>
        </p:nvSpPr>
        <p:spPr>
          <a:xfrm>
            <a:off x="7566660" y="4892040"/>
            <a:ext cx="4046220" cy="548640"/>
          </a:xfrm>
          <a:prstGeom prst="roundRect">
            <a:avLst>
              <a:gd name="adj" fmla="val 11667"/>
            </a:avLst>
          </a:prstGeom>
          <a:solidFill>
            <a:srgbClr val="F4F6FA"/>
          </a:solidFill>
          <a:ln w="12700">
            <a:solidFill>
              <a:srgbClr val="80ADC4"/>
            </a:solidFill>
            <a:prstDash val="solid"/>
          </a:ln>
        </p:spPr>
      </p:sp>
      <p:sp>
        <p:nvSpPr>
          <p:cNvPr id="37" name="Text 32"/>
          <p:cNvSpPr/>
          <p:nvPr/>
        </p:nvSpPr>
        <p:spPr>
          <a:xfrm>
            <a:off x="7658100" y="48920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does it show us about the character?</a:t>
            </a:r>
            <a:endParaRPr lang="en-US" sz="1400" dirty="0"/>
          </a:p>
        </p:txBody>
      </p:sp>
      <p:sp>
        <p:nvSpPr>
          <p:cNvPr id="38" name="Text 33"/>
          <p:cNvSpPr/>
          <p:nvPr/>
        </p:nvSpPr>
        <p:spPr>
          <a:xfrm>
            <a:off x="6195060" y="55778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EFFECT</a:t>
            </a:r>
            <a:endParaRPr lang="en-US" sz="1400" dirty="0"/>
          </a:p>
        </p:txBody>
      </p:sp>
      <p:sp>
        <p:nvSpPr>
          <p:cNvPr id="39" name="Shape 34"/>
          <p:cNvSpPr/>
          <p:nvPr/>
        </p:nvSpPr>
        <p:spPr>
          <a:xfrm>
            <a:off x="7566660" y="5577840"/>
            <a:ext cx="4046220" cy="548640"/>
          </a:xfrm>
          <a:prstGeom prst="roundRect">
            <a:avLst>
              <a:gd name="adj" fmla="val 11667"/>
            </a:avLst>
          </a:prstGeom>
          <a:solidFill>
            <a:srgbClr val="F4F6FA"/>
          </a:solidFill>
          <a:ln w="12700">
            <a:solidFill>
              <a:srgbClr val="80ADC4"/>
            </a:solidFill>
            <a:prstDash val="solid"/>
          </a:ln>
        </p:spPr>
      </p:sp>
      <p:sp>
        <p:nvSpPr>
          <p:cNvPr id="40" name="Text 35"/>
          <p:cNvSpPr/>
          <p:nvPr/>
        </p:nvSpPr>
        <p:spPr>
          <a:xfrm>
            <a:off x="7658100" y="55778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effect does it have on the reader?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user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TALK · character analysis scaffold</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9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In pairs. Two traits of Holmes, each with a quotation and an explanation.</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The League: plot and character</a:t>
            </a:r>
            <a:endParaRPr lang="en-US" sz="900" dirty="0"/>
          </a:p>
        </p:txBody>
      </p:sp>
      <p:sp>
        <p:nvSpPr>
          <p:cNvPr id="13" name="Shape 10"/>
          <p:cNvSpPr/>
          <p:nvPr/>
        </p:nvSpPr>
        <p:spPr>
          <a:xfrm>
            <a:off x="548640" y="1783080"/>
            <a:ext cx="7772400" cy="457200"/>
          </a:xfrm>
          <a:prstGeom prst="roundRect">
            <a:avLst>
              <a:gd name="adj" fmla="val 20000"/>
            </a:avLst>
          </a:prstGeom>
          <a:solidFill>
            <a:srgbClr val="00A08A"/>
          </a:solidFill>
          <a:ln w="12700">
            <a:solidFill>
              <a:srgbClr val="00A08A"/>
            </a:solidFill>
            <a:prstDash val="solid"/>
          </a:ln>
        </p:spPr>
      </p:sp>
      <p:pic>
        <p:nvPicPr>
          <p:cNvPr id="14" name="Image 1" descr="/home/claude/english/kit/decks/_icons/users-FFFFFF.png">    </p:cNvPr>
          <p:cNvPicPr>
            <a:picLocks noChangeAspect="1"/>
          </p:cNvPicPr>
          <p:nvPr/>
        </p:nvPicPr>
        <p:blipFill>
          <a:blip r:embed="rId2"/>
          <a:stretch>
            <a:fillRect/>
          </a:stretch>
        </p:blipFill>
        <p:spPr>
          <a:xfrm>
            <a:off x="3627501" y="1888236"/>
            <a:ext cx="246888" cy="246888"/>
          </a:xfrm>
          <a:prstGeom prst="rect">
            <a:avLst/>
          </a:prstGeom>
        </p:spPr>
      </p:pic>
      <p:sp>
        <p:nvSpPr>
          <p:cNvPr id="15" name="Text 11"/>
          <p:cNvSpPr/>
          <p:nvPr/>
        </p:nvSpPr>
        <p:spPr>
          <a:xfrm>
            <a:off x="3993261" y="1783080"/>
            <a:ext cx="1523238"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TALK · PAIRS</a:t>
            </a:r>
            <a:endParaRPr lang="en-US" sz="1500" dirty="0"/>
          </a:p>
        </p:txBody>
      </p:sp>
      <p:sp>
        <p:nvSpPr>
          <p:cNvPr id="16" name="Shape 12"/>
          <p:cNvSpPr/>
          <p:nvPr/>
        </p:nvSpPr>
        <p:spPr>
          <a:xfrm>
            <a:off x="548640" y="2377440"/>
            <a:ext cx="11064240" cy="868680"/>
          </a:xfrm>
          <a:prstGeom prst="roundRect">
            <a:avLst>
              <a:gd name="adj" fmla="val 8421"/>
            </a:avLst>
          </a:prstGeom>
          <a:solidFill>
            <a:srgbClr val="FFC93C"/>
          </a:solidFill>
          <a:ln w="12700">
            <a:solidFill>
              <a:srgbClr val="FFC93C"/>
            </a:solidFill>
            <a:prstDash val="solid"/>
          </a:ln>
        </p:spPr>
      </p:sp>
      <p:sp>
        <p:nvSpPr>
          <p:cNvPr id="17" name="Text 13"/>
          <p:cNvSpPr/>
          <p:nvPr/>
        </p:nvSpPr>
        <p:spPr>
          <a:xfrm>
            <a:off x="777240" y="2377440"/>
            <a:ext cx="1920240" cy="868680"/>
          </a:xfrm>
          <a:prstGeom prst="rect">
            <a:avLst/>
          </a:prstGeom>
          <a:noFill/>
          <a:ln/>
        </p:spPr>
        <p:txBody>
          <a:bodyPr wrap="square" lIns="0" tIns="0" rIns="0" bIns="0" rtlCol="0" anchor="ctr"/>
          <a:lstStyle/>
          <a:p>
            <a:pPr indent="0" marL="0">
              <a:buNone/>
            </a:pPr>
            <a:r>
              <a:rPr lang="en-US" sz="1600" b="1" dirty="0">
                <a:solidFill>
                  <a:srgbClr val="12294D"/>
                </a:solidFill>
                <a:latin typeface="Arial" pitchFamily="34" charset="0"/>
                <a:ea typeface="Arial" pitchFamily="34" charset="-122"/>
                <a:cs typeface="Arial" pitchFamily="34" charset="-120"/>
              </a:rPr>
              <a:t>THE FOCUS:</a:t>
            </a:r>
            <a:endParaRPr lang="en-US" sz="1600" dirty="0"/>
          </a:p>
        </p:txBody>
      </p:sp>
      <p:sp>
        <p:nvSpPr>
          <p:cNvPr id="18" name="Text 14"/>
          <p:cNvSpPr/>
          <p:nvPr/>
        </p:nvSpPr>
        <p:spPr>
          <a:xfrm>
            <a:off x="2697480" y="2377440"/>
            <a:ext cx="8732520" cy="868680"/>
          </a:xfrm>
          <a:prstGeom prst="rect">
            <a:avLst/>
          </a:prstGeom>
          <a:noFill/>
          <a:ln/>
        </p:spPr>
        <p:txBody>
          <a:bodyPr wrap="square" lIns="45720" tIns="91440" rIns="91440" bIns="45720" rtlCol="0" anchor="ctr"/>
          <a:lstStyle/>
          <a:p>
            <a:pPr algn="l" indent="0" marL="0">
              <a:buNone/>
            </a:pPr>
            <a:r>
              <a:rPr lang="en-US" sz="1800" b="1" i="1" dirty="0">
                <a:solidFill>
                  <a:srgbClr val="12294D"/>
                </a:solidFill>
                <a:latin typeface="Arial" pitchFamily="34" charset="0"/>
                <a:ea typeface="Arial" pitchFamily="34" charset="-122"/>
                <a:cs typeface="Arial" pitchFamily="34" charset="-120"/>
              </a:rPr>
              <a:t>Which trait of Holmes matters most to solving this case?</a:t>
            </a:r>
            <a:endParaRPr lang="en-US" sz="1800" dirty="0"/>
          </a:p>
        </p:txBody>
      </p:sp>
      <p:sp>
        <p:nvSpPr>
          <p:cNvPr id="19" name="Text 15"/>
          <p:cNvSpPr/>
          <p:nvPr/>
        </p:nvSpPr>
        <p:spPr>
          <a:xfrm>
            <a:off x="548640" y="3401568"/>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1</a:t>
            </a:r>
            <a:endParaRPr lang="en-US" sz="1800" dirty="0"/>
          </a:p>
        </p:txBody>
      </p:sp>
      <p:sp>
        <p:nvSpPr>
          <p:cNvPr id="20" name="Shape 16"/>
          <p:cNvSpPr/>
          <p:nvPr/>
        </p:nvSpPr>
        <p:spPr>
          <a:xfrm>
            <a:off x="1280160" y="3401568"/>
            <a:ext cx="10332720" cy="560070"/>
          </a:xfrm>
          <a:prstGeom prst="roundRect">
            <a:avLst>
              <a:gd name="adj" fmla="val 13061"/>
            </a:avLst>
          </a:prstGeom>
          <a:solidFill>
            <a:srgbClr val="FFFFFF"/>
          </a:solidFill>
          <a:ln w="12700">
            <a:solidFill>
              <a:srgbClr val="80ADC4"/>
            </a:solidFill>
            <a:prstDash val="solid"/>
          </a:ln>
        </p:spPr>
      </p:sp>
      <p:sp>
        <p:nvSpPr>
          <p:cNvPr id="21" name="Text 17"/>
          <p:cNvSpPr/>
          <p:nvPr/>
        </p:nvSpPr>
        <p:spPr>
          <a:xfrm>
            <a:off x="1463040" y="3401568"/>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TRAIT 1 — name it (observant, patient, curious, proud…) and find the line that proves it.</a:t>
            </a:r>
            <a:endParaRPr lang="en-US" sz="1800" dirty="0"/>
          </a:p>
        </p:txBody>
      </p:sp>
      <p:sp>
        <p:nvSpPr>
          <p:cNvPr id="22" name="Text 18"/>
          <p:cNvSpPr/>
          <p:nvPr/>
        </p:nvSpPr>
        <p:spPr>
          <a:xfrm>
            <a:off x="548640" y="4062222"/>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2</a:t>
            </a:r>
            <a:endParaRPr lang="en-US" sz="1800" dirty="0"/>
          </a:p>
        </p:txBody>
      </p:sp>
      <p:sp>
        <p:nvSpPr>
          <p:cNvPr id="23" name="Shape 19"/>
          <p:cNvSpPr/>
          <p:nvPr/>
        </p:nvSpPr>
        <p:spPr>
          <a:xfrm>
            <a:off x="1280160" y="4062222"/>
            <a:ext cx="10332720" cy="560070"/>
          </a:xfrm>
          <a:prstGeom prst="roundRect">
            <a:avLst>
              <a:gd name="adj" fmla="val 13061"/>
            </a:avLst>
          </a:prstGeom>
          <a:solidFill>
            <a:srgbClr val="F4F6FA"/>
          </a:solidFill>
          <a:ln w="12700">
            <a:solidFill>
              <a:srgbClr val="80ADC4"/>
            </a:solidFill>
            <a:prstDash val="solid"/>
          </a:ln>
        </p:spPr>
      </p:sp>
      <p:sp>
        <p:nvSpPr>
          <p:cNvPr id="24" name="Text 20"/>
          <p:cNvSpPr/>
          <p:nvPr/>
        </p:nvSpPr>
        <p:spPr>
          <a:xfrm>
            <a:off x="1463040" y="4062222"/>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TRAIT 2 — a different trait, a different line.</a:t>
            </a:r>
            <a:endParaRPr lang="en-US" sz="1800" dirty="0"/>
          </a:p>
        </p:txBody>
      </p:sp>
      <p:sp>
        <p:nvSpPr>
          <p:cNvPr id="25" name="Text 21"/>
          <p:cNvSpPr/>
          <p:nvPr/>
        </p:nvSpPr>
        <p:spPr>
          <a:xfrm>
            <a:off x="548640" y="4722876"/>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3</a:t>
            </a:r>
            <a:endParaRPr lang="en-US" sz="1800" dirty="0"/>
          </a:p>
        </p:txBody>
      </p:sp>
      <p:sp>
        <p:nvSpPr>
          <p:cNvPr id="26" name="Shape 22"/>
          <p:cNvSpPr/>
          <p:nvPr/>
        </p:nvSpPr>
        <p:spPr>
          <a:xfrm>
            <a:off x="1280160" y="4722876"/>
            <a:ext cx="10332720" cy="560070"/>
          </a:xfrm>
          <a:prstGeom prst="roundRect">
            <a:avLst>
              <a:gd name="adj" fmla="val 13061"/>
            </a:avLst>
          </a:prstGeom>
          <a:solidFill>
            <a:srgbClr val="FFFFFF"/>
          </a:solidFill>
          <a:ln w="12700">
            <a:solidFill>
              <a:srgbClr val="80ADC4"/>
            </a:solidFill>
            <a:prstDash val="solid"/>
          </a:ln>
        </p:spPr>
      </p:sp>
      <p:sp>
        <p:nvSpPr>
          <p:cNvPr id="27" name="Text 23"/>
          <p:cNvSpPr/>
          <p:nvPr/>
        </p:nvSpPr>
        <p:spPr>
          <a:xfrm>
            <a:off x="1463040" y="4722876"/>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EXPLAIN — for each: what does this trait let Holmes see that Wilson cannot?</a:t>
            </a:r>
            <a:endParaRPr lang="en-US" sz="1800" dirty="0"/>
          </a:p>
        </p:txBody>
      </p:sp>
      <p:sp>
        <p:nvSpPr>
          <p:cNvPr id="28" name="Text 24"/>
          <p:cNvSpPr/>
          <p:nvPr/>
        </p:nvSpPr>
        <p:spPr>
          <a:xfrm>
            <a:off x="548640" y="5383530"/>
            <a:ext cx="560070" cy="560070"/>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4</a:t>
            </a:r>
            <a:endParaRPr lang="en-US" sz="1800" dirty="0"/>
          </a:p>
        </p:txBody>
      </p:sp>
      <p:sp>
        <p:nvSpPr>
          <p:cNvPr id="29" name="Shape 25"/>
          <p:cNvSpPr/>
          <p:nvPr/>
        </p:nvSpPr>
        <p:spPr>
          <a:xfrm>
            <a:off x="1280160" y="5383530"/>
            <a:ext cx="10332720" cy="560070"/>
          </a:xfrm>
          <a:prstGeom prst="roundRect">
            <a:avLst>
              <a:gd name="adj" fmla="val 13061"/>
            </a:avLst>
          </a:prstGeom>
          <a:solidFill>
            <a:srgbClr val="F4F6FA"/>
          </a:solidFill>
          <a:ln w="12700">
            <a:solidFill>
              <a:srgbClr val="80ADC4"/>
            </a:solidFill>
            <a:prstDash val="solid"/>
          </a:ln>
        </p:spPr>
      </p:sp>
      <p:sp>
        <p:nvSpPr>
          <p:cNvPr id="30" name="Text 26"/>
          <p:cNvSpPr/>
          <p:nvPr/>
        </p:nvSpPr>
        <p:spPr>
          <a:xfrm>
            <a:off x="1463040" y="5383530"/>
            <a:ext cx="10058400" cy="56007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DECIDE — which trait solves the case? Agree one answer and one reason.</a:t>
            </a:r>
            <a:endParaRPr lang="en-US" sz="1800" dirty="0"/>
          </a:p>
        </p:txBody>
      </p:sp>
      <p:sp>
        <p:nvSpPr>
          <p:cNvPr id="31" name="Text 27"/>
          <p:cNvSpPr/>
          <p:nvPr/>
        </p:nvSpPr>
        <p:spPr>
          <a:xfrm>
            <a:off x="548640" y="5998464"/>
            <a:ext cx="11064240" cy="256032"/>
          </a:xfrm>
          <a:prstGeom prst="rect">
            <a:avLst/>
          </a:prstGeom>
          <a:noFill/>
          <a:ln/>
        </p:spPr>
        <p:txBody>
          <a:bodyPr wrap="square" lIns="0" tIns="0" rIns="0" bIns="0" rtlCol="0" anchor="ctr"/>
          <a:lstStyle/>
          <a:p>
            <a:pPr algn="l" indent="0" marL="0">
              <a:buNone/>
            </a:pPr>
            <a:r>
              <a:rPr lang="en-US" sz="1200" i="1" dirty="0">
                <a:solidFill>
                  <a:srgbClr val="6E6E6E"/>
                </a:solidFill>
                <a:latin typeface="Arial" pitchFamily="34" charset="0"/>
                <a:ea typeface="Arial" pitchFamily="34" charset="-122"/>
                <a:cs typeface="Arial" pitchFamily="34" charset="-120"/>
              </a:rPr>
              <a:t>Evidence: EEF Toolkit · Collaborative learning approaches — +5 months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award-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Exit ticket — what a strong answer shows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Three sentences on your exit slip. Did you make these moves?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The League: plot and character</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THE MOVES</a:t>
            </a:r>
            <a:endParaRPr lang="en-US" sz="900" dirty="0"/>
          </a:p>
        </p:txBody>
      </p:sp>
      <p:sp>
        <p:nvSpPr>
          <p:cNvPr id="14" name="Text 11"/>
          <p:cNvSpPr/>
          <p:nvPr/>
        </p:nvSpPr>
        <p:spPr>
          <a:xfrm>
            <a:off x="548640" y="1783080"/>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Order it</a:t>
            </a:r>
            <a:endParaRPr lang="en-US" sz="1600" dirty="0"/>
          </a:p>
        </p:txBody>
      </p:sp>
      <p:sp>
        <p:nvSpPr>
          <p:cNvPr id="15" name="Shape 12"/>
          <p:cNvSpPr/>
          <p:nvPr/>
        </p:nvSpPr>
        <p:spPr>
          <a:xfrm>
            <a:off x="3703320" y="1783080"/>
            <a:ext cx="7909560" cy="914400"/>
          </a:xfrm>
          <a:prstGeom prst="roundRect">
            <a:avLst>
              <a:gd name="adj" fmla="val 6000"/>
            </a:avLst>
          </a:prstGeom>
          <a:solidFill>
            <a:srgbClr val="FEF7E4"/>
          </a:solidFill>
          <a:ln w="12700">
            <a:solidFill>
              <a:srgbClr val="E5D9B0"/>
            </a:solidFill>
            <a:prstDash val="solid"/>
          </a:ln>
        </p:spPr>
      </p:sp>
      <p:sp>
        <p:nvSpPr>
          <p:cNvPr id="16" name="Text 13"/>
          <p:cNvSpPr/>
          <p:nvPr/>
        </p:nvSpPr>
        <p:spPr>
          <a:xfrm>
            <a:off x="3886200" y="1783080"/>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Retell the plot in five steps — puzzle, closure, visit, night, reveal — in the right order.</a:t>
            </a:r>
            <a:endParaRPr lang="en-US" sz="1800" dirty="0"/>
          </a:p>
        </p:txBody>
      </p:sp>
      <p:sp>
        <p:nvSpPr>
          <p:cNvPr id="17" name="Text 14"/>
          <p:cNvSpPr/>
          <p:nvPr/>
        </p:nvSpPr>
        <p:spPr>
          <a:xfrm>
            <a:off x="548640" y="2843784"/>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Name the want</a:t>
            </a:r>
            <a:endParaRPr lang="en-US" sz="1600" dirty="0"/>
          </a:p>
        </p:txBody>
      </p:sp>
      <p:sp>
        <p:nvSpPr>
          <p:cNvPr id="18" name="Shape 15"/>
          <p:cNvSpPr/>
          <p:nvPr/>
        </p:nvSpPr>
        <p:spPr>
          <a:xfrm>
            <a:off x="3703320" y="2843784"/>
            <a:ext cx="7909560" cy="914400"/>
          </a:xfrm>
          <a:prstGeom prst="roundRect">
            <a:avLst>
              <a:gd name="adj" fmla="val 6000"/>
            </a:avLst>
          </a:prstGeom>
          <a:solidFill>
            <a:srgbClr val="FEF7E4"/>
          </a:solidFill>
          <a:ln w="12700">
            <a:solidFill>
              <a:srgbClr val="E5D9B0"/>
            </a:solidFill>
            <a:prstDash val="solid"/>
          </a:ln>
        </p:spPr>
      </p:sp>
      <p:sp>
        <p:nvSpPr>
          <p:cNvPr id="19" name="Text 16"/>
          <p:cNvSpPr/>
          <p:nvPr/>
        </p:nvSpPr>
        <p:spPr>
          <a:xfrm>
            <a:off x="3886200" y="2843784"/>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Say what Wilson, Holmes and Spaulding each want, in one sentence each.</a:t>
            </a:r>
            <a:endParaRPr lang="en-US" sz="1800" dirty="0"/>
          </a:p>
        </p:txBody>
      </p:sp>
      <p:sp>
        <p:nvSpPr>
          <p:cNvPr id="20" name="Text 17"/>
          <p:cNvSpPr/>
          <p:nvPr/>
        </p:nvSpPr>
        <p:spPr>
          <a:xfrm>
            <a:off x="548640" y="3904488"/>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Prove the trait</a:t>
            </a:r>
            <a:endParaRPr lang="en-US" sz="1600" dirty="0"/>
          </a:p>
        </p:txBody>
      </p:sp>
      <p:sp>
        <p:nvSpPr>
          <p:cNvPr id="21" name="Shape 18"/>
          <p:cNvSpPr/>
          <p:nvPr/>
        </p:nvSpPr>
        <p:spPr>
          <a:xfrm>
            <a:off x="3703320" y="3904488"/>
            <a:ext cx="7909560" cy="914400"/>
          </a:xfrm>
          <a:prstGeom prst="roundRect">
            <a:avLst>
              <a:gd name="adj" fmla="val 6000"/>
            </a:avLst>
          </a:prstGeom>
          <a:solidFill>
            <a:srgbClr val="FEF7E4"/>
          </a:solidFill>
          <a:ln w="12700">
            <a:solidFill>
              <a:srgbClr val="E5D9B0"/>
            </a:solidFill>
            <a:prstDash val="solid"/>
          </a:ln>
        </p:spPr>
      </p:sp>
      <p:sp>
        <p:nvSpPr>
          <p:cNvPr id="22" name="Text 19"/>
          <p:cNvSpPr/>
          <p:nvPr/>
        </p:nvSpPr>
        <p:spPr>
          <a:xfrm>
            <a:off x="3886200" y="3904488"/>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one trait of Holmes and the line that shows it — trait, quotation, explanation.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94360"/>
            <a:ext cx="10058400" cy="365760"/>
          </a:xfrm>
          <a:prstGeom prst="rect">
            <a:avLst/>
          </a:prstGeom>
          <a:noFill/>
          <a:ln/>
        </p:spPr>
        <p:txBody>
          <a:bodyPr wrap="square" lIns="0" tIns="0" rIns="0" bIns="0" rtlCol="0" anchor="ctr"/>
          <a:lstStyle/>
          <a:p>
            <a:pPr indent="0" marL="0">
              <a:buNone/>
            </a:pPr>
            <a:r>
              <a:rPr lang="en-US" sz="1500" b="1" dirty="0">
                <a:solidFill>
                  <a:srgbClr val="FFC93C"/>
                </a:solidFill>
                <a:latin typeface="Arial" pitchFamily="34" charset="0"/>
                <a:ea typeface="Arial" pitchFamily="34" charset="-122"/>
                <a:cs typeface="Arial" pitchFamily="34" charset="-120"/>
              </a:rPr>
              <a:t>BEFORE YOU LEAVE</a:t>
            </a:r>
            <a:endParaRPr lang="en-US" sz="1500" dirty="0"/>
          </a:p>
        </p:txBody>
      </p:sp>
      <p:sp>
        <p:nvSpPr>
          <p:cNvPr id="3" name="Text 1"/>
          <p:cNvSpPr/>
          <p:nvPr/>
        </p:nvSpPr>
        <p:spPr>
          <a:xfrm>
            <a:off x="548640" y="1051560"/>
            <a:ext cx="105156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Home learning — the come-back loop</a:t>
            </a:r>
            <a:endParaRPr lang="en-US" sz="3000" dirty="0"/>
          </a:p>
        </p:txBody>
      </p:sp>
      <p:sp>
        <p:nvSpPr>
          <p:cNvPr id="4" name="Shape 2"/>
          <p:cNvSpPr/>
          <p:nvPr/>
        </p:nvSpPr>
        <p:spPr>
          <a:xfrm>
            <a:off x="548640" y="2011680"/>
            <a:ext cx="5349240" cy="1828800"/>
          </a:xfrm>
          <a:prstGeom prst="roundRect">
            <a:avLst>
              <a:gd name="adj" fmla="val 3000"/>
            </a:avLst>
          </a:prstGeom>
          <a:solidFill>
            <a:srgbClr val="1B315C"/>
          </a:solidFill>
          <a:ln w="12700">
            <a:solidFill>
              <a:srgbClr val="80ADC4"/>
            </a:solidFill>
            <a:prstDash val="solid"/>
          </a:ln>
        </p:spPr>
      </p:sp>
      <p:pic>
        <p:nvPicPr>
          <p:cNvPr id="5" name="Image 0" descr="/home/claude/english/kit/decks/_icons/headphones-FFFFFF.png">    </p:cNvPr>
          <p:cNvPicPr>
            <a:picLocks noChangeAspect="1"/>
          </p:cNvPicPr>
          <p:nvPr/>
        </p:nvPicPr>
        <p:blipFill>
          <a:blip r:embed="rId1"/>
          <a:stretch>
            <a:fillRect/>
          </a:stretch>
        </p:blipFill>
        <p:spPr>
          <a:xfrm>
            <a:off x="822960" y="2331720"/>
            <a:ext cx="566928" cy="566928"/>
          </a:xfrm>
          <a:prstGeom prst="rect">
            <a:avLst/>
          </a:prstGeom>
        </p:spPr>
      </p:pic>
      <p:sp>
        <p:nvSpPr>
          <p:cNvPr id="6" name="Text 3"/>
          <p:cNvSpPr/>
          <p:nvPr/>
        </p:nvSpPr>
        <p:spPr>
          <a:xfrm>
            <a:off x="178308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Listen</a:t>
            </a:r>
            <a:endParaRPr lang="en-US" sz="1900" dirty="0"/>
          </a:p>
        </p:txBody>
      </p:sp>
      <p:sp>
        <p:nvSpPr>
          <p:cNvPr id="7" name="Text 4"/>
          <p:cNvSpPr/>
          <p:nvPr/>
        </p:nvSpPr>
        <p:spPr>
          <a:xfrm>
            <a:off x="178308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Open the read-along edition and listen to pages 4 to 8. Do the order module: put the story in sequence.</a:t>
            </a:r>
            <a:endParaRPr lang="en-US" sz="1800" dirty="0"/>
          </a:p>
        </p:txBody>
      </p:sp>
      <p:sp>
        <p:nvSpPr>
          <p:cNvPr id="8" name="Shape 5"/>
          <p:cNvSpPr/>
          <p:nvPr/>
        </p:nvSpPr>
        <p:spPr>
          <a:xfrm>
            <a:off x="6172200" y="2011680"/>
            <a:ext cx="5349240" cy="1828800"/>
          </a:xfrm>
          <a:prstGeom prst="roundRect">
            <a:avLst>
              <a:gd name="adj" fmla="val 3000"/>
            </a:avLst>
          </a:prstGeom>
          <a:solidFill>
            <a:srgbClr val="1B315C"/>
          </a:solidFill>
          <a:ln w="12700">
            <a:solidFill>
              <a:srgbClr val="80ADC4"/>
            </a:solidFill>
            <a:prstDash val="solid"/>
          </a:ln>
        </p:spPr>
      </p:sp>
      <p:pic>
        <p:nvPicPr>
          <p:cNvPr id="9" name="Image 1" descr="/home/claude/english/kit/decks/_icons/edit-3-FFFFFF.png">    </p:cNvPr>
          <p:cNvPicPr>
            <a:picLocks noChangeAspect="1"/>
          </p:cNvPicPr>
          <p:nvPr/>
        </p:nvPicPr>
        <p:blipFill>
          <a:blip r:embed="rId2"/>
          <a:stretch>
            <a:fillRect/>
          </a:stretch>
        </p:blipFill>
        <p:spPr>
          <a:xfrm>
            <a:off x="6446520" y="2331720"/>
            <a:ext cx="566928" cy="566928"/>
          </a:xfrm>
          <a:prstGeom prst="rect">
            <a:avLst/>
          </a:prstGeom>
        </p:spPr>
      </p:pic>
      <p:sp>
        <p:nvSpPr>
          <p:cNvPr id="10" name="Text 6"/>
          <p:cNvSpPr/>
          <p:nvPr/>
        </p:nvSpPr>
        <p:spPr>
          <a:xfrm>
            <a:off x="740664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Write</a:t>
            </a:r>
            <a:endParaRPr lang="en-US" sz="1900" dirty="0"/>
          </a:p>
        </p:txBody>
      </p:sp>
      <p:sp>
        <p:nvSpPr>
          <p:cNvPr id="11" name="Text 7"/>
          <p:cNvSpPr/>
          <p:nvPr/>
        </p:nvSpPr>
        <p:spPr>
          <a:xfrm>
            <a:off x="740664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Two character traits of Holmes. For each: the trait, a quotation, and what it lets him see.</a:t>
            </a:r>
            <a:endParaRPr lang="en-US" sz="1800" dirty="0"/>
          </a:p>
        </p:txBody>
      </p:sp>
      <p:sp>
        <p:nvSpPr>
          <p:cNvPr id="12" name="Shape 8"/>
          <p:cNvSpPr/>
          <p:nvPr/>
        </p:nvSpPr>
        <p:spPr>
          <a:xfrm>
            <a:off x="548640" y="4023360"/>
            <a:ext cx="5349240" cy="1828800"/>
          </a:xfrm>
          <a:prstGeom prst="roundRect">
            <a:avLst>
              <a:gd name="adj" fmla="val 3000"/>
            </a:avLst>
          </a:prstGeom>
          <a:solidFill>
            <a:srgbClr val="1B315C"/>
          </a:solidFill>
          <a:ln w="12700">
            <a:solidFill>
              <a:srgbClr val="80ADC4"/>
            </a:solidFill>
            <a:prstDash val="solid"/>
          </a:ln>
        </p:spPr>
      </p:sp>
      <p:pic>
        <p:nvPicPr>
          <p:cNvPr id="13" name="Image 2" descr="/home/claude/english/kit/decks/_icons/book-open-FFFFFF.png">    </p:cNvPr>
          <p:cNvPicPr>
            <a:picLocks noChangeAspect="1"/>
          </p:cNvPicPr>
          <p:nvPr/>
        </p:nvPicPr>
        <p:blipFill>
          <a:blip r:embed="rId3"/>
          <a:stretch>
            <a:fillRect/>
          </a:stretch>
        </p:blipFill>
        <p:spPr>
          <a:xfrm>
            <a:off x="822960" y="4343400"/>
            <a:ext cx="566928" cy="566928"/>
          </a:xfrm>
          <a:prstGeom prst="rect">
            <a:avLst/>
          </a:prstGeom>
        </p:spPr>
      </p:pic>
      <p:sp>
        <p:nvSpPr>
          <p:cNvPr id="14" name="Text 9"/>
          <p:cNvSpPr/>
          <p:nvPr/>
        </p:nvSpPr>
        <p:spPr>
          <a:xfrm>
            <a:off x="178308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Read</a:t>
            </a:r>
            <a:endParaRPr lang="en-US" sz="1900" dirty="0"/>
          </a:p>
        </p:txBody>
      </p:sp>
      <p:sp>
        <p:nvSpPr>
          <p:cNvPr id="15" name="Text 10"/>
          <p:cNvSpPr/>
          <p:nvPr/>
        </p:nvSpPr>
        <p:spPr>
          <a:xfrm>
            <a:off x="178308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Read the extract again. Circle every fact about Spaulding — you will need them in week 3.</a:t>
            </a:r>
            <a:endParaRPr lang="en-US" sz="1800" dirty="0"/>
          </a:p>
        </p:txBody>
      </p:sp>
      <p:sp>
        <p:nvSpPr>
          <p:cNvPr id="16" name="Shape 11"/>
          <p:cNvSpPr/>
          <p:nvPr/>
        </p:nvSpPr>
        <p:spPr>
          <a:xfrm>
            <a:off x="6172200" y="4023360"/>
            <a:ext cx="5349240" cy="1828800"/>
          </a:xfrm>
          <a:prstGeom prst="roundRect">
            <a:avLst>
              <a:gd name="adj" fmla="val 3000"/>
            </a:avLst>
          </a:prstGeom>
          <a:solidFill>
            <a:srgbClr val="1B315C"/>
          </a:solidFill>
          <a:ln w="12700">
            <a:solidFill>
              <a:srgbClr val="80ADC4"/>
            </a:solidFill>
            <a:prstDash val="solid"/>
          </a:ln>
        </p:spPr>
      </p:sp>
      <p:pic>
        <p:nvPicPr>
          <p:cNvPr id="17" name="Image 3" descr="/home/claude/english/kit/decks/_icons/repeat-FFFFFF.png">    </p:cNvPr>
          <p:cNvPicPr>
            <a:picLocks noChangeAspect="1"/>
          </p:cNvPicPr>
          <p:nvPr/>
        </p:nvPicPr>
        <p:blipFill>
          <a:blip r:embed="rId4"/>
          <a:stretch>
            <a:fillRect/>
          </a:stretch>
        </p:blipFill>
        <p:spPr>
          <a:xfrm>
            <a:off x="6446520" y="4343400"/>
            <a:ext cx="566928" cy="566928"/>
          </a:xfrm>
          <a:prstGeom prst="rect">
            <a:avLst/>
          </a:prstGeom>
        </p:spPr>
      </p:pic>
      <p:sp>
        <p:nvSpPr>
          <p:cNvPr id="18" name="Text 12"/>
          <p:cNvSpPr/>
          <p:nvPr/>
        </p:nvSpPr>
        <p:spPr>
          <a:xfrm>
            <a:off x="740664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Return</a:t>
            </a:r>
            <a:endParaRPr lang="en-US" sz="1900" dirty="0"/>
          </a:p>
        </p:txBody>
      </p:sp>
      <p:sp>
        <p:nvSpPr>
          <p:cNvPr id="19" name="Text 13"/>
          <p:cNvSpPr/>
          <p:nvPr/>
        </p:nvSpPr>
        <p:spPr>
          <a:xfrm>
            <a:off x="740664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This lesson's bell questions come back next week as a retrieval quiz. Can you beat your score of /5?</a:t>
            </a:r>
            <a:endParaRPr lang="en-US" sz="1800" dirty="0"/>
          </a:p>
        </p:txBody>
      </p:sp>
      <p:sp>
        <p:nvSpPr>
          <p:cNvPr id="20" name="Text 14"/>
          <p:cNvSpPr/>
          <p:nvPr/>
        </p:nvSpPr>
        <p:spPr>
          <a:xfrm>
            <a:off x="548640" y="6309360"/>
            <a:ext cx="10058400" cy="365760"/>
          </a:xfrm>
          <a:prstGeom prst="rect">
            <a:avLst/>
          </a:prstGeom>
          <a:noFill/>
          <a:ln/>
        </p:spPr>
        <p:txBody>
          <a:bodyPr wrap="square" lIns="0" tIns="0" rIns="0" bIns="0" rtlCol="0" anchor="ctr"/>
          <a:lstStyle/>
          <a:p>
            <a:pPr indent="0" marL="0">
              <a:buNone/>
            </a:pPr>
            <a:r>
              <a:rPr lang="en-US" sz="1200" i="1" dirty="0">
                <a:solidFill>
                  <a:srgbClr val="8FA6C4"/>
                </a:solidFill>
                <a:latin typeface="Arial" pitchFamily="34" charset="0"/>
                <a:ea typeface="Arial" pitchFamily="34" charset="-122"/>
                <a:cs typeface="Arial" pitchFamily="34" charset="-120"/>
              </a:rPr>
              <a:t>Harlington English · The Red-Headed League · Lesson 2 of 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Red-Headed League · L2 The League: plot and character</dc:title>
  <dc:subject>PptxGenJS Presentation</dc:subject>
  <dc:creator>Harlington English</dc:creator>
  <cp:lastModifiedBy>Harlington English</cp:lastModifiedBy>
  <cp:revision>1</cp:revision>
  <dcterms:created xsi:type="dcterms:W3CDTF">2026-09-04T20:58:59Z</dcterms:created>
  <dcterms:modified xsi:type="dcterms:W3CDTF">2026-09-04T20:58:59Z</dcterms:modified>
</cp:coreProperties>
</file>