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HISTORY OF THE ENGLISH LANGUAGE · LESSON 2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Where English came from</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five words we use to describe any story.</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the difference between genre and form?</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the big idea that runs through Year 7 English?</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three peoples who came to Britain long ago.</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A word's origin is…</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History of the English Language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poems and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character, setting and plot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spelling, grammar and punctuation</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Big idea for Year 7: Journeys</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what is English?</a:t>
            </a:r>
            <a:endParaRPr lang="en-US" sz="1400" dirty="0"/>
          </a:p>
        </p:txBody>
      </p:sp>
      <p:sp>
        <p:nvSpPr>
          <p:cNvPr id="22" name="Shape 19"/>
          <p:cNvSpPr/>
          <p:nvPr/>
        </p:nvSpPr>
        <p:spPr>
          <a:xfrm>
            <a:off x="4114800" y="2761488"/>
            <a:ext cx="3931920" cy="420624"/>
          </a:xfrm>
          <a:prstGeom prst="roundRect">
            <a:avLst>
              <a:gd name="adj" fmla="val 26087"/>
            </a:avLst>
          </a:prstGeom>
          <a:solidFill>
            <a:srgbClr val="12294D"/>
          </a:solidFill>
          <a:ln w="12700">
            <a:solidFill>
              <a:srgbClr val="12294D"/>
            </a:solidFill>
            <a:prstDash val="solid"/>
          </a:ln>
        </p:spPr>
      </p:sp>
      <p:sp>
        <p:nvSpPr>
          <p:cNvPr id="23" name="Text 20"/>
          <p:cNvSpPr/>
          <p:nvPr/>
        </p:nvSpPr>
        <p:spPr>
          <a:xfrm>
            <a:off x="4242816" y="2816352"/>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Where English came from</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Brontë, Shakespeare, Dickens</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Genre and form</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Types of hero</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Dialects and identity</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words and terms</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an epic journey home</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keeping us guessing</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History of the English Language  ·  Where English came from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2 · WHERE ENGLISH CAME FROM</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Tell the story of English in order: Celts, Romans, Anglo-Saxons, Vikings, Normans, printing, Shakespeare, today.</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Work out which language a word came from by looking at what it means and how it sounds.</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which arrival changed English most — and defend your choice with two words as evidence.</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the five words we use to describe any story.</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Character, setting, plot, genre, form.</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the difference between genre and form?</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Genre = what kind of story (horror, mystery); form = what shape (poem, play, novel).</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What is the big idea that runs through Year 7 English?</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Journeys — in stories, in language, and in Year 7 itself.</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Name three peoples who came to Britain long ago.</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three of: Celts, Romans, Anglo-Saxons, Vikings, Normans.</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A word's origin is…</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…where it comes from — the language and people it started with.</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etymology</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study of where a word comes from and how it changed</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Old English</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Anglo-Saxon language — the roots of our everyday words</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Norse</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Vikings' language; it gave us sky, egg, they and them</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Norman</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French rulers from 1066; gave us castle, beef, judge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borrowing</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taking a word from another language and making it ours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A road made of words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first three arrivals. Each left words on the road behind them.</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CELTS &amp; ROMANS</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Celts named the rivers: Thames, Avon. Romans built and left Latin: street, wall, mile, wine.</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ANGLO-SAXONS</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From about 450 AD. Their Old English gave us the short, strong words: house, bread, water, king.</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VIKINGS</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From about 800 AD. Norse gave us sky, egg, leg, knife — and even they and them.</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The words you use most are the oldest ones on the road.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1066 and after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more turns in the road — and the one that gave English two words for everything.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NORMANS, 1066</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French became the language of the rich. Farmers said cow and pig; lords ate beef and pork.</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PRINTING, 1476</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Caxton's press made books cheap. Spelling began to settle; more people learned to read.</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SHAKESPEARE</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Joined old words into new ones — eyeball, bedroom. Thousands of words first appear in his plays.</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Today English still borrows: pyjamas, ketchup, robot, emoji.</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scene from a market in a Norman town. Listen for two words for one thing.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farmer led his cow through the mud to the castle gate. He had called it a cow all its life, in the old words his grandmother used. At the gate the lord's steward looked at it and wrote one word in his book: beef. The farmer did not know that word. It was French, and French was for people with boots. He sold the cow, took his coins, and walked home past the church, where the priest was reading Latin from a book no farmer could read. Three languages in one morning, and the farmer had only one of them. But his words were the ones that would last.</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two words are used for the same animal — and by whom?</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three languages in the extract. Who speaks each one?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writer say the farmer's words 'would last'?</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of today's key words does this scene explain best?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Word detective — which road?</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Four families of words. Look for the pattern in each column.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Shape 10"/>
          <p:cNvSpPr/>
          <p:nvPr/>
        </p:nvSpPr>
        <p:spPr>
          <a:xfrm>
            <a:off x="548640" y="1828800"/>
            <a:ext cx="259461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Old English</a:t>
            </a:r>
            <a:endParaRPr lang="en-US" sz="1600" dirty="0"/>
          </a:p>
        </p:txBody>
      </p:sp>
      <p:sp>
        <p:nvSpPr>
          <p:cNvPr id="15" name="Text 12"/>
          <p:cNvSpPr/>
          <p:nvPr/>
        </p:nvSpPr>
        <p:spPr>
          <a:xfrm>
            <a:off x="64008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Anglo-Saxon</a:t>
            </a:r>
            <a:endParaRPr lang="en-US" sz="1400" dirty="0"/>
          </a:p>
        </p:txBody>
      </p:sp>
      <p:sp>
        <p:nvSpPr>
          <p:cNvPr id="16" name="Shape 13"/>
          <p:cNvSpPr/>
          <p:nvPr/>
        </p:nvSpPr>
        <p:spPr>
          <a:xfrm>
            <a:off x="548640" y="2788920"/>
            <a:ext cx="2594610" cy="3291840"/>
          </a:xfrm>
          <a:prstGeom prst="roundRect">
            <a:avLst>
              <a:gd name="adj" fmla="val 2115"/>
            </a:avLst>
          </a:prstGeom>
          <a:solidFill>
            <a:srgbClr val="FBF0D8"/>
          </a:solidFill>
          <a:ln w="12700">
            <a:solidFill>
              <a:srgbClr val="12294D"/>
            </a:solidFill>
            <a:prstDash val="solid"/>
          </a:ln>
        </p:spPr>
      </p:sp>
      <p:sp>
        <p:nvSpPr>
          <p:cNvPr id="17" name="Text 14"/>
          <p:cNvSpPr/>
          <p:nvPr/>
        </p:nvSpPr>
        <p:spPr>
          <a:xfrm>
            <a:off x="65836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house · bread · water · mother · king · sheep · cow. Short, plain, everyday — the words a child learns first.</a:t>
            </a:r>
            <a:endParaRPr lang="en-US" sz="1800" dirty="0"/>
          </a:p>
        </p:txBody>
      </p:sp>
      <p:sp>
        <p:nvSpPr>
          <p:cNvPr id="18" name="Shape 15"/>
          <p:cNvSpPr/>
          <p:nvPr/>
        </p:nvSpPr>
        <p:spPr>
          <a:xfrm>
            <a:off x="3371850" y="1828800"/>
            <a:ext cx="259461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346329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Norse</a:t>
            </a:r>
            <a:endParaRPr lang="en-US" sz="1600" dirty="0"/>
          </a:p>
        </p:txBody>
      </p:sp>
      <p:sp>
        <p:nvSpPr>
          <p:cNvPr id="20" name="Text 17"/>
          <p:cNvSpPr/>
          <p:nvPr/>
        </p:nvSpPr>
        <p:spPr>
          <a:xfrm>
            <a:off x="346329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Viking</a:t>
            </a:r>
            <a:endParaRPr lang="en-US" sz="1400" dirty="0"/>
          </a:p>
        </p:txBody>
      </p:sp>
      <p:sp>
        <p:nvSpPr>
          <p:cNvPr id="21" name="Shape 18"/>
          <p:cNvSpPr/>
          <p:nvPr/>
        </p:nvSpPr>
        <p:spPr>
          <a:xfrm>
            <a:off x="3371850" y="2788920"/>
            <a:ext cx="2594610" cy="3291840"/>
          </a:xfrm>
          <a:prstGeom prst="roundRect">
            <a:avLst>
              <a:gd name="adj" fmla="val 2115"/>
            </a:avLst>
          </a:prstGeom>
          <a:solidFill>
            <a:srgbClr val="E4F3EF"/>
          </a:solidFill>
          <a:ln w="12700">
            <a:solidFill>
              <a:srgbClr val="00A08A"/>
            </a:solidFill>
            <a:prstDash val="solid"/>
          </a:ln>
        </p:spPr>
      </p:sp>
      <p:sp>
        <p:nvSpPr>
          <p:cNvPr id="22" name="Text 19"/>
          <p:cNvSpPr/>
          <p:nvPr/>
        </p:nvSpPr>
        <p:spPr>
          <a:xfrm>
            <a:off x="348157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sky · egg · leg · knife · window · they · them. Place names ending in -by: Whitby, Grimsby, Derby.</a:t>
            </a:r>
            <a:endParaRPr lang="en-US" sz="1800" dirty="0"/>
          </a:p>
        </p:txBody>
      </p:sp>
      <p:sp>
        <p:nvSpPr>
          <p:cNvPr id="23" name="Shape 20"/>
          <p:cNvSpPr/>
          <p:nvPr/>
        </p:nvSpPr>
        <p:spPr>
          <a:xfrm>
            <a:off x="6195060" y="1828800"/>
            <a:ext cx="259461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628650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French</a:t>
            </a:r>
            <a:endParaRPr lang="en-US" sz="1600" dirty="0"/>
          </a:p>
        </p:txBody>
      </p:sp>
      <p:sp>
        <p:nvSpPr>
          <p:cNvPr id="25" name="Text 22"/>
          <p:cNvSpPr/>
          <p:nvPr/>
        </p:nvSpPr>
        <p:spPr>
          <a:xfrm>
            <a:off x="628650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Norman</a:t>
            </a:r>
            <a:endParaRPr lang="en-US" sz="1400" dirty="0"/>
          </a:p>
        </p:txBody>
      </p:sp>
      <p:sp>
        <p:nvSpPr>
          <p:cNvPr id="26" name="Shape 23"/>
          <p:cNvSpPr/>
          <p:nvPr/>
        </p:nvSpPr>
        <p:spPr>
          <a:xfrm>
            <a:off x="6195060" y="2788920"/>
            <a:ext cx="2594610" cy="3291840"/>
          </a:xfrm>
          <a:prstGeom prst="roundRect">
            <a:avLst>
              <a:gd name="adj" fmla="val 2115"/>
            </a:avLst>
          </a:prstGeom>
          <a:solidFill>
            <a:srgbClr val="FBE4E4"/>
          </a:solidFill>
          <a:ln w="12700">
            <a:solidFill>
              <a:srgbClr val="FF5470"/>
            </a:solidFill>
            <a:prstDash val="solid"/>
          </a:ln>
        </p:spPr>
      </p:sp>
      <p:sp>
        <p:nvSpPr>
          <p:cNvPr id="27" name="Text 24"/>
          <p:cNvSpPr/>
          <p:nvPr/>
        </p:nvSpPr>
        <p:spPr>
          <a:xfrm>
            <a:off x="630478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castle · beef · pork · judge · royal · court · beauty. Words for power, law, food on a lord's table.</a:t>
            </a:r>
            <a:endParaRPr lang="en-US" sz="1800" dirty="0"/>
          </a:p>
        </p:txBody>
      </p:sp>
      <p:sp>
        <p:nvSpPr>
          <p:cNvPr id="28" name="Shape 25"/>
          <p:cNvSpPr/>
          <p:nvPr/>
        </p:nvSpPr>
        <p:spPr>
          <a:xfrm>
            <a:off x="9018270" y="1828800"/>
            <a:ext cx="2594610" cy="868680"/>
          </a:xfrm>
          <a:prstGeom prst="roundRect">
            <a:avLst>
              <a:gd name="adj" fmla="val 8421"/>
            </a:avLst>
          </a:prstGeom>
          <a:solidFill>
            <a:srgbClr val="6C3A6E"/>
          </a:solidFill>
          <a:ln w="12700">
            <a:solidFill>
              <a:srgbClr val="6C3A6E"/>
            </a:solidFill>
            <a:prstDash val="solid"/>
          </a:ln>
        </p:spPr>
      </p:sp>
      <p:sp>
        <p:nvSpPr>
          <p:cNvPr id="29" name="Text 26"/>
          <p:cNvSpPr/>
          <p:nvPr/>
        </p:nvSpPr>
        <p:spPr>
          <a:xfrm>
            <a:off x="910971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Latin</a:t>
            </a:r>
            <a:endParaRPr lang="en-US" sz="1600" dirty="0"/>
          </a:p>
        </p:txBody>
      </p:sp>
      <p:sp>
        <p:nvSpPr>
          <p:cNvPr id="30" name="Text 27"/>
          <p:cNvSpPr/>
          <p:nvPr/>
        </p:nvSpPr>
        <p:spPr>
          <a:xfrm>
            <a:off x="910971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Roman &amp; church</a:t>
            </a:r>
            <a:endParaRPr lang="en-US" sz="1400" dirty="0"/>
          </a:p>
        </p:txBody>
      </p:sp>
      <p:sp>
        <p:nvSpPr>
          <p:cNvPr id="31" name="Shape 28"/>
          <p:cNvSpPr/>
          <p:nvPr/>
        </p:nvSpPr>
        <p:spPr>
          <a:xfrm>
            <a:off x="9018270" y="2788920"/>
            <a:ext cx="2594610" cy="3291840"/>
          </a:xfrm>
          <a:prstGeom prst="roundRect">
            <a:avLst>
              <a:gd name="adj" fmla="val 2115"/>
            </a:avLst>
          </a:prstGeom>
          <a:solidFill>
            <a:srgbClr val="EFE6F0"/>
          </a:solidFill>
          <a:ln w="12700">
            <a:solidFill>
              <a:srgbClr val="6C3A6E"/>
            </a:solidFill>
            <a:prstDash val="solid"/>
          </a:ln>
        </p:spPr>
      </p:sp>
      <p:sp>
        <p:nvSpPr>
          <p:cNvPr id="32" name="Text 29"/>
          <p:cNvSpPr/>
          <p:nvPr/>
        </p:nvSpPr>
        <p:spPr>
          <a:xfrm>
            <a:off x="912799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street · wall · mile · wine · school · candle. Words for building, learning and religion.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RETRIEVAL · word detective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Whiteboards. Ten words on the board; write the road each one came down.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341656" y="1888236"/>
            <a:ext cx="246888" cy="246888"/>
          </a:xfrm>
          <a:prstGeom prst="rect">
            <a:avLst/>
          </a:prstGeom>
        </p:spPr>
      </p:pic>
      <p:sp>
        <p:nvSpPr>
          <p:cNvPr id="15" name="Text 11"/>
          <p:cNvSpPr/>
          <p:nvPr/>
        </p:nvSpPr>
        <p:spPr>
          <a:xfrm>
            <a:off x="3707416" y="1783080"/>
            <a:ext cx="2094929"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RETRIEVAL · PAIRS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Can you tell a word's origin from its sound and its job?</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Teacher shows ten words: egg, castle, bread, street, judge, sky, mother, wine, Whitby, royal.</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In pairs, sort them: Old English · Norse · French · Latin. One minute.</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Swap boards with another pair and mark. Two points for a correct road, one for a good reason.</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Class vote: which was hardest? Use the compare slide to settle it.</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Retrieval practice and peer tutoring — +5 months,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answers the Big Question.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Put the arrivals in order: Vikings, Romans, Normans, Anglo-Saxons, Celts.</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English have both cow and beef? Explain using the word Norman.</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word Whitby tell a word detective about who lived there?</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arrival changed English most? Choose one and give two words as evidence.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lines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Where English came from</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Order</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arrivals in the right order, with one word from each.</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Explain</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the word etymology or origin correctly in a sentence about one word.</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with your choice and two words as evidence.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2 to 8: the Celts to Shakespeare. Tap any sentence you are not sure of.</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search-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Research</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Find five words and their origins. One must be Norse, one French. Write where you looked.</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sentences: the story of English in order, using Old English, Norse and Norman.</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week's bell work asks for the order of arrivals and one word from each.</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History of the English Language · Lesson 2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the English Language · L2 Where English came from</dc:title>
  <dc:subject>PptxGenJS Presentation</dc:subject>
  <dc:creator>Harlington English</dc:creator>
  <cp:lastModifiedBy>Harlington English</cp:lastModifiedBy>
  <cp:revision>1</cp:revision>
  <dcterms:created xsi:type="dcterms:W3CDTF">2026-09-04T20:58:56Z</dcterms:created>
  <dcterms:modified xsi:type="dcterms:W3CDTF">2026-09-04T20:58:56Z</dcterms:modified>
</cp:coreProperties>
</file>