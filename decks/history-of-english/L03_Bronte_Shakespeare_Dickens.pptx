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HISTORY OF THE ENGLISH LANGUAGE · LESSON 3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Brontë, Shakespeare, Dickens</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Put in order: Normans, Romans, Vikings, Anglo-Saxons.</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language gave us they, them and sky?</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English have both cow and beef?</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did Caxton bring to London in 1476?</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word that first appears in Shakespeare's plays.</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History of the English Language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poems and non-fiction</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character, setting and plot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spelling, grammar and punctuation</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Big idea for Year 7: Journeys</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Journeys: what is English?</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Where English came from</a:t>
            </a:r>
            <a:endParaRPr lang="en-US" sz="1400" dirty="0"/>
          </a:p>
        </p:txBody>
      </p:sp>
      <p:sp>
        <p:nvSpPr>
          <p:cNvPr id="25" name="Shape 22"/>
          <p:cNvSpPr/>
          <p:nvPr/>
        </p:nvSpPr>
        <p:spPr>
          <a:xfrm>
            <a:off x="4114800" y="3328416"/>
            <a:ext cx="3931920" cy="420624"/>
          </a:xfrm>
          <a:prstGeom prst="roundRect">
            <a:avLst>
              <a:gd name="adj" fmla="val 26087"/>
            </a:avLst>
          </a:prstGeom>
          <a:solidFill>
            <a:srgbClr val="12294D"/>
          </a:solidFill>
          <a:ln w="12700">
            <a:solidFill>
              <a:srgbClr val="12294D"/>
            </a:solidFill>
            <a:prstDash val="solid"/>
          </a:ln>
        </p:spPr>
      </p:sp>
      <p:sp>
        <p:nvSpPr>
          <p:cNvPr id="26" name="Text 23"/>
          <p:cNvSpPr/>
          <p:nvPr/>
        </p:nvSpPr>
        <p:spPr>
          <a:xfrm>
            <a:off x="4242816" y="3383280"/>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Brontë, Shakespeare, Dickens</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Genre and form</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Types of hero</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Dialects and identity</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words and terms</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an epic journey home</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keeping us guessing</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History of the English Language  ·  Brontë, Shakespeare, Dickens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3 · BRONTË, SHAKESPEARE, DICKENS</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Say who Shakespeare, the Brontës and Dickens were, when they wrote, and what kind of text each is famous for.</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how a writer's time and place — their context — shape what they choose to write about.</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Judge which of the three writers was changed most by their world, and support it with one fact each.</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Put in order: Normans, Romans, Vikings, Anglo-Saxons.</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Romans, Anglo-Saxons, Vikings, Normans.</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Which language gave us they, them and sky?</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Norse — the language of the Vikings.</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Why does English have both cow and beef?</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Cow is Old English (the farmer's word); beef is Norman French (the lord's word).</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did Caxton bring to London in 1476?</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printing press — books became cheap and spelling settled.</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Name one word that first appears in Shakespeare's plays.</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Eyeball, bedroom, gloomy, lonely — any one.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context</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time, place and life around a writer that shape the text</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playwright</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person who writes plays — Shakespeare's job</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novelist</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person who writes novels — the Brontës' and Dickens's job</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Elizabethan</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Elizabeth I's reign (1558–1603) — Shakespeare's time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Victorian</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Victoria's reign (1837–1901) — Dickens's time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Three writers, three worlds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Famous British writers — and why their names still matter.</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SHAKESPEARE</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1564–1616. Playwright and poet in Elizabethan London. 37 plays; kings, lovers, ghosts and clowns.</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BRONTËS</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Charlotte, Emily, Anne. 1840s, a vicarage on the Yorkshire moors. Novels of wild love and hard lives.</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DICKENS</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1812–1870. Victorian novelist in London. Wrote about the poor, the workhouse and the fog.</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None of them wrote in a vacuum. Their world is in every line.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Context — time and place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What was happening around each writer? Look for what leaks into the writing.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Shape 10"/>
          <p:cNvSpPr/>
          <p:nvPr/>
        </p:nvSpPr>
        <p:spPr>
          <a:xfrm>
            <a:off x="548640" y="1828800"/>
            <a:ext cx="353568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Shakespeare</a:t>
            </a:r>
            <a:endParaRPr lang="en-US" sz="1600" dirty="0"/>
          </a:p>
        </p:txBody>
      </p:sp>
      <p:sp>
        <p:nvSpPr>
          <p:cNvPr id="15" name="Text 12"/>
          <p:cNvSpPr/>
          <p:nvPr/>
        </p:nvSpPr>
        <p:spPr>
          <a:xfrm>
            <a:off x="64008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1590s London</a:t>
            </a:r>
            <a:endParaRPr lang="en-US" sz="1400" dirty="0"/>
          </a:p>
        </p:txBody>
      </p:sp>
      <p:sp>
        <p:nvSpPr>
          <p:cNvPr id="16" name="Shape 13"/>
          <p:cNvSpPr/>
          <p:nvPr/>
        </p:nvSpPr>
        <p:spPr>
          <a:xfrm>
            <a:off x="548640" y="2788920"/>
            <a:ext cx="3535680" cy="3291840"/>
          </a:xfrm>
          <a:prstGeom prst="roundRect">
            <a:avLst>
              <a:gd name="adj" fmla="val 1667"/>
            </a:avLst>
          </a:prstGeom>
          <a:solidFill>
            <a:srgbClr val="FBF0D8"/>
          </a:solidFill>
          <a:ln w="12700">
            <a:solidFill>
              <a:srgbClr val="12294D"/>
            </a:solidFill>
            <a:prstDash val="solid"/>
          </a:ln>
        </p:spPr>
      </p:sp>
      <p:sp>
        <p:nvSpPr>
          <p:cNvPr id="17" name="Text 14"/>
          <p:cNvSpPr/>
          <p:nvPr/>
        </p:nvSpPr>
        <p:spPr>
          <a:xfrm>
            <a:off x="65836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Open-air theatres, plague years, a queen with no heir. Crowds of all classes paid a penny to stand.</a:t>
            </a:r>
            <a:endParaRPr lang="en-US" sz="1800" dirty="0"/>
          </a:p>
        </p:txBody>
      </p:sp>
      <p:sp>
        <p:nvSpPr>
          <p:cNvPr id="18" name="Shape 15"/>
          <p:cNvSpPr/>
          <p:nvPr/>
        </p:nvSpPr>
        <p:spPr>
          <a:xfrm>
            <a:off x="4312920" y="1828800"/>
            <a:ext cx="353568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440436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Brontës</a:t>
            </a:r>
            <a:endParaRPr lang="en-US" sz="1600" dirty="0"/>
          </a:p>
        </p:txBody>
      </p:sp>
      <p:sp>
        <p:nvSpPr>
          <p:cNvPr id="20" name="Text 17"/>
          <p:cNvSpPr/>
          <p:nvPr/>
        </p:nvSpPr>
        <p:spPr>
          <a:xfrm>
            <a:off x="440436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1840s Yorkshire</a:t>
            </a:r>
            <a:endParaRPr lang="en-US" sz="1400" dirty="0"/>
          </a:p>
        </p:txBody>
      </p:sp>
      <p:sp>
        <p:nvSpPr>
          <p:cNvPr id="21" name="Shape 18"/>
          <p:cNvSpPr/>
          <p:nvPr/>
        </p:nvSpPr>
        <p:spPr>
          <a:xfrm>
            <a:off x="4312920" y="2788920"/>
            <a:ext cx="3535680" cy="3291840"/>
          </a:xfrm>
          <a:prstGeom prst="roundRect">
            <a:avLst>
              <a:gd name="adj" fmla="val 1667"/>
            </a:avLst>
          </a:prstGeom>
          <a:solidFill>
            <a:srgbClr val="E4F3EF"/>
          </a:solidFill>
          <a:ln w="12700">
            <a:solidFill>
              <a:srgbClr val="00A08A"/>
            </a:solidFill>
            <a:prstDash val="solid"/>
          </a:ln>
        </p:spPr>
      </p:sp>
      <p:sp>
        <p:nvSpPr>
          <p:cNvPr id="22" name="Text 19"/>
          <p:cNvSpPr/>
          <p:nvPr/>
        </p:nvSpPr>
        <p:spPr>
          <a:xfrm>
            <a:off x="442264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Moors, wind, a graveyard by the house. Women wrote under men's names to be published at all.</a:t>
            </a:r>
            <a:endParaRPr lang="en-US" sz="1800" dirty="0"/>
          </a:p>
        </p:txBody>
      </p:sp>
      <p:sp>
        <p:nvSpPr>
          <p:cNvPr id="23" name="Shape 20"/>
          <p:cNvSpPr/>
          <p:nvPr/>
        </p:nvSpPr>
        <p:spPr>
          <a:xfrm>
            <a:off x="8077200" y="1828800"/>
            <a:ext cx="353568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816864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Dickens</a:t>
            </a:r>
            <a:endParaRPr lang="en-US" sz="1600" dirty="0"/>
          </a:p>
        </p:txBody>
      </p:sp>
      <p:sp>
        <p:nvSpPr>
          <p:cNvPr id="25" name="Text 22"/>
          <p:cNvSpPr/>
          <p:nvPr/>
        </p:nvSpPr>
        <p:spPr>
          <a:xfrm>
            <a:off x="816864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1840s London</a:t>
            </a:r>
            <a:endParaRPr lang="en-US" sz="1400" dirty="0"/>
          </a:p>
        </p:txBody>
      </p:sp>
      <p:sp>
        <p:nvSpPr>
          <p:cNvPr id="26" name="Shape 23"/>
          <p:cNvSpPr/>
          <p:nvPr/>
        </p:nvSpPr>
        <p:spPr>
          <a:xfrm>
            <a:off x="8077200" y="2788920"/>
            <a:ext cx="3535680" cy="3291840"/>
          </a:xfrm>
          <a:prstGeom prst="roundRect">
            <a:avLst>
              <a:gd name="adj" fmla="val 1667"/>
            </a:avLst>
          </a:prstGeom>
          <a:solidFill>
            <a:srgbClr val="FBE4E4"/>
          </a:solidFill>
          <a:ln w="12700">
            <a:solidFill>
              <a:srgbClr val="FF5470"/>
            </a:solidFill>
            <a:prstDash val="solid"/>
          </a:ln>
        </p:spPr>
      </p:sp>
      <p:sp>
        <p:nvSpPr>
          <p:cNvPr id="27" name="Text 24"/>
          <p:cNvSpPr/>
          <p:nvPr/>
        </p:nvSpPr>
        <p:spPr>
          <a:xfrm>
            <a:off x="818692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Factories, child labour, the workhouse. Dickens worked in one at twelve — and never forgot it.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scene set in the London Dickens knew. Not his words — but his world.</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PROSE WRITTEN FOR THIS LESSON, SET IN VICTORIAN LONDON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fog came up from the river before the lamps were lit, and by six it had swallowed the street whole. Tom stood at the factory gate with the other boys, coughing, his hands black to the wrist. Twelve hours for four pence. Across the road a coach went by, its windows bright, a girl inside eating something from a paper bag. She looked at him. He looked at her. Then the fog closed like a door between them, and the gate bell rang, and he went back in. Nobody had written his name in any book. Not yet.</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List three details that tell you this is Victorian London.</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'twelve hours for four pence' show about Tom's life?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might the writer put a rich girl and a poor boy on the same street?</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last line, 'Not yet', connect to Dickens's own life?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message-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Two lines — analyse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For EACH line: what does it MEAN · what does it SHOW about the context · what EFFECT does it have on us?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Shape 10"/>
          <p:cNvSpPr/>
          <p:nvPr/>
        </p:nvSpPr>
        <p:spPr>
          <a:xfrm>
            <a:off x="548640" y="1783080"/>
            <a:ext cx="5417820" cy="502920"/>
          </a:xfrm>
          <a:prstGeom prst="roundRect">
            <a:avLst>
              <a:gd name="adj" fmla="val 14545"/>
            </a:avLst>
          </a:prstGeom>
          <a:solidFill>
            <a:srgbClr val="8A6D00"/>
          </a:solidFill>
          <a:ln w="12700">
            <a:solidFill>
              <a:srgbClr val="8A6D00"/>
            </a:solidFill>
            <a:prstDash val="solid"/>
          </a:ln>
        </p:spPr>
      </p:sp>
      <p:pic>
        <p:nvPicPr>
          <p:cNvPr id="14" name="Image 1" descr="/home/claude/english/kit/decks/_icons/book-open-FFFFFF.png">    </p:cNvPr>
          <p:cNvPicPr>
            <a:picLocks noChangeAspect="1"/>
          </p:cNvPicPr>
          <p:nvPr/>
        </p:nvPicPr>
        <p:blipFill>
          <a:blip r:embed="rId2"/>
          <a:stretch>
            <a:fillRect/>
          </a:stretch>
        </p:blipFill>
        <p:spPr>
          <a:xfrm>
            <a:off x="685800" y="1911096"/>
            <a:ext cx="246888" cy="246888"/>
          </a:xfrm>
          <a:prstGeom prst="rect">
            <a:avLst/>
          </a:prstGeom>
        </p:spPr>
      </p:pic>
      <p:sp>
        <p:nvSpPr>
          <p:cNvPr id="15" name="Text 11"/>
          <p:cNvSpPr/>
          <p:nvPr/>
        </p:nvSpPr>
        <p:spPr>
          <a:xfrm>
            <a:off x="96012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5</a:t>
            </a:r>
            <a:endParaRPr lang="en-US" sz="1800" dirty="0"/>
          </a:p>
        </p:txBody>
      </p:sp>
      <p:sp>
        <p:nvSpPr>
          <p:cNvPr id="16" name="Shape 12"/>
          <p:cNvSpPr/>
          <p:nvPr/>
        </p:nvSpPr>
        <p:spPr>
          <a:xfrm>
            <a:off x="548640" y="2377440"/>
            <a:ext cx="5417820" cy="1691640"/>
          </a:xfrm>
          <a:prstGeom prst="roundRect">
            <a:avLst>
              <a:gd name="adj" fmla="val 3243"/>
            </a:avLst>
          </a:prstGeom>
          <a:solidFill>
            <a:srgbClr val="FBF0D8"/>
          </a:solidFill>
          <a:ln w="12700">
            <a:solidFill>
              <a:srgbClr val="8A6D00"/>
            </a:solidFill>
            <a:prstDash val="solid"/>
          </a:ln>
        </p:spPr>
      </p:sp>
      <p:sp>
        <p:nvSpPr>
          <p:cNvPr id="17" name="Text 13"/>
          <p:cNvSpPr/>
          <p:nvPr/>
        </p:nvSpPr>
        <p:spPr>
          <a:xfrm>
            <a:off x="68580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Then the fog closed like a door between them.</a:t>
            </a:r>
            <a:endParaRPr lang="en-US" sz="1800" dirty="0"/>
          </a:p>
        </p:txBody>
      </p:sp>
      <p:sp>
        <p:nvSpPr>
          <p:cNvPr id="18" name="Text 14"/>
          <p:cNvSpPr/>
          <p:nvPr/>
        </p:nvSpPr>
        <p:spPr>
          <a:xfrm>
            <a:off x="54864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19" name="Shape 15"/>
          <p:cNvSpPr/>
          <p:nvPr/>
        </p:nvSpPr>
        <p:spPr>
          <a:xfrm>
            <a:off x="1920240" y="4206240"/>
            <a:ext cx="4046220" cy="548640"/>
          </a:xfrm>
          <a:prstGeom prst="roundRect">
            <a:avLst>
              <a:gd name="adj" fmla="val 11667"/>
            </a:avLst>
          </a:prstGeom>
          <a:solidFill>
            <a:srgbClr val="F4F6FA"/>
          </a:solidFill>
          <a:ln w="12700">
            <a:solidFill>
              <a:srgbClr val="80ADC4"/>
            </a:solidFill>
            <a:prstDash val="solid"/>
          </a:ln>
        </p:spPr>
      </p:sp>
      <p:sp>
        <p:nvSpPr>
          <p:cNvPr id="20" name="Text 16"/>
          <p:cNvSpPr/>
          <p:nvPr/>
        </p:nvSpPr>
        <p:spPr>
          <a:xfrm>
            <a:off x="201168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21" name="Text 17"/>
          <p:cNvSpPr/>
          <p:nvPr/>
        </p:nvSpPr>
        <p:spPr>
          <a:xfrm>
            <a:off x="54864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SHOW</a:t>
            </a:r>
            <a:endParaRPr lang="en-US" sz="1400" dirty="0"/>
          </a:p>
        </p:txBody>
      </p:sp>
      <p:sp>
        <p:nvSpPr>
          <p:cNvPr id="22" name="Shape 18"/>
          <p:cNvSpPr/>
          <p:nvPr/>
        </p:nvSpPr>
        <p:spPr>
          <a:xfrm>
            <a:off x="1920240" y="4892040"/>
            <a:ext cx="4046220" cy="548640"/>
          </a:xfrm>
          <a:prstGeom prst="roundRect">
            <a:avLst>
              <a:gd name="adj" fmla="val 11667"/>
            </a:avLst>
          </a:prstGeom>
          <a:solidFill>
            <a:srgbClr val="F4F6FA"/>
          </a:solidFill>
          <a:ln w="12700">
            <a:solidFill>
              <a:srgbClr val="80ADC4"/>
            </a:solidFill>
            <a:prstDash val="solid"/>
          </a:ln>
        </p:spPr>
      </p:sp>
      <p:sp>
        <p:nvSpPr>
          <p:cNvPr id="23" name="Text 19"/>
          <p:cNvSpPr/>
          <p:nvPr/>
        </p:nvSpPr>
        <p:spPr>
          <a:xfrm>
            <a:off x="201168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show us about the character?</a:t>
            </a:r>
            <a:endParaRPr lang="en-US" sz="1400" dirty="0"/>
          </a:p>
        </p:txBody>
      </p:sp>
      <p:sp>
        <p:nvSpPr>
          <p:cNvPr id="24" name="Text 20"/>
          <p:cNvSpPr/>
          <p:nvPr/>
        </p:nvSpPr>
        <p:spPr>
          <a:xfrm>
            <a:off x="54864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25" name="Shape 21"/>
          <p:cNvSpPr/>
          <p:nvPr/>
        </p:nvSpPr>
        <p:spPr>
          <a:xfrm>
            <a:off x="1920240" y="5577840"/>
            <a:ext cx="4046220" cy="548640"/>
          </a:xfrm>
          <a:prstGeom prst="roundRect">
            <a:avLst>
              <a:gd name="adj" fmla="val 11667"/>
            </a:avLst>
          </a:prstGeom>
          <a:solidFill>
            <a:srgbClr val="F4F6FA"/>
          </a:solidFill>
          <a:ln w="12700">
            <a:solidFill>
              <a:srgbClr val="80ADC4"/>
            </a:solidFill>
            <a:prstDash val="solid"/>
          </a:ln>
        </p:spPr>
      </p:sp>
      <p:sp>
        <p:nvSpPr>
          <p:cNvPr id="26" name="Text 22"/>
          <p:cNvSpPr/>
          <p:nvPr/>
        </p:nvSpPr>
        <p:spPr>
          <a:xfrm>
            <a:off x="201168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
        <p:nvSpPr>
          <p:cNvPr id="27" name="Shape 23"/>
          <p:cNvSpPr/>
          <p:nvPr/>
        </p:nvSpPr>
        <p:spPr>
          <a:xfrm>
            <a:off x="6195060" y="1783080"/>
            <a:ext cx="5417820" cy="502920"/>
          </a:xfrm>
          <a:prstGeom prst="roundRect">
            <a:avLst>
              <a:gd name="adj" fmla="val 14545"/>
            </a:avLst>
          </a:prstGeom>
          <a:solidFill>
            <a:srgbClr val="8A6D00"/>
          </a:solidFill>
          <a:ln w="12700">
            <a:solidFill>
              <a:srgbClr val="8A6D00"/>
            </a:solidFill>
            <a:prstDash val="solid"/>
          </a:ln>
        </p:spPr>
      </p:sp>
      <p:pic>
        <p:nvPicPr>
          <p:cNvPr id="28" name="Image 2" descr="/home/claude/english/kit/decks/_icons/book-open-FFFFFF.png">    </p:cNvPr>
          <p:cNvPicPr>
            <a:picLocks noChangeAspect="1"/>
          </p:cNvPicPr>
          <p:nvPr/>
        </p:nvPicPr>
        <p:blipFill>
          <a:blip r:embed="rId3"/>
          <a:stretch>
            <a:fillRect/>
          </a:stretch>
        </p:blipFill>
        <p:spPr>
          <a:xfrm>
            <a:off x="6332220" y="1911096"/>
            <a:ext cx="246888" cy="246888"/>
          </a:xfrm>
          <a:prstGeom prst="rect">
            <a:avLst/>
          </a:prstGeom>
        </p:spPr>
      </p:pic>
      <p:sp>
        <p:nvSpPr>
          <p:cNvPr id="29" name="Text 24"/>
          <p:cNvSpPr/>
          <p:nvPr/>
        </p:nvSpPr>
        <p:spPr>
          <a:xfrm>
            <a:off x="660654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7</a:t>
            </a:r>
            <a:endParaRPr lang="en-US" sz="1800" dirty="0"/>
          </a:p>
        </p:txBody>
      </p:sp>
      <p:sp>
        <p:nvSpPr>
          <p:cNvPr id="30" name="Shape 25"/>
          <p:cNvSpPr/>
          <p:nvPr/>
        </p:nvSpPr>
        <p:spPr>
          <a:xfrm>
            <a:off x="6195060" y="2377440"/>
            <a:ext cx="5417820" cy="1691640"/>
          </a:xfrm>
          <a:prstGeom prst="roundRect">
            <a:avLst>
              <a:gd name="adj" fmla="val 3243"/>
            </a:avLst>
          </a:prstGeom>
          <a:solidFill>
            <a:srgbClr val="FBF0D8"/>
          </a:solidFill>
          <a:ln w="12700">
            <a:solidFill>
              <a:srgbClr val="8A6D00"/>
            </a:solidFill>
            <a:prstDash val="solid"/>
          </a:ln>
        </p:spPr>
      </p:sp>
      <p:sp>
        <p:nvSpPr>
          <p:cNvPr id="31" name="Text 26"/>
          <p:cNvSpPr/>
          <p:nvPr/>
        </p:nvSpPr>
        <p:spPr>
          <a:xfrm>
            <a:off x="633222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Nobody had written his name in any book. Not yet.</a:t>
            </a:r>
            <a:endParaRPr lang="en-US" sz="1800" dirty="0"/>
          </a:p>
        </p:txBody>
      </p:sp>
      <p:sp>
        <p:nvSpPr>
          <p:cNvPr id="32" name="Text 27"/>
          <p:cNvSpPr/>
          <p:nvPr/>
        </p:nvSpPr>
        <p:spPr>
          <a:xfrm>
            <a:off x="619506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33" name="Shape 28"/>
          <p:cNvSpPr/>
          <p:nvPr/>
        </p:nvSpPr>
        <p:spPr>
          <a:xfrm>
            <a:off x="7566660" y="4206240"/>
            <a:ext cx="4046220" cy="548640"/>
          </a:xfrm>
          <a:prstGeom prst="roundRect">
            <a:avLst>
              <a:gd name="adj" fmla="val 11667"/>
            </a:avLst>
          </a:prstGeom>
          <a:solidFill>
            <a:srgbClr val="F4F6FA"/>
          </a:solidFill>
          <a:ln w="12700">
            <a:solidFill>
              <a:srgbClr val="80ADC4"/>
            </a:solidFill>
            <a:prstDash val="solid"/>
          </a:ln>
        </p:spPr>
      </p:sp>
      <p:sp>
        <p:nvSpPr>
          <p:cNvPr id="34" name="Text 29"/>
          <p:cNvSpPr/>
          <p:nvPr/>
        </p:nvSpPr>
        <p:spPr>
          <a:xfrm>
            <a:off x="765810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35" name="Text 30"/>
          <p:cNvSpPr/>
          <p:nvPr/>
        </p:nvSpPr>
        <p:spPr>
          <a:xfrm>
            <a:off x="619506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SHOW</a:t>
            </a:r>
            <a:endParaRPr lang="en-US" sz="1400" dirty="0"/>
          </a:p>
        </p:txBody>
      </p:sp>
      <p:sp>
        <p:nvSpPr>
          <p:cNvPr id="36" name="Shape 31"/>
          <p:cNvSpPr/>
          <p:nvPr/>
        </p:nvSpPr>
        <p:spPr>
          <a:xfrm>
            <a:off x="7566660" y="4892040"/>
            <a:ext cx="4046220" cy="548640"/>
          </a:xfrm>
          <a:prstGeom prst="roundRect">
            <a:avLst>
              <a:gd name="adj" fmla="val 11667"/>
            </a:avLst>
          </a:prstGeom>
          <a:solidFill>
            <a:srgbClr val="F4F6FA"/>
          </a:solidFill>
          <a:ln w="12700">
            <a:solidFill>
              <a:srgbClr val="80ADC4"/>
            </a:solidFill>
            <a:prstDash val="solid"/>
          </a:ln>
        </p:spPr>
      </p:sp>
      <p:sp>
        <p:nvSpPr>
          <p:cNvPr id="37" name="Text 32"/>
          <p:cNvSpPr/>
          <p:nvPr/>
        </p:nvSpPr>
        <p:spPr>
          <a:xfrm>
            <a:off x="765810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show us about the character?</a:t>
            </a:r>
            <a:endParaRPr lang="en-US" sz="1400" dirty="0"/>
          </a:p>
        </p:txBody>
      </p:sp>
      <p:sp>
        <p:nvSpPr>
          <p:cNvPr id="38" name="Text 33"/>
          <p:cNvSpPr/>
          <p:nvPr/>
        </p:nvSpPr>
        <p:spPr>
          <a:xfrm>
            <a:off x="619506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39" name="Shape 34"/>
          <p:cNvSpPr/>
          <p:nvPr/>
        </p:nvSpPr>
        <p:spPr>
          <a:xfrm>
            <a:off x="7566660" y="5577840"/>
            <a:ext cx="4046220" cy="548640"/>
          </a:xfrm>
          <a:prstGeom prst="roundRect">
            <a:avLst>
              <a:gd name="adj" fmla="val 11667"/>
            </a:avLst>
          </a:prstGeom>
          <a:solidFill>
            <a:srgbClr val="F4F6FA"/>
          </a:solidFill>
          <a:ln w="12700">
            <a:solidFill>
              <a:srgbClr val="80ADC4"/>
            </a:solidFill>
            <a:prstDash val="solid"/>
          </a:ln>
        </p:spPr>
      </p:sp>
      <p:sp>
        <p:nvSpPr>
          <p:cNvPr id="40" name="Text 35"/>
          <p:cNvSpPr/>
          <p:nvPr/>
        </p:nvSpPr>
        <p:spPr>
          <a:xfrm>
            <a:off x="765810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TALK · context cards</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group holds one writer's context card. Teach it to the room.</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103531" y="1888236"/>
            <a:ext cx="246888" cy="246888"/>
          </a:xfrm>
          <a:prstGeom prst="rect">
            <a:avLst/>
          </a:prstGeom>
        </p:spPr>
      </p:pic>
      <p:sp>
        <p:nvSpPr>
          <p:cNvPr id="15" name="Text 11"/>
          <p:cNvSpPr/>
          <p:nvPr/>
        </p:nvSpPr>
        <p:spPr>
          <a:xfrm>
            <a:off x="3469291" y="1783080"/>
            <a:ext cx="2571179"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TALK · JIGSAW GROUPS</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How did this writer's world get into their writing?</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Home groups of three: one Shakespeare, one Brontë, one Dickens card each.</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Read your card. Find one fact about the world and one thing it changed in the writing.</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Teach your two facts to your group in one minute. Listeners write them down.</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Group decides: whose writing was changed most by their world? One reason.</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Collaborative learning and peer tutoring — +5 months, very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5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answers the Big Question.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Match the writer to the era: Elizabethan or Victorian?</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fog in the extract do more than describe the weather?</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did the Brontë sisters publish under men's names? What does that show about their context?</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writer's world matters more than their talent.' How far do you agree? One writer as evidence.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lines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History of the English Language · Brontë, Shakespeare, Dickens</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Place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each writer's era and form: playwright or novelist, Elizabethan or Victorian.</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Connect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Use the word context to link one fact about a writer's world to their writing.</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Answer the Big Question with your own view and one fact as evidence.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 8: Shakespeare plays with words. Tap the glossary word playwright.</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search-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Research</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One author research page: Shakespeare, a Brontë or Dickens. Dates, place, two texts, one fact.</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One paragraph: how did this writer's context shape what they wrote? Use the word context twice.</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week's bell work asks for the three writers, their eras and their forms.</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History of the English Language · Lesson 3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History of the English Language · L3 Brontë, Shakespeare, Dickens</dc:title>
  <dc:subject>PptxGenJS Presentation</dc:subject>
  <dc:creator>Harlington English</dc:creator>
  <cp:lastModifiedBy>Harlington English</cp:lastModifiedBy>
  <cp:revision>1</cp:revision>
  <dcterms:created xsi:type="dcterms:W3CDTF">2026-09-04T20:58:57Z</dcterms:created>
  <dcterms:modified xsi:type="dcterms:W3CDTF">2026-09-04T20:58:57Z</dcterms:modified>
</cp:coreProperties>
</file>