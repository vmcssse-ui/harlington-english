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YEAR 7 · THE HISTORY OF THE ENGLISH LANGUAGE · LESSON 7 of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Review: words and terms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235440" y="365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pic>
        <p:nvPicPr>
          <p:cNvPr id="6" name="Image 0" descr="/home/claude/english/kit/decks/_icons/bell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5669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12680" y="502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12680" y="841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minutes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— no notes. Answer all five, then say one in a full sentence. Score yourself /5.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1965960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 or dialect: which is about how words SOUND?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2770632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2770632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two dialect words for a bread roll.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3575304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575304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Standard English for?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4379976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34440" y="4379976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peoples came first: Romans or Anglo-Saxons?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" y="5184648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34440" y="5184648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one convention of a play script.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Review: words and terms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History of the English Language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0" y="713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the Curriculum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8" name="Image 0" descr="/home/claude/english/kit/decks/_icons/layers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9222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WE'VE BEEN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340864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340864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KS2: stories, poems and non-fiction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2724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27248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KS2: character, setting and plot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3913632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KS2: spelling, grammar and punctuation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700016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700016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idea for Year 7: Journeys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UNIT, LESSON BY LESSON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114800" y="219456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42816" y="224942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36592" y="219456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Journeys: what is English?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114800" y="276148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42816" y="2816352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36592" y="276148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English came from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3328416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42816" y="3383280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36592" y="3328416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Brontë, Shakespeare, Dickens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114800" y="3895344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42816" y="3950208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36592" y="3895344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and form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114800" y="4462272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42816" y="4517136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736592" y="4462272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hero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114800" y="502920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42816" y="508406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736592" y="502920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Dialects and identity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4114800" y="559612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242816" y="5650992"/>
            <a:ext cx="310896" cy="310896"/>
          </a:xfrm>
          <a:prstGeom prst="ellipse">
            <a:avLst/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736592" y="559612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Review: words and terms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832104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41" name="Image 1" descr="/home/claude/english/kit/decks/_icons/flag-1229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92224"/>
            <a:ext cx="365760" cy="36576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900684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8549640" y="2340864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686800" y="2340864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HT2: The Odyssey — an epic journey home</a:t>
            </a:r>
            <a:endParaRPr lang="en-US" sz="1400" dirty="0"/>
          </a:p>
        </p:txBody>
      </p:sp>
      <p:sp>
        <p:nvSpPr>
          <p:cNvPr id="45" name="Shape 41"/>
          <p:cNvSpPr/>
          <p:nvPr/>
        </p:nvSpPr>
        <p:spPr>
          <a:xfrm>
            <a:off x="8549640" y="3236976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8686800" y="3236976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HT3: British Poetry — how a poem makes you feel</a:t>
            </a:r>
            <a:endParaRPr lang="en-US" sz="1400" dirty="0"/>
          </a:p>
        </p:txBody>
      </p:sp>
      <p:sp>
        <p:nvSpPr>
          <p:cNvPr id="47" name="Shape 43"/>
          <p:cNvSpPr/>
          <p:nvPr/>
        </p:nvSpPr>
        <p:spPr>
          <a:xfrm>
            <a:off x="8549640" y="4133088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686800" y="4133088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HT4: The Red-Headed League — keeping us guessing</a:t>
            </a:r>
            <a:endParaRPr lang="en-US" sz="1400" dirty="0"/>
          </a:p>
        </p:txBody>
      </p:sp>
      <p:sp>
        <p:nvSpPr>
          <p:cNvPr id="49" name="Shape 45"/>
          <p:cNvSpPr/>
          <p:nvPr/>
        </p:nvSpPr>
        <p:spPr>
          <a:xfrm>
            <a:off x="8549640" y="51206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8732520" y="5120640"/>
            <a:ext cx="260604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lesson answers one BIG QUESTION. Every question builds the next.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School  ·  The History of the English Language  ·  Review: words and terms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 · REVIEW: WORDS AND TERMS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will…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aims climb Bloom's taxonomy — and you will see which step every task is on, all lesson.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08960" y="260604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00A0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606040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the whole half term: the story of English, three writers, genre and form, hero types, dialects.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08960" y="3621024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6C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621024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literary terms of HT1 precisely — and spot when a word is being used wrongly.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4636008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D00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4636008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 unit's Big Question in one paragraph with evidence from three different lessons.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= a full answer to the Big Question by the end. Everything today builds to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check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 — mark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honestly. Under 3? Re-read tonight.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Review: words and terms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764792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Accent or dialect: which is about how words SOUND?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09360" y="1764792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Accent. Dialect is the words and grammar.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63347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660904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Name two dialect words for a bread roll.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09360" y="2660904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Bap, cob, barm, batch — any two.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352958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557016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What is Standard English for?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09360" y="3557016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shared form for writing, school and formal talk — the one everyone can read.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42569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453128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Which peoples came first: Romans or Anglo-Saxons?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09360" y="4453128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Romans (from 43 AD); Anglo-Saxons came from about 450 AD.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8640" y="532180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349240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Give one convention of a play script.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309360" y="5349240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names before lines; stage directions in brackets; no narrator.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ke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 — go deeper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the meaning — the DEEP explanation. Take each key word from meaning to mastery.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Review: words and terms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it means in your own words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46704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8144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56432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a sentence of your own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44768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SPOT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54496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 in today's text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942832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34272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52560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it to the Big Question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four steps for EACH key word: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48640" y="3401568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566160" y="3401568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pulling knowledge back out of memory — it makes it stick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48640" y="3972154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etymology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566160" y="3972154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study of where a word comes from and how it changed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48640" y="4542739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566160" y="4542739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type of story or text, such as horror or mystery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8640" y="5113325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566160" y="5113325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shape a text takes — poem, play, novel, article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48640" y="5683910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566160" y="5683910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time, place and life around a writer that shape the text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6EFF4"/>
          </a:solidFill>
          <a:ln>
            <a:solidFill>
              <a:srgbClr val="E6EFF4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 so far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6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weeks in three cards. If a word here is fuzzy, that is your revision list.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Review: words and terms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LANGUAGE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Celts · Romans · Anglo-Saxons · Vikings · Normans · printing · Shakespeare · borrowing · dialects.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843784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WRITERS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843784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843784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Shakespeare, Elizabethan playwright. The Brontës and Dickens, Victorian novelists. Context.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904488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TERMS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904488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904488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Character, setting, plot, genre, form, convention. Epic, tragic, anti-hero. Accent, dialect.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Retrieval is not a test of you. It is a workout for the memory.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6EFF4"/>
          </a:solidFill>
          <a:ln>
            <a:solidFill>
              <a:srgbClr val="E6EFF4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QUIZ · round 1 — the language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Whiteboards or paper. No notes. One point each; answers after round 2.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Review: words and terms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949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65709" y="1783080"/>
            <a:ext cx="19783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· INDIVIDUAL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of the road of words do you hold in your head?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in order: Normans, Celts, Vikings, Romans, Anglo-Saxons.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3930091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3930091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3930091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one word from Old English, one from Norse, one from Norman French.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458614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458614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458614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Caxton bring in 1476 — and what did it change?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4987138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280160" y="4987138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463040" y="4987138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two words first written down in Shakespeare's plays.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48640" y="5515661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1280160" y="5515661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463040" y="5515661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difference between accent and dialect?</a:t>
            </a:r>
            <a:endParaRPr lang="en-US" sz="1800" dirty="0"/>
          </a:p>
        </p:txBody>
      </p:sp>
      <p:sp>
        <p:nvSpPr>
          <p:cNvPr id="34" name="Text 30"/>
          <p:cNvSpPr/>
          <p:nvPr/>
        </p:nvSpPr>
        <p:spPr>
          <a:xfrm>
            <a:off x="548640" y="599846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EEF Toolkit · Retrieval practice — +5 months; spaced quizzes beat re-reading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6EFF4"/>
          </a:solidFill>
          <a:ln>
            <a:solidFill>
              <a:srgbClr val="E6EFF4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QUIZ · round 2 — the terms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rules. Then swap and mark both rounds together.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Review: words and terms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949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65709" y="1783080"/>
            <a:ext cx="19783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· INDIVIDUAL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use the literary terms of HT1 precisely?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genre and form. Give one example of each.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3930091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3930091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3930091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era for each: Shakespeare, Dickens? Which form did each write?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458614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458614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458614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three hero types and one British example each.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4987138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280160" y="4987138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463040" y="4987138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convention? Name one for a poem.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48640" y="5515661"/>
            <a:ext cx="427939" cy="427939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1280160" y="5515661"/>
            <a:ext cx="10332720" cy="427939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463040" y="5515661"/>
            <a:ext cx="10058400" cy="42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context in one sentence, using a writer as your example.</a:t>
            </a:r>
            <a:endParaRPr lang="en-US" sz="1800" dirty="0"/>
          </a:p>
        </p:txBody>
      </p:sp>
      <p:sp>
        <p:nvSpPr>
          <p:cNvPr id="34" name="Text 30"/>
          <p:cNvSpPr/>
          <p:nvPr/>
        </p:nvSpPr>
        <p:spPr>
          <a:xfrm>
            <a:off x="548640" y="599846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EEF Toolkit · Retrieval practice and peer marking — +5 months, very low cost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column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word, wrong word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terms students mix up. Which is which — and what is the test?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Review: words and terms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828800"/>
            <a:ext cx="2594610" cy="868680"/>
          </a:xfrm>
          <a:prstGeom prst="roundRect">
            <a:avLst>
              <a:gd name="adj" fmla="val 8421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2411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v form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2331720"/>
            <a:ext cx="24117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 v shape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788920"/>
            <a:ext cx="2594610" cy="3291840"/>
          </a:xfrm>
          <a:prstGeom prst="roundRect">
            <a:avLst>
              <a:gd name="adj" fmla="val 2115"/>
            </a:avLst>
          </a:prstGeom>
          <a:solidFill>
            <a:srgbClr val="FBF0D8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2880360"/>
            <a:ext cx="237515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Horror is a genre; a novel is a form. Test: could a poem be horror? Yes — so horror is genre.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3371850" y="1828800"/>
            <a:ext cx="2594610" cy="868680"/>
          </a:xfrm>
          <a:prstGeom prst="roundRect">
            <a:avLst>
              <a:gd name="adj" fmla="val 8421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63290" y="1874520"/>
            <a:ext cx="2411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 v dialect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463290" y="2331720"/>
            <a:ext cx="24117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v words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371850" y="2788920"/>
            <a:ext cx="2594610" cy="3291840"/>
          </a:xfrm>
          <a:prstGeom prst="roundRect">
            <a:avLst>
              <a:gd name="adj" fmla="val 2115"/>
            </a:avLst>
          </a:prstGeom>
          <a:solidFill>
            <a:srgbClr val="E4F3EF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81578" y="2880360"/>
            <a:ext cx="237515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 is how 'bath' sounds. Dialect is saying 'nowt'. Test: is it a different word, or the same word said differently?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6195060" y="1828800"/>
            <a:ext cx="2594610" cy="868680"/>
          </a:xfrm>
          <a:prstGeom prst="roundRect">
            <a:avLst>
              <a:gd name="adj" fmla="val 8421"/>
            </a:avLst>
          </a:prstGeom>
          <a:solidFill>
            <a:srgbClr val="FF5470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86500" y="1874520"/>
            <a:ext cx="2411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Tragic v anti-hero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286500" y="2331720"/>
            <a:ext cx="24117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flaw v rules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195060" y="2788920"/>
            <a:ext cx="2594610" cy="3291840"/>
          </a:xfrm>
          <a:prstGeom prst="roundRect">
            <a:avLst>
              <a:gd name="adj" fmla="val 2115"/>
            </a:avLst>
          </a:prstGeom>
          <a:solidFill>
            <a:srgbClr val="FBE4E4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04788" y="2880360"/>
            <a:ext cx="237515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Tragic: great, then falls through a flaw. Anti-hero: breaks rules, but we cheer. Test: do we pity them or root for them?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9018270" y="1828800"/>
            <a:ext cx="2594610" cy="868680"/>
          </a:xfrm>
          <a:prstGeom prst="roundRect">
            <a:avLst>
              <a:gd name="adj" fmla="val 8421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09710" y="1874520"/>
            <a:ext cx="2411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v context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109710" y="2331720"/>
            <a:ext cx="24117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v writer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9018270" y="2788920"/>
            <a:ext cx="2594610" cy="3291840"/>
          </a:xfrm>
          <a:prstGeom prst="roundRect">
            <a:avLst>
              <a:gd name="adj" fmla="val 2115"/>
            </a:avLst>
          </a:prstGeom>
          <a:solidFill>
            <a:srgbClr val="EFE6F0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27998" y="2880360"/>
            <a:ext cx="237515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is where a WORD came from. Context is the world around a WRITER. Test: are you talking about a word or a person?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bar-chart-2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 the ladder — the Big Question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10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did the words we speak come from? Build the paragraph rung by rung.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Review: words and terms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34640" y="1783080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1783080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three peoples who gave us words, with one word each.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679192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834640" y="2679192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17520" y="2679192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English has two words for so many things. Use Norman and Old English.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575304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834640" y="3575304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0" y="3575304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dialects show that the road of words is still being walked today?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471416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834640" y="4471416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EFE6F0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17520" y="4471416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did the words we speak come from? Answer with evidence from three different lessons.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to carry into HT2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6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half term is The Odyssey. These words travel with you.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Review: words and terms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Odysseus takes ten years to get home. Everything we said about journeys returns.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843784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 HERO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843784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843784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met Beowulf. Odysseus is the original — braver, cleverer, and flawed.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904488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&amp; FORM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904488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904488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Odyssey is an epic poem retold as a story. Which is genre, which is form?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Define ten literary terms for homework — the glossary is your map for the year.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learning — the come-back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5" name="Image 0" descr="/home/claude/english/kit/decks/_icons/headphone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8308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Read-along edition: do any two tasks you have not yet finished. Then read the whole story alone.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7220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9" name="Image 1" descr="/home/claude/english/kit/decks/_icons/book-open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664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40664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literary terms glossary. Highlight any term you could not define in the quiz.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3" name="Image 2" descr="/home/claude/english/kit/decks/_icons/edit-3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78308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ten literary terms in your own words, one example each. Include genre, form and context.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17220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7" name="Image 3" descr="/home/claude/english/kit/decks/_icons/repea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4340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664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40664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HT2 the bell work opens with these words. Keep your glossary somewhere safe over the break.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Lesson 7 of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History of the English Language · L7 Review: words and terms</dc:title>
  <dc:subject>PptxGenJS Presentation</dc:subject>
  <dc:creator>Harlington English</dc:creator>
  <cp:lastModifiedBy>Harlington English</cp:lastModifiedBy>
  <cp:revision>1</cp:revision>
  <dcterms:created xsi:type="dcterms:W3CDTF">2026-09-04T20:58:57Z</dcterms:created>
  <dcterms:modified xsi:type="dcterms:W3CDTF">2026-09-04T20:58:57Z</dcterms:modified>
</cp:coreProperties>
</file>