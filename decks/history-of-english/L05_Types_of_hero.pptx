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THE HISTORY OF THE ENGLISH LANGUAGE · LESSON 5 of 7</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Types of hero</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7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the four big genres.</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convention?</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Story, poem, script, article — which form has stage directions?</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Fiction or non-fiction: a diary about a real voyage?</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Finish: A hero is someone who…</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Types of hero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The History of the English Language</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stories, poems and non-fiction</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character, setting and plot</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spelling, grammar and punctuation</a:t>
            </a:r>
            <a:endParaRPr lang="en-US" sz="1400" dirty="0"/>
          </a:p>
        </p:txBody>
      </p:sp>
      <p:sp>
        <p:nvSpPr>
          <p:cNvPr id="16" name="Shape 13"/>
          <p:cNvSpPr/>
          <p:nvPr/>
        </p:nvSpPr>
        <p:spPr>
          <a:xfrm>
            <a:off x="685800" y="4700016"/>
            <a:ext cx="2926080" cy="640080"/>
          </a:xfrm>
          <a:prstGeom prst="roundRect">
            <a:avLst>
              <a:gd name="adj" fmla="val 10000"/>
            </a:avLst>
          </a:prstGeom>
          <a:solidFill>
            <a:srgbClr val="FFFFFF"/>
          </a:solidFill>
          <a:ln w="12700">
            <a:solidFill>
              <a:srgbClr val="D9E2EE"/>
            </a:solidFill>
            <a:prstDash val="solid"/>
          </a:ln>
        </p:spPr>
      </p:sp>
      <p:sp>
        <p:nvSpPr>
          <p:cNvPr id="17" name="Text 14"/>
          <p:cNvSpPr/>
          <p:nvPr/>
        </p:nvSpPr>
        <p:spPr>
          <a:xfrm>
            <a:off x="822960" y="4700016"/>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Big idea for Year 7: Journeys</a:t>
            </a:r>
            <a:endParaRPr lang="en-US" sz="1400" dirty="0"/>
          </a:p>
        </p:txBody>
      </p:sp>
      <p:sp>
        <p:nvSpPr>
          <p:cNvPr id="18" name="Text 15"/>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9" name="Shape 16"/>
          <p:cNvSpPr/>
          <p:nvPr/>
        </p:nvSpPr>
        <p:spPr>
          <a:xfrm>
            <a:off x="4114800" y="2194560"/>
            <a:ext cx="3931920" cy="420624"/>
          </a:xfrm>
          <a:prstGeom prst="roundRect">
            <a:avLst>
              <a:gd name="adj" fmla="val 26087"/>
            </a:avLst>
          </a:prstGeom>
          <a:solidFill>
            <a:srgbClr val="FFFFFF"/>
          </a:solidFill>
          <a:ln w="12700">
            <a:solidFill>
              <a:srgbClr val="D9E2EE"/>
            </a:solidFill>
            <a:prstDash val="solid"/>
          </a:ln>
        </p:spPr>
      </p:sp>
      <p:sp>
        <p:nvSpPr>
          <p:cNvPr id="20" name="Text 17"/>
          <p:cNvSpPr/>
          <p:nvPr/>
        </p:nvSpPr>
        <p:spPr>
          <a:xfrm>
            <a:off x="4242816" y="224942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1</a:t>
            </a:r>
            <a:endParaRPr lang="en-US" sz="1100" dirty="0"/>
          </a:p>
        </p:txBody>
      </p:sp>
      <p:sp>
        <p:nvSpPr>
          <p:cNvPr id="21" name="Text 18"/>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Journeys: what is English?</a:t>
            </a:r>
            <a:endParaRPr lang="en-US" sz="1400" dirty="0"/>
          </a:p>
        </p:txBody>
      </p:sp>
      <p:sp>
        <p:nvSpPr>
          <p:cNvPr id="22" name="Shape 19"/>
          <p:cNvSpPr/>
          <p:nvPr/>
        </p:nvSpPr>
        <p:spPr>
          <a:xfrm>
            <a:off x="4114800" y="2761488"/>
            <a:ext cx="3931920" cy="420624"/>
          </a:xfrm>
          <a:prstGeom prst="roundRect">
            <a:avLst>
              <a:gd name="adj" fmla="val 26087"/>
            </a:avLst>
          </a:prstGeom>
          <a:solidFill>
            <a:srgbClr val="FFFFFF"/>
          </a:solidFill>
          <a:ln w="12700">
            <a:solidFill>
              <a:srgbClr val="D9E2EE"/>
            </a:solidFill>
            <a:prstDash val="solid"/>
          </a:ln>
        </p:spPr>
      </p:sp>
      <p:sp>
        <p:nvSpPr>
          <p:cNvPr id="23" name="Text 20"/>
          <p:cNvSpPr/>
          <p:nvPr/>
        </p:nvSpPr>
        <p:spPr>
          <a:xfrm>
            <a:off x="4242816" y="281635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2</a:t>
            </a:r>
            <a:endParaRPr lang="en-US" sz="1100" dirty="0"/>
          </a:p>
        </p:txBody>
      </p:sp>
      <p:sp>
        <p:nvSpPr>
          <p:cNvPr id="24" name="Text 21"/>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Where English came from</a:t>
            </a:r>
            <a:endParaRPr lang="en-US" sz="1400" dirty="0"/>
          </a:p>
        </p:txBody>
      </p:sp>
      <p:sp>
        <p:nvSpPr>
          <p:cNvPr id="25" name="Shape 22"/>
          <p:cNvSpPr/>
          <p:nvPr/>
        </p:nvSpPr>
        <p:spPr>
          <a:xfrm>
            <a:off x="4114800" y="3328416"/>
            <a:ext cx="3931920" cy="420624"/>
          </a:xfrm>
          <a:prstGeom prst="roundRect">
            <a:avLst>
              <a:gd name="adj" fmla="val 26087"/>
            </a:avLst>
          </a:prstGeom>
          <a:solidFill>
            <a:srgbClr val="FFFFFF"/>
          </a:solidFill>
          <a:ln w="12700">
            <a:solidFill>
              <a:srgbClr val="D9E2EE"/>
            </a:solidFill>
            <a:prstDash val="solid"/>
          </a:ln>
        </p:spPr>
      </p:sp>
      <p:sp>
        <p:nvSpPr>
          <p:cNvPr id="26" name="Text 23"/>
          <p:cNvSpPr/>
          <p:nvPr/>
        </p:nvSpPr>
        <p:spPr>
          <a:xfrm>
            <a:off x="4242816" y="3383280"/>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3</a:t>
            </a:r>
            <a:endParaRPr lang="en-US" sz="1100" dirty="0"/>
          </a:p>
        </p:txBody>
      </p:sp>
      <p:sp>
        <p:nvSpPr>
          <p:cNvPr id="27" name="Text 24"/>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Brontë, Shakespeare, Dickens</a:t>
            </a:r>
            <a:endParaRPr lang="en-US" sz="1400" dirty="0"/>
          </a:p>
        </p:txBody>
      </p:sp>
      <p:sp>
        <p:nvSpPr>
          <p:cNvPr id="28" name="Shape 25"/>
          <p:cNvSpPr/>
          <p:nvPr/>
        </p:nvSpPr>
        <p:spPr>
          <a:xfrm>
            <a:off x="4114800" y="3895344"/>
            <a:ext cx="3931920" cy="420624"/>
          </a:xfrm>
          <a:prstGeom prst="roundRect">
            <a:avLst>
              <a:gd name="adj" fmla="val 26087"/>
            </a:avLst>
          </a:prstGeom>
          <a:solidFill>
            <a:srgbClr val="FFFFFF"/>
          </a:solidFill>
          <a:ln w="12700">
            <a:solidFill>
              <a:srgbClr val="D9E2EE"/>
            </a:solidFill>
            <a:prstDash val="solid"/>
          </a:ln>
        </p:spPr>
      </p:sp>
      <p:sp>
        <p:nvSpPr>
          <p:cNvPr id="29" name="Text 26"/>
          <p:cNvSpPr/>
          <p:nvPr/>
        </p:nvSpPr>
        <p:spPr>
          <a:xfrm>
            <a:off x="4242816" y="3950208"/>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4</a:t>
            </a:r>
            <a:endParaRPr lang="en-US" sz="1100" dirty="0"/>
          </a:p>
        </p:txBody>
      </p:sp>
      <p:sp>
        <p:nvSpPr>
          <p:cNvPr id="30" name="Text 27"/>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Genre and form</a:t>
            </a:r>
            <a:endParaRPr lang="en-US" sz="1400" dirty="0"/>
          </a:p>
        </p:txBody>
      </p:sp>
      <p:sp>
        <p:nvSpPr>
          <p:cNvPr id="31" name="Shape 28"/>
          <p:cNvSpPr/>
          <p:nvPr/>
        </p:nvSpPr>
        <p:spPr>
          <a:xfrm>
            <a:off x="4114800" y="4462272"/>
            <a:ext cx="3931920" cy="420624"/>
          </a:xfrm>
          <a:prstGeom prst="roundRect">
            <a:avLst>
              <a:gd name="adj" fmla="val 26087"/>
            </a:avLst>
          </a:prstGeom>
          <a:solidFill>
            <a:srgbClr val="12294D"/>
          </a:solidFill>
          <a:ln w="12700">
            <a:solidFill>
              <a:srgbClr val="12294D"/>
            </a:solidFill>
            <a:prstDash val="solid"/>
          </a:ln>
        </p:spPr>
      </p:sp>
      <p:sp>
        <p:nvSpPr>
          <p:cNvPr id="32" name="Text 29"/>
          <p:cNvSpPr/>
          <p:nvPr/>
        </p:nvSpPr>
        <p:spPr>
          <a:xfrm>
            <a:off x="4242816" y="4517136"/>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5</a:t>
            </a:r>
            <a:endParaRPr lang="en-US" sz="1100" dirty="0"/>
          </a:p>
        </p:txBody>
      </p:sp>
      <p:sp>
        <p:nvSpPr>
          <p:cNvPr id="33" name="Text 30"/>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Types of hero</a:t>
            </a:r>
            <a:endParaRPr lang="en-US" sz="1400" dirty="0"/>
          </a:p>
        </p:txBody>
      </p:sp>
      <p:sp>
        <p:nvSpPr>
          <p:cNvPr id="34" name="Shape 31"/>
          <p:cNvSpPr/>
          <p:nvPr/>
        </p:nvSpPr>
        <p:spPr>
          <a:xfrm>
            <a:off x="4114800" y="5029200"/>
            <a:ext cx="3931920" cy="420624"/>
          </a:xfrm>
          <a:prstGeom prst="roundRect">
            <a:avLst>
              <a:gd name="adj" fmla="val 26087"/>
            </a:avLst>
          </a:prstGeom>
          <a:solidFill>
            <a:srgbClr val="FFFFFF"/>
          </a:solidFill>
          <a:ln w="12700">
            <a:solidFill>
              <a:srgbClr val="D9E2EE"/>
            </a:solidFill>
            <a:prstDash val="solid"/>
          </a:ln>
        </p:spPr>
      </p:sp>
      <p:sp>
        <p:nvSpPr>
          <p:cNvPr id="35" name="Text 32"/>
          <p:cNvSpPr/>
          <p:nvPr/>
        </p:nvSpPr>
        <p:spPr>
          <a:xfrm>
            <a:off x="4242816" y="508406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6</a:t>
            </a:r>
            <a:endParaRPr lang="en-US" sz="1100" dirty="0"/>
          </a:p>
        </p:txBody>
      </p:sp>
      <p:sp>
        <p:nvSpPr>
          <p:cNvPr id="36" name="Text 33"/>
          <p:cNvSpPr/>
          <p:nvPr/>
        </p:nvSpPr>
        <p:spPr>
          <a:xfrm>
            <a:off x="4736592" y="502920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Dialects and identity</a:t>
            </a:r>
            <a:endParaRPr lang="en-US" sz="1400" dirty="0"/>
          </a:p>
        </p:txBody>
      </p:sp>
      <p:sp>
        <p:nvSpPr>
          <p:cNvPr id="37" name="Shape 34"/>
          <p:cNvSpPr/>
          <p:nvPr/>
        </p:nvSpPr>
        <p:spPr>
          <a:xfrm>
            <a:off x="4114800" y="5596128"/>
            <a:ext cx="3931920" cy="420624"/>
          </a:xfrm>
          <a:prstGeom prst="roundRect">
            <a:avLst>
              <a:gd name="adj" fmla="val 26087"/>
            </a:avLst>
          </a:prstGeom>
          <a:solidFill>
            <a:srgbClr val="FFFFFF"/>
          </a:solidFill>
          <a:ln w="12700">
            <a:solidFill>
              <a:srgbClr val="D9E2EE"/>
            </a:solidFill>
            <a:prstDash val="solid"/>
          </a:ln>
        </p:spPr>
      </p:sp>
      <p:sp>
        <p:nvSpPr>
          <p:cNvPr id="38" name="Text 35"/>
          <p:cNvSpPr/>
          <p:nvPr/>
        </p:nvSpPr>
        <p:spPr>
          <a:xfrm>
            <a:off x="4242816" y="565099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7</a:t>
            </a:r>
            <a:endParaRPr lang="en-US" sz="1100" dirty="0"/>
          </a:p>
        </p:txBody>
      </p:sp>
      <p:sp>
        <p:nvSpPr>
          <p:cNvPr id="39" name="Text 36"/>
          <p:cNvSpPr/>
          <p:nvPr/>
        </p:nvSpPr>
        <p:spPr>
          <a:xfrm>
            <a:off x="4736592" y="559612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Review: words and terms</a:t>
            </a:r>
            <a:endParaRPr lang="en-US" sz="1400" dirty="0"/>
          </a:p>
        </p:txBody>
      </p:sp>
      <p:sp>
        <p:nvSpPr>
          <p:cNvPr id="40" name="Shape 37"/>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41"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42" name="Text 38"/>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43" name="Shape 39"/>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44" name="Text 40"/>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HT2: The Odyssey — an epic journey home</a:t>
            </a:r>
            <a:endParaRPr lang="en-US" sz="1400" dirty="0"/>
          </a:p>
        </p:txBody>
      </p:sp>
      <p:sp>
        <p:nvSpPr>
          <p:cNvPr id="45" name="Shape 41"/>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6" name="Text 42"/>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HT3: British Poetry — how a poem makes you feel</a:t>
            </a:r>
            <a:endParaRPr lang="en-US" sz="1400" dirty="0"/>
          </a:p>
        </p:txBody>
      </p:sp>
      <p:sp>
        <p:nvSpPr>
          <p:cNvPr id="47" name="Shape 43"/>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8" name="Text 44"/>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HT4: The Red-Headed League — keeping us guessing</a:t>
            </a:r>
            <a:endParaRPr lang="en-US" sz="1400" dirty="0"/>
          </a:p>
        </p:txBody>
      </p:sp>
      <p:sp>
        <p:nvSpPr>
          <p:cNvPr id="49" name="Shape 45"/>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50" name="Text 46"/>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51" name="Text 47"/>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The History of the English Language  ·  Types of hero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5 · TYPES OF HERO</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Explain the three hero types — epic, tragic, anti-hero — with a British literary example for each.</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Compare two hero types: what they want, what stops them, and how the writer wants us to feel.</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Write an analytical paragraph that judges which type of hero a story needs most — with evidence.</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Types of hero</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Name the four big genres.</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Fiction, poetry, drama, non-fiction.</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What is a convention?</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feature readers expect from a genre or form — e.g. a headline in an article.</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Story, poem, script, article — which form has stage directions?</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script (drama).</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Fiction or non-fiction: a diary about a real voyage?</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Non-fiction — it is about real events, even if it is written like a story.</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Finish: A hero is someone who…</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…faces something bigger than themselves — and we watch to see what they do.</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Types of hero</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epic hero</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larger than life, on a great quest — Beowulf</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tragic hero</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great but flawed; the flaw brings them down — Macbeth</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anti-hero</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no shining virtues, but we root for them — Robin Hood</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flaw</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weakness in a hero that causes trouble</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protagonist</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main character a story follows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Three kinds of hero</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every protagonist is a good person. That is the point.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Types of hero</a:t>
            </a:r>
            <a:endParaRPr lang="en-US" sz="900" dirty="0"/>
          </a:p>
        </p:txBody>
      </p:sp>
      <p:sp>
        <p:nvSpPr>
          <p:cNvPr id="13" name="Text 10"/>
          <p:cNvSpPr/>
          <p:nvPr/>
        </p:nvSpPr>
        <p:spPr>
          <a:xfrm>
            <a:off x="548640" y="1783080"/>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EPIC HERO</a:t>
            </a:r>
            <a:endParaRPr lang="en-US" sz="1600" dirty="0"/>
          </a:p>
        </p:txBody>
      </p:sp>
      <p:sp>
        <p:nvSpPr>
          <p:cNvPr id="14" name="Shape 11"/>
          <p:cNvSpPr/>
          <p:nvPr/>
        </p:nvSpPr>
        <p:spPr>
          <a:xfrm>
            <a:off x="3291840" y="1783080"/>
            <a:ext cx="8321040" cy="914400"/>
          </a:xfrm>
          <a:prstGeom prst="roundRect">
            <a:avLst>
              <a:gd name="adj" fmla="val 8000"/>
            </a:avLst>
          </a:prstGeom>
          <a:solidFill>
            <a:srgbClr val="FEF7E4"/>
          </a:solidFill>
          <a:ln w="12700">
            <a:solidFill>
              <a:srgbClr val="E5D9B0"/>
            </a:solidFill>
            <a:prstDash val="solid"/>
          </a:ln>
        </p:spPr>
      </p:sp>
      <p:sp>
        <p:nvSpPr>
          <p:cNvPr id="15" name="Text 12"/>
          <p:cNvSpPr/>
          <p:nvPr/>
        </p:nvSpPr>
        <p:spPr>
          <a:xfrm>
            <a:off x="3456432" y="1783080"/>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Stronger, braver, bigger than us. Fights monsters for the whole people. We look up.</a:t>
            </a:r>
            <a:endParaRPr lang="en-US" sz="1800" dirty="0"/>
          </a:p>
        </p:txBody>
      </p:sp>
      <p:sp>
        <p:nvSpPr>
          <p:cNvPr id="16" name="Text 13"/>
          <p:cNvSpPr/>
          <p:nvPr/>
        </p:nvSpPr>
        <p:spPr>
          <a:xfrm>
            <a:off x="548640" y="2843784"/>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TRAGIC HERO</a:t>
            </a:r>
            <a:endParaRPr lang="en-US" sz="1600" dirty="0"/>
          </a:p>
        </p:txBody>
      </p:sp>
      <p:sp>
        <p:nvSpPr>
          <p:cNvPr id="17" name="Shape 14"/>
          <p:cNvSpPr/>
          <p:nvPr/>
        </p:nvSpPr>
        <p:spPr>
          <a:xfrm>
            <a:off x="3291840" y="2843784"/>
            <a:ext cx="8321040" cy="914400"/>
          </a:xfrm>
          <a:prstGeom prst="roundRect">
            <a:avLst>
              <a:gd name="adj" fmla="val 8000"/>
            </a:avLst>
          </a:prstGeom>
          <a:solidFill>
            <a:srgbClr val="FEF7E4"/>
          </a:solidFill>
          <a:ln w="12700">
            <a:solidFill>
              <a:srgbClr val="E5D9B0"/>
            </a:solidFill>
            <a:prstDash val="solid"/>
          </a:ln>
        </p:spPr>
      </p:sp>
      <p:sp>
        <p:nvSpPr>
          <p:cNvPr id="18" name="Text 15"/>
          <p:cNvSpPr/>
          <p:nvPr/>
        </p:nvSpPr>
        <p:spPr>
          <a:xfrm>
            <a:off x="3456432" y="2843784"/>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Great — but with a flaw. Pride, ambition, jealousy. We watch the flaw pull them down.</a:t>
            </a:r>
            <a:endParaRPr lang="en-US" sz="1800" dirty="0"/>
          </a:p>
        </p:txBody>
      </p:sp>
      <p:sp>
        <p:nvSpPr>
          <p:cNvPr id="19" name="Text 16"/>
          <p:cNvSpPr/>
          <p:nvPr/>
        </p:nvSpPr>
        <p:spPr>
          <a:xfrm>
            <a:off x="548640" y="3904488"/>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ANTI-HERO</a:t>
            </a:r>
            <a:endParaRPr lang="en-US" sz="1600" dirty="0"/>
          </a:p>
        </p:txBody>
      </p:sp>
      <p:sp>
        <p:nvSpPr>
          <p:cNvPr id="20" name="Shape 17"/>
          <p:cNvSpPr/>
          <p:nvPr/>
        </p:nvSpPr>
        <p:spPr>
          <a:xfrm>
            <a:off x="3291840" y="3904488"/>
            <a:ext cx="8321040" cy="914400"/>
          </a:xfrm>
          <a:prstGeom prst="roundRect">
            <a:avLst>
              <a:gd name="adj" fmla="val 8000"/>
            </a:avLst>
          </a:prstGeom>
          <a:solidFill>
            <a:srgbClr val="FEF7E4"/>
          </a:solidFill>
          <a:ln w="12700">
            <a:solidFill>
              <a:srgbClr val="E5D9B0"/>
            </a:solidFill>
            <a:prstDash val="solid"/>
          </a:ln>
        </p:spPr>
      </p:sp>
      <p:sp>
        <p:nvSpPr>
          <p:cNvPr id="21" name="Text 18"/>
          <p:cNvSpPr/>
          <p:nvPr/>
        </p:nvSpPr>
        <p:spPr>
          <a:xfrm>
            <a:off x="3456432" y="3904488"/>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Breaks rules, lies, steals — yet we cheer. Often the writer's way of asking what 'good' means.</a:t>
            </a:r>
            <a:endParaRPr lang="en-US" sz="1800" dirty="0"/>
          </a:p>
        </p:txBody>
      </p:sp>
      <p:sp>
        <p:nvSpPr>
          <p:cNvPr id="22" name="Text 19"/>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Ask of any hero: what do they want, what stops them, how does the writer want us to feel?</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column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British examples</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Three heroes from three ages of English writing. Retold here, not quoted.</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Types of hero</a:t>
            </a:r>
            <a:endParaRPr lang="en-US" sz="900" dirty="0"/>
          </a:p>
        </p:txBody>
      </p:sp>
      <p:sp>
        <p:nvSpPr>
          <p:cNvPr id="13" name="Shape 10"/>
          <p:cNvSpPr/>
          <p:nvPr/>
        </p:nvSpPr>
        <p:spPr>
          <a:xfrm>
            <a:off x="548640" y="1828800"/>
            <a:ext cx="3535680" cy="868680"/>
          </a:xfrm>
          <a:prstGeom prst="roundRect">
            <a:avLst>
              <a:gd name="adj" fmla="val 8421"/>
            </a:avLst>
          </a:prstGeom>
          <a:solidFill>
            <a:srgbClr val="12294D"/>
          </a:solidFill>
          <a:ln w="12700">
            <a:solidFill>
              <a:srgbClr val="12294D"/>
            </a:solidFill>
            <a:prstDash val="solid"/>
          </a:ln>
        </p:spPr>
      </p:sp>
      <p:sp>
        <p:nvSpPr>
          <p:cNvPr id="14" name="Text 11"/>
          <p:cNvSpPr/>
          <p:nvPr/>
        </p:nvSpPr>
        <p:spPr>
          <a:xfrm>
            <a:off x="640080" y="1874520"/>
            <a:ext cx="3352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Beowulf</a:t>
            </a:r>
            <a:endParaRPr lang="en-US" sz="1600" dirty="0"/>
          </a:p>
        </p:txBody>
      </p:sp>
      <p:sp>
        <p:nvSpPr>
          <p:cNvPr id="15" name="Text 12"/>
          <p:cNvSpPr/>
          <p:nvPr/>
        </p:nvSpPr>
        <p:spPr>
          <a:xfrm>
            <a:off x="640080" y="2331720"/>
            <a:ext cx="335280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epic · Old English poem</a:t>
            </a:r>
            <a:endParaRPr lang="en-US" sz="1400" dirty="0"/>
          </a:p>
        </p:txBody>
      </p:sp>
      <p:sp>
        <p:nvSpPr>
          <p:cNvPr id="16" name="Shape 13"/>
          <p:cNvSpPr/>
          <p:nvPr/>
        </p:nvSpPr>
        <p:spPr>
          <a:xfrm>
            <a:off x="548640" y="2788920"/>
            <a:ext cx="3535680" cy="3291840"/>
          </a:xfrm>
          <a:prstGeom prst="roundRect">
            <a:avLst>
              <a:gd name="adj" fmla="val 1667"/>
            </a:avLst>
          </a:prstGeom>
          <a:solidFill>
            <a:srgbClr val="FBF0D8"/>
          </a:solidFill>
          <a:ln w="12700">
            <a:solidFill>
              <a:srgbClr val="12294D"/>
            </a:solidFill>
            <a:prstDash val="solid"/>
          </a:ln>
        </p:spPr>
      </p:sp>
      <p:sp>
        <p:nvSpPr>
          <p:cNvPr id="17" name="Text 14"/>
          <p:cNvSpPr/>
          <p:nvPr/>
        </p:nvSpPr>
        <p:spPr>
          <a:xfrm>
            <a:off x="658368" y="2880360"/>
            <a:ext cx="331622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Sails to save a hall from a monster. Fights it bare-handed. Wants glory and a name that lasts.</a:t>
            </a:r>
            <a:endParaRPr lang="en-US" sz="1800" dirty="0"/>
          </a:p>
        </p:txBody>
      </p:sp>
      <p:sp>
        <p:nvSpPr>
          <p:cNvPr id="18" name="Shape 15"/>
          <p:cNvSpPr/>
          <p:nvPr/>
        </p:nvSpPr>
        <p:spPr>
          <a:xfrm>
            <a:off x="4312920" y="1828800"/>
            <a:ext cx="3535680" cy="868680"/>
          </a:xfrm>
          <a:prstGeom prst="roundRect">
            <a:avLst>
              <a:gd name="adj" fmla="val 8421"/>
            </a:avLst>
          </a:prstGeom>
          <a:solidFill>
            <a:srgbClr val="00A08A"/>
          </a:solidFill>
          <a:ln w="12700">
            <a:solidFill>
              <a:srgbClr val="00A08A"/>
            </a:solidFill>
            <a:prstDash val="solid"/>
          </a:ln>
        </p:spPr>
      </p:sp>
      <p:sp>
        <p:nvSpPr>
          <p:cNvPr id="19" name="Text 16"/>
          <p:cNvSpPr/>
          <p:nvPr/>
        </p:nvSpPr>
        <p:spPr>
          <a:xfrm>
            <a:off x="4404360" y="1874520"/>
            <a:ext cx="3352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Macbeth</a:t>
            </a:r>
            <a:endParaRPr lang="en-US" sz="1600" dirty="0"/>
          </a:p>
        </p:txBody>
      </p:sp>
      <p:sp>
        <p:nvSpPr>
          <p:cNvPr id="20" name="Text 17"/>
          <p:cNvSpPr/>
          <p:nvPr/>
        </p:nvSpPr>
        <p:spPr>
          <a:xfrm>
            <a:off x="4404360" y="2331720"/>
            <a:ext cx="335280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tragic · Shakespeare</a:t>
            </a:r>
            <a:endParaRPr lang="en-US" sz="1400" dirty="0"/>
          </a:p>
        </p:txBody>
      </p:sp>
      <p:sp>
        <p:nvSpPr>
          <p:cNvPr id="21" name="Shape 18"/>
          <p:cNvSpPr/>
          <p:nvPr/>
        </p:nvSpPr>
        <p:spPr>
          <a:xfrm>
            <a:off x="4312920" y="2788920"/>
            <a:ext cx="3535680" cy="3291840"/>
          </a:xfrm>
          <a:prstGeom prst="roundRect">
            <a:avLst>
              <a:gd name="adj" fmla="val 1667"/>
            </a:avLst>
          </a:prstGeom>
          <a:solidFill>
            <a:srgbClr val="E4F3EF"/>
          </a:solidFill>
          <a:ln w="12700">
            <a:solidFill>
              <a:srgbClr val="00A08A"/>
            </a:solidFill>
            <a:prstDash val="solid"/>
          </a:ln>
        </p:spPr>
      </p:sp>
      <p:sp>
        <p:nvSpPr>
          <p:cNvPr id="22" name="Text 19"/>
          <p:cNvSpPr/>
          <p:nvPr/>
        </p:nvSpPr>
        <p:spPr>
          <a:xfrm>
            <a:off x="4422648" y="2880360"/>
            <a:ext cx="331622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A brave soldier told he will be king. His ambition — the flaw — leads him to murder, and to ruin.</a:t>
            </a:r>
            <a:endParaRPr lang="en-US" sz="1800" dirty="0"/>
          </a:p>
        </p:txBody>
      </p:sp>
      <p:sp>
        <p:nvSpPr>
          <p:cNvPr id="23" name="Shape 20"/>
          <p:cNvSpPr/>
          <p:nvPr/>
        </p:nvSpPr>
        <p:spPr>
          <a:xfrm>
            <a:off x="8077200" y="1828800"/>
            <a:ext cx="3535680" cy="868680"/>
          </a:xfrm>
          <a:prstGeom prst="roundRect">
            <a:avLst>
              <a:gd name="adj" fmla="val 8421"/>
            </a:avLst>
          </a:prstGeom>
          <a:solidFill>
            <a:srgbClr val="FF5470"/>
          </a:solidFill>
          <a:ln w="12700">
            <a:solidFill>
              <a:srgbClr val="FF5470"/>
            </a:solidFill>
            <a:prstDash val="solid"/>
          </a:ln>
        </p:spPr>
      </p:sp>
      <p:sp>
        <p:nvSpPr>
          <p:cNvPr id="24" name="Text 21"/>
          <p:cNvSpPr/>
          <p:nvPr/>
        </p:nvSpPr>
        <p:spPr>
          <a:xfrm>
            <a:off x="8168640" y="1874520"/>
            <a:ext cx="3352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Robin Hood</a:t>
            </a:r>
            <a:endParaRPr lang="en-US" sz="1600" dirty="0"/>
          </a:p>
        </p:txBody>
      </p:sp>
      <p:sp>
        <p:nvSpPr>
          <p:cNvPr id="25" name="Text 22"/>
          <p:cNvSpPr/>
          <p:nvPr/>
        </p:nvSpPr>
        <p:spPr>
          <a:xfrm>
            <a:off x="8168640" y="2331720"/>
            <a:ext cx="335280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anti-hero · folk tales</a:t>
            </a:r>
            <a:endParaRPr lang="en-US" sz="1400" dirty="0"/>
          </a:p>
        </p:txBody>
      </p:sp>
      <p:sp>
        <p:nvSpPr>
          <p:cNvPr id="26" name="Shape 23"/>
          <p:cNvSpPr/>
          <p:nvPr/>
        </p:nvSpPr>
        <p:spPr>
          <a:xfrm>
            <a:off x="8077200" y="2788920"/>
            <a:ext cx="3535680" cy="3291840"/>
          </a:xfrm>
          <a:prstGeom prst="roundRect">
            <a:avLst>
              <a:gd name="adj" fmla="val 1667"/>
            </a:avLst>
          </a:prstGeom>
          <a:solidFill>
            <a:srgbClr val="FBE4E4"/>
          </a:solidFill>
          <a:ln w="12700">
            <a:solidFill>
              <a:srgbClr val="FF5470"/>
            </a:solidFill>
            <a:prstDash val="solid"/>
          </a:ln>
        </p:spPr>
      </p:sp>
      <p:sp>
        <p:nvSpPr>
          <p:cNvPr id="27" name="Text 24"/>
          <p:cNvSpPr/>
          <p:nvPr/>
        </p:nvSpPr>
        <p:spPr>
          <a:xfrm>
            <a:off x="8186928" y="2880360"/>
            <a:ext cx="331622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An outlaw. Robs the rich, breaks the law. We cheer because the law itself is unjust.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Read the extract</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An original scene: a hero at the moment of choice. Which type is she?</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Types of hero</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PROSE WRITTEN FOR THIS LESSON</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The key was in her hand before she had decided to take it. Ren stood in the dark of the storeroom and listened to the guards laughing upstairs. Behind the locked door were the grain sacks — enough to feed the village for a winter, kept for a lord who would never eat them. She had promised her mother she would keep her head down. She had promised the village nothing. The laughter stopped. Ren turned the key. If this made her a thief, she thought, then let them find a better word for it.</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Ren want, and what stops her?</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hero type fits her best? Give two reasons.</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Find the line where she makes her choice. What tips her?</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How does the writer make us cheer for a thief?</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The analytical paragraph</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The shape you will use at KS3 and GCSE. Today it is assessed.</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Types of hero</a:t>
            </a:r>
            <a:endParaRPr lang="en-US" sz="900" dirty="0"/>
          </a:p>
        </p:txBody>
      </p:sp>
      <p:sp>
        <p:nvSpPr>
          <p:cNvPr id="13" name="Text 10"/>
          <p:cNvSpPr/>
          <p:nvPr/>
        </p:nvSpPr>
        <p:spPr>
          <a:xfrm>
            <a:off x="548640" y="1783080"/>
            <a:ext cx="2606040" cy="914400"/>
          </a:xfrm>
          <a:prstGeom prst="roundRect">
            <a:avLst>
              <a:gd name="adj" fmla="val 10000"/>
            </a:avLst>
          </a:prstGeom>
          <a:solidFill>
            <a:srgbClr val="6C3A6E"/>
          </a:solidFill>
          <a:ln>
            <a:solidFill>
              <a:srgbClr val="6C3A6E"/>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POINT</a:t>
            </a:r>
            <a:endParaRPr lang="en-US" sz="1600" dirty="0"/>
          </a:p>
        </p:txBody>
      </p:sp>
      <p:sp>
        <p:nvSpPr>
          <p:cNvPr id="14" name="Shape 11"/>
          <p:cNvSpPr/>
          <p:nvPr/>
        </p:nvSpPr>
        <p:spPr>
          <a:xfrm>
            <a:off x="3291840" y="1783080"/>
            <a:ext cx="8321040" cy="914400"/>
          </a:xfrm>
          <a:prstGeom prst="roundRect">
            <a:avLst>
              <a:gd name="adj" fmla="val 8000"/>
            </a:avLst>
          </a:prstGeom>
          <a:solidFill>
            <a:srgbClr val="FEF7E4"/>
          </a:solidFill>
          <a:ln w="12700">
            <a:solidFill>
              <a:srgbClr val="E5D9B0"/>
            </a:solidFill>
            <a:prstDash val="solid"/>
          </a:ln>
        </p:spPr>
      </p:sp>
      <p:sp>
        <p:nvSpPr>
          <p:cNvPr id="15" name="Text 12"/>
          <p:cNvSpPr/>
          <p:nvPr/>
        </p:nvSpPr>
        <p:spPr>
          <a:xfrm>
            <a:off x="3456432" y="1783080"/>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One clear claim that answers the question. 'Ren is an anti-hero because…'</a:t>
            </a:r>
            <a:endParaRPr lang="en-US" sz="1800" dirty="0"/>
          </a:p>
        </p:txBody>
      </p:sp>
      <p:sp>
        <p:nvSpPr>
          <p:cNvPr id="16" name="Text 13"/>
          <p:cNvSpPr/>
          <p:nvPr/>
        </p:nvSpPr>
        <p:spPr>
          <a:xfrm>
            <a:off x="548640" y="2843784"/>
            <a:ext cx="2606040" cy="914400"/>
          </a:xfrm>
          <a:prstGeom prst="roundRect">
            <a:avLst>
              <a:gd name="adj" fmla="val 10000"/>
            </a:avLst>
          </a:prstGeom>
          <a:solidFill>
            <a:srgbClr val="6C3A6E"/>
          </a:solidFill>
          <a:ln>
            <a:solidFill>
              <a:srgbClr val="6C3A6E"/>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EVIDENCE</a:t>
            </a:r>
            <a:endParaRPr lang="en-US" sz="1600" dirty="0"/>
          </a:p>
        </p:txBody>
      </p:sp>
      <p:sp>
        <p:nvSpPr>
          <p:cNvPr id="17" name="Shape 14"/>
          <p:cNvSpPr/>
          <p:nvPr/>
        </p:nvSpPr>
        <p:spPr>
          <a:xfrm>
            <a:off x="3291840" y="2843784"/>
            <a:ext cx="8321040" cy="914400"/>
          </a:xfrm>
          <a:prstGeom prst="roundRect">
            <a:avLst>
              <a:gd name="adj" fmla="val 8000"/>
            </a:avLst>
          </a:prstGeom>
          <a:solidFill>
            <a:srgbClr val="FEF7E4"/>
          </a:solidFill>
          <a:ln w="12700">
            <a:solidFill>
              <a:srgbClr val="E5D9B0"/>
            </a:solidFill>
            <a:prstDash val="solid"/>
          </a:ln>
        </p:spPr>
      </p:sp>
      <p:sp>
        <p:nvSpPr>
          <p:cNvPr id="18" name="Text 15"/>
          <p:cNvSpPr/>
          <p:nvPr/>
        </p:nvSpPr>
        <p:spPr>
          <a:xfrm>
            <a:off x="3456432" y="2843784"/>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short quotation or a precise retelling. 'She turned the key.'</a:t>
            </a:r>
            <a:endParaRPr lang="en-US" sz="1800" dirty="0"/>
          </a:p>
        </p:txBody>
      </p:sp>
      <p:sp>
        <p:nvSpPr>
          <p:cNvPr id="19" name="Text 16"/>
          <p:cNvSpPr/>
          <p:nvPr/>
        </p:nvSpPr>
        <p:spPr>
          <a:xfrm>
            <a:off x="548640" y="3904488"/>
            <a:ext cx="2606040" cy="914400"/>
          </a:xfrm>
          <a:prstGeom prst="roundRect">
            <a:avLst>
              <a:gd name="adj" fmla="val 10000"/>
            </a:avLst>
          </a:prstGeom>
          <a:solidFill>
            <a:srgbClr val="6C3A6E"/>
          </a:solidFill>
          <a:ln>
            <a:solidFill>
              <a:srgbClr val="6C3A6E"/>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EXPLAIN</a:t>
            </a:r>
            <a:endParaRPr lang="en-US" sz="1600" dirty="0"/>
          </a:p>
        </p:txBody>
      </p:sp>
      <p:sp>
        <p:nvSpPr>
          <p:cNvPr id="20" name="Shape 17"/>
          <p:cNvSpPr/>
          <p:nvPr/>
        </p:nvSpPr>
        <p:spPr>
          <a:xfrm>
            <a:off x="3291840" y="3904488"/>
            <a:ext cx="8321040" cy="914400"/>
          </a:xfrm>
          <a:prstGeom prst="roundRect">
            <a:avLst>
              <a:gd name="adj" fmla="val 8000"/>
            </a:avLst>
          </a:prstGeom>
          <a:solidFill>
            <a:srgbClr val="FEF7E4"/>
          </a:solidFill>
          <a:ln w="12700">
            <a:solidFill>
              <a:srgbClr val="E5D9B0"/>
            </a:solidFill>
            <a:prstDash val="solid"/>
          </a:ln>
        </p:spPr>
      </p:sp>
      <p:sp>
        <p:nvSpPr>
          <p:cNvPr id="21" name="Text 18"/>
          <p:cNvSpPr/>
          <p:nvPr/>
        </p:nvSpPr>
        <p:spPr>
          <a:xfrm>
            <a:off x="3456432" y="3904488"/>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the evidence shows and how the writer wants us to feel. Use the key words.</a:t>
            </a:r>
            <a:endParaRPr lang="en-US" sz="1800" dirty="0"/>
          </a:p>
        </p:txBody>
      </p:sp>
      <p:sp>
        <p:nvSpPr>
          <p:cNvPr id="22" name="Text 19"/>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Point · Evidence · Explain — then a second example, then a judgement.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user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WRITE · analytical paragraph</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15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Assessed piece. Silence. Use the hero-types scaffold and the moves on the next slide.</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Types of hero</a:t>
            </a:r>
            <a:endParaRPr lang="en-US" sz="900" dirty="0"/>
          </a:p>
        </p:txBody>
      </p:sp>
      <p:sp>
        <p:nvSpPr>
          <p:cNvPr id="13" name="Shape 10"/>
          <p:cNvSpPr/>
          <p:nvPr/>
        </p:nvSpPr>
        <p:spPr>
          <a:xfrm>
            <a:off x="548640" y="1783080"/>
            <a:ext cx="7772400" cy="457200"/>
          </a:xfrm>
          <a:prstGeom prst="roundRect">
            <a:avLst>
              <a:gd name="adj" fmla="val 20000"/>
            </a:avLst>
          </a:prstGeom>
          <a:solidFill>
            <a:srgbClr val="00A08A"/>
          </a:solidFill>
          <a:ln w="12700">
            <a:solidFill>
              <a:srgbClr val="00A08A"/>
            </a:solidFill>
            <a:prstDash val="solid"/>
          </a:ln>
        </p:spPr>
      </p:sp>
      <p:pic>
        <p:nvPicPr>
          <p:cNvPr id="14" name="Image 1" descr="/home/claude/english/kit/decks/_icons/users-FFFFFF.png">    </p:cNvPr>
          <p:cNvPicPr>
            <a:picLocks noChangeAspect="1"/>
          </p:cNvPicPr>
          <p:nvPr/>
        </p:nvPicPr>
        <p:blipFill>
          <a:blip r:embed="rId2"/>
          <a:stretch>
            <a:fillRect/>
          </a:stretch>
        </p:blipFill>
        <p:spPr>
          <a:xfrm>
            <a:off x="2971229" y="1888236"/>
            <a:ext cx="246888" cy="246888"/>
          </a:xfrm>
          <a:prstGeom prst="rect">
            <a:avLst/>
          </a:prstGeom>
        </p:spPr>
      </p:pic>
      <p:sp>
        <p:nvSpPr>
          <p:cNvPr id="15" name="Text 11"/>
          <p:cNvSpPr/>
          <p:nvPr/>
        </p:nvSpPr>
        <p:spPr>
          <a:xfrm>
            <a:off x="3336989" y="1783080"/>
            <a:ext cx="2835783"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ASSESSMENT · INDIVIDUAL</a:t>
            </a:r>
            <a:endParaRPr lang="en-US" sz="1500" dirty="0"/>
          </a:p>
        </p:txBody>
      </p:sp>
      <p:sp>
        <p:nvSpPr>
          <p:cNvPr id="16" name="Shape 12"/>
          <p:cNvSpPr/>
          <p:nvPr/>
        </p:nvSpPr>
        <p:spPr>
          <a:xfrm>
            <a:off x="548640" y="2377440"/>
            <a:ext cx="11064240" cy="868680"/>
          </a:xfrm>
          <a:prstGeom prst="roundRect">
            <a:avLst>
              <a:gd name="adj" fmla="val 8421"/>
            </a:avLst>
          </a:prstGeom>
          <a:solidFill>
            <a:srgbClr val="FFC93C"/>
          </a:solidFill>
          <a:ln w="12700">
            <a:solidFill>
              <a:srgbClr val="FFC93C"/>
            </a:solidFill>
            <a:prstDash val="solid"/>
          </a:ln>
        </p:spPr>
      </p:sp>
      <p:sp>
        <p:nvSpPr>
          <p:cNvPr id="17" name="Text 13"/>
          <p:cNvSpPr/>
          <p:nvPr/>
        </p:nvSpPr>
        <p:spPr>
          <a:xfrm>
            <a:off x="777240" y="2377440"/>
            <a:ext cx="1920240" cy="868680"/>
          </a:xfrm>
          <a:prstGeom prst="rect">
            <a:avLst/>
          </a:prstGeom>
          <a:noFill/>
          <a:ln/>
        </p:spPr>
        <p:txBody>
          <a:bodyPr wrap="square" lIns="0" tIns="0" rIns="0" bIns="0" rtlCol="0" anchor="ctr"/>
          <a:lstStyle/>
          <a:p>
            <a:pPr indent="0" marL="0">
              <a:buNone/>
            </a:pPr>
            <a:r>
              <a:rPr lang="en-US" sz="1600" b="1" dirty="0">
                <a:solidFill>
                  <a:srgbClr val="12294D"/>
                </a:solidFill>
                <a:latin typeface="Arial" pitchFamily="34" charset="0"/>
                <a:ea typeface="Arial" pitchFamily="34" charset="-122"/>
                <a:cs typeface="Arial" pitchFamily="34" charset="-120"/>
              </a:rPr>
              <a:t>THE FOCUS:</a:t>
            </a:r>
            <a:endParaRPr lang="en-US" sz="1600" dirty="0"/>
          </a:p>
        </p:txBody>
      </p:sp>
      <p:sp>
        <p:nvSpPr>
          <p:cNvPr id="18" name="Text 14"/>
          <p:cNvSpPr/>
          <p:nvPr/>
        </p:nvSpPr>
        <p:spPr>
          <a:xfrm>
            <a:off x="2697480" y="2377440"/>
            <a:ext cx="8732520" cy="868680"/>
          </a:xfrm>
          <a:prstGeom prst="rect">
            <a:avLst/>
          </a:prstGeom>
          <a:noFill/>
          <a:ln/>
        </p:spPr>
        <p:txBody>
          <a:bodyPr wrap="square" lIns="45720" tIns="91440" rIns="91440" bIns="45720" rtlCol="0" anchor="ctr"/>
          <a:lstStyle/>
          <a:p>
            <a:pPr algn="l" indent="0" marL="0">
              <a:buNone/>
            </a:pPr>
            <a:r>
              <a:rPr lang="en-US" sz="1800" b="1" i="1" dirty="0">
                <a:solidFill>
                  <a:srgbClr val="12294D"/>
                </a:solidFill>
                <a:latin typeface="Arial" pitchFamily="34" charset="0"/>
                <a:ea typeface="Arial" pitchFamily="34" charset="-122"/>
                <a:cs typeface="Arial" pitchFamily="34" charset="-120"/>
              </a:rPr>
              <a:t>Compare two hero types. Which does a story need most? Use one British example for each.</a:t>
            </a:r>
            <a:endParaRPr lang="en-US" sz="1800" dirty="0"/>
          </a:p>
        </p:txBody>
      </p:sp>
      <p:sp>
        <p:nvSpPr>
          <p:cNvPr id="19" name="Text 15"/>
          <p:cNvSpPr/>
          <p:nvPr/>
        </p:nvSpPr>
        <p:spPr>
          <a:xfrm>
            <a:off x="548640" y="3401568"/>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1</a:t>
            </a:r>
            <a:endParaRPr lang="en-US" sz="1800" dirty="0"/>
          </a:p>
        </p:txBody>
      </p:sp>
      <p:sp>
        <p:nvSpPr>
          <p:cNvPr id="20" name="Shape 16"/>
          <p:cNvSpPr/>
          <p:nvPr/>
        </p:nvSpPr>
        <p:spPr>
          <a:xfrm>
            <a:off x="1280160" y="3401568"/>
            <a:ext cx="10332720" cy="560070"/>
          </a:xfrm>
          <a:prstGeom prst="roundRect">
            <a:avLst>
              <a:gd name="adj" fmla="val 13061"/>
            </a:avLst>
          </a:prstGeom>
          <a:solidFill>
            <a:srgbClr val="FFFFFF"/>
          </a:solidFill>
          <a:ln w="12700">
            <a:solidFill>
              <a:srgbClr val="80ADC4"/>
            </a:solidFill>
            <a:prstDash val="solid"/>
          </a:ln>
        </p:spPr>
      </p:sp>
      <p:sp>
        <p:nvSpPr>
          <p:cNvPr id="21" name="Text 17"/>
          <p:cNvSpPr/>
          <p:nvPr/>
        </p:nvSpPr>
        <p:spPr>
          <a:xfrm>
            <a:off x="1463040" y="3401568"/>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Point: name your two types and your view in one sentence.</a:t>
            </a:r>
            <a:endParaRPr lang="en-US" sz="1800" dirty="0"/>
          </a:p>
        </p:txBody>
      </p:sp>
      <p:sp>
        <p:nvSpPr>
          <p:cNvPr id="22" name="Text 18"/>
          <p:cNvSpPr/>
          <p:nvPr/>
        </p:nvSpPr>
        <p:spPr>
          <a:xfrm>
            <a:off x="548640" y="4062222"/>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2</a:t>
            </a:r>
            <a:endParaRPr lang="en-US" sz="1800" dirty="0"/>
          </a:p>
        </p:txBody>
      </p:sp>
      <p:sp>
        <p:nvSpPr>
          <p:cNvPr id="23" name="Shape 19"/>
          <p:cNvSpPr/>
          <p:nvPr/>
        </p:nvSpPr>
        <p:spPr>
          <a:xfrm>
            <a:off x="1280160" y="4062222"/>
            <a:ext cx="10332720" cy="560070"/>
          </a:xfrm>
          <a:prstGeom prst="roundRect">
            <a:avLst>
              <a:gd name="adj" fmla="val 13061"/>
            </a:avLst>
          </a:prstGeom>
          <a:solidFill>
            <a:srgbClr val="F4F6FA"/>
          </a:solidFill>
          <a:ln w="12700">
            <a:solidFill>
              <a:srgbClr val="80ADC4"/>
            </a:solidFill>
            <a:prstDash val="solid"/>
          </a:ln>
        </p:spPr>
      </p:sp>
      <p:sp>
        <p:nvSpPr>
          <p:cNvPr id="24" name="Text 20"/>
          <p:cNvSpPr/>
          <p:nvPr/>
        </p:nvSpPr>
        <p:spPr>
          <a:xfrm>
            <a:off x="1463040" y="4062222"/>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Evidence + explain for hero one. Evidence + explain for hero two.</a:t>
            </a:r>
            <a:endParaRPr lang="en-US" sz="1800" dirty="0"/>
          </a:p>
        </p:txBody>
      </p:sp>
      <p:sp>
        <p:nvSpPr>
          <p:cNvPr id="25" name="Text 21"/>
          <p:cNvSpPr/>
          <p:nvPr/>
        </p:nvSpPr>
        <p:spPr>
          <a:xfrm>
            <a:off x="548640" y="4722876"/>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3</a:t>
            </a:r>
            <a:endParaRPr lang="en-US" sz="1800" dirty="0"/>
          </a:p>
        </p:txBody>
      </p:sp>
      <p:sp>
        <p:nvSpPr>
          <p:cNvPr id="26" name="Shape 22"/>
          <p:cNvSpPr/>
          <p:nvPr/>
        </p:nvSpPr>
        <p:spPr>
          <a:xfrm>
            <a:off x="1280160" y="4722876"/>
            <a:ext cx="10332720" cy="560070"/>
          </a:xfrm>
          <a:prstGeom prst="roundRect">
            <a:avLst>
              <a:gd name="adj" fmla="val 13061"/>
            </a:avLst>
          </a:prstGeom>
          <a:solidFill>
            <a:srgbClr val="FFFFFF"/>
          </a:solidFill>
          <a:ln w="12700">
            <a:solidFill>
              <a:srgbClr val="80ADC4"/>
            </a:solidFill>
            <a:prstDash val="solid"/>
          </a:ln>
        </p:spPr>
      </p:sp>
      <p:sp>
        <p:nvSpPr>
          <p:cNvPr id="27" name="Text 23"/>
          <p:cNvSpPr/>
          <p:nvPr/>
        </p:nvSpPr>
        <p:spPr>
          <a:xfrm>
            <a:off x="1463040" y="4722876"/>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Judgement: which type does a story need most, and why?</a:t>
            </a:r>
            <a:endParaRPr lang="en-US" sz="1800" dirty="0"/>
          </a:p>
        </p:txBody>
      </p:sp>
      <p:sp>
        <p:nvSpPr>
          <p:cNvPr id="28" name="Text 24"/>
          <p:cNvSpPr/>
          <p:nvPr/>
        </p:nvSpPr>
        <p:spPr>
          <a:xfrm>
            <a:off x="548640" y="5383530"/>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4</a:t>
            </a:r>
            <a:endParaRPr lang="en-US" sz="1800" dirty="0"/>
          </a:p>
        </p:txBody>
      </p:sp>
      <p:sp>
        <p:nvSpPr>
          <p:cNvPr id="29" name="Shape 25"/>
          <p:cNvSpPr/>
          <p:nvPr/>
        </p:nvSpPr>
        <p:spPr>
          <a:xfrm>
            <a:off x="1280160" y="5383530"/>
            <a:ext cx="10332720" cy="560070"/>
          </a:xfrm>
          <a:prstGeom prst="roundRect">
            <a:avLst>
              <a:gd name="adj" fmla="val 13061"/>
            </a:avLst>
          </a:prstGeom>
          <a:solidFill>
            <a:srgbClr val="F4F6FA"/>
          </a:solidFill>
          <a:ln w="12700">
            <a:solidFill>
              <a:srgbClr val="80ADC4"/>
            </a:solidFill>
            <a:prstDash val="solid"/>
          </a:ln>
        </p:spPr>
      </p:sp>
      <p:sp>
        <p:nvSpPr>
          <p:cNvPr id="30" name="Text 26"/>
          <p:cNvSpPr/>
          <p:nvPr/>
        </p:nvSpPr>
        <p:spPr>
          <a:xfrm>
            <a:off x="1463040" y="5383530"/>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Check: two key words, two examples, one judgement, full stops.</a:t>
            </a:r>
            <a:endParaRPr lang="en-US" sz="1800" dirty="0"/>
          </a:p>
        </p:txBody>
      </p:sp>
      <p:sp>
        <p:nvSpPr>
          <p:cNvPr id="31" name="Text 27"/>
          <p:cNvSpPr/>
          <p:nvPr/>
        </p:nvSpPr>
        <p:spPr>
          <a:xfrm>
            <a:off x="548640" y="5998464"/>
            <a:ext cx="11064240" cy="256032"/>
          </a:xfrm>
          <a:prstGeom prst="rect">
            <a:avLst/>
          </a:prstGeom>
          <a:noFill/>
          <a:ln/>
        </p:spPr>
        <p:txBody>
          <a:bodyPr wrap="square" lIns="0" tIns="0" rIns="0" bIns="0" rtlCol="0" anchor="ctr"/>
          <a:lstStyle/>
          <a:p>
            <a:pPr algn="l" indent="0" marL="0">
              <a:buNone/>
            </a:pPr>
            <a:r>
              <a:rPr lang="en-US" sz="1200" i="1" dirty="0">
                <a:solidFill>
                  <a:srgbClr val="6E6E6E"/>
                </a:solidFill>
                <a:latin typeface="Arial" pitchFamily="34" charset="0"/>
                <a:ea typeface="Arial" pitchFamily="34" charset="-122"/>
                <a:cs typeface="Arial" pitchFamily="34" charset="-120"/>
              </a:rPr>
              <a:t>Evidence: EEF Toolkit · Feedback and metacognition — +7 months when pupils plan, monitor and check</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award-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What a strong paragraph shows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Your teacher marks against these. Tick them before you hand in.</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Types of hero</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THE MOVES</a:t>
            </a:r>
            <a:endParaRPr lang="en-US" sz="900" dirty="0"/>
          </a:p>
        </p:txBody>
      </p:sp>
      <p:sp>
        <p:nvSpPr>
          <p:cNvPr id="14" name="Text 11"/>
          <p:cNvSpPr/>
          <p:nvPr/>
        </p:nvSpPr>
        <p:spPr>
          <a:xfrm>
            <a:off x="548640" y="1783080"/>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Define</a:t>
            </a:r>
            <a:endParaRPr lang="en-US" sz="1600" dirty="0"/>
          </a:p>
        </p:txBody>
      </p:sp>
      <p:sp>
        <p:nvSpPr>
          <p:cNvPr id="15" name="Shape 12"/>
          <p:cNvSpPr/>
          <p:nvPr/>
        </p:nvSpPr>
        <p:spPr>
          <a:xfrm>
            <a:off x="3703320" y="1783080"/>
            <a:ext cx="7909560" cy="914400"/>
          </a:xfrm>
          <a:prstGeom prst="roundRect">
            <a:avLst>
              <a:gd name="adj" fmla="val 6000"/>
            </a:avLst>
          </a:prstGeom>
          <a:solidFill>
            <a:srgbClr val="FEF7E4"/>
          </a:solidFill>
          <a:ln w="12700">
            <a:solidFill>
              <a:srgbClr val="E5D9B0"/>
            </a:solidFill>
            <a:prstDash val="solid"/>
          </a:ln>
        </p:spPr>
      </p:sp>
      <p:sp>
        <p:nvSpPr>
          <p:cNvPr id="16" name="Text 13"/>
          <p:cNvSpPr/>
          <p:nvPr/>
        </p:nvSpPr>
        <p:spPr>
          <a:xfrm>
            <a:off x="3886200" y="1783080"/>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Use epic, tragic or anti-hero correctly, with the flaw or quest that proves it.</a:t>
            </a:r>
            <a:endParaRPr lang="en-US" sz="1800" dirty="0"/>
          </a:p>
        </p:txBody>
      </p:sp>
      <p:sp>
        <p:nvSpPr>
          <p:cNvPr id="17" name="Text 14"/>
          <p:cNvSpPr/>
          <p:nvPr/>
        </p:nvSpPr>
        <p:spPr>
          <a:xfrm>
            <a:off x="548640" y="2843784"/>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Compare</a:t>
            </a:r>
            <a:endParaRPr lang="en-US" sz="1600" dirty="0"/>
          </a:p>
        </p:txBody>
      </p:sp>
      <p:sp>
        <p:nvSpPr>
          <p:cNvPr id="18" name="Shape 15"/>
          <p:cNvSpPr/>
          <p:nvPr/>
        </p:nvSpPr>
        <p:spPr>
          <a:xfrm>
            <a:off x="3703320" y="2843784"/>
            <a:ext cx="7909560" cy="914400"/>
          </a:xfrm>
          <a:prstGeom prst="roundRect">
            <a:avLst>
              <a:gd name="adj" fmla="val 6000"/>
            </a:avLst>
          </a:prstGeom>
          <a:solidFill>
            <a:srgbClr val="FEF7E4"/>
          </a:solidFill>
          <a:ln w="12700">
            <a:solidFill>
              <a:srgbClr val="E5D9B0"/>
            </a:solidFill>
            <a:prstDash val="solid"/>
          </a:ln>
        </p:spPr>
      </p:sp>
      <p:sp>
        <p:nvSpPr>
          <p:cNvPr id="19" name="Text 16"/>
          <p:cNvSpPr/>
          <p:nvPr/>
        </p:nvSpPr>
        <p:spPr>
          <a:xfrm>
            <a:off x="3886200" y="2843784"/>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Set two heroes side by side: what they want, what stops them, how we feel.</a:t>
            </a:r>
            <a:endParaRPr lang="en-US" sz="1800" dirty="0"/>
          </a:p>
        </p:txBody>
      </p:sp>
      <p:sp>
        <p:nvSpPr>
          <p:cNvPr id="20" name="Text 17"/>
          <p:cNvSpPr/>
          <p:nvPr/>
        </p:nvSpPr>
        <p:spPr>
          <a:xfrm>
            <a:off x="548640" y="3904488"/>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Judge</a:t>
            </a:r>
            <a:endParaRPr lang="en-US" sz="1600" dirty="0"/>
          </a:p>
        </p:txBody>
      </p:sp>
      <p:sp>
        <p:nvSpPr>
          <p:cNvPr id="21" name="Shape 18"/>
          <p:cNvSpPr/>
          <p:nvPr/>
        </p:nvSpPr>
        <p:spPr>
          <a:xfrm>
            <a:off x="3703320" y="3904488"/>
            <a:ext cx="7909560" cy="914400"/>
          </a:xfrm>
          <a:prstGeom prst="roundRect">
            <a:avLst>
              <a:gd name="adj" fmla="val 6000"/>
            </a:avLst>
          </a:prstGeom>
          <a:solidFill>
            <a:srgbClr val="FEF7E4"/>
          </a:solidFill>
          <a:ln w="12700">
            <a:solidFill>
              <a:srgbClr val="E5D9B0"/>
            </a:solidFill>
            <a:prstDash val="solid"/>
          </a:ln>
        </p:spPr>
      </p:sp>
      <p:sp>
        <p:nvSpPr>
          <p:cNvPr id="22" name="Text 19"/>
          <p:cNvSpPr/>
          <p:nvPr/>
        </p:nvSpPr>
        <p:spPr>
          <a:xfrm>
            <a:off x="3886200" y="3904488"/>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End with your own view on which hero a story needs — and one reason.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headphones-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Read-along edition, pages 4 to 6: Saxons, Vikings, Normans. Beowulf was written in Saxon English.</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book-open-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Read</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Read the hero-types scaffold again. Add one hero of your own from a film or a game to each type.</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edit-3-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One paragraph comparing two hero types — a fresh one, not today's. Point, evidence, explain.</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Return</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Next week's bell work asks for the three hero types and one example each.</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The History of the English Language · Lesson 5 of 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History of the English Language · L5 Types of hero</dc:title>
  <dc:subject>PptxGenJS Presentation</dc:subject>
  <dc:creator>Harlington English</dc:creator>
  <cp:lastModifiedBy>Harlington English</cp:lastModifiedBy>
  <cp:revision>1</cp:revision>
  <dcterms:created xsi:type="dcterms:W3CDTF">2026-09-04T20:58:57Z</dcterms:created>
  <dcterms:modified xsi:type="dcterms:W3CDTF">2026-09-04T20:58:57Z</dcterms:modified>
</cp:coreProperties>
</file>