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THE HISTORY OF THE ENGLISH LANGUAGE · LESSON 4 of 7</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Genre and form</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writer was a playwright: Shakespeare, Brontë or Dickens?</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context mean?</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Elizabethan or Victorian: which era was Dickens?</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one fact about the Brontës' world.</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Finish: A form is the shape a text takes, such as…</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Genre and form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History of the English Language</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stories, poems and non-fiction</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character, setting and plot</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spelling, grammar and punctuation</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Big idea for Year 7: Journeys</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20" name="Text 17"/>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Journeys: what is English?</a:t>
            </a:r>
            <a:endParaRPr lang="en-US" sz="1400" dirty="0"/>
          </a:p>
        </p:txBody>
      </p:sp>
      <p:sp>
        <p:nvSpPr>
          <p:cNvPr id="22" name="Shape 19"/>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3" name="Text 20"/>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Where English came from</a:t>
            </a:r>
            <a:endParaRPr lang="en-US" sz="1400" dirty="0"/>
          </a:p>
        </p:txBody>
      </p:sp>
      <p:sp>
        <p:nvSpPr>
          <p:cNvPr id="25" name="Shape 22"/>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6" name="Text 23"/>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Brontë, Shakespeare, Dickens</a:t>
            </a:r>
            <a:endParaRPr lang="en-US" sz="1400" dirty="0"/>
          </a:p>
        </p:txBody>
      </p:sp>
      <p:sp>
        <p:nvSpPr>
          <p:cNvPr id="28" name="Shape 25"/>
          <p:cNvSpPr/>
          <p:nvPr/>
        </p:nvSpPr>
        <p:spPr>
          <a:xfrm>
            <a:off x="4114800" y="3895344"/>
            <a:ext cx="3931920" cy="420624"/>
          </a:xfrm>
          <a:prstGeom prst="roundRect">
            <a:avLst>
              <a:gd name="adj" fmla="val 26087"/>
            </a:avLst>
          </a:prstGeom>
          <a:solidFill>
            <a:srgbClr val="12294D"/>
          </a:solidFill>
          <a:ln w="12700">
            <a:solidFill>
              <a:srgbClr val="12294D"/>
            </a:solidFill>
            <a:prstDash val="solid"/>
          </a:ln>
        </p:spPr>
      </p:sp>
      <p:sp>
        <p:nvSpPr>
          <p:cNvPr id="29" name="Text 26"/>
          <p:cNvSpPr/>
          <p:nvPr/>
        </p:nvSpPr>
        <p:spPr>
          <a:xfrm>
            <a:off x="4242816" y="3950208"/>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Genre and form</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Types of hero</a:t>
            </a:r>
            <a:endParaRPr lang="en-US" sz="1400" dirty="0"/>
          </a:p>
        </p:txBody>
      </p:sp>
      <p:sp>
        <p:nvSpPr>
          <p:cNvPr id="34" name="Shape 31"/>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5" name="Text 32"/>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6" name="Text 33"/>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Dialects and identity</a:t>
            </a:r>
            <a:endParaRPr lang="en-US" sz="1400" dirty="0"/>
          </a:p>
        </p:txBody>
      </p:sp>
      <p:sp>
        <p:nvSpPr>
          <p:cNvPr id="37" name="Shape 34"/>
          <p:cNvSpPr/>
          <p:nvPr/>
        </p:nvSpPr>
        <p:spPr>
          <a:xfrm>
            <a:off x="4114800" y="5596128"/>
            <a:ext cx="3931920" cy="420624"/>
          </a:xfrm>
          <a:prstGeom prst="roundRect">
            <a:avLst>
              <a:gd name="adj" fmla="val 26087"/>
            </a:avLst>
          </a:prstGeom>
          <a:solidFill>
            <a:srgbClr val="FFFFFF"/>
          </a:solidFill>
          <a:ln w="12700">
            <a:solidFill>
              <a:srgbClr val="D9E2EE"/>
            </a:solidFill>
            <a:prstDash val="solid"/>
          </a:ln>
        </p:spPr>
      </p:sp>
      <p:sp>
        <p:nvSpPr>
          <p:cNvPr id="38" name="Text 35"/>
          <p:cNvSpPr/>
          <p:nvPr/>
        </p:nvSpPr>
        <p:spPr>
          <a:xfrm>
            <a:off x="4242816" y="565099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7</a:t>
            </a:r>
            <a:endParaRPr lang="en-US" sz="1100" dirty="0"/>
          </a:p>
        </p:txBody>
      </p:sp>
      <p:sp>
        <p:nvSpPr>
          <p:cNvPr id="39" name="Text 36"/>
          <p:cNvSpPr/>
          <p:nvPr/>
        </p:nvSpPr>
        <p:spPr>
          <a:xfrm>
            <a:off x="4736592" y="559612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Review: words and terms</a:t>
            </a:r>
            <a:endParaRPr lang="en-US" sz="1400" dirty="0"/>
          </a:p>
        </p:txBody>
      </p:sp>
      <p:sp>
        <p:nvSpPr>
          <p:cNvPr id="40" name="Shape 37"/>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41"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42" name="Text 38"/>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43" name="Shape 39"/>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44" name="Text 40"/>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an epic journey home</a:t>
            </a:r>
            <a:endParaRPr lang="en-US" sz="1400" dirty="0"/>
          </a:p>
        </p:txBody>
      </p:sp>
      <p:sp>
        <p:nvSpPr>
          <p:cNvPr id="45" name="Shape 41"/>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6" name="Text 42"/>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HT3: British Poetry — how a poem makes you feel</a:t>
            </a:r>
            <a:endParaRPr lang="en-US" sz="1400" dirty="0"/>
          </a:p>
        </p:txBody>
      </p:sp>
      <p:sp>
        <p:nvSpPr>
          <p:cNvPr id="47" name="Shape 43"/>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8" name="Text 44"/>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HT4: The Red-Headed League — keeping us guessing</a:t>
            </a:r>
            <a:endParaRPr lang="en-US" sz="1400" dirty="0"/>
          </a:p>
        </p:txBody>
      </p:sp>
      <p:sp>
        <p:nvSpPr>
          <p:cNvPr id="49" name="Shape 45"/>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50" name="Text 46"/>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51" name="Text 47"/>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The History of the English Language  ·  Genre and form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4 · GENRE AND FORM</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Name the four main genres — fiction, poetry, drama, non-fiction — and the forms inside each.</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Spot the features that tell you which genre and form a text belongs to.</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Judge which form tells a journey best — and explain what each form can do that the others cannot.</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Genre and form</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Which writer was a playwright: Shakespeare, Brontë or Dickens?</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Shakespeare — the Brontës and Dickens were novelists.</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What does context mean?</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time, place and life around a writer that shape what they write.</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Elizabethan or Victorian: which era was Dickens?</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Victorian (1837–1901). Shakespeare was Elizabethan.</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Name one fact about the Brontës' world.</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Yorkshire moors; a vicarage; wrote under men's names; three sisters.</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Finish: A form is the shape a text takes, such as…</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poem, a play, a novel, a letter, a newspaper article.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Genre and form</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fiction</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made-up stories — novels and short stories</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non-fiction</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writing about real things — articles, diaries, speeches</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drama</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texts written to be acted: plays and scripts</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poetry</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writing in lines and verses, built on sound and image</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convention</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feature readers expect from a genre or form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Genre: what kind of text?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The four big families. Every text you meet at KS3 lives in one of them.</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Genre and form</a:t>
            </a:r>
            <a:endParaRPr lang="en-US" sz="900" dirty="0"/>
          </a:p>
        </p:txBody>
      </p:sp>
      <p:sp>
        <p:nvSpPr>
          <p:cNvPr id="13" name="Text 10"/>
          <p:cNvSpPr/>
          <p:nvPr/>
        </p:nvSpPr>
        <p:spPr>
          <a:xfrm>
            <a:off x="548640" y="1783080"/>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FICTION</a:t>
            </a:r>
            <a:endParaRPr lang="en-US" sz="1600" dirty="0"/>
          </a:p>
        </p:txBody>
      </p:sp>
      <p:sp>
        <p:nvSpPr>
          <p:cNvPr id="14" name="Shape 11"/>
          <p:cNvSpPr/>
          <p:nvPr/>
        </p:nvSpPr>
        <p:spPr>
          <a:xfrm>
            <a:off x="3291840" y="1783080"/>
            <a:ext cx="8321040" cy="889254"/>
          </a:xfrm>
          <a:prstGeom prst="roundRect">
            <a:avLst>
              <a:gd name="adj" fmla="val 8226"/>
            </a:avLst>
          </a:prstGeom>
          <a:solidFill>
            <a:srgbClr val="FEF7E4"/>
          </a:solidFill>
          <a:ln w="12700">
            <a:solidFill>
              <a:srgbClr val="E5D9B0"/>
            </a:solidFill>
            <a:prstDash val="solid"/>
          </a:ln>
        </p:spPr>
      </p:sp>
      <p:sp>
        <p:nvSpPr>
          <p:cNvPr id="15" name="Text 12"/>
          <p:cNvSpPr/>
          <p:nvPr/>
        </p:nvSpPr>
        <p:spPr>
          <a:xfrm>
            <a:off x="3456432" y="1783080"/>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Made-up stories in prose. Inside it: horror, mystery, adventure, romance, fantasy — the story genres.</a:t>
            </a:r>
            <a:endParaRPr lang="en-US" sz="1800" dirty="0"/>
          </a:p>
        </p:txBody>
      </p:sp>
      <p:sp>
        <p:nvSpPr>
          <p:cNvPr id="16" name="Text 13"/>
          <p:cNvSpPr/>
          <p:nvPr/>
        </p:nvSpPr>
        <p:spPr>
          <a:xfrm>
            <a:off x="548640" y="2782062"/>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POETRY</a:t>
            </a:r>
            <a:endParaRPr lang="en-US" sz="1600" dirty="0"/>
          </a:p>
        </p:txBody>
      </p:sp>
      <p:sp>
        <p:nvSpPr>
          <p:cNvPr id="17" name="Shape 14"/>
          <p:cNvSpPr/>
          <p:nvPr/>
        </p:nvSpPr>
        <p:spPr>
          <a:xfrm>
            <a:off x="3291840" y="2782062"/>
            <a:ext cx="8321040" cy="889254"/>
          </a:xfrm>
          <a:prstGeom prst="roundRect">
            <a:avLst>
              <a:gd name="adj" fmla="val 8226"/>
            </a:avLst>
          </a:prstGeom>
          <a:solidFill>
            <a:srgbClr val="FEF7E4"/>
          </a:solidFill>
          <a:ln w="12700">
            <a:solidFill>
              <a:srgbClr val="E5D9B0"/>
            </a:solidFill>
            <a:prstDash val="solid"/>
          </a:ln>
        </p:spPr>
      </p:sp>
      <p:sp>
        <p:nvSpPr>
          <p:cNvPr id="18" name="Text 15"/>
          <p:cNvSpPr/>
          <p:nvPr/>
        </p:nvSpPr>
        <p:spPr>
          <a:xfrm>
            <a:off x="3456432" y="2782062"/>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Lines and verses. Built on sound, rhythm and image. Sonnets, ballads, free verse.</a:t>
            </a:r>
            <a:endParaRPr lang="en-US" sz="1800" dirty="0"/>
          </a:p>
        </p:txBody>
      </p:sp>
      <p:sp>
        <p:nvSpPr>
          <p:cNvPr id="19" name="Text 16"/>
          <p:cNvSpPr/>
          <p:nvPr/>
        </p:nvSpPr>
        <p:spPr>
          <a:xfrm>
            <a:off x="548640" y="3781044"/>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DRAMA</a:t>
            </a:r>
            <a:endParaRPr lang="en-US" sz="1600" dirty="0"/>
          </a:p>
        </p:txBody>
      </p:sp>
      <p:sp>
        <p:nvSpPr>
          <p:cNvPr id="20" name="Shape 17"/>
          <p:cNvSpPr/>
          <p:nvPr/>
        </p:nvSpPr>
        <p:spPr>
          <a:xfrm>
            <a:off x="3291840" y="3781044"/>
            <a:ext cx="8321040" cy="889254"/>
          </a:xfrm>
          <a:prstGeom prst="roundRect">
            <a:avLst>
              <a:gd name="adj" fmla="val 8226"/>
            </a:avLst>
          </a:prstGeom>
          <a:solidFill>
            <a:srgbClr val="FEF7E4"/>
          </a:solidFill>
          <a:ln w="12700">
            <a:solidFill>
              <a:srgbClr val="E5D9B0"/>
            </a:solidFill>
            <a:prstDash val="solid"/>
          </a:ln>
        </p:spPr>
      </p:sp>
      <p:sp>
        <p:nvSpPr>
          <p:cNvPr id="21" name="Text 18"/>
          <p:cNvSpPr/>
          <p:nvPr/>
        </p:nvSpPr>
        <p:spPr>
          <a:xfrm>
            <a:off x="3456432" y="3781044"/>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Written to be acted. Characters' names, lines of speech, stage directions in brackets.</a:t>
            </a:r>
            <a:endParaRPr lang="en-US" sz="1800" dirty="0"/>
          </a:p>
        </p:txBody>
      </p:sp>
      <p:sp>
        <p:nvSpPr>
          <p:cNvPr id="22" name="Text 19"/>
          <p:cNvSpPr/>
          <p:nvPr/>
        </p:nvSpPr>
        <p:spPr>
          <a:xfrm>
            <a:off x="548640" y="4780026"/>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NON-FICTION</a:t>
            </a:r>
            <a:endParaRPr lang="en-US" sz="1600" dirty="0"/>
          </a:p>
        </p:txBody>
      </p:sp>
      <p:sp>
        <p:nvSpPr>
          <p:cNvPr id="23" name="Shape 20"/>
          <p:cNvSpPr/>
          <p:nvPr/>
        </p:nvSpPr>
        <p:spPr>
          <a:xfrm>
            <a:off x="3291840" y="4780026"/>
            <a:ext cx="8321040" cy="889254"/>
          </a:xfrm>
          <a:prstGeom prst="roundRect">
            <a:avLst>
              <a:gd name="adj" fmla="val 8226"/>
            </a:avLst>
          </a:prstGeom>
          <a:solidFill>
            <a:srgbClr val="FEF7E4"/>
          </a:solidFill>
          <a:ln w="12700">
            <a:solidFill>
              <a:srgbClr val="E5D9B0"/>
            </a:solidFill>
            <a:prstDash val="solid"/>
          </a:ln>
        </p:spPr>
      </p:sp>
      <p:sp>
        <p:nvSpPr>
          <p:cNvPr id="24" name="Text 21"/>
          <p:cNvSpPr/>
          <p:nvPr/>
        </p:nvSpPr>
        <p:spPr>
          <a:xfrm>
            <a:off x="3456432" y="4780026"/>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About real things. Articles, letters, speeches, diaries, travel writing, this slide.</a:t>
            </a:r>
            <a:endParaRPr lang="en-US" sz="1800" dirty="0"/>
          </a:p>
        </p:txBody>
      </p:sp>
      <p:sp>
        <p:nvSpPr>
          <p:cNvPr id="25" name="Text 22"/>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Genre answers 'what kind?' Form answers 'what shape?'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Form: what shape?</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The same journey can take many shapes. Each shape has its conventions.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Genre and form</a:t>
            </a:r>
            <a:endParaRPr lang="en-US" sz="900" dirty="0"/>
          </a:p>
        </p:txBody>
      </p:sp>
      <p:sp>
        <p:nvSpPr>
          <p:cNvPr id="13" name="Text 10"/>
          <p:cNvSpPr/>
          <p:nvPr/>
        </p:nvSpPr>
        <p:spPr>
          <a:xfrm>
            <a:off x="548640" y="1783080"/>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NOVEL / STORY</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Paragraphs, a narrator, speech marks. Can go inside a character's head.</a:t>
            </a:r>
            <a:endParaRPr lang="en-US" sz="1800" dirty="0"/>
          </a:p>
        </p:txBody>
      </p:sp>
      <p:sp>
        <p:nvSpPr>
          <p:cNvPr id="16" name="Text 13"/>
          <p:cNvSpPr/>
          <p:nvPr/>
        </p:nvSpPr>
        <p:spPr>
          <a:xfrm>
            <a:off x="548640" y="2843784"/>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POEM</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Short lines, verses, rhyme or rhythm, images. Says a lot in few words.</a:t>
            </a:r>
            <a:endParaRPr lang="en-US" sz="1800" dirty="0"/>
          </a:p>
        </p:txBody>
      </p:sp>
      <p:sp>
        <p:nvSpPr>
          <p:cNvPr id="19" name="Text 16"/>
          <p:cNvSpPr/>
          <p:nvPr/>
        </p:nvSpPr>
        <p:spPr>
          <a:xfrm>
            <a:off x="548640" y="3904488"/>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PLAY SCRIPT</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line. Stage directions (in brackets). No narrator — only what is said and done.</a:t>
            </a:r>
            <a:endParaRPr lang="en-US" sz="1800" dirty="0"/>
          </a:p>
        </p:txBody>
      </p:sp>
      <p:sp>
        <p:nvSpPr>
          <p:cNvPr id="22" name="Text 19"/>
          <p:cNvSpPr/>
          <p:nvPr/>
        </p:nvSpPr>
        <p:spPr>
          <a:xfrm>
            <a:off x="548640" y="4965192"/>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ARTICLE</a:t>
            </a:r>
            <a:endParaRPr lang="en-US" sz="1600" dirty="0"/>
          </a:p>
        </p:txBody>
      </p:sp>
      <p:sp>
        <p:nvSpPr>
          <p:cNvPr id="23" name="Shape 20"/>
          <p:cNvSpPr/>
          <p:nvPr/>
        </p:nvSpPr>
        <p:spPr>
          <a:xfrm>
            <a:off x="3291840" y="4965192"/>
            <a:ext cx="8321040" cy="914400"/>
          </a:xfrm>
          <a:prstGeom prst="roundRect">
            <a:avLst>
              <a:gd name="adj" fmla="val 8000"/>
            </a:avLst>
          </a:prstGeom>
          <a:solidFill>
            <a:srgbClr val="FEF7E4"/>
          </a:solidFill>
          <a:ln w="12700">
            <a:solidFill>
              <a:srgbClr val="E5D9B0"/>
            </a:solidFill>
            <a:prstDash val="solid"/>
          </a:ln>
        </p:spPr>
      </p:sp>
      <p:sp>
        <p:nvSpPr>
          <p:cNvPr id="24" name="Text 21"/>
          <p:cNvSpPr/>
          <p:nvPr/>
        </p:nvSpPr>
        <p:spPr>
          <a:xfrm>
            <a:off x="3456432" y="4965192"/>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Headline, facts, quotes from real people, short paragraphs. Tells you what happened.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column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One storm, four forms</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The same event — a ship in a storm — written four ways. All original. Spot the conventions.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Genre and form</a:t>
            </a:r>
            <a:endParaRPr lang="en-US" sz="900" dirty="0"/>
          </a:p>
        </p:txBody>
      </p:sp>
      <p:sp>
        <p:nvSpPr>
          <p:cNvPr id="13" name="Shape 10"/>
          <p:cNvSpPr/>
          <p:nvPr/>
        </p:nvSpPr>
        <p:spPr>
          <a:xfrm>
            <a:off x="548640" y="1828800"/>
            <a:ext cx="2594610" cy="868680"/>
          </a:xfrm>
          <a:prstGeom prst="roundRect">
            <a:avLst>
              <a:gd name="adj" fmla="val 8421"/>
            </a:avLst>
          </a:prstGeom>
          <a:solidFill>
            <a:srgbClr val="12294D"/>
          </a:solidFill>
          <a:ln w="12700">
            <a:solidFill>
              <a:srgbClr val="12294D"/>
            </a:solidFill>
            <a:prstDash val="solid"/>
          </a:ln>
        </p:spPr>
      </p:sp>
      <p:sp>
        <p:nvSpPr>
          <p:cNvPr id="14" name="Text 11"/>
          <p:cNvSpPr/>
          <p:nvPr/>
        </p:nvSpPr>
        <p:spPr>
          <a:xfrm>
            <a:off x="64008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Story</a:t>
            </a:r>
            <a:endParaRPr lang="en-US" sz="1600" dirty="0"/>
          </a:p>
        </p:txBody>
      </p:sp>
      <p:sp>
        <p:nvSpPr>
          <p:cNvPr id="15" name="Text 12"/>
          <p:cNvSpPr/>
          <p:nvPr/>
        </p:nvSpPr>
        <p:spPr>
          <a:xfrm>
            <a:off x="64008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prose fiction</a:t>
            </a:r>
            <a:endParaRPr lang="en-US" sz="1400" dirty="0"/>
          </a:p>
        </p:txBody>
      </p:sp>
      <p:sp>
        <p:nvSpPr>
          <p:cNvPr id="16" name="Shape 13"/>
          <p:cNvSpPr/>
          <p:nvPr/>
        </p:nvSpPr>
        <p:spPr>
          <a:xfrm>
            <a:off x="548640" y="2788920"/>
            <a:ext cx="2594610" cy="3291840"/>
          </a:xfrm>
          <a:prstGeom prst="roundRect">
            <a:avLst>
              <a:gd name="adj" fmla="val 2115"/>
            </a:avLst>
          </a:prstGeom>
          <a:solidFill>
            <a:srgbClr val="FBF0D8"/>
          </a:solidFill>
          <a:ln w="12700">
            <a:solidFill>
              <a:srgbClr val="12294D"/>
            </a:solidFill>
            <a:prstDash val="solid"/>
          </a:ln>
        </p:spPr>
      </p:sp>
      <p:sp>
        <p:nvSpPr>
          <p:cNvPr id="17" name="Text 14"/>
          <p:cNvSpPr/>
          <p:nvPr/>
        </p:nvSpPr>
        <p:spPr>
          <a:xfrm>
            <a:off x="65836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The wave hit before Mara could shout. She grabbed the rail and held on, and thought, quite calmly, that she might not see her mother again.</a:t>
            </a:r>
            <a:endParaRPr lang="en-US" sz="1800" dirty="0"/>
          </a:p>
        </p:txBody>
      </p:sp>
      <p:sp>
        <p:nvSpPr>
          <p:cNvPr id="18" name="Shape 15"/>
          <p:cNvSpPr/>
          <p:nvPr/>
        </p:nvSpPr>
        <p:spPr>
          <a:xfrm>
            <a:off x="3371850" y="1828800"/>
            <a:ext cx="2594610" cy="868680"/>
          </a:xfrm>
          <a:prstGeom prst="roundRect">
            <a:avLst>
              <a:gd name="adj" fmla="val 8421"/>
            </a:avLst>
          </a:prstGeom>
          <a:solidFill>
            <a:srgbClr val="00A08A"/>
          </a:solidFill>
          <a:ln w="12700">
            <a:solidFill>
              <a:srgbClr val="00A08A"/>
            </a:solidFill>
            <a:prstDash val="solid"/>
          </a:ln>
        </p:spPr>
      </p:sp>
      <p:sp>
        <p:nvSpPr>
          <p:cNvPr id="19" name="Text 16"/>
          <p:cNvSpPr/>
          <p:nvPr/>
        </p:nvSpPr>
        <p:spPr>
          <a:xfrm>
            <a:off x="346329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Poem</a:t>
            </a:r>
            <a:endParaRPr lang="en-US" sz="1600" dirty="0"/>
          </a:p>
        </p:txBody>
      </p:sp>
      <p:sp>
        <p:nvSpPr>
          <p:cNvPr id="20" name="Text 17"/>
          <p:cNvSpPr/>
          <p:nvPr/>
        </p:nvSpPr>
        <p:spPr>
          <a:xfrm>
            <a:off x="346329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poetry</a:t>
            </a:r>
            <a:endParaRPr lang="en-US" sz="1400" dirty="0"/>
          </a:p>
        </p:txBody>
      </p:sp>
      <p:sp>
        <p:nvSpPr>
          <p:cNvPr id="21" name="Shape 18"/>
          <p:cNvSpPr/>
          <p:nvPr/>
        </p:nvSpPr>
        <p:spPr>
          <a:xfrm>
            <a:off x="3371850" y="2788920"/>
            <a:ext cx="2594610" cy="3291840"/>
          </a:xfrm>
          <a:prstGeom prst="roundRect">
            <a:avLst>
              <a:gd name="adj" fmla="val 2115"/>
            </a:avLst>
          </a:prstGeom>
          <a:solidFill>
            <a:srgbClr val="E4F3EF"/>
          </a:solidFill>
          <a:ln w="12700">
            <a:solidFill>
              <a:srgbClr val="00A08A"/>
            </a:solidFill>
            <a:prstDash val="solid"/>
          </a:ln>
        </p:spPr>
      </p:sp>
      <p:sp>
        <p:nvSpPr>
          <p:cNvPr id="22" name="Text 19"/>
          <p:cNvSpPr/>
          <p:nvPr/>
        </p:nvSpPr>
        <p:spPr>
          <a:xfrm>
            <a:off x="348157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Grey wall, white teeth, / the deck tips like a table. / Hold, rope. Hold, hand. / Somewhere under all this, / home.</a:t>
            </a:r>
            <a:endParaRPr lang="en-US" sz="1800" dirty="0"/>
          </a:p>
        </p:txBody>
      </p:sp>
      <p:sp>
        <p:nvSpPr>
          <p:cNvPr id="23" name="Shape 20"/>
          <p:cNvSpPr/>
          <p:nvPr/>
        </p:nvSpPr>
        <p:spPr>
          <a:xfrm>
            <a:off x="6195060" y="1828800"/>
            <a:ext cx="2594610" cy="868680"/>
          </a:xfrm>
          <a:prstGeom prst="roundRect">
            <a:avLst>
              <a:gd name="adj" fmla="val 8421"/>
            </a:avLst>
          </a:prstGeom>
          <a:solidFill>
            <a:srgbClr val="FF5470"/>
          </a:solidFill>
          <a:ln w="12700">
            <a:solidFill>
              <a:srgbClr val="FF5470"/>
            </a:solidFill>
            <a:prstDash val="solid"/>
          </a:ln>
        </p:spPr>
      </p:sp>
      <p:sp>
        <p:nvSpPr>
          <p:cNvPr id="24" name="Text 21"/>
          <p:cNvSpPr/>
          <p:nvPr/>
        </p:nvSpPr>
        <p:spPr>
          <a:xfrm>
            <a:off x="628650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Script</a:t>
            </a:r>
            <a:endParaRPr lang="en-US" sz="1600" dirty="0"/>
          </a:p>
        </p:txBody>
      </p:sp>
      <p:sp>
        <p:nvSpPr>
          <p:cNvPr id="25" name="Text 22"/>
          <p:cNvSpPr/>
          <p:nvPr/>
        </p:nvSpPr>
        <p:spPr>
          <a:xfrm>
            <a:off x="628650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drama</a:t>
            </a:r>
            <a:endParaRPr lang="en-US" sz="1400" dirty="0"/>
          </a:p>
        </p:txBody>
      </p:sp>
      <p:sp>
        <p:nvSpPr>
          <p:cNvPr id="26" name="Shape 23"/>
          <p:cNvSpPr/>
          <p:nvPr/>
        </p:nvSpPr>
        <p:spPr>
          <a:xfrm>
            <a:off x="6195060" y="2788920"/>
            <a:ext cx="2594610" cy="3291840"/>
          </a:xfrm>
          <a:prstGeom prst="roundRect">
            <a:avLst>
              <a:gd name="adj" fmla="val 2115"/>
            </a:avLst>
          </a:prstGeom>
          <a:solidFill>
            <a:srgbClr val="FBE4E4"/>
          </a:solidFill>
          <a:ln w="12700">
            <a:solidFill>
              <a:srgbClr val="FF5470"/>
            </a:solidFill>
            <a:prstDash val="solid"/>
          </a:ln>
        </p:spPr>
      </p:sp>
      <p:sp>
        <p:nvSpPr>
          <p:cNvPr id="27" name="Text 24"/>
          <p:cNvSpPr/>
          <p:nvPr/>
        </p:nvSpPr>
        <p:spPr>
          <a:xfrm>
            <a:off x="630478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MARA: (shouting over the wind) Get below! CAPTAIN: Not until you do. MARA: Then we both stay. (A wave crashes. Blackout.)</a:t>
            </a:r>
            <a:endParaRPr lang="en-US" sz="1800" dirty="0"/>
          </a:p>
        </p:txBody>
      </p:sp>
      <p:sp>
        <p:nvSpPr>
          <p:cNvPr id="28" name="Shape 25"/>
          <p:cNvSpPr/>
          <p:nvPr/>
        </p:nvSpPr>
        <p:spPr>
          <a:xfrm>
            <a:off x="9018270" y="1828800"/>
            <a:ext cx="2594610" cy="868680"/>
          </a:xfrm>
          <a:prstGeom prst="roundRect">
            <a:avLst>
              <a:gd name="adj" fmla="val 8421"/>
            </a:avLst>
          </a:prstGeom>
          <a:solidFill>
            <a:srgbClr val="6C3A6E"/>
          </a:solidFill>
          <a:ln w="12700">
            <a:solidFill>
              <a:srgbClr val="6C3A6E"/>
            </a:solidFill>
            <a:prstDash val="solid"/>
          </a:ln>
        </p:spPr>
      </p:sp>
      <p:sp>
        <p:nvSpPr>
          <p:cNvPr id="29" name="Text 26"/>
          <p:cNvSpPr/>
          <p:nvPr/>
        </p:nvSpPr>
        <p:spPr>
          <a:xfrm>
            <a:off x="9109710" y="1874520"/>
            <a:ext cx="241173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Article</a:t>
            </a:r>
            <a:endParaRPr lang="en-US" sz="1600" dirty="0"/>
          </a:p>
        </p:txBody>
      </p:sp>
      <p:sp>
        <p:nvSpPr>
          <p:cNvPr id="30" name="Text 27"/>
          <p:cNvSpPr/>
          <p:nvPr/>
        </p:nvSpPr>
        <p:spPr>
          <a:xfrm>
            <a:off x="9109710" y="2331720"/>
            <a:ext cx="241173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non-fiction</a:t>
            </a:r>
            <a:endParaRPr lang="en-US" sz="1400" dirty="0"/>
          </a:p>
        </p:txBody>
      </p:sp>
      <p:sp>
        <p:nvSpPr>
          <p:cNvPr id="31" name="Shape 28"/>
          <p:cNvSpPr/>
          <p:nvPr/>
        </p:nvSpPr>
        <p:spPr>
          <a:xfrm>
            <a:off x="9018270" y="2788920"/>
            <a:ext cx="2594610" cy="3291840"/>
          </a:xfrm>
          <a:prstGeom prst="roundRect">
            <a:avLst>
              <a:gd name="adj" fmla="val 2115"/>
            </a:avLst>
          </a:prstGeom>
          <a:solidFill>
            <a:srgbClr val="EFE6F0"/>
          </a:solidFill>
          <a:ln w="12700">
            <a:solidFill>
              <a:srgbClr val="6C3A6E"/>
            </a:solidFill>
            <a:prstDash val="solid"/>
          </a:ln>
        </p:spPr>
      </p:sp>
      <p:sp>
        <p:nvSpPr>
          <p:cNvPr id="32" name="Text 29"/>
          <p:cNvSpPr/>
          <p:nvPr/>
        </p:nvSpPr>
        <p:spPr>
          <a:xfrm>
            <a:off x="9127998" y="2880360"/>
            <a:ext cx="237515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SHIP SAVED IN NORTH SEA STORM. A fishing boat with four crew reached harbour last night after a six-hour battle with 40-foot waves.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Which genre? Which form? The conventions are the clues.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Genre and form</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TEXT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Day 14. Still no sign of the coast. The captain says two more days if the wind holds, but he said that on Day 11. We have bread, water and one tin of peaches that nobody will open because it is the last one. Tonight I saw a light far off to the west. It might have been a ship. It might have been a star. I did not tell anyone, because hope is heavy and we are all tired enough. Tomorrow I will climb the mast and look again.</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form is this? Name two conventions that prove it.</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Fiction or non-fiction? Can you be sure? Why?</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one line that only this form could do.</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Rewrite the last sentence as a headline.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SORT · genre detectives</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Eight text scraps, four families. Sort them and say how you know.</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Genre and form</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616833" y="1888236"/>
            <a:ext cx="246888" cy="246888"/>
          </a:xfrm>
          <a:prstGeom prst="rect">
            <a:avLst/>
          </a:prstGeom>
        </p:spPr>
      </p:pic>
      <p:sp>
        <p:nvSpPr>
          <p:cNvPr id="15" name="Text 11"/>
          <p:cNvSpPr/>
          <p:nvPr/>
        </p:nvSpPr>
        <p:spPr>
          <a:xfrm>
            <a:off x="3982593" y="1783080"/>
            <a:ext cx="1544574"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SORT · PAIRS</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Which convention gave each text away?</a:t>
            </a:r>
            <a:endParaRPr lang="en-US" sz="1800" dirty="0"/>
          </a:p>
        </p:txBody>
      </p:sp>
      <p:sp>
        <p:nvSpPr>
          <p:cNvPr id="19" name="Text 15"/>
          <p:cNvSpPr/>
          <p:nvPr/>
        </p:nvSpPr>
        <p:spPr>
          <a:xfrm>
            <a:off x="548640" y="3401568"/>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560070"/>
          </a:xfrm>
          <a:prstGeom prst="roundRect">
            <a:avLst>
              <a:gd name="adj" fmla="val 13061"/>
            </a:avLst>
          </a:prstGeom>
          <a:solidFill>
            <a:srgbClr val="FFFFFF"/>
          </a:solidFill>
          <a:ln w="12700">
            <a:solidFill>
              <a:srgbClr val="80ADC4"/>
            </a:solidFill>
            <a:prstDash val="solid"/>
          </a:ln>
        </p:spPr>
      </p:sp>
      <p:sp>
        <p:nvSpPr>
          <p:cNvPr id="21" name="Text 17"/>
          <p:cNvSpPr/>
          <p:nvPr/>
        </p:nvSpPr>
        <p:spPr>
          <a:xfrm>
            <a:off x="1463040" y="3401568"/>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Each pair gets eight scraps of text. Sort into fiction, poetry, drama, non-fiction.</a:t>
            </a:r>
            <a:endParaRPr lang="en-US" sz="1800" dirty="0"/>
          </a:p>
        </p:txBody>
      </p:sp>
      <p:sp>
        <p:nvSpPr>
          <p:cNvPr id="22" name="Text 18"/>
          <p:cNvSpPr/>
          <p:nvPr/>
        </p:nvSpPr>
        <p:spPr>
          <a:xfrm>
            <a:off x="548640" y="4062222"/>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4062222"/>
            <a:ext cx="10332720" cy="560070"/>
          </a:xfrm>
          <a:prstGeom prst="roundRect">
            <a:avLst>
              <a:gd name="adj" fmla="val 13061"/>
            </a:avLst>
          </a:prstGeom>
          <a:solidFill>
            <a:srgbClr val="F4F6FA"/>
          </a:solidFill>
          <a:ln w="12700">
            <a:solidFill>
              <a:srgbClr val="80ADC4"/>
            </a:solidFill>
            <a:prstDash val="solid"/>
          </a:ln>
        </p:spPr>
      </p:sp>
      <p:sp>
        <p:nvSpPr>
          <p:cNvPr id="24" name="Text 20"/>
          <p:cNvSpPr/>
          <p:nvPr/>
        </p:nvSpPr>
        <p:spPr>
          <a:xfrm>
            <a:off x="1463040" y="4062222"/>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For each scrap, write the one convention that gave it away.</a:t>
            </a:r>
            <a:endParaRPr lang="en-US" sz="1800" dirty="0"/>
          </a:p>
        </p:txBody>
      </p:sp>
      <p:sp>
        <p:nvSpPr>
          <p:cNvPr id="25" name="Text 21"/>
          <p:cNvSpPr/>
          <p:nvPr/>
        </p:nvSpPr>
        <p:spPr>
          <a:xfrm>
            <a:off x="548640" y="4722876"/>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722876"/>
            <a:ext cx="10332720" cy="560070"/>
          </a:xfrm>
          <a:prstGeom prst="roundRect">
            <a:avLst>
              <a:gd name="adj" fmla="val 13061"/>
            </a:avLst>
          </a:prstGeom>
          <a:solidFill>
            <a:srgbClr val="FFFFFF"/>
          </a:solidFill>
          <a:ln w="12700">
            <a:solidFill>
              <a:srgbClr val="80ADC4"/>
            </a:solidFill>
            <a:prstDash val="solid"/>
          </a:ln>
        </p:spPr>
      </p:sp>
      <p:sp>
        <p:nvSpPr>
          <p:cNvPr id="27" name="Text 23"/>
          <p:cNvSpPr/>
          <p:nvPr/>
        </p:nvSpPr>
        <p:spPr>
          <a:xfrm>
            <a:off x="1463040" y="4722876"/>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Now sort again by form: novel, poem, script, article, letter, diary.</a:t>
            </a:r>
            <a:endParaRPr lang="en-US" sz="1800" dirty="0"/>
          </a:p>
        </p:txBody>
      </p:sp>
      <p:sp>
        <p:nvSpPr>
          <p:cNvPr id="28" name="Text 24"/>
          <p:cNvSpPr/>
          <p:nvPr/>
        </p:nvSpPr>
        <p:spPr>
          <a:xfrm>
            <a:off x="548640" y="5383530"/>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5383530"/>
            <a:ext cx="10332720" cy="560070"/>
          </a:xfrm>
          <a:prstGeom prst="roundRect">
            <a:avLst>
              <a:gd name="adj" fmla="val 13061"/>
            </a:avLst>
          </a:prstGeom>
          <a:solidFill>
            <a:srgbClr val="F4F6FA"/>
          </a:solidFill>
          <a:ln w="12700">
            <a:solidFill>
              <a:srgbClr val="80ADC4"/>
            </a:solidFill>
            <a:prstDash val="solid"/>
          </a:ln>
        </p:spPr>
      </p:sp>
      <p:sp>
        <p:nvSpPr>
          <p:cNvPr id="30" name="Text 26"/>
          <p:cNvSpPr/>
          <p:nvPr/>
        </p:nvSpPr>
        <p:spPr>
          <a:xfrm>
            <a:off x="1463040" y="5383530"/>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Check with the pair next to you. Argue any you disagree on — with the convention as proof.</a:t>
            </a:r>
            <a:endParaRPr lang="en-US" sz="1800" dirty="0"/>
          </a:p>
        </p:txBody>
      </p:sp>
      <p:sp>
        <p:nvSpPr>
          <p:cNvPr id="31" name="Text 27"/>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Reading comprehension strategies — +6 months, very low cost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bar-chart-2-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Climb the ladder</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Each rung is harder. Full sentences. The top rung answers the Big Question.</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Genre and form</a:t>
            </a:r>
            <a:endParaRPr lang="en-US" sz="900" dirty="0"/>
          </a:p>
        </p:txBody>
      </p:sp>
      <p:sp>
        <p:nvSpPr>
          <p:cNvPr id="13" name="Text 10"/>
          <p:cNvSpPr/>
          <p:nvPr/>
        </p:nvSpPr>
        <p:spPr>
          <a:xfrm>
            <a:off x="548640" y="1783080"/>
            <a:ext cx="2148840" cy="749808"/>
          </a:xfrm>
          <a:prstGeom prst="roundRect">
            <a:avLst>
              <a:gd name="adj" fmla="val 12195"/>
            </a:avLst>
          </a:prstGeom>
          <a:solidFill>
            <a:srgbClr val="00A08A"/>
          </a:solidFill>
          <a:ln>
            <a:solidFill>
              <a:srgbClr val="00A08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UNDERSTAND</a:t>
            </a:r>
            <a:endParaRPr lang="en-US" sz="1400" dirty="0"/>
          </a:p>
        </p:txBody>
      </p:sp>
      <p:sp>
        <p:nvSpPr>
          <p:cNvPr id="14" name="Shape 11"/>
          <p:cNvSpPr/>
          <p:nvPr/>
        </p:nvSpPr>
        <p:spPr>
          <a:xfrm>
            <a:off x="2834640" y="1783080"/>
            <a:ext cx="8778240" cy="749808"/>
          </a:xfrm>
          <a:prstGeom prst="roundRect">
            <a:avLst>
              <a:gd name="adj" fmla="val 9756"/>
            </a:avLst>
          </a:prstGeom>
          <a:solidFill>
            <a:srgbClr val="F4F6FA"/>
          </a:solidFill>
          <a:ln w="12700">
            <a:solidFill>
              <a:srgbClr val="80ADC4"/>
            </a:solidFill>
            <a:prstDash val="solid"/>
          </a:ln>
        </p:spPr>
      </p:sp>
      <p:sp>
        <p:nvSpPr>
          <p:cNvPr id="15" name="Text 12"/>
          <p:cNvSpPr/>
          <p:nvPr/>
        </p:nvSpPr>
        <p:spPr>
          <a:xfrm>
            <a:off x="3017520" y="1783080"/>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the four genres and give one form for each.</a:t>
            </a:r>
            <a:endParaRPr lang="en-US" sz="1800" dirty="0"/>
          </a:p>
        </p:txBody>
      </p:sp>
      <p:sp>
        <p:nvSpPr>
          <p:cNvPr id="16" name="Text 13"/>
          <p:cNvSpPr/>
          <p:nvPr/>
        </p:nvSpPr>
        <p:spPr>
          <a:xfrm>
            <a:off x="548640" y="2679192"/>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17" name="Shape 14"/>
          <p:cNvSpPr/>
          <p:nvPr/>
        </p:nvSpPr>
        <p:spPr>
          <a:xfrm>
            <a:off x="2834640" y="2679192"/>
            <a:ext cx="8778240" cy="749808"/>
          </a:xfrm>
          <a:prstGeom prst="roundRect">
            <a:avLst>
              <a:gd name="adj" fmla="val 9756"/>
            </a:avLst>
          </a:prstGeom>
          <a:solidFill>
            <a:srgbClr val="F4F6FA"/>
          </a:solidFill>
          <a:ln w="12700">
            <a:solidFill>
              <a:srgbClr val="80ADC4"/>
            </a:solidFill>
            <a:prstDash val="solid"/>
          </a:ln>
        </p:spPr>
      </p:sp>
      <p:sp>
        <p:nvSpPr>
          <p:cNvPr id="18" name="Text 15"/>
          <p:cNvSpPr/>
          <p:nvPr/>
        </p:nvSpPr>
        <p:spPr>
          <a:xfrm>
            <a:off x="3017520" y="2679192"/>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poem uses 'Hold, rope. Hold, hand.' What can a poem do here that an article cannot?</a:t>
            </a:r>
            <a:endParaRPr lang="en-US" sz="1800" dirty="0"/>
          </a:p>
        </p:txBody>
      </p:sp>
      <p:sp>
        <p:nvSpPr>
          <p:cNvPr id="19" name="Text 16"/>
          <p:cNvSpPr/>
          <p:nvPr/>
        </p:nvSpPr>
        <p:spPr>
          <a:xfrm>
            <a:off x="548640" y="3575304"/>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20" name="Shape 17"/>
          <p:cNvSpPr/>
          <p:nvPr/>
        </p:nvSpPr>
        <p:spPr>
          <a:xfrm>
            <a:off x="2834640" y="3575304"/>
            <a:ext cx="8778240" cy="749808"/>
          </a:xfrm>
          <a:prstGeom prst="roundRect">
            <a:avLst>
              <a:gd name="adj" fmla="val 9756"/>
            </a:avLst>
          </a:prstGeom>
          <a:solidFill>
            <a:srgbClr val="F4F6FA"/>
          </a:solidFill>
          <a:ln w="12700">
            <a:solidFill>
              <a:srgbClr val="80ADC4"/>
            </a:solidFill>
            <a:prstDash val="solid"/>
          </a:ln>
        </p:spPr>
      </p:sp>
      <p:sp>
        <p:nvSpPr>
          <p:cNvPr id="21" name="Text 18"/>
          <p:cNvSpPr/>
          <p:nvPr/>
        </p:nvSpPr>
        <p:spPr>
          <a:xfrm>
            <a:off x="3017520" y="3575304"/>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does the script have no narrator? What does the audience get instead?</a:t>
            </a:r>
            <a:endParaRPr lang="en-US" sz="1800" dirty="0"/>
          </a:p>
        </p:txBody>
      </p:sp>
      <p:sp>
        <p:nvSpPr>
          <p:cNvPr id="22" name="Text 19"/>
          <p:cNvSpPr/>
          <p:nvPr/>
        </p:nvSpPr>
        <p:spPr>
          <a:xfrm>
            <a:off x="548640" y="4471416"/>
            <a:ext cx="2148840" cy="749808"/>
          </a:xfrm>
          <a:prstGeom prst="roundRect">
            <a:avLst>
              <a:gd name="adj" fmla="val 12195"/>
            </a:avLst>
          </a:prstGeom>
          <a:solidFill>
            <a:srgbClr val="D0021B"/>
          </a:solidFill>
          <a:ln>
            <a:solidFill>
              <a:srgbClr val="D0021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EVALUATE</a:t>
            </a:r>
            <a:endParaRPr lang="en-US" sz="1400" dirty="0"/>
          </a:p>
        </p:txBody>
      </p:sp>
      <p:sp>
        <p:nvSpPr>
          <p:cNvPr id="23" name="Shape 20"/>
          <p:cNvSpPr/>
          <p:nvPr/>
        </p:nvSpPr>
        <p:spPr>
          <a:xfrm>
            <a:off x="2834640" y="4471416"/>
            <a:ext cx="8778240" cy="749808"/>
          </a:xfrm>
          <a:prstGeom prst="roundRect">
            <a:avLst>
              <a:gd name="adj" fmla="val 9756"/>
            </a:avLst>
          </a:prstGeom>
          <a:solidFill>
            <a:srgbClr val="EFE6F0"/>
          </a:solidFill>
          <a:ln w="12700">
            <a:solidFill>
              <a:srgbClr val="80ADC4"/>
            </a:solidFill>
            <a:prstDash val="solid"/>
          </a:ln>
        </p:spPr>
      </p:sp>
      <p:sp>
        <p:nvSpPr>
          <p:cNvPr id="24" name="Text 21"/>
          <p:cNvSpPr/>
          <p:nvPr/>
        </p:nvSpPr>
        <p:spPr>
          <a:xfrm>
            <a:off x="3017520" y="4471416"/>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form tells the storm best? Choose one and say what the other three lose.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Exit ticket — what a strong answer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lines on your exit slip. Did you make these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Genre and form</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Name</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Say the genre AND the form of the extract, using both words.</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Prove</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Point to one convention as your evidence — the feature that gave it away.</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Decide</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Answer the Big Question: how do we know what we are reading?</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Read-along edition, page 9: English goes round the world. Which genre and form is the chapter?</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search-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Find</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Identify the genre and form of five texts you find at home: a cereal box, a text message, a song…</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Fill the genre features table: one convention per genre, one example text each.</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Next week: heroes. Bring one hero from any genre — book, film or game.</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The History of the English Language · Lesson 4 of 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History of the English Language · L4 Genre and form</dc:title>
  <dc:subject>PptxGenJS Presentation</dc:subject>
  <dc:creator>Harlington English</dc:creator>
  <cp:lastModifiedBy>Harlington English</cp:lastModifiedBy>
  <cp:revision>1</cp:revision>
  <dcterms:created xsi:type="dcterms:W3CDTF">2026-09-04T20:58:57Z</dcterms:created>
  <dcterms:modified xsi:type="dcterms:W3CDTF">2026-09-04T20:58:57Z</dcterms:modified>
</cp:coreProperties>
</file>