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NON-FICTION AND TRAVEL WRITING · LESSON 1 of 6</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Non-fiction: forms and features</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the difference between fiction and non-fiction?</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one kind of non-fiction you read at primary school.</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headline for?</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Who tells a story written as 'I' and 'we'?</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Finish: A blog is…</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Non-fiction: forms and features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Non-fiction and Travel Writing</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reading and writing non-fiction</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HT2: The Odyssey — a journey story</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HT4: The Red-Headed League — a narrator's voice</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Fiction is made up; non-fiction is true</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12294D"/>
          </a:solidFill>
          <a:ln w="12700">
            <a:solidFill>
              <a:srgbClr val="12294D"/>
            </a:solidFill>
            <a:prstDash val="solid"/>
          </a:ln>
        </p:spPr>
      </p:sp>
      <p:sp>
        <p:nvSpPr>
          <p:cNvPr id="20" name="Text 17"/>
          <p:cNvSpPr/>
          <p:nvPr/>
        </p:nvSpPr>
        <p:spPr>
          <a:xfrm>
            <a:off x="4242816" y="2249424"/>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Non-fiction: forms and features</a:t>
            </a:r>
            <a:endParaRPr lang="en-US" sz="1400" dirty="0"/>
          </a:p>
        </p:txBody>
      </p:sp>
      <p:sp>
        <p:nvSpPr>
          <p:cNvPr id="22" name="Shape 19"/>
          <p:cNvSpPr/>
          <p:nvPr/>
        </p:nvSpPr>
        <p:spPr>
          <a:xfrm>
            <a:off x="4114800" y="2761488"/>
            <a:ext cx="3931920" cy="420624"/>
          </a:xfrm>
          <a:prstGeom prst="roundRect">
            <a:avLst>
              <a:gd name="adj" fmla="val 26087"/>
            </a:avLst>
          </a:prstGeom>
          <a:solidFill>
            <a:srgbClr val="FFFFFF"/>
          </a:solidFill>
          <a:ln w="12700">
            <a:solidFill>
              <a:srgbClr val="D9E2EE"/>
            </a:solidFill>
            <a:prstDash val="solid"/>
          </a:ln>
        </p:spPr>
      </p:sp>
      <p:sp>
        <p:nvSpPr>
          <p:cNvPr id="23" name="Text 20"/>
          <p:cNvSpPr/>
          <p:nvPr/>
        </p:nvSpPr>
        <p:spPr>
          <a:xfrm>
            <a:off x="4242816" y="281635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Travel writing: the senses</a:t>
            </a:r>
            <a:endParaRPr lang="en-US" sz="1400" dirty="0"/>
          </a:p>
        </p:txBody>
      </p:sp>
      <p:sp>
        <p:nvSpPr>
          <p:cNvPr id="25" name="Shape 22"/>
          <p:cNvSpPr/>
          <p:nvPr/>
        </p:nvSpPr>
        <p:spPr>
          <a:xfrm>
            <a:off x="4114800" y="3328416"/>
            <a:ext cx="3931920" cy="420624"/>
          </a:xfrm>
          <a:prstGeom prst="roundRect">
            <a:avLst>
              <a:gd name="adj" fmla="val 26087"/>
            </a:avLst>
          </a:prstGeom>
          <a:solidFill>
            <a:srgbClr val="FFFFFF"/>
          </a:solidFill>
          <a:ln w="12700">
            <a:solidFill>
              <a:srgbClr val="D9E2EE"/>
            </a:solidFill>
            <a:prstDash val="solid"/>
          </a:ln>
        </p:spPr>
      </p:sp>
      <p:sp>
        <p:nvSpPr>
          <p:cNvPr id="26" name="Text 23"/>
          <p:cNvSpPr/>
          <p:nvPr/>
        </p:nvSpPr>
        <p:spPr>
          <a:xfrm>
            <a:off x="4242816" y="3383280"/>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Purpose and audience</a:t>
            </a:r>
            <a:endParaRPr lang="en-US" sz="1400" dirty="0"/>
          </a:p>
        </p:txBody>
      </p:sp>
      <p:sp>
        <p:nvSpPr>
          <p:cNvPr id="28" name="Shape 25"/>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9" name="Text 26"/>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Assessment: write the journey</a:t>
            </a:r>
            <a:endParaRPr lang="en-US" sz="1400" dirty="0"/>
          </a:p>
        </p:txBody>
      </p:sp>
      <p:sp>
        <p:nvSpPr>
          <p:cNvPr id="31" name="Shape 28"/>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2" name="Text 29"/>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Reading non-fiction closely</a:t>
            </a:r>
            <a:endParaRPr lang="en-US" sz="1400" dirty="0"/>
          </a:p>
        </p:txBody>
      </p:sp>
      <p:sp>
        <p:nvSpPr>
          <p:cNvPr id="34" name="Shape 31"/>
          <p:cNvSpPr/>
          <p:nvPr/>
        </p:nvSpPr>
        <p:spPr>
          <a:xfrm>
            <a:off x="4114800" y="5029200"/>
            <a:ext cx="3931920" cy="420624"/>
          </a:xfrm>
          <a:prstGeom prst="roundRect">
            <a:avLst>
              <a:gd name="adj" fmla="val 26087"/>
            </a:avLst>
          </a:prstGeom>
          <a:solidFill>
            <a:srgbClr val="FFFFFF"/>
          </a:solidFill>
          <a:ln w="12700">
            <a:solidFill>
              <a:srgbClr val="D9E2EE"/>
            </a:solidFill>
            <a:prstDash val="solid"/>
          </a:ln>
        </p:spPr>
      </p:sp>
      <p:sp>
        <p:nvSpPr>
          <p:cNvPr id="35" name="Text 32"/>
          <p:cNvSpPr/>
          <p:nvPr/>
        </p:nvSpPr>
        <p:spPr>
          <a:xfrm>
            <a:off x="4242816" y="508406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6</a:t>
            </a:r>
            <a:endParaRPr lang="en-US" sz="1100" dirty="0"/>
          </a:p>
        </p:txBody>
      </p:sp>
      <p:sp>
        <p:nvSpPr>
          <p:cNvPr id="36" name="Text 33"/>
          <p:cNvSpPr/>
          <p:nvPr/>
        </p:nvSpPr>
        <p:spPr>
          <a:xfrm>
            <a:off x="4736592" y="502920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Review and vocabulary</a:t>
            </a:r>
            <a:endParaRPr lang="en-US" sz="1400" dirty="0"/>
          </a:p>
        </p:txBody>
      </p:sp>
      <p:sp>
        <p:nvSpPr>
          <p:cNvPr id="37" name="Shape 34"/>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38"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39" name="Text 35"/>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40" name="Shape 36"/>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41" name="Text 37"/>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HT6: Binti — a journey into space</a:t>
            </a:r>
            <a:endParaRPr lang="en-US" sz="1400" dirty="0"/>
          </a:p>
        </p:txBody>
      </p:sp>
      <p:sp>
        <p:nvSpPr>
          <p:cNvPr id="42" name="Shape 38"/>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3" name="Text 39"/>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writing to argue and persuade</a:t>
            </a:r>
            <a:endParaRPr lang="en-US" sz="1400" dirty="0"/>
          </a:p>
        </p:txBody>
      </p:sp>
      <p:sp>
        <p:nvSpPr>
          <p:cNvPr id="44" name="Shape 40"/>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5" name="Text 41"/>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GCSE: AO5 and AO6 transactional writing</a:t>
            </a:r>
            <a:endParaRPr lang="en-US" sz="1400" dirty="0"/>
          </a:p>
        </p:txBody>
      </p:sp>
      <p:sp>
        <p:nvSpPr>
          <p:cNvPr id="46" name="Shape 42"/>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47" name="Text 43"/>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48" name="Text 44"/>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Non-fiction and Travel Writing  ·  Non-fiction: forms and features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1 · NON-FICTION: FORMS AND FEATURES</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Name five non-fiction forms — newspaper, blog, speech, article, travel writing — and say what each is for.</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Spot the conventions of a form in an extract: layout, voice, opening and ending.</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Decide which form a real text belongs to, and defend the decision with two conventions.</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Non-fiction: forms and features</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What is the difference between fiction and non-fiction?</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Fiction is made up; non-fiction is about real people, places and events.</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Name one kind of non-fiction you read at primary school.</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Any correct kind — newspaper, recipe, letter, information book, leaflet, biography.</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What is a headline for?</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To grab the reader and say what the report is about in a few big words.</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Who tells a story written as 'I' and 'we'?</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first-person narrator — the writer or a character speaking as themselves.</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Finish: A blog is…</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piece of writing on a website, often personal, usually in the first person.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Non-fiction: forms and features</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non-fiction</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writing about real people, places and events — not made up</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form</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kind of text: a newspaper report, a blog, a speech, an article</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convention</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feature readers expect from a form, like a headline</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travel writing</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first-person non-fiction about a real journey to a real place</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first person</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writing as 'I' and 'we' — the writer is inside the experience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What is non-fiction?</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True does not mean dull. Three things every good non-fiction text does.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Non-fiction: forms and features</a:t>
            </a:r>
            <a:endParaRPr lang="en-US" sz="900" dirty="0"/>
          </a:p>
        </p:txBody>
      </p:sp>
      <p:sp>
        <p:nvSpPr>
          <p:cNvPr id="13" name="Shape 10"/>
          <p:cNvSpPr/>
          <p:nvPr/>
        </p:nvSpPr>
        <p:spPr>
          <a:xfrm>
            <a:off x="548640" y="4754880"/>
            <a:ext cx="11064240" cy="1371600"/>
          </a:xfrm>
          <a:prstGeom prst="roundRect">
            <a:avLst>
              <a:gd name="adj" fmla="val 4000"/>
            </a:avLst>
          </a:prstGeom>
          <a:solidFill>
            <a:srgbClr val="12294D"/>
          </a:solidFill>
          <a:ln w="12700">
            <a:solidFill>
              <a:srgbClr val="12294D"/>
            </a:solidFill>
            <a:prstDash val="solid"/>
          </a:ln>
        </p:spPr>
      </p:sp>
      <p:pic>
        <p:nvPicPr>
          <p:cNvPr id="14" name="Image 1" descr="/home/claude/english/kit/decks/_icons/message-circle-FFFFFF.png">    </p:cNvPr>
          <p:cNvPicPr>
            <a:picLocks noChangeAspect="1"/>
          </p:cNvPicPr>
          <p:nvPr/>
        </p:nvPicPr>
        <p:blipFill>
          <a:blip r:embed="rId2"/>
          <a:stretch>
            <a:fillRect/>
          </a:stretch>
        </p:blipFill>
        <p:spPr>
          <a:xfrm>
            <a:off x="777240" y="4956048"/>
            <a:ext cx="566928" cy="566928"/>
          </a:xfrm>
          <a:prstGeom prst="rect">
            <a:avLst/>
          </a:prstGeom>
        </p:spPr>
      </p:pic>
      <p:sp>
        <p:nvSpPr>
          <p:cNvPr id="15" name="Text 11"/>
          <p:cNvSpPr/>
          <p:nvPr/>
        </p:nvSpPr>
        <p:spPr>
          <a:xfrm>
            <a:off x="1417320" y="4919472"/>
            <a:ext cx="3200400" cy="457200"/>
          </a:xfrm>
          <a:prstGeom prst="rect">
            <a:avLst/>
          </a:prstGeom>
          <a:noFill/>
          <a:ln/>
        </p:spPr>
        <p:txBody>
          <a:bodyPr wrap="square" lIns="0" tIns="0" rIns="0" bIns="0" rtlCol="0" anchor="ctr"/>
          <a:lstStyle/>
          <a:p>
            <a:pPr indent="0" marL="0">
              <a:buNone/>
            </a:pPr>
            <a:r>
              <a:rPr lang="en-US" sz="1600" b="1" dirty="0">
                <a:solidFill>
                  <a:srgbClr val="FFC93C"/>
                </a:solidFill>
                <a:latin typeface="Arial" pitchFamily="34" charset="0"/>
                <a:ea typeface="Arial" pitchFamily="34" charset="-122"/>
                <a:cs typeface="Arial" pitchFamily="34" charset="-120"/>
              </a:rPr>
              <a:t>DISCUSS · 3 MIN</a:t>
            </a:r>
            <a:endParaRPr lang="en-US" sz="1600" dirty="0"/>
          </a:p>
        </p:txBody>
      </p:sp>
      <p:sp>
        <p:nvSpPr>
          <p:cNvPr id="16" name="Text 12"/>
          <p:cNvSpPr/>
          <p:nvPr/>
        </p:nvSpPr>
        <p:spPr>
          <a:xfrm>
            <a:off x="777240" y="5394960"/>
            <a:ext cx="10607040" cy="658368"/>
          </a:xfrm>
          <a:prstGeom prst="rect">
            <a:avLst/>
          </a:prstGeom>
          <a:noFill/>
          <a:ln/>
        </p:spPr>
        <p:txBody>
          <a:bodyPr wrap="square" lIns="0" tIns="0" rIns="0" bIns="0" rtlCol="0" anchor="ctr"/>
          <a:lstStyle/>
          <a:p>
            <a:pPr algn="l" indent="0" marL="0">
              <a:buNone/>
            </a:pPr>
            <a:r>
              <a:rPr lang="en-US" sz="1800" i="1" dirty="0">
                <a:solidFill>
                  <a:srgbClr val="CFE0F2"/>
                </a:solidFill>
                <a:latin typeface="Arial" pitchFamily="34" charset="0"/>
                <a:ea typeface="Arial" pitchFamily="34" charset="-122"/>
                <a:cs typeface="Arial" pitchFamily="34" charset="-120"/>
              </a:rPr>
              <a:t>Is a travel blog by a YouTuber non-fiction? What if they made a bit up?</a:t>
            </a:r>
            <a:endParaRPr lang="en-US" sz="1800" dirty="0"/>
          </a:p>
        </p:txBody>
      </p:sp>
      <p:sp>
        <p:nvSpPr>
          <p:cNvPr id="17" name="Text 13"/>
          <p:cNvSpPr/>
          <p:nvPr/>
        </p:nvSpPr>
        <p:spPr>
          <a:xfrm>
            <a:off x="548640" y="1783080"/>
            <a:ext cx="2606040" cy="719328"/>
          </a:xfrm>
          <a:prstGeom prst="roundRect">
            <a:avLst>
              <a:gd name="adj" fmla="val 12712"/>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IT IS TRUE</a:t>
            </a:r>
            <a:endParaRPr lang="en-US" sz="1600" dirty="0"/>
          </a:p>
        </p:txBody>
      </p:sp>
      <p:sp>
        <p:nvSpPr>
          <p:cNvPr id="18" name="Shape 14"/>
          <p:cNvSpPr/>
          <p:nvPr/>
        </p:nvSpPr>
        <p:spPr>
          <a:xfrm>
            <a:off x="3291840" y="1783080"/>
            <a:ext cx="8321040" cy="719328"/>
          </a:xfrm>
          <a:prstGeom prst="roundRect">
            <a:avLst>
              <a:gd name="adj" fmla="val 10169"/>
            </a:avLst>
          </a:prstGeom>
          <a:solidFill>
            <a:srgbClr val="FEF7E4"/>
          </a:solidFill>
          <a:ln w="12700">
            <a:solidFill>
              <a:srgbClr val="E5D9B0"/>
            </a:solidFill>
            <a:prstDash val="solid"/>
          </a:ln>
        </p:spPr>
      </p:sp>
      <p:sp>
        <p:nvSpPr>
          <p:cNvPr id="19" name="Text 15"/>
          <p:cNvSpPr/>
          <p:nvPr/>
        </p:nvSpPr>
        <p:spPr>
          <a:xfrm>
            <a:off x="3456432" y="1783080"/>
            <a:ext cx="8001000" cy="71932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Non-fiction is about real people, real places and real events. The writer can still choose what to show and what to leave out.</a:t>
            </a:r>
            <a:endParaRPr lang="en-US" sz="1800" dirty="0"/>
          </a:p>
        </p:txBody>
      </p:sp>
      <p:sp>
        <p:nvSpPr>
          <p:cNvPr id="20" name="Text 16"/>
          <p:cNvSpPr/>
          <p:nvPr/>
        </p:nvSpPr>
        <p:spPr>
          <a:xfrm>
            <a:off x="548640" y="2612136"/>
            <a:ext cx="2606040" cy="719328"/>
          </a:xfrm>
          <a:prstGeom prst="roundRect">
            <a:avLst>
              <a:gd name="adj" fmla="val 12712"/>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IT HAS A JOB</a:t>
            </a:r>
            <a:endParaRPr lang="en-US" sz="1600" dirty="0"/>
          </a:p>
        </p:txBody>
      </p:sp>
      <p:sp>
        <p:nvSpPr>
          <p:cNvPr id="21" name="Shape 17"/>
          <p:cNvSpPr/>
          <p:nvPr/>
        </p:nvSpPr>
        <p:spPr>
          <a:xfrm>
            <a:off x="3291840" y="2612136"/>
            <a:ext cx="8321040" cy="719328"/>
          </a:xfrm>
          <a:prstGeom prst="roundRect">
            <a:avLst>
              <a:gd name="adj" fmla="val 10169"/>
            </a:avLst>
          </a:prstGeom>
          <a:solidFill>
            <a:srgbClr val="FEF7E4"/>
          </a:solidFill>
          <a:ln w="12700">
            <a:solidFill>
              <a:srgbClr val="E5D9B0"/>
            </a:solidFill>
            <a:prstDash val="solid"/>
          </a:ln>
        </p:spPr>
      </p:sp>
      <p:sp>
        <p:nvSpPr>
          <p:cNvPr id="22" name="Text 18"/>
          <p:cNvSpPr/>
          <p:nvPr/>
        </p:nvSpPr>
        <p:spPr>
          <a:xfrm>
            <a:off x="3456432" y="2612136"/>
            <a:ext cx="8001000" cy="71932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Every non-fiction text is for something: to inform, to persuade, to entertain, to argue. The job shapes every choice.</a:t>
            </a:r>
            <a:endParaRPr lang="en-US" sz="1800" dirty="0"/>
          </a:p>
        </p:txBody>
      </p:sp>
      <p:sp>
        <p:nvSpPr>
          <p:cNvPr id="23" name="Text 19"/>
          <p:cNvSpPr/>
          <p:nvPr/>
        </p:nvSpPr>
        <p:spPr>
          <a:xfrm>
            <a:off x="548640" y="3441192"/>
            <a:ext cx="2606040" cy="719328"/>
          </a:xfrm>
          <a:prstGeom prst="roundRect">
            <a:avLst>
              <a:gd name="adj" fmla="val 12712"/>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IT HAS A FORM</a:t>
            </a:r>
            <a:endParaRPr lang="en-US" sz="1600" dirty="0"/>
          </a:p>
        </p:txBody>
      </p:sp>
      <p:sp>
        <p:nvSpPr>
          <p:cNvPr id="24" name="Shape 20"/>
          <p:cNvSpPr/>
          <p:nvPr/>
        </p:nvSpPr>
        <p:spPr>
          <a:xfrm>
            <a:off x="3291840" y="3441192"/>
            <a:ext cx="8321040" cy="719328"/>
          </a:xfrm>
          <a:prstGeom prst="roundRect">
            <a:avLst>
              <a:gd name="adj" fmla="val 10169"/>
            </a:avLst>
          </a:prstGeom>
          <a:solidFill>
            <a:srgbClr val="FEF7E4"/>
          </a:solidFill>
          <a:ln w="12700">
            <a:solidFill>
              <a:srgbClr val="E5D9B0"/>
            </a:solidFill>
            <a:prstDash val="solid"/>
          </a:ln>
        </p:spPr>
      </p:sp>
      <p:sp>
        <p:nvSpPr>
          <p:cNvPr id="25" name="Text 21"/>
          <p:cNvSpPr/>
          <p:nvPr/>
        </p:nvSpPr>
        <p:spPr>
          <a:xfrm>
            <a:off x="3456432" y="3441192"/>
            <a:ext cx="8001000" cy="71932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newspaper report, a blog, a speech, an article, a piece of travel writing — each has its own look and its own rules.</a:t>
            </a:r>
            <a:endParaRPr lang="en-US" sz="1800" dirty="0"/>
          </a:p>
        </p:txBody>
      </p:sp>
      <p:sp>
        <p:nvSpPr>
          <p:cNvPr id="26" name="Text 22"/>
          <p:cNvSpPr/>
          <p:nvPr/>
        </p:nvSpPr>
        <p:spPr>
          <a:xfrm>
            <a:off x="548640" y="420624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Form + purpose = the rules a writer follows, and sometimes breaks.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olumn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Four forms, side by side</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The conventions readers expect. Spot the odd one out in each column as we go.</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Non-fiction: forms and features</a:t>
            </a:r>
            <a:endParaRPr lang="en-US" sz="900" dirty="0"/>
          </a:p>
        </p:txBody>
      </p:sp>
      <p:sp>
        <p:nvSpPr>
          <p:cNvPr id="13" name="Shape 10"/>
          <p:cNvSpPr/>
          <p:nvPr/>
        </p:nvSpPr>
        <p:spPr>
          <a:xfrm>
            <a:off x="548640" y="1828800"/>
            <a:ext cx="2594610" cy="868680"/>
          </a:xfrm>
          <a:prstGeom prst="roundRect">
            <a:avLst>
              <a:gd name="adj" fmla="val 8421"/>
            </a:avLst>
          </a:prstGeom>
          <a:solidFill>
            <a:srgbClr val="12294D"/>
          </a:solidFill>
          <a:ln w="12700">
            <a:solidFill>
              <a:srgbClr val="12294D"/>
            </a:solidFill>
            <a:prstDash val="solid"/>
          </a:ln>
        </p:spPr>
      </p:sp>
      <p:sp>
        <p:nvSpPr>
          <p:cNvPr id="14" name="Text 11"/>
          <p:cNvSpPr/>
          <p:nvPr/>
        </p:nvSpPr>
        <p:spPr>
          <a:xfrm>
            <a:off x="64008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Newspaper</a:t>
            </a:r>
            <a:endParaRPr lang="en-US" sz="1600" dirty="0"/>
          </a:p>
        </p:txBody>
      </p:sp>
      <p:sp>
        <p:nvSpPr>
          <p:cNvPr id="15" name="Text 12"/>
          <p:cNvSpPr/>
          <p:nvPr/>
        </p:nvSpPr>
        <p:spPr>
          <a:xfrm>
            <a:off x="64008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to inform</a:t>
            </a:r>
            <a:endParaRPr lang="en-US" sz="1400" dirty="0"/>
          </a:p>
        </p:txBody>
      </p:sp>
      <p:sp>
        <p:nvSpPr>
          <p:cNvPr id="16" name="Shape 13"/>
          <p:cNvSpPr/>
          <p:nvPr/>
        </p:nvSpPr>
        <p:spPr>
          <a:xfrm>
            <a:off x="548640" y="2788920"/>
            <a:ext cx="2594610" cy="3291840"/>
          </a:xfrm>
          <a:prstGeom prst="roundRect">
            <a:avLst>
              <a:gd name="adj" fmla="val 2115"/>
            </a:avLst>
          </a:prstGeom>
          <a:solidFill>
            <a:srgbClr val="FBF0D8"/>
          </a:solidFill>
          <a:ln w="12700">
            <a:solidFill>
              <a:srgbClr val="12294D"/>
            </a:solidFill>
            <a:prstDash val="solid"/>
          </a:ln>
        </p:spPr>
      </p:sp>
      <p:sp>
        <p:nvSpPr>
          <p:cNvPr id="17" name="Text 14"/>
          <p:cNvSpPr/>
          <p:nvPr/>
        </p:nvSpPr>
        <p:spPr>
          <a:xfrm>
            <a:off x="65836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Headline · short opening with who, what, where, when · third person · quotes from witnesses · facts before opinion.</a:t>
            </a:r>
            <a:endParaRPr lang="en-US" sz="1800" dirty="0"/>
          </a:p>
        </p:txBody>
      </p:sp>
      <p:sp>
        <p:nvSpPr>
          <p:cNvPr id="18" name="Shape 15"/>
          <p:cNvSpPr/>
          <p:nvPr/>
        </p:nvSpPr>
        <p:spPr>
          <a:xfrm>
            <a:off x="3371850" y="1828800"/>
            <a:ext cx="2594610" cy="868680"/>
          </a:xfrm>
          <a:prstGeom prst="roundRect">
            <a:avLst>
              <a:gd name="adj" fmla="val 8421"/>
            </a:avLst>
          </a:prstGeom>
          <a:solidFill>
            <a:srgbClr val="00A08A"/>
          </a:solidFill>
          <a:ln w="12700">
            <a:solidFill>
              <a:srgbClr val="00A08A"/>
            </a:solidFill>
            <a:prstDash val="solid"/>
          </a:ln>
        </p:spPr>
      </p:sp>
      <p:sp>
        <p:nvSpPr>
          <p:cNvPr id="19" name="Text 16"/>
          <p:cNvSpPr/>
          <p:nvPr/>
        </p:nvSpPr>
        <p:spPr>
          <a:xfrm>
            <a:off x="346329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Blog</a:t>
            </a:r>
            <a:endParaRPr lang="en-US" sz="1600" dirty="0"/>
          </a:p>
        </p:txBody>
      </p:sp>
      <p:sp>
        <p:nvSpPr>
          <p:cNvPr id="20" name="Text 17"/>
          <p:cNvSpPr/>
          <p:nvPr/>
        </p:nvSpPr>
        <p:spPr>
          <a:xfrm>
            <a:off x="346329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to share</a:t>
            </a:r>
            <a:endParaRPr lang="en-US" sz="1400" dirty="0"/>
          </a:p>
        </p:txBody>
      </p:sp>
      <p:sp>
        <p:nvSpPr>
          <p:cNvPr id="21" name="Shape 18"/>
          <p:cNvSpPr/>
          <p:nvPr/>
        </p:nvSpPr>
        <p:spPr>
          <a:xfrm>
            <a:off x="3371850" y="2788920"/>
            <a:ext cx="2594610" cy="3291840"/>
          </a:xfrm>
          <a:prstGeom prst="roundRect">
            <a:avLst>
              <a:gd name="adj" fmla="val 2115"/>
            </a:avLst>
          </a:prstGeom>
          <a:solidFill>
            <a:srgbClr val="E4F3EF"/>
          </a:solidFill>
          <a:ln w="12700">
            <a:solidFill>
              <a:srgbClr val="00A08A"/>
            </a:solidFill>
            <a:prstDash val="solid"/>
          </a:ln>
        </p:spPr>
      </p:sp>
      <p:sp>
        <p:nvSpPr>
          <p:cNvPr id="22" name="Text 19"/>
          <p:cNvSpPr/>
          <p:nvPr/>
        </p:nvSpPr>
        <p:spPr>
          <a:xfrm>
            <a:off x="348157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Title and date · first person · chatty voice · short paragraphs · pictures · often ends with a question to readers.</a:t>
            </a:r>
            <a:endParaRPr lang="en-US" sz="1800" dirty="0"/>
          </a:p>
        </p:txBody>
      </p:sp>
      <p:sp>
        <p:nvSpPr>
          <p:cNvPr id="23" name="Shape 20"/>
          <p:cNvSpPr/>
          <p:nvPr/>
        </p:nvSpPr>
        <p:spPr>
          <a:xfrm>
            <a:off x="6195060" y="1828800"/>
            <a:ext cx="2594610" cy="868680"/>
          </a:xfrm>
          <a:prstGeom prst="roundRect">
            <a:avLst>
              <a:gd name="adj" fmla="val 8421"/>
            </a:avLst>
          </a:prstGeom>
          <a:solidFill>
            <a:srgbClr val="FF5470"/>
          </a:solidFill>
          <a:ln w="12700">
            <a:solidFill>
              <a:srgbClr val="FF5470"/>
            </a:solidFill>
            <a:prstDash val="solid"/>
          </a:ln>
        </p:spPr>
      </p:sp>
      <p:sp>
        <p:nvSpPr>
          <p:cNvPr id="24" name="Text 21"/>
          <p:cNvSpPr/>
          <p:nvPr/>
        </p:nvSpPr>
        <p:spPr>
          <a:xfrm>
            <a:off x="628650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Speech</a:t>
            </a:r>
            <a:endParaRPr lang="en-US" sz="1600" dirty="0"/>
          </a:p>
        </p:txBody>
      </p:sp>
      <p:sp>
        <p:nvSpPr>
          <p:cNvPr id="25" name="Text 22"/>
          <p:cNvSpPr/>
          <p:nvPr/>
        </p:nvSpPr>
        <p:spPr>
          <a:xfrm>
            <a:off x="628650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to persuade</a:t>
            </a:r>
            <a:endParaRPr lang="en-US" sz="1400" dirty="0"/>
          </a:p>
        </p:txBody>
      </p:sp>
      <p:sp>
        <p:nvSpPr>
          <p:cNvPr id="26" name="Shape 23"/>
          <p:cNvSpPr/>
          <p:nvPr/>
        </p:nvSpPr>
        <p:spPr>
          <a:xfrm>
            <a:off x="6195060" y="2788920"/>
            <a:ext cx="2594610" cy="3291840"/>
          </a:xfrm>
          <a:prstGeom prst="roundRect">
            <a:avLst>
              <a:gd name="adj" fmla="val 2115"/>
            </a:avLst>
          </a:prstGeom>
          <a:solidFill>
            <a:srgbClr val="FBE4E4"/>
          </a:solidFill>
          <a:ln w="12700">
            <a:solidFill>
              <a:srgbClr val="FF5470"/>
            </a:solidFill>
            <a:prstDash val="solid"/>
          </a:ln>
        </p:spPr>
      </p:sp>
      <p:sp>
        <p:nvSpPr>
          <p:cNvPr id="27" name="Text 24"/>
          <p:cNvSpPr/>
          <p:nvPr/>
        </p:nvSpPr>
        <p:spPr>
          <a:xfrm>
            <a:off x="630478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Speaks to 'you' · rule of three · repetition · rhetorical questions · a big line at the end to applaud.</a:t>
            </a:r>
            <a:endParaRPr lang="en-US" sz="1800" dirty="0"/>
          </a:p>
        </p:txBody>
      </p:sp>
      <p:sp>
        <p:nvSpPr>
          <p:cNvPr id="28" name="Shape 25"/>
          <p:cNvSpPr/>
          <p:nvPr/>
        </p:nvSpPr>
        <p:spPr>
          <a:xfrm>
            <a:off x="9018270" y="1828800"/>
            <a:ext cx="2594610" cy="868680"/>
          </a:xfrm>
          <a:prstGeom prst="roundRect">
            <a:avLst>
              <a:gd name="adj" fmla="val 8421"/>
            </a:avLst>
          </a:prstGeom>
          <a:solidFill>
            <a:srgbClr val="6C3A6E"/>
          </a:solidFill>
          <a:ln w="12700">
            <a:solidFill>
              <a:srgbClr val="6C3A6E"/>
            </a:solidFill>
            <a:prstDash val="solid"/>
          </a:ln>
        </p:spPr>
      </p:sp>
      <p:sp>
        <p:nvSpPr>
          <p:cNvPr id="29" name="Text 26"/>
          <p:cNvSpPr/>
          <p:nvPr/>
        </p:nvSpPr>
        <p:spPr>
          <a:xfrm>
            <a:off x="910971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Travel writing</a:t>
            </a:r>
            <a:endParaRPr lang="en-US" sz="1600" dirty="0"/>
          </a:p>
        </p:txBody>
      </p:sp>
      <p:sp>
        <p:nvSpPr>
          <p:cNvPr id="30" name="Text 27"/>
          <p:cNvSpPr/>
          <p:nvPr/>
        </p:nvSpPr>
        <p:spPr>
          <a:xfrm>
            <a:off x="910971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to take you there</a:t>
            </a:r>
            <a:endParaRPr lang="en-US" sz="1400" dirty="0"/>
          </a:p>
        </p:txBody>
      </p:sp>
      <p:sp>
        <p:nvSpPr>
          <p:cNvPr id="31" name="Shape 28"/>
          <p:cNvSpPr/>
          <p:nvPr/>
        </p:nvSpPr>
        <p:spPr>
          <a:xfrm>
            <a:off x="9018270" y="2788920"/>
            <a:ext cx="2594610" cy="3291840"/>
          </a:xfrm>
          <a:prstGeom prst="roundRect">
            <a:avLst>
              <a:gd name="adj" fmla="val 2115"/>
            </a:avLst>
          </a:prstGeom>
          <a:solidFill>
            <a:srgbClr val="EFE6F0"/>
          </a:solidFill>
          <a:ln w="12700">
            <a:solidFill>
              <a:srgbClr val="6C3A6E"/>
            </a:solidFill>
            <a:prstDash val="solid"/>
          </a:ln>
        </p:spPr>
      </p:sp>
      <p:sp>
        <p:nvSpPr>
          <p:cNvPr id="32" name="Text 29"/>
          <p:cNvSpPr/>
          <p:nvPr/>
        </p:nvSpPr>
        <p:spPr>
          <a:xfrm>
            <a:off x="912799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First person · a real place · the five senses · a journey shape: leaving, arriving, changing · the writer's feelings.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An original travel blog. Read it twice: once for the story, once for the conventions.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Non-fiction: forms and features</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BLOG POST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Day 3: The night train south. I did not sleep. Who could? The bunk was the width of a shelf and the train rocked like a boat. But at five in the morning I pulled up the blind and there it was: the sea, silver and flat, right beside the track. A man in the next bunk passed me a paper cup of coffee without a word. That is the thing about trains. Strangers look after you. By the time we reached the border the whole carriage was awake, passports out, faces pressed to the glass. Have you ever crossed a border by train? Tell me in the comments.</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form is this? Find three conventions that prove it.</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Who is the writer speaking to, and how do you know?</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Pick one sentence that uses a sense. Which sense?</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does the writer end with a question?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Spotting conventions</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Four places to look in any non-fiction text.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Non-fiction: forms and features</a:t>
            </a:r>
            <a:endParaRPr lang="en-US" sz="900" dirty="0"/>
          </a:p>
        </p:txBody>
      </p:sp>
      <p:sp>
        <p:nvSpPr>
          <p:cNvPr id="13" name="Text 10"/>
          <p:cNvSpPr/>
          <p:nvPr/>
        </p:nvSpPr>
        <p:spPr>
          <a:xfrm>
            <a:off x="548640" y="1783080"/>
            <a:ext cx="2606040" cy="889254"/>
          </a:xfrm>
          <a:prstGeom prst="roundRect">
            <a:avLst>
              <a:gd name="adj" fmla="val 10283"/>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TOP</a:t>
            </a:r>
            <a:endParaRPr lang="en-US" sz="1600" dirty="0"/>
          </a:p>
        </p:txBody>
      </p:sp>
      <p:sp>
        <p:nvSpPr>
          <p:cNvPr id="14" name="Shape 11"/>
          <p:cNvSpPr/>
          <p:nvPr/>
        </p:nvSpPr>
        <p:spPr>
          <a:xfrm>
            <a:off x="3291840" y="1783080"/>
            <a:ext cx="8321040" cy="889254"/>
          </a:xfrm>
          <a:prstGeom prst="roundRect">
            <a:avLst>
              <a:gd name="adj" fmla="val 8226"/>
            </a:avLst>
          </a:prstGeom>
          <a:solidFill>
            <a:srgbClr val="FEF7E4"/>
          </a:solidFill>
          <a:ln w="12700">
            <a:solidFill>
              <a:srgbClr val="E5D9B0"/>
            </a:solidFill>
            <a:prstDash val="solid"/>
          </a:ln>
        </p:spPr>
      </p:sp>
      <p:sp>
        <p:nvSpPr>
          <p:cNvPr id="15" name="Text 12"/>
          <p:cNvSpPr/>
          <p:nvPr/>
        </p:nvSpPr>
        <p:spPr>
          <a:xfrm>
            <a:off x="3456432" y="1783080"/>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Headline, title, date, name of the writer. A newspaper has a headline; a blog has a title and a date; a speech has none.</a:t>
            </a:r>
            <a:endParaRPr lang="en-US" sz="1800" dirty="0"/>
          </a:p>
        </p:txBody>
      </p:sp>
      <p:sp>
        <p:nvSpPr>
          <p:cNvPr id="16" name="Text 13"/>
          <p:cNvSpPr/>
          <p:nvPr/>
        </p:nvSpPr>
        <p:spPr>
          <a:xfrm>
            <a:off x="548640" y="2782062"/>
            <a:ext cx="2606040" cy="889254"/>
          </a:xfrm>
          <a:prstGeom prst="roundRect">
            <a:avLst>
              <a:gd name="adj" fmla="val 10283"/>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VOICE</a:t>
            </a:r>
            <a:endParaRPr lang="en-US" sz="1600" dirty="0"/>
          </a:p>
        </p:txBody>
      </p:sp>
      <p:sp>
        <p:nvSpPr>
          <p:cNvPr id="17" name="Shape 14"/>
          <p:cNvSpPr/>
          <p:nvPr/>
        </p:nvSpPr>
        <p:spPr>
          <a:xfrm>
            <a:off x="3291840" y="2782062"/>
            <a:ext cx="8321040" cy="889254"/>
          </a:xfrm>
          <a:prstGeom prst="roundRect">
            <a:avLst>
              <a:gd name="adj" fmla="val 8226"/>
            </a:avLst>
          </a:prstGeom>
          <a:solidFill>
            <a:srgbClr val="FEF7E4"/>
          </a:solidFill>
          <a:ln w="12700">
            <a:solidFill>
              <a:srgbClr val="E5D9B0"/>
            </a:solidFill>
            <a:prstDash val="solid"/>
          </a:ln>
        </p:spPr>
      </p:sp>
      <p:sp>
        <p:nvSpPr>
          <p:cNvPr id="18" name="Text 15"/>
          <p:cNvSpPr/>
          <p:nvPr/>
        </p:nvSpPr>
        <p:spPr>
          <a:xfrm>
            <a:off x="3456432" y="2782062"/>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I and we (blog, travel writing, speech) or he, she and they (newspaper report). Who is speaking, and to whom?</a:t>
            </a:r>
            <a:endParaRPr lang="en-US" sz="1800" dirty="0"/>
          </a:p>
        </p:txBody>
      </p:sp>
      <p:sp>
        <p:nvSpPr>
          <p:cNvPr id="19" name="Text 16"/>
          <p:cNvSpPr/>
          <p:nvPr/>
        </p:nvSpPr>
        <p:spPr>
          <a:xfrm>
            <a:off x="548640" y="3781044"/>
            <a:ext cx="2606040" cy="889254"/>
          </a:xfrm>
          <a:prstGeom prst="roundRect">
            <a:avLst>
              <a:gd name="adj" fmla="val 10283"/>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OPENING</a:t>
            </a:r>
            <a:endParaRPr lang="en-US" sz="1600" dirty="0"/>
          </a:p>
        </p:txBody>
      </p:sp>
      <p:sp>
        <p:nvSpPr>
          <p:cNvPr id="20" name="Shape 17"/>
          <p:cNvSpPr/>
          <p:nvPr/>
        </p:nvSpPr>
        <p:spPr>
          <a:xfrm>
            <a:off x="3291840" y="3781044"/>
            <a:ext cx="8321040" cy="889254"/>
          </a:xfrm>
          <a:prstGeom prst="roundRect">
            <a:avLst>
              <a:gd name="adj" fmla="val 8226"/>
            </a:avLst>
          </a:prstGeom>
          <a:solidFill>
            <a:srgbClr val="FEF7E4"/>
          </a:solidFill>
          <a:ln w="12700">
            <a:solidFill>
              <a:srgbClr val="E5D9B0"/>
            </a:solidFill>
            <a:prstDash val="solid"/>
          </a:ln>
        </p:spPr>
      </p:sp>
      <p:sp>
        <p:nvSpPr>
          <p:cNvPr id="21" name="Text 18"/>
          <p:cNvSpPr/>
          <p:nvPr/>
        </p:nvSpPr>
        <p:spPr>
          <a:xfrm>
            <a:off x="3456432" y="3781044"/>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News gives the facts first. A blog starts with a moment. A speech starts with the audience: 'Good morning, Year 7.'</a:t>
            </a:r>
            <a:endParaRPr lang="en-US" sz="1800" dirty="0"/>
          </a:p>
        </p:txBody>
      </p:sp>
      <p:sp>
        <p:nvSpPr>
          <p:cNvPr id="22" name="Text 19"/>
          <p:cNvSpPr/>
          <p:nvPr/>
        </p:nvSpPr>
        <p:spPr>
          <a:xfrm>
            <a:off x="548640" y="4780026"/>
            <a:ext cx="2606040" cy="889254"/>
          </a:xfrm>
          <a:prstGeom prst="roundRect">
            <a:avLst>
              <a:gd name="adj" fmla="val 10283"/>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ENDING</a:t>
            </a:r>
            <a:endParaRPr lang="en-US" sz="1600" dirty="0"/>
          </a:p>
        </p:txBody>
      </p:sp>
      <p:sp>
        <p:nvSpPr>
          <p:cNvPr id="23" name="Shape 20"/>
          <p:cNvSpPr/>
          <p:nvPr/>
        </p:nvSpPr>
        <p:spPr>
          <a:xfrm>
            <a:off x="3291840" y="4780026"/>
            <a:ext cx="8321040" cy="889254"/>
          </a:xfrm>
          <a:prstGeom prst="roundRect">
            <a:avLst>
              <a:gd name="adj" fmla="val 8226"/>
            </a:avLst>
          </a:prstGeom>
          <a:solidFill>
            <a:srgbClr val="FEF7E4"/>
          </a:solidFill>
          <a:ln w="12700">
            <a:solidFill>
              <a:srgbClr val="E5D9B0"/>
            </a:solidFill>
            <a:prstDash val="solid"/>
          </a:ln>
        </p:spPr>
      </p:sp>
      <p:sp>
        <p:nvSpPr>
          <p:cNvPr id="24" name="Text 21"/>
          <p:cNvSpPr/>
          <p:nvPr/>
        </p:nvSpPr>
        <p:spPr>
          <a:xfrm>
            <a:off x="3456432" y="4780026"/>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News trails off with a quote. A blog asks a question. A speech builds to one big line. Travel writing comes home.</a:t>
            </a:r>
            <a:endParaRPr lang="en-US" sz="1800" dirty="0"/>
          </a:p>
        </p:txBody>
      </p:sp>
      <p:sp>
        <p:nvSpPr>
          <p:cNvPr id="25" name="Text 22"/>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Top, voice, opening, ending: four checks and you can name any form.</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SORT · which form is this?</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Four short texts on the sheet. Everyone decides; nobody passes.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Non-fiction: forms and features</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3003233" y="1888236"/>
            <a:ext cx="246888" cy="246888"/>
          </a:xfrm>
          <a:prstGeom prst="rect">
            <a:avLst/>
          </a:prstGeom>
        </p:spPr>
      </p:pic>
      <p:sp>
        <p:nvSpPr>
          <p:cNvPr id="15" name="Text 11"/>
          <p:cNvSpPr/>
          <p:nvPr/>
        </p:nvSpPr>
        <p:spPr>
          <a:xfrm>
            <a:off x="3368993" y="1783080"/>
            <a:ext cx="2771775"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TALK · THINK-PAIR-SHARE</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Can you name the form and prove it with two conventions?</a:t>
            </a:r>
            <a:endParaRPr lang="en-US" sz="1800" dirty="0"/>
          </a:p>
        </p:txBody>
      </p:sp>
      <p:sp>
        <p:nvSpPr>
          <p:cNvPr id="19" name="Text 15"/>
          <p:cNvSpPr/>
          <p:nvPr/>
        </p:nvSpPr>
        <p:spPr>
          <a:xfrm>
            <a:off x="548640" y="3401568"/>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560070"/>
          </a:xfrm>
          <a:prstGeom prst="roundRect">
            <a:avLst>
              <a:gd name="adj" fmla="val 13061"/>
            </a:avLst>
          </a:prstGeom>
          <a:solidFill>
            <a:srgbClr val="FFFFFF"/>
          </a:solidFill>
          <a:ln w="12700">
            <a:solidFill>
              <a:srgbClr val="80ADC4"/>
            </a:solidFill>
            <a:prstDash val="solid"/>
          </a:ln>
        </p:spPr>
      </p:sp>
      <p:sp>
        <p:nvSpPr>
          <p:cNvPr id="21" name="Text 17"/>
          <p:cNvSpPr/>
          <p:nvPr/>
        </p:nvSpPr>
        <p:spPr>
          <a:xfrm>
            <a:off x="1463040" y="3401568"/>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THINK — read text A alone. Write the form and two conventions you can see.</a:t>
            </a:r>
            <a:endParaRPr lang="en-US" sz="1800" dirty="0"/>
          </a:p>
        </p:txBody>
      </p:sp>
      <p:sp>
        <p:nvSpPr>
          <p:cNvPr id="22" name="Text 18"/>
          <p:cNvSpPr/>
          <p:nvPr/>
        </p:nvSpPr>
        <p:spPr>
          <a:xfrm>
            <a:off x="548640" y="4062222"/>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4062222"/>
            <a:ext cx="10332720" cy="560070"/>
          </a:xfrm>
          <a:prstGeom prst="roundRect">
            <a:avLst>
              <a:gd name="adj" fmla="val 13061"/>
            </a:avLst>
          </a:prstGeom>
          <a:solidFill>
            <a:srgbClr val="F4F6FA"/>
          </a:solidFill>
          <a:ln w="12700">
            <a:solidFill>
              <a:srgbClr val="80ADC4"/>
            </a:solidFill>
            <a:prstDash val="solid"/>
          </a:ln>
        </p:spPr>
      </p:sp>
      <p:sp>
        <p:nvSpPr>
          <p:cNvPr id="24" name="Text 20"/>
          <p:cNvSpPr/>
          <p:nvPr/>
        </p:nvSpPr>
        <p:spPr>
          <a:xfrm>
            <a:off x="1463040" y="4062222"/>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PAIR — compare answers. Agree on one form for each of texts B, C and D.</a:t>
            </a:r>
            <a:endParaRPr lang="en-US" sz="1800" dirty="0"/>
          </a:p>
        </p:txBody>
      </p:sp>
      <p:sp>
        <p:nvSpPr>
          <p:cNvPr id="25" name="Text 21"/>
          <p:cNvSpPr/>
          <p:nvPr/>
        </p:nvSpPr>
        <p:spPr>
          <a:xfrm>
            <a:off x="548640" y="4722876"/>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722876"/>
            <a:ext cx="10332720" cy="560070"/>
          </a:xfrm>
          <a:prstGeom prst="roundRect">
            <a:avLst>
              <a:gd name="adj" fmla="val 13061"/>
            </a:avLst>
          </a:prstGeom>
          <a:solidFill>
            <a:srgbClr val="FFFFFF"/>
          </a:solidFill>
          <a:ln w="12700">
            <a:solidFill>
              <a:srgbClr val="80ADC4"/>
            </a:solidFill>
            <a:prstDash val="solid"/>
          </a:ln>
        </p:spPr>
      </p:sp>
      <p:sp>
        <p:nvSpPr>
          <p:cNvPr id="27" name="Text 23"/>
          <p:cNvSpPr/>
          <p:nvPr/>
        </p:nvSpPr>
        <p:spPr>
          <a:xfrm>
            <a:off x="1463040" y="4722876"/>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SHARE — one pair reports on the hardest text. The class votes: agree or challenge?</a:t>
            </a:r>
            <a:endParaRPr lang="en-US" sz="1800" dirty="0"/>
          </a:p>
        </p:txBody>
      </p:sp>
      <p:sp>
        <p:nvSpPr>
          <p:cNvPr id="28" name="Text 24"/>
          <p:cNvSpPr/>
          <p:nvPr/>
        </p:nvSpPr>
        <p:spPr>
          <a:xfrm>
            <a:off x="548640" y="5383530"/>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5383530"/>
            <a:ext cx="10332720" cy="560070"/>
          </a:xfrm>
          <a:prstGeom prst="roundRect">
            <a:avLst>
              <a:gd name="adj" fmla="val 13061"/>
            </a:avLst>
          </a:prstGeom>
          <a:solidFill>
            <a:srgbClr val="F4F6FA"/>
          </a:solidFill>
          <a:ln w="12700">
            <a:solidFill>
              <a:srgbClr val="80ADC4"/>
            </a:solidFill>
            <a:prstDash val="solid"/>
          </a:ln>
        </p:spPr>
      </p:sp>
      <p:sp>
        <p:nvSpPr>
          <p:cNvPr id="30" name="Text 26"/>
          <p:cNvSpPr/>
          <p:nvPr/>
        </p:nvSpPr>
        <p:spPr>
          <a:xfrm>
            <a:off x="1463040" y="5383530"/>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Fill in the non-fiction features table for all four texts.</a:t>
            </a:r>
            <a:endParaRPr lang="en-US" sz="1800" dirty="0"/>
          </a:p>
        </p:txBody>
      </p:sp>
      <p:sp>
        <p:nvSpPr>
          <p:cNvPr id="31" name="Text 27"/>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Oral language interventions — +6 months, very low cost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Exit ticket — what a strong answer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sentences on your exit slip. Did you make these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Non-fiction: forms and features</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Name the form</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Say which form the text is — newspaper, blog, speech, article or travel writing.</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Prove it</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Give two conventions you can see, using the key word convention.</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Say the job</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Say what the text is for: to inform, persuade, entertain or take the reader there.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Open the read-along edition, Across the Water. Listen to pages 1 to 3. Tap any sentence you are not sure of.</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search-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Find</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Find three non-fiction texts at home or online. Name the form of each and one convention that proves it.</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Five sentences: what non-fiction is, using form, convention and purpose.</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This lesson's bell questions come back next week. Can you beat your score of /5?</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Non-fiction and Travel Writing · Lesson 1 of 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Non-fiction and Travel Writing · L1 Non-fiction: forms and features</dc:title>
  <dc:subject>PptxGenJS Presentation</dc:subject>
  <dc:creator>Harlington English</dc:creator>
  <cp:lastModifiedBy>Harlington English</cp:lastModifiedBy>
  <cp:revision>1</cp:revision>
  <dcterms:created xsi:type="dcterms:W3CDTF">2026-09-04T20:58:59Z</dcterms:created>
  <dcterms:modified xsi:type="dcterms:W3CDTF">2026-09-04T20:58:59Z</dcterms:modified>
</cp:coreProperties>
</file>