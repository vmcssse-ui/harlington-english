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NON-FICTION AND TRAVEL WRITING · LESSON 5 of 6</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Reading non-fiction closely</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are the five parts of the journey shape?</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hook?</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form has a headline?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must a speech's ending do?</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proofread mean?</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Non-fiction and Travel Writing</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reading and writing non-fiction</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a journey story</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a narrator's voice</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Fiction is made up; non-fiction is true</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Non-fiction: forms and features</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Travel writing: the senses</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Purpose and audience</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Assessment: write the journey</a:t>
            </a:r>
            <a:endParaRPr lang="en-US" sz="1400" dirty="0"/>
          </a:p>
        </p:txBody>
      </p:sp>
      <p:sp>
        <p:nvSpPr>
          <p:cNvPr id="31" name="Shape 28"/>
          <p:cNvSpPr/>
          <p:nvPr/>
        </p:nvSpPr>
        <p:spPr>
          <a:xfrm>
            <a:off x="4114800" y="4462272"/>
            <a:ext cx="3931920" cy="420624"/>
          </a:xfrm>
          <a:prstGeom prst="roundRect">
            <a:avLst>
              <a:gd name="adj" fmla="val 26087"/>
            </a:avLst>
          </a:prstGeom>
          <a:solidFill>
            <a:srgbClr val="12294D"/>
          </a:solidFill>
          <a:ln w="12700">
            <a:solidFill>
              <a:srgbClr val="12294D"/>
            </a:solidFill>
            <a:prstDash val="solid"/>
          </a:ln>
        </p:spPr>
      </p:sp>
      <p:sp>
        <p:nvSpPr>
          <p:cNvPr id="32" name="Text 29"/>
          <p:cNvSpPr/>
          <p:nvPr/>
        </p:nvSpPr>
        <p:spPr>
          <a:xfrm>
            <a:off x="4242816" y="4517136"/>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Reading non-fiction closely</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Review and vocabulary</a:t>
            </a:r>
            <a:endParaRPr lang="en-US" sz="1400" dirty="0"/>
          </a:p>
        </p:txBody>
      </p:sp>
      <p:sp>
        <p:nvSpPr>
          <p:cNvPr id="37" name="Shape 34"/>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8"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9" name="Text 35"/>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0" name="Shape 36"/>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1" name="Text 37"/>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HT6: Binti — a journey into space</a:t>
            </a:r>
            <a:endParaRPr lang="en-US" sz="1400" dirty="0"/>
          </a:p>
        </p:txBody>
      </p:sp>
      <p:sp>
        <p:nvSpPr>
          <p:cNvPr id="42" name="Shape 38"/>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3" name="Text 39"/>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writing to argue and persuade</a:t>
            </a:r>
            <a:endParaRPr lang="en-US" sz="1400" dirty="0"/>
          </a:p>
        </p:txBody>
      </p:sp>
      <p:sp>
        <p:nvSpPr>
          <p:cNvPr id="44" name="Shape 40"/>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5" name="Text 41"/>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GCSE: AO5 and AO6 transactional writing</a:t>
            </a:r>
            <a:endParaRPr lang="en-US" sz="1400" dirty="0"/>
          </a:p>
        </p:txBody>
      </p:sp>
      <p:sp>
        <p:nvSpPr>
          <p:cNvPr id="46" name="Shape 42"/>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7" name="Text 43"/>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8" name="Text 44"/>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Non-fiction and Travel Writing  ·  Reading non-fiction closely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5 · READING NON-FICTION CLOSELY</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Tell the difference between retrieval (what the text says) and inference (what it suggests).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Answer retrieval, inference and language questions on two non-fiction texts, using short quotations.</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Judge which of two writers makes the border feel more real — and say how.</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are the five parts of the journey shape?</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Leaving, crossing, arriving, changing, coming home.</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hook?</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 opening that grabs the reader in the first line.</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Which form has a headline?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newspaper report or a magazine article.</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must a speech's ending do?</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Build to one big line the audience will remember (or applaud).</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What does proofread mean?</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Read your own writing slowly to fix spelling and punctuation.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retrieval</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finding a fact that is stated in the text</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inference</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working out what the text suggests but does not say</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evidence</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words from the text that prove your answer</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skim</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read fast to get the gist</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scan</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run your eye down the text to find one word or fact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Three ways to read</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6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Every non-fiction reading question is one of these three. Know which before you answer.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RETRIEVE</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answer is IN the text. Scan for the key word, copy the fact. 'What time did the ferry leave?'</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INFER</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answer is BEHIND the text. Find a clue, then say what it suggests. 'How does the writer feel about the guard?'</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ANALYSE</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answer is about HOW the text is written. Method, quotation, effect. 'How does the writer make the border tense?'</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Retrieve = find. Infer = clue + suggests. Analyse = method + effect.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Text A — the border crossing</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magazine article. Retrieval questions first: scan, then copy.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ARTICLE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night train reaches the border at 4.40 a.m. The lights come on, hard and white, and a guard walks the corridor tapping each door twice. Passengers sit up in their bunks with passports ready. It takes eleven minutes. Nobody speaks. Then the guard says one word, the doors close, and the train rolls on into a country where the signs are in another alphabet. Most travellers sleep through the whole thing. The ones who stay awake say it is the best part.</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time does the train reach the border?</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guard signal at each door?</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long does the check take?</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 the travellers who stay awake say?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Text B — the speech</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speech. Inference questions: find the clue, then say what it suggests.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SPEECH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Friends, I have crossed that border eleven times. The first time I was seven and I cried, because my mother's hand was shaking when she gave the man our papers. The last time I was forty and I laughed, because the same man, older now, waved us through without looking up. Borders are not lines on the ground. They are lines in people. And lines in people can move.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did the speaker feel at seven? Which word is the clue?</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mother's shaking hand suggest?</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speaker laugh the last time?</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'lines in people can move' suggest the speech is really about?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One line from each text. MEAN · METHOD · EFFECT.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Text A</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The lights come on, hard and white, and a guard walks the corridor tapping each door twice.</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Text B</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Borders are not lines on the ground. They are lines in people.</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PAIR · question tennis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Partner A asks, partner B answers with evidence, then swap. Keep the rally going.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098197" y="1888236"/>
            <a:ext cx="246888" cy="246888"/>
          </a:xfrm>
          <a:prstGeom prst="rect">
            <a:avLst/>
          </a:prstGeom>
        </p:spPr>
      </p:pic>
      <p:sp>
        <p:nvSpPr>
          <p:cNvPr id="15" name="Text 11"/>
          <p:cNvSpPr/>
          <p:nvPr/>
        </p:nvSpPr>
        <p:spPr>
          <a:xfrm>
            <a:off x="3463957" y="1783080"/>
            <a:ext cx="2581846"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PEER TUTORING · PAIRS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Can you write a retrieval, an inference AND an analysis question on Text A?</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Each write one question of each kind on Text A. Label them R, I, A.</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Serve: ask your partner your R question. They answer with a quotation.</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Rally: I question, then A question. The answerer must say 'suggests' or 'effect'.</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Swap roles on Text B. Note one question your partner asked that was better than yours.</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Peer tutoring — +5 months, very low cost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is your judgement.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Retrieve: what happens at the border in Text A, in two sentences?</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Infer: what does 'Nobody speaks' suggest about how the passengers feel?</a:t>
            </a:r>
            <a:endParaRPr lang="en-US" sz="1800" dirty="0"/>
          </a:p>
        </p:txBody>
      </p:sp>
      <p:sp>
        <p:nvSpPr>
          <p:cNvPr id="19" name="Text 16"/>
          <p:cNvSpPr/>
          <p:nvPr/>
        </p:nvSpPr>
        <p:spPr>
          <a:xfrm>
            <a:off x="548640" y="3575304"/>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0" name="Shape 17"/>
          <p:cNvSpPr/>
          <p:nvPr/>
        </p:nvSpPr>
        <p:spPr>
          <a:xfrm>
            <a:off x="2834640" y="3575304"/>
            <a:ext cx="8778240" cy="749808"/>
          </a:xfrm>
          <a:prstGeom prst="roundRect">
            <a:avLst>
              <a:gd name="adj" fmla="val 9756"/>
            </a:avLst>
          </a:prstGeom>
          <a:solidFill>
            <a:srgbClr val="EFE6F0"/>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writer makes the border feel more real — the article or the speech? One paragraph: method, quotation, effect.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Check your ladder answers against the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Non-fiction and Travel Writing · Reading non-fiction closely</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Right kind</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You knew whether the question was retrieve, infer or analyse — and answered that way.</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Evidence</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short quotation in every inference and analysis answer.</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Suggests</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Inference answers use 'suggests' or 'shows'; analysis answers use 'effect'.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book-open-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Non-fiction reading task on the sheet: one short article, six questions — two retrieve, two infer, two analyse.</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headphones-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 4. Write one retrieval question and one inference question about it.</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Three sentences: the difference between retrieval and inference, with an example of each.</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 is the review. Every bell question from the unit comes back. Revise the key words.</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Non-fiction and Travel Writing · Lesson 5 of 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Non-fiction and Travel Writing · L5 Reading non-fiction closely</dc:title>
  <dc:subject>PptxGenJS Presentation</dc:subject>
  <dc:creator>Harlington English</dc:creator>
  <cp:lastModifiedBy>Harlington English</cp:lastModifiedBy>
  <cp:revision>1</cp:revision>
  <dcterms:created xsi:type="dcterms:W3CDTF">2026-09-04T20:59:00Z</dcterms:created>
  <dcterms:modified xsi:type="dcterms:W3CDTF">2026-09-04T20:59:00Z</dcterms:modified>
</cp:coreProperties>
</file>