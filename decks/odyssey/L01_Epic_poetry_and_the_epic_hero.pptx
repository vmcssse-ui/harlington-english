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1.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457200" y="365760"/>
            <a:ext cx="8595360" cy="960120"/>
          </a:xfrm>
          <a:prstGeom prst="roundRect">
            <a:avLst>
              <a:gd name="adj" fmla="val 7619"/>
            </a:avLst>
          </a:prstGeom>
          <a:solidFill>
            <a:srgbClr val="12294D"/>
          </a:solidFill>
          <a:ln w="12700">
            <a:solidFill>
              <a:srgbClr val="12294D"/>
            </a:solidFill>
            <a:prstDash val="solid"/>
          </a:ln>
        </p:spPr>
      </p:sp>
      <p:sp>
        <p:nvSpPr>
          <p:cNvPr id="3" name="Text 1"/>
          <p:cNvSpPr/>
          <p:nvPr/>
        </p:nvSpPr>
        <p:spPr>
          <a:xfrm>
            <a:off x="777240" y="457200"/>
            <a:ext cx="8046720" cy="292608"/>
          </a:xfrm>
          <a:prstGeom prst="rect">
            <a:avLst/>
          </a:prstGeom>
          <a:noFill/>
          <a:ln/>
        </p:spPr>
        <p:txBody>
          <a:bodyPr wrap="square" lIns="0" tIns="0" rIns="0" bIns="0" rtlCol="0" anchor="ctr"/>
          <a:lstStyle/>
          <a:p>
            <a:pPr indent="0" marL="0">
              <a:buNone/>
            </a:pPr>
            <a:r>
              <a:rPr lang="en-US" sz="1100" b="1" dirty="0">
                <a:solidFill>
                  <a:srgbClr val="FFC93C"/>
                </a:solidFill>
                <a:latin typeface="Arial" pitchFamily="34" charset="0"/>
                <a:ea typeface="Arial" pitchFamily="34" charset="-122"/>
                <a:cs typeface="Arial" pitchFamily="34" charset="-120"/>
              </a:rPr>
              <a:t>HARLINGTON ENGLISH · YEAR 7 · THE ODYSSEY · LESSON 1 of 6</a:t>
            </a:r>
            <a:endParaRPr lang="en-US" sz="1100" dirty="0"/>
          </a:p>
        </p:txBody>
      </p:sp>
      <p:sp>
        <p:nvSpPr>
          <p:cNvPr id="4" name="Text 2"/>
          <p:cNvSpPr/>
          <p:nvPr/>
        </p:nvSpPr>
        <p:spPr>
          <a:xfrm>
            <a:off x="777240" y="731520"/>
            <a:ext cx="813816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Epic poetry and the epic hero</a:t>
            </a:r>
            <a:endParaRPr lang="en-US" sz="2600" dirty="0"/>
          </a:p>
        </p:txBody>
      </p:sp>
      <p:sp>
        <p:nvSpPr>
          <p:cNvPr id="5" name="Shape 3"/>
          <p:cNvSpPr/>
          <p:nvPr/>
        </p:nvSpPr>
        <p:spPr>
          <a:xfrm>
            <a:off x="9235440" y="365760"/>
            <a:ext cx="2468880" cy="960120"/>
          </a:xfrm>
          <a:prstGeom prst="roundRect">
            <a:avLst>
              <a:gd name="adj" fmla="val 9524"/>
            </a:avLst>
          </a:prstGeom>
          <a:solidFill>
            <a:srgbClr val="FFC93C"/>
          </a:solidFill>
          <a:ln w="12700">
            <a:solidFill>
              <a:srgbClr val="FFC93C"/>
            </a:solidFill>
            <a:prstDash val="solid"/>
          </a:ln>
        </p:spPr>
      </p:sp>
      <p:pic>
        <p:nvPicPr>
          <p:cNvPr id="6" name="Image 0" descr="/home/claude/english/kit/decks/_icons/bell-12294D.png">    </p:cNvPr>
          <p:cNvPicPr>
            <a:picLocks noChangeAspect="1"/>
          </p:cNvPicPr>
          <p:nvPr/>
        </p:nvPicPr>
        <p:blipFill>
          <a:blip r:embed="rId1"/>
          <a:stretch>
            <a:fillRect/>
          </a:stretch>
        </p:blipFill>
        <p:spPr>
          <a:xfrm>
            <a:off x="9418320" y="566928"/>
            <a:ext cx="548640" cy="548640"/>
          </a:xfrm>
          <a:prstGeom prst="rect">
            <a:avLst/>
          </a:prstGeom>
        </p:spPr>
      </p:pic>
      <p:sp>
        <p:nvSpPr>
          <p:cNvPr id="7" name="Text 4"/>
          <p:cNvSpPr/>
          <p:nvPr/>
        </p:nvSpPr>
        <p:spPr>
          <a:xfrm>
            <a:off x="10012680" y="502920"/>
            <a:ext cx="1600200" cy="320040"/>
          </a:xfrm>
          <a:prstGeom prst="rect">
            <a:avLst/>
          </a:prstGeom>
          <a:noFill/>
          <a:ln/>
        </p:spPr>
        <p:txBody>
          <a:bodyPr wrap="square" lIns="0" tIns="0" rIns="0" bIns="0" rtlCol="0" anchor="ctr"/>
          <a:lstStyle/>
          <a:p>
            <a:pPr indent="0" marL="0">
              <a:buNone/>
            </a:pPr>
            <a:r>
              <a:rPr lang="en-US" sz="1500" b="1" dirty="0">
                <a:solidFill>
                  <a:srgbClr val="12294D"/>
                </a:solidFill>
                <a:latin typeface="Arial" pitchFamily="34" charset="0"/>
                <a:ea typeface="Arial" pitchFamily="34" charset="-122"/>
                <a:cs typeface="Arial" pitchFamily="34" charset="-120"/>
              </a:rPr>
              <a:t>BELL WORK</a:t>
            </a:r>
            <a:endParaRPr lang="en-US" sz="1500" dirty="0"/>
          </a:p>
        </p:txBody>
      </p:sp>
      <p:sp>
        <p:nvSpPr>
          <p:cNvPr id="8" name="Text 5"/>
          <p:cNvSpPr/>
          <p:nvPr/>
        </p:nvSpPr>
        <p:spPr>
          <a:xfrm>
            <a:off x="10012680" y="841248"/>
            <a:ext cx="1600200" cy="320040"/>
          </a:xfrm>
          <a:prstGeom prst="rect">
            <a:avLst/>
          </a:prstGeom>
          <a:noFill/>
          <a:ln/>
        </p:spPr>
        <p:txBody>
          <a:bodyPr wrap="square" lIns="0" tIns="0" rIns="0" bIns="0" rtlCol="0" anchor="ctr"/>
          <a:lstStyle/>
          <a:p>
            <a:pPr indent="0" marL="0">
              <a:buNone/>
            </a:pPr>
            <a:r>
              <a:rPr lang="en-US" sz="1300" b="1" dirty="0">
                <a:solidFill>
                  <a:srgbClr val="12294D"/>
                </a:solidFill>
                <a:latin typeface="Arial" pitchFamily="34" charset="0"/>
                <a:ea typeface="Arial" pitchFamily="34" charset="-122"/>
                <a:cs typeface="Arial" pitchFamily="34" charset="-120"/>
              </a:rPr>
              <a:t>⏱ 7 minutes</a:t>
            </a:r>
            <a:endParaRPr lang="en-US" sz="1300" dirty="0"/>
          </a:p>
        </p:txBody>
      </p:sp>
      <p:sp>
        <p:nvSpPr>
          <p:cNvPr id="9" name="Text 6"/>
          <p:cNvSpPr/>
          <p:nvPr/>
        </p:nvSpPr>
        <p:spPr>
          <a:xfrm>
            <a:off x="457200" y="1463040"/>
            <a:ext cx="11247120" cy="365760"/>
          </a:xfrm>
          <a:prstGeom prst="rect">
            <a:avLst/>
          </a:prstGeom>
          <a:noFill/>
          <a:ln/>
        </p:spPr>
        <p:txBody>
          <a:bodyPr wrap="square" lIns="0" tIns="0" rIns="0" bIns="0" rtlCol="0" anchor="ctr"/>
          <a:lstStyle/>
          <a:p>
            <a:pPr algn="l" indent="0" marL="0">
              <a:buNone/>
            </a:pPr>
            <a:r>
              <a:rPr lang="en-US" sz="1500" i="1" dirty="0">
                <a:solidFill>
                  <a:srgbClr val="404040"/>
                </a:solidFill>
                <a:latin typeface="Arial" pitchFamily="34" charset="0"/>
                <a:ea typeface="Arial" pitchFamily="34" charset="-122"/>
                <a:cs typeface="Arial" pitchFamily="34" charset="-120"/>
              </a:rPr>
              <a:t>Retrieval — no notes. Answer all five, then say one in a full sentence. Score yourself /5.</a:t>
            </a:r>
            <a:endParaRPr lang="en-US" sz="1500" dirty="0"/>
          </a:p>
        </p:txBody>
      </p:sp>
      <p:sp>
        <p:nvSpPr>
          <p:cNvPr id="10" name="Text 7"/>
          <p:cNvSpPr/>
          <p:nvPr/>
        </p:nvSpPr>
        <p:spPr>
          <a:xfrm>
            <a:off x="548640" y="1965960"/>
            <a:ext cx="502920" cy="603504"/>
          </a:xfrm>
          <a:prstGeom prst="roundRect">
            <a:avLst>
              <a:gd name="adj" fmla="val 21818"/>
            </a:avLst>
          </a:prstGeom>
          <a:solidFill>
            <a:srgbClr val="FFC93C"/>
          </a:solidFill>
          <a:ln>
            <a:solidFill>
              <a:srgbClr val="FFC93C"/>
            </a:solidFill>
          </a:ln>
        </p:spPr>
        <p:txBody>
          <a:bodyPr wrap="square" lIns="0" tIns="0" rIns="0" bIns="0" rtlCol="0" anchor="ctr"/>
          <a:lstStyle/>
          <a:p>
            <a:pPr algn="ctr" indent="0" marL="0">
              <a:buNone/>
            </a:pPr>
            <a:r>
              <a:rPr lang="en-US" sz="1800" b="1" dirty="0">
                <a:solidFill>
                  <a:srgbClr val="12294D"/>
                </a:solidFill>
                <a:latin typeface="Arial" pitchFamily="34" charset="0"/>
                <a:ea typeface="Arial" pitchFamily="34" charset="-122"/>
                <a:cs typeface="Arial" pitchFamily="34" charset="-120"/>
              </a:rPr>
              <a:t>1</a:t>
            </a:r>
            <a:endParaRPr lang="en-US" sz="1800" dirty="0"/>
          </a:p>
        </p:txBody>
      </p:sp>
      <p:sp>
        <p:nvSpPr>
          <p:cNvPr id="11" name="Text 8"/>
          <p:cNvSpPr/>
          <p:nvPr/>
        </p:nvSpPr>
        <p:spPr>
          <a:xfrm>
            <a:off x="1234440" y="1965960"/>
            <a:ext cx="10332720" cy="603504"/>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Name one myth or legend you read at primary school.</a:t>
            </a:r>
            <a:endParaRPr lang="en-US" sz="1800" dirty="0"/>
          </a:p>
        </p:txBody>
      </p:sp>
      <p:sp>
        <p:nvSpPr>
          <p:cNvPr id="12" name="Text 9"/>
          <p:cNvSpPr/>
          <p:nvPr/>
        </p:nvSpPr>
        <p:spPr>
          <a:xfrm>
            <a:off x="548640" y="2770632"/>
            <a:ext cx="502920" cy="603504"/>
          </a:xfrm>
          <a:prstGeom prst="roundRect">
            <a:avLst>
              <a:gd name="adj" fmla="val 21818"/>
            </a:avLst>
          </a:prstGeom>
          <a:solidFill>
            <a:srgbClr val="FFC93C"/>
          </a:solidFill>
          <a:ln>
            <a:solidFill>
              <a:srgbClr val="FFC93C"/>
            </a:solidFill>
          </a:ln>
        </p:spPr>
        <p:txBody>
          <a:bodyPr wrap="square" lIns="0" tIns="0" rIns="0" bIns="0" rtlCol="0" anchor="ctr"/>
          <a:lstStyle/>
          <a:p>
            <a:pPr algn="ctr" indent="0" marL="0">
              <a:buNone/>
            </a:pPr>
            <a:r>
              <a:rPr lang="en-US" sz="1800" b="1" dirty="0">
                <a:solidFill>
                  <a:srgbClr val="12294D"/>
                </a:solidFill>
                <a:latin typeface="Arial" pitchFamily="34" charset="0"/>
                <a:ea typeface="Arial" pitchFamily="34" charset="-122"/>
                <a:cs typeface="Arial" pitchFamily="34" charset="-120"/>
              </a:rPr>
              <a:t>2</a:t>
            </a:r>
            <a:endParaRPr lang="en-US" sz="1800" dirty="0"/>
          </a:p>
        </p:txBody>
      </p:sp>
      <p:sp>
        <p:nvSpPr>
          <p:cNvPr id="13" name="Text 10"/>
          <p:cNvSpPr/>
          <p:nvPr/>
        </p:nvSpPr>
        <p:spPr>
          <a:xfrm>
            <a:off x="1234440" y="2770632"/>
            <a:ext cx="10332720" cy="603504"/>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What is a myth? Finish: A myth is a story that…</a:t>
            </a:r>
            <a:endParaRPr lang="en-US" sz="1800" dirty="0"/>
          </a:p>
        </p:txBody>
      </p:sp>
      <p:sp>
        <p:nvSpPr>
          <p:cNvPr id="14" name="Text 11"/>
          <p:cNvSpPr/>
          <p:nvPr/>
        </p:nvSpPr>
        <p:spPr>
          <a:xfrm>
            <a:off x="548640" y="3575304"/>
            <a:ext cx="502920" cy="603504"/>
          </a:xfrm>
          <a:prstGeom prst="roundRect">
            <a:avLst>
              <a:gd name="adj" fmla="val 21818"/>
            </a:avLst>
          </a:prstGeom>
          <a:solidFill>
            <a:srgbClr val="FFC93C"/>
          </a:solidFill>
          <a:ln>
            <a:solidFill>
              <a:srgbClr val="FFC93C"/>
            </a:solidFill>
          </a:ln>
        </p:spPr>
        <p:txBody>
          <a:bodyPr wrap="square" lIns="0" tIns="0" rIns="0" bIns="0" rtlCol="0" anchor="ctr"/>
          <a:lstStyle/>
          <a:p>
            <a:pPr algn="ctr" indent="0" marL="0">
              <a:buNone/>
            </a:pPr>
            <a:r>
              <a:rPr lang="en-US" sz="1800" b="1" dirty="0">
                <a:solidFill>
                  <a:srgbClr val="12294D"/>
                </a:solidFill>
                <a:latin typeface="Arial" pitchFamily="34" charset="0"/>
                <a:ea typeface="Arial" pitchFamily="34" charset="-122"/>
                <a:cs typeface="Arial" pitchFamily="34" charset="-120"/>
              </a:rPr>
              <a:t>3</a:t>
            </a:r>
            <a:endParaRPr lang="en-US" sz="1800" dirty="0"/>
          </a:p>
        </p:txBody>
      </p:sp>
      <p:sp>
        <p:nvSpPr>
          <p:cNvPr id="15" name="Text 12"/>
          <p:cNvSpPr/>
          <p:nvPr/>
        </p:nvSpPr>
        <p:spPr>
          <a:xfrm>
            <a:off x="1234440" y="3575304"/>
            <a:ext cx="10332720" cy="603504"/>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Name one Greek god or goddess and what they rule.</a:t>
            </a:r>
            <a:endParaRPr lang="en-US" sz="1800" dirty="0"/>
          </a:p>
        </p:txBody>
      </p:sp>
      <p:sp>
        <p:nvSpPr>
          <p:cNvPr id="16" name="Text 13"/>
          <p:cNvSpPr/>
          <p:nvPr/>
        </p:nvSpPr>
        <p:spPr>
          <a:xfrm>
            <a:off x="548640" y="4379976"/>
            <a:ext cx="502920" cy="603504"/>
          </a:xfrm>
          <a:prstGeom prst="roundRect">
            <a:avLst>
              <a:gd name="adj" fmla="val 21818"/>
            </a:avLst>
          </a:prstGeom>
          <a:solidFill>
            <a:srgbClr val="FFC93C"/>
          </a:solidFill>
          <a:ln>
            <a:solidFill>
              <a:srgbClr val="FFC93C"/>
            </a:solidFill>
          </a:ln>
        </p:spPr>
        <p:txBody>
          <a:bodyPr wrap="square" lIns="0" tIns="0" rIns="0" bIns="0" rtlCol="0" anchor="ctr"/>
          <a:lstStyle/>
          <a:p>
            <a:pPr algn="ctr" indent="0" marL="0">
              <a:buNone/>
            </a:pPr>
            <a:r>
              <a:rPr lang="en-US" sz="1800" b="1" dirty="0">
                <a:solidFill>
                  <a:srgbClr val="12294D"/>
                </a:solidFill>
                <a:latin typeface="Arial" pitchFamily="34" charset="0"/>
                <a:ea typeface="Arial" pitchFamily="34" charset="-122"/>
                <a:cs typeface="Arial" pitchFamily="34" charset="-120"/>
              </a:rPr>
              <a:t>4</a:t>
            </a:r>
            <a:endParaRPr lang="en-US" sz="1800" dirty="0"/>
          </a:p>
        </p:txBody>
      </p:sp>
      <p:sp>
        <p:nvSpPr>
          <p:cNvPr id="17" name="Text 14"/>
          <p:cNvSpPr/>
          <p:nvPr/>
        </p:nvSpPr>
        <p:spPr>
          <a:xfrm>
            <a:off x="1234440" y="4379976"/>
            <a:ext cx="10332720" cy="603504"/>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What is a monster for, in a story?</a:t>
            </a:r>
            <a:endParaRPr lang="en-US" sz="1800" dirty="0"/>
          </a:p>
        </p:txBody>
      </p:sp>
      <p:sp>
        <p:nvSpPr>
          <p:cNvPr id="18" name="Text 15"/>
          <p:cNvSpPr/>
          <p:nvPr/>
        </p:nvSpPr>
        <p:spPr>
          <a:xfrm>
            <a:off x="548640" y="5184648"/>
            <a:ext cx="502920" cy="603504"/>
          </a:xfrm>
          <a:prstGeom prst="roundRect">
            <a:avLst>
              <a:gd name="adj" fmla="val 21818"/>
            </a:avLst>
          </a:prstGeom>
          <a:solidFill>
            <a:srgbClr val="FFC93C"/>
          </a:solidFill>
          <a:ln>
            <a:solidFill>
              <a:srgbClr val="FFC93C"/>
            </a:solidFill>
          </a:ln>
        </p:spPr>
        <p:txBody>
          <a:bodyPr wrap="square" lIns="0" tIns="0" rIns="0" bIns="0" rtlCol="0" anchor="ctr"/>
          <a:lstStyle/>
          <a:p>
            <a:pPr algn="ctr" indent="0" marL="0">
              <a:buNone/>
            </a:pPr>
            <a:r>
              <a:rPr lang="en-US" sz="1800" b="1" dirty="0">
                <a:solidFill>
                  <a:srgbClr val="12294D"/>
                </a:solidFill>
                <a:latin typeface="Arial" pitchFamily="34" charset="0"/>
                <a:ea typeface="Arial" pitchFamily="34" charset="-122"/>
                <a:cs typeface="Arial" pitchFamily="34" charset="-120"/>
              </a:rPr>
              <a:t>5</a:t>
            </a:r>
            <a:endParaRPr lang="en-US" sz="1800" dirty="0"/>
          </a:p>
        </p:txBody>
      </p:sp>
      <p:sp>
        <p:nvSpPr>
          <p:cNvPr id="19" name="Text 16"/>
          <p:cNvSpPr/>
          <p:nvPr/>
        </p:nvSpPr>
        <p:spPr>
          <a:xfrm>
            <a:off x="1234440" y="5184648"/>
            <a:ext cx="10332720" cy="603504"/>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Finish the sentence: A hero is someone who…</a:t>
            </a:r>
            <a:endParaRPr lang="en-US" sz="1800" dirty="0"/>
          </a:p>
        </p:txBody>
      </p:sp>
      <p:sp>
        <p:nvSpPr>
          <p:cNvPr id="20" name="Text 17"/>
          <p:cNvSpPr/>
          <p:nvPr/>
        </p:nvSpPr>
        <p:spPr>
          <a:xfrm>
            <a:off x="457200" y="6327648"/>
            <a:ext cx="822960" cy="292608"/>
          </a:xfrm>
          <a:prstGeom prst="rect">
            <a:avLst/>
          </a:prstGeom>
          <a:noFill/>
          <a:ln/>
        </p:spPr>
        <p:txBody>
          <a:bodyPr wrap="square" lIns="0" tIns="0" rIns="0" bIns="0" rtlCol="0" anchor="ctr"/>
          <a:lstStyle/>
          <a:p>
            <a:pPr indent="0" marL="0">
              <a:buNone/>
            </a:pPr>
            <a:r>
              <a:rPr lang="en-US" sz="1100" b="1" dirty="0">
                <a:solidFill>
                  <a:srgbClr val="6E6E6E"/>
                </a:solidFill>
                <a:latin typeface="Arial" pitchFamily="34" charset="0"/>
                <a:ea typeface="Arial" pitchFamily="34" charset="-122"/>
                <a:cs typeface="Arial" pitchFamily="34" charset="-120"/>
              </a:rPr>
              <a:t>AIMS →</a:t>
            </a:r>
            <a:endParaRPr lang="en-US" sz="1100" dirty="0"/>
          </a:p>
        </p:txBody>
      </p:sp>
      <p:sp>
        <p:nvSpPr>
          <p:cNvPr id="21" name="Text 18"/>
          <p:cNvSpPr/>
          <p:nvPr/>
        </p:nvSpPr>
        <p:spPr>
          <a:xfrm>
            <a:off x="1325880" y="6291072"/>
            <a:ext cx="2514600" cy="365760"/>
          </a:xfrm>
          <a:prstGeom prst="roundRect">
            <a:avLst>
              <a:gd name="adj" fmla="val 22500"/>
            </a:avLst>
          </a:prstGeom>
          <a:solidFill>
            <a:srgbClr val="80ADC4"/>
          </a:solidFill>
          <a:ln>
            <a:solidFill>
              <a:srgbClr val="80ADC4"/>
            </a:solid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 REMEMBER</a:t>
            </a:r>
            <a:endParaRPr lang="en-US" sz="1200" dirty="0"/>
          </a:p>
        </p:txBody>
      </p:sp>
      <p:sp>
        <p:nvSpPr>
          <p:cNvPr id="22" name="Text 19"/>
          <p:cNvSpPr/>
          <p:nvPr/>
        </p:nvSpPr>
        <p:spPr>
          <a:xfrm>
            <a:off x="397764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UNDERSTAND</a:t>
            </a:r>
            <a:endParaRPr lang="en-US" sz="1200" dirty="0"/>
          </a:p>
        </p:txBody>
      </p:sp>
      <p:sp>
        <p:nvSpPr>
          <p:cNvPr id="23" name="Text 20"/>
          <p:cNvSpPr/>
          <p:nvPr/>
        </p:nvSpPr>
        <p:spPr>
          <a:xfrm>
            <a:off x="662940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ANALYSE</a:t>
            </a:r>
            <a:endParaRPr lang="en-US" sz="1200" dirty="0"/>
          </a:p>
        </p:txBody>
      </p:sp>
      <p:sp>
        <p:nvSpPr>
          <p:cNvPr id="24" name="Text 21"/>
          <p:cNvSpPr/>
          <p:nvPr/>
        </p:nvSpPr>
        <p:spPr>
          <a:xfrm>
            <a:off x="928116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EVALUATE</a:t>
            </a:r>
            <a:endParaRPr lang="en-US" sz="1200" dirty="0"/>
          </a:p>
        </p:txBody>
      </p:sp>
      <p:sp>
        <p:nvSpPr>
          <p:cNvPr id="25" name="Text 22"/>
          <p:cNvSpPr/>
          <p:nvPr/>
        </p:nvSpPr>
        <p:spPr>
          <a:xfrm>
            <a:off x="457200" y="6702552"/>
            <a:ext cx="8229600" cy="155448"/>
          </a:xfrm>
          <a:prstGeom prst="rect">
            <a:avLst/>
          </a:prstGeom>
          <a:noFill/>
          <a:ln/>
        </p:spPr>
        <p:txBody>
          <a:bodyPr wrap="square" lIns="0" tIns="0" rIns="0" bIns="0" rtlCol="0" anchor="t"/>
          <a:lstStyle/>
          <a:p>
            <a:pPr indent="0" marL="0">
              <a:buNone/>
            </a:pPr>
            <a:r>
              <a:rPr lang="en-US" sz="900" dirty="0">
                <a:solidFill>
                  <a:srgbClr val="AAB4C2"/>
                </a:solidFill>
                <a:latin typeface="Arial" pitchFamily="34" charset="0"/>
                <a:ea typeface="Arial" pitchFamily="34" charset="-122"/>
                <a:cs typeface="Arial" pitchFamily="34" charset="-120"/>
              </a:rPr>
              <a:t>Harlington English · The Odyssey · Epic poetry and the epic hero</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8595360" cy="777240"/>
          </a:xfrm>
          <a:prstGeom prst="roundRect">
            <a:avLst>
              <a:gd name="adj" fmla="val 8235"/>
            </a:avLst>
          </a:prstGeom>
          <a:solidFill>
            <a:srgbClr val="12294D"/>
          </a:solidFill>
          <a:ln w="12700">
            <a:solidFill>
              <a:srgbClr val="12294D"/>
            </a:solidFill>
            <a:prstDash val="solid"/>
          </a:ln>
        </p:spPr>
      </p:sp>
      <p:sp>
        <p:nvSpPr>
          <p:cNvPr id="3" name="Text 1"/>
          <p:cNvSpPr/>
          <p:nvPr/>
        </p:nvSpPr>
        <p:spPr>
          <a:xfrm>
            <a:off x="777240" y="320040"/>
            <a:ext cx="8229600" cy="777240"/>
          </a:xfrm>
          <a:prstGeom prst="rect">
            <a:avLst/>
          </a:prstGeom>
          <a:noFill/>
          <a:ln/>
        </p:spPr>
        <p:txBody>
          <a:bodyPr wrap="square" lIns="0" tIns="0" rIns="0" bIns="0" rtlCol="0" anchor="ctr"/>
          <a:lstStyle/>
          <a:p>
            <a:pPr algn="l" indent="0" marL="0">
              <a:buNone/>
            </a:pPr>
            <a:r>
              <a:rPr lang="en-US" sz="3000" b="1" dirty="0">
                <a:solidFill>
                  <a:srgbClr val="FFFFFF"/>
                </a:solidFill>
                <a:latin typeface="Arial" pitchFamily="34" charset="0"/>
                <a:ea typeface="Arial" pitchFamily="34" charset="-122"/>
                <a:cs typeface="Arial" pitchFamily="34" charset="-120"/>
              </a:rPr>
              <a:t>The Odyssey</a:t>
            </a:r>
            <a:endParaRPr lang="en-US" sz="3000" dirty="0"/>
          </a:p>
        </p:txBody>
      </p:sp>
      <p:sp>
        <p:nvSpPr>
          <p:cNvPr id="4" name="Text 2"/>
          <p:cNvSpPr/>
          <p:nvPr/>
        </p:nvSpPr>
        <p:spPr>
          <a:xfrm>
            <a:off x="9326880" y="402336"/>
            <a:ext cx="2377440" cy="310896"/>
          </a:xfrm>
          <a:prstGeom prst="rect">
            <a:avLst/>
          </a:prstGeom>
          <a:noFill/>
          <a:ln/>
        </p:spPr>
        <p:txBody>
          <a:bodyPr wrap="square" lIns="0" tIns="0" rIns="0" bIns="0" rtlCol="0" anchor="ctr"/>
          <a:lstStyle/>
          <a:p>
            <a:pPr algn="r" indent="0" marL="0">
              <a:buNone/>
            </a:pPr>
            <a:r>
              <a:rPr lang="en-US" sz="1600" b="1" dirty="0">
                <a:solidFill>
                  <a:srgbClr val="12294D"/>
                </a:solidFill>
                <a:latin typeface="Arial" pitchFamily="34" charset="0"/>
                <a:ea typeface="Arial" pitchFamily="34" charset="-122"/>
                <a:cs typeface="Arial" pitchFamily="34" charset="-120"/>
              </a:rPr>
              <a:t>HARLINGTON</a:t>
            </a:r>
            <a:endParaRPr lang="en-US" sz="1600" dirty="0"/>
          </a:p>
        </p:txBody>
      </p:sp>
      <p:sp>
        <p:nvSpPr>
          <p:cNvPr id="5" name="Text 3"/>
          <p:cNvSpPr/>
          <p:nvPr/>
        </p:nvSpPr>
        <p:spPr>
          <a:xfrm>
            <a:off x="9326880" y="713232"/>
            <a:ext cx="2377440" cy="274320"/>
          </a:xfrm>
          <a:prstGeom prst="rect">
            <a:avLst/>
          </a:prstGeom>
          <a:noFill/>
          <a:ln/>
        </p:spPr>
        <p:txBody>
          <a:bodyPr wrap="square" lIns="0" tIns="0" rIns="0" bIns="0" rtlCol="0" anchor="ctr"/>
          <a:lstStyle/>
          <a:p>
            <a:pPr algn="r" indent="0" marL="0">
              <a:buNone/>
            </a:pPr>
            <a:r>
              <a:rPr lang="en-US" sz="1300" b="1" dirty="0">
                <a:solidFill>
                  <a:srgbClr val="80ADC4"/>
                </a:solidFill>
                <a:latin typeface="Arial" pitchFamily="34" charset="0"/>
                <a:ea typeface="Arial" pitchFamily="34" charset="-122"/>
                <a:cs typeface="Arial" pitchFamily="34" charset="-120"/>
              </a:rPr>
              <a:t>SCHOOL</a:t>
            </a:r>
            <a:endParaRPr lang="en-US" sz="1300" dirty="0"/>
          </a:p>
        </p:txBody>
      </p:sp>
      <p:sp>
        <p:nvSpPr>
          <p:cNvPr id="6" name="Text 4"/>
          <p:cNvSpPr/>
          <p:nvPr/>
        </p:nvSpPr>
        <p:spPr>
          <a:xfrm>
            <a:off x="502920" y="1170432"/>
            <a:ext cx="7315200" cy="365760"/>
          </a:xfrm>
          <a:prstGeom prst="rect">
            <a:avLst/>
          </a:prstGeom>
          <a:noFill/>
          <a:ln/>
        </p:spPr>
        <p:txBody>
          <a:bodyPr wrap="square" lIns="0" tIns="0" rIns="0" bIns="0" rtlCol="0" anchor="ctr"/>
          <a:lstStyle/>
          <a:p>
            <a:pPr indent="0" marL="0">
              <a:buNone/>
            </a:pPr>
            <a:r>
              <a:rPr lang="en-US" sz="1500" b="1" i="1" dirty="0">
                <a:solidFill>
                  <a:srgbClr val="80ADC4"/>
                </a:solidFill>
                <a:latin typeface="Arial" pitchFamily="34" charset="0"/>
                <a:ea typeface="Arial" pitchFamily="34" charset="-122"/>
                <a:cs typeface="Arial" pitchFamily="34" charset="-120"/>
              </a:rPr>
              <a:t>Progress is the Curriculum</a:t>
            </a:r>
            <a:endParaRPr lang="en-US" sz="1500" dirty="0"/>
          </a:p>
        </p:txBody>
      </p:sp>
      <p:sp>
        <p:nvSpPr>
          <p:cNvPr id="7" name="Shape 5"/>
          <p:cNvSpPr/>
          <p:nvPr/>
        </p:nvSpPr>
        <p:spPr>
          <a:xfrm>
            <a:off x="457200" y="1600200"/>
            <a:ext cx="3383280" cy="4617720"/>
          </a:xfrm>
          <a:prstGeom prst="roundRect">
            <a:avLst>
              <a:gd name="adj" fmla="val 2162"/>
            </a:avLst>
          </a:prstGeom>
          <a:solidFill>
            <a:srgbClr val="F4F6FA"/>
          </a:solidFill>
          <a:ln w="12700">
            <a:solidFill>
              <a:srgbClr val="F4F6FA"/>
            </a:solidFill>
            <a:prstDash val="solid"/>
          </a:ln>
        </p:spPr>
      </p:sp>
      <p:pic>
        <p:nvPicPr>
          <p:cNvPr id="8" name="Image 0" descr="/home/claude/english/kit/decks/_icons/layers-12294D.png">    </p:cNvPr>
          <p:cNvPicPr>
            <a:picLocks noChangeAspect="1"/>
          </p:cNvPicPr>
          <p:nvPr/>
        </p:nvPicPr>
        <p:blipFill>
          <a:blip r:embed="rId1"/>
          <a:stretch>
            <a:fillRect/>
          </a:stretch>
        </p:blipFill>
        <p:spPr>
          <a:xfrm>
            <a:off x="685800" y="1792224"/>
            <a:ext cx="365760" cy="365760"/>
          </a:xfrm>
          <a:prstGeom prst="rect">
            <a:avLst/>
          </a:prstGeom>
        </p:spPr>
      </p:pic>
      <p:sp>
        <p:nvSpPr>
          <p:cNvPr id="9" name="Text 6"/>
          <p:cNvSpPr/>
          <p:nvPr/>
        </p:nvSpPr>
        <p:spPr>
          <a:xfrm>
            <a:off x="1143000" y="1792224"/>
            <a:ext cx="2651760" cy="365760"/>
          </a:xfrm>
          <a:prstGeom prst="rect">
            <a:avLst/>
          </a:prstGeom>
          <a:noFill/>
          <a:ln/>
        </p:spPr>
        <p:txBody>
          <a:bodyPr wrap="square" lIns="0" tIns="0" rIns="0" bIns="0" rtlCol="0" anchor="ctr"/>
          <a:lstStyle/>
          <a:p>
            <a:pPr indent="0" marL="0">
              <a:buNone/>
            </a:pPr>
            <a:r>
              <a:rPr lang="en-US" sz="1400" b="1" dirty="0">
                <a:solidFill>
                  <a:srgbClr val="12294D"/>
                </a:solidFill>
                <a:latin typeface="Arial" pitchFamily="34" charset="0"/>
                <a:ea typeface="Arial" pitchFamily="34" charset="-122"/>
                <a:cs typeface="Arial" pitchFamily="34" charset="-120"/>
              </a:rPr>
              <a:t>WHERE WE'VE BEEN</a:t>
            </a:r>
            <a:endParaRPr lang="en-US" sz="1400" dirty="0"/>
          </a:p>
        </p:txBody>
      </p:sp>
      <p:sp>
        <p:nvSpPr>
          <p:cNvPr id="10" name="Shape 7"/>
          <p:cNvSpPr/>
          <p:nvPr/>
        </p:nvSpPr>
        <p:spPr>
          <a:xfrm>
            <a:off x="685800" y="2340864"/>
            <a:ext cx="2926080" cy="640080"/>
          </a:xfrm>
          <a:prstGeom prst="roundRect">
            <a:avLst>
              <a:gd name="adj" fmla="val 10000"/>
            </a:avLst>
          </a:prstGeom>
          <a:solidFill>
            <a:srgbClr val="FFFFFF"/>
          </a:solidFill>
          <a:ln w="12700">
            <a:solidFill>
              <a:srgbClr val="D9E2EE"/>
            </a:solidFill>
            <a:prstDash val="solid"/>
          </a:ln>
        </p:spPr>
      </p:sp>
      <p:sp>
        <p:nvSpPr>
          <p:cNvPr id="11" name="Text 8"/>
          <p:cNvSpPr/>
          <p:nvPr/>
        </p:nvSpPr>
        <p:spPr>
          <a:xfrm>
            <a:off x="822960" y="2340864"/>
            <a:ext cx="2651760" cy="640080"/>
          </a:xfrm>
          <a:prstGeom prst="rect">
            <a:avLst/>
          </a:prstGeom>
          <a:noFill/>
          <a:ln/>
        </p:spPr>
        <p:txBody>
          <a:bodyPr wrap="square" lIns="45720" tIns="91440" rIns="91440" bIns="45720" rtlCol="0" anchor="ctr"/>
          <a:lstStyle/>
          <a:p>
            <a:pPr algn="l" indent="0" marL="0">
              <a:buNone/>
            </a:pPr>
            <a:r>
              <a:rPr lang="en-US" sz="1400" dirty="0">
                <a:solidFill>
                  <a:srgbClr val="16171F"/>
                </a:solidFill>
                <a:latin typeface="Arial" pitchFamily="34" charset="0"/>
                <a:ea typeface="Arial" pitchFamily="34" charset="-122"/>
                <a:cs typeface="Arial" pitchFamily="34" charset="-120"/>
              </a:rPr>
              <a:t>KS2: myths and legends — gods, monsters, quests</a:t>
            </a:r>
            <a:endParaRPr lang="en-US" sz="1400" dirty="0"/>
          </a:p>
        </p:txBody>
      </p:sp>
      <p:sp>
        <p:nvSpPr>
          <p:cNvPr id="12" name="Shape 9"/>
          <p:cNvSpPr/>
          <p:nvPr/>
        </p:nvSpPr>
        <p:spPr>
          <a:xfrm>
            <a:off x="685800" y="3127248"/>
            <a:ext cx="2926080" cy="640080"/>
          </a:xfrm>
          <a:prstGeom prst="roundRect">
            <a:avLst>
              <a:gd name="adj" fmla="val 10000"/>
            </a:avLst>
          </a:prstGeom>
          <a:solidFill>
            <a:srgbClr val="FFFFFF"/>
          </a:solidFill>
          <a:ln w="12700">
            <a:solidFill>
              <a:srgbClr val="D9E2EE"/>
            </a:solidFill>
            <a:prstDash val="solid"/>
          </a:ln>
        </p:spPr>
      </p:sp>
      <p:sp>
        <p:nvSpPr>
          <p:cNvPr id="13" name="Text 10"/>
          <p:cNvSpPr/>
          <p:nvPr/>
        </p:nvSpPr>
        <p:spPr>
          <a:xfrm>
            <a:off x="822960" y="3127248"/>
            <a:ext cx="2651760" cy="640080"/>
          </a:xfrm>
          <a:prstGeom prst="rect">
            <a:avLst/>
          </a:prstGeom>
          <a:noFill/>
          <a:ln/>
        </p:spPr>
        <p:txBody>
          <a:bodyPr wrap="square" lIns="45720" tIns="91440" rIns="91440" bIns="45720" rtlCol="0" anchor="ctr"/>
          <a:lstStyle/>
          <a:p>
            <a:pPr algn="l" indent="0" marL="0">
              <a:buNone/>
            </a:pPr>
            <a:r>
              <a:rPr lang="en-US" sz="1400" dirty="0">
                <a:solidFill>
                  <a:srgbClr val="16171F"/>
                </a:solidFill>
                <a:latin typeface="Arial" pitchFamily="34" charset="0"/>
                <a:ea typeface="Arial" pitchFamily="34" charset="-122"/>
                <a:cs typeface="Arial" pitchFamily="34" charset="-120"/>
              </a:rPr>
              <a:t>HT1: the history of the English language</a:t>
            </a:r>
            <a:endParaRPr lang="en-US" sz="1400" dirty="0"/>
          </a:p>
        </p:txBody>
      </p:sp>
      <p:sp>
        <p:nvSpPr>
          <p:cNvPr id="14" name="Shape 11"/>
          <p:cNvSpPr/>
          <p:nvPr/>
        </p:nvSpPr>
        <p:spPr>
          <a:xfrm>
            <a:off x="685800" y="3913632"/>
            <a:ext cx="2926080" cy="640080"/>
          </a:xfrm>
          <a:prstGeom prst="roundRect">
            <a:avLst>
              <a:gd name="adj" fmla="val 10000"/>
            </a:avLst>
          </a:prstGeom>
          <a:solidFill>
            <a:srgbClr val="FFFFFF"/>
          </a:solidFill>
          <a:ln w="12700">
            <a:solidFill>
              <a:srgbClr val="D9E2EE"/>
            </a:solidFill>
            <a:prstDash val="solid"/>
          </a:ln>
        </p:spPr>
      </p:sp>
      <p:sp>
        <p:nvSpPr>
          <p:cNvPr id="15" name="Text 12"/>
          <p:cNvSpPr/>
          <p:nvPr/>
        </p:nvSpPr>
        <p:spPr>
          <a:xfrm>
            <a:off x="822960" y="3913632"/>
            <a:ext cx="2651760" cy="640080"/>
          </a:xfrm>
          <a:prstGeom prst="rect">
            <a:avLst/>
          </a:prstGeom>
          <a:noFill/>
          <a:ln/>
        </p:spPr>
        <p:txBody>
          <a:bodyPr wrap="square" lIns="45720" tIns="91440" rIns="91440" bIns="45720" rtlCol="0" anchor="ctr"/>
          <a:lstStyle/>
          <a:p>
            <a:pPr algn="l" indent="0" marL="0">
              <a:buNone/>
            </a:pPr>
            <a:r>
              <a:rPr lang="en-US" sz="1400" dirty="0">
                <a:solidFill>
                  <a:srgbClr val="16171F"/>
                </a:solidFill>
                <a:latin typeface="Arial" pitchFamily="34" charset="0"/>
                <a:ea typeface="Arial" pitchFamily="34" charset="-122"/>
                <a:cs typeface="Arial" pitchFamily="34" charset="-120"/>
              </a:rPr>
              <a:t>Stories have a beginning, middle and end</a:t>
            </a:r>
            <a:endParaRPr lang="en-US" sz="1400" dirty="0"/>
          </a:p>
        </p:txBody>
      </p:sp>
      <p:sp>
        <p:nvSpPr>
          <p:cNvPr id="16" name="Shape 13"/>
          <p:cNvSpPr/>
          <p:nvPr/>
        </p:nvSpPr>
        <p:spPr>
          <a:xfrm>
            <a:off x="685800" y="4700016"/>
            <a:ext cx="2926080" cy="640080"/>
          </a:xfrm>
          <a:prstGeom prst="roundRect">
            <a:avLst>
              <a:gd name="adj" fmla="val 10000"/>
            </a:avLst>
          </a:prstGeom>
          <a:solidFill>
            <a:srgbClr val="FFFFFF"/>
          </a:solidFill>
          <a:ln w="12700">
            <a:solidFill>
              <a:srgbClr val="D9E2EE"/>
            </a:solidFill>
            <a:prstDash val="solid"/>
          </a:ln>
        </p:spPr>
      </p:sp>
      <p:sp>
        <p:nvSpPr>
          <p:cNvPr id="17" name="Text 14"/>
          <p:cNvSpPr/>
          <p:nvPr/>
        </p:nvSpPr>
        <p:spPr>
          <a:xfrm>
            <a:off x="822960" y="4700016"/>
            <a:ext cx="2651760" cy="640080"/>
          </a:xfrm>
          <a:prstGeom prst="rect">
            <a:avLst/>
          </a:prstGeom>
          <a:noFill/>
          <a:ln/>
        </p:spPr>
        <p:txBody>
          <a:bodyPr wrap="square" lIns="45720" tIns="91440" rIns="91440" bIns="45720" rtlCol="0" anchor="ctr"/>
          <a:lstStyle/>
          <a:p>
            <a:pPr algn="l" indent="0" marL="0">
              <a:buNone/>
            </a:pPr>
            <a:r>
              <a:rPr lang="en-US" sz="1400" dirty="0">
                <a:solidFill>
                  <a:srgbClr val="16171F"/>
                </a:solidFill>
                <a:latin typeface="Arial" pitchFamily="34" charset="0"/>
                <a:ea typeface="Arial" pitchFamily="34" charset="-122"/>
                <a:cs typeface="Arial" pitchFamily="34" charset="-120"/>
              </a:rPr>
              <a:t>Characters have wants, fears and flaws</a:t>
            </a:r>
            <a:endParaRPr lang="en-US" sz="1400" dirty="0"/>
          </a:p>
        </p:txBody>
      </p:sp>
      <p:sp>
        <p:nvSpPr>
          <p:cNvPr id="18" name="Text 15"/>
          <p:cNvSpPr/>
          <p:nvPr/>
        </p:nvSpPr>
        <p:spPr>
          <a:xfrm>
            <a:off x="4114800" y="1737360"/>
            <a:ext cx="3931920" cy="365760"/>
          </a:xfrm>
          <a:prstGeom prst="rect">
            <a:avLst/>
          </a:prstGeom>
          <a:noFill/>
          <a:ln/>
        </p:spPr>
        <p:txBody>
          <a:bodyPr wrap="square" lIns="0" tIns="0" rIns="0" bIns="0" rtlCol="0" anchor="ctr"/>
          <a:lstStyle/>
          <a:p>
            <a:pPr indent="0" marL="0">
              <a:buNone/>
            </a:pPr>
            <a:r>
              <a:rPr lang="en-US" sz="1400" b="1" dirty="0">
                <a:solidFill>
                  <a:srgbClr val="80ADC4"/>
                </a:solidFill>
                <a:latin typeface="Arial" pitchFamily="34" charset="0"/>
                <a:ea typeface="Arial" pitchFamily="34" charset="-122"/>
                <a:cs typeface="Arial" pitchFamily="34" charset="-120"/>
              </a:rPr>
              <a:t>THIS UNIT, LESSON BY LESSON</a:t>
            </a:r>
            <a:endParaRPr lang="en-US" sz="1400" dirty="0"/>
          </a:p>
        </p:txBody>
      </p:sp>
      <p:sp>
        <p:nvSpPr>
          <p:cNvPr id="19" name="Shape 16"/>
          <p:cNvSpPr/>
          <p:nvPr/>
        </p:nvSpPr>
        <p:spPr>
          <a:xfrm>
            <a:off x="4114800" y="2194560"/>
            <a:ext cx="3931920" cy="420624"/>
          </a:xfrm>
          <a:prstGeom prst="roundRect">
            <a:avLst>
              <a:gd name="adj" fmla="val 26087"/>
            </a:avLst>
          </a:prstGeom>
          <a:solidFill>
            <a:srgbClr val="12294D"/>
          </a:solidFill>
          <a:ln w="12700">
            <a:solidFill>
              <a:srgbClr val="12294D"/>
            </a:solidFill>
            <a:prstDash val="solid"/>
          </a:ln>
        </p:spPr>
      </p:sp>
      <p:sp>
        <p:nvSpPr>
          <p:cNvPr id="20" name="Text 17"/>
          <p:cNvSpPr/>
          <p:nvPr/>
        </p:nvSpPr>
        <p:spPr>
          <a:xfrm>
            <a:off x="4242816" y="2249424"/>
            <a:ext cx="310896" cy="310896"/>
          </a:xfrm>
          <a:prstGeom prst="ellipse">
            <a:avLst/>
          </a:prstGeom>
          <a:solidFill>
            <a:srgbClr val="FFC93C"/>
          </a:solidFill>
          <a:ln>
            <a:solidFill>
              <a:srgbClr val="FFC93C"/>
            </a:solidFill>
          </a:ln>
        </p:spPr>
        <p:txBody>
          <a:bodyPr wrap="square" lIns="0" tIns="0" rIns="0" bIns="0" rtlCol="0" anchor="ctr"/>
          <a:lstStyle/>
          <a:p>
            <a:pPr algn="ctr" indent="0" marL="0">
              <a:buNone/>
            </a:pPr>
            <a:r>
              <a:rPr lang="en-US" sz="1100" b="1" dirty="0">
                <a:solidFill>
                  <a:srgbClr val="12294D"/>
                </a:solidFill>
                <a:latin typeface="Arial" pitchFamily="34" charset="0"/>
                <a:ea typeface="Arial" pitchFamily="34" charset="-122"/>
                <a:cs typeface="Arial" pitchFamily="34" charset="-120"/>
              </a:rPr>
              <a:t>1</a:t>
            </a:r>
            <a:endParaRPr lang="en-US" sz="1100" dirty="0"/>
          </a:p>
        </p:txBody>
      </p:sp>
      <p:sp>
        <p:nvSpPr>
          <p:cNvPr id="21" name="Text 18"/>
          <p:cNvSpPr/>
          <p:nvPr/>
        </p:nvSpPr>
        <p:spPr>
          <a:xfrm>
            <a:off x="4736592" y="2194560"/>
            <a:ext cx="3200400" cy="420624"/>
          </a:xfrm>
          <a:prstGeom prst="rect">
            <a:avLst/>
          </a:prstGeom>
          <a:noFill/>
          <a:ln/>
        </p:spPr>
        <p:txBody>
          <a:bodyPr wrap="square" lIns="12700" tIns="45720" rIns="45720" bIns="12700" rtlCol="0" anchor="ctr"/>
          <a:lstStyle/>
          <a:p>
            <a:pPr algn="l" indent="0" marL="0">
              <a:buNone/>
            </a:pPr>
            <a:r>
              <a:rPr lang="en-US" sz="1400" b="1" dirty="0">
                <a:solidFill>
                  <a:srgbClr val="FFFFFF"/>
                </a:solidFill>
                <a:latin typeface="Arial" pitchFamily="34" charset="0"/>
                <a:ea typeface="Arial" pitchFamily="34" charset="-122"/>
                <a:cs typeface="Arial" pitchFamily="34" charset="-120"/>
              </a:rPr>
              <a:t>Epic poetry and the epic hero</a:t>
            </a:r>
            <a:endParaRPr lang="en-US" sz="1400" dirty="0"/>
          </a:p>
        </p:txBody>
      </p:sp>
      <p:sp>
        <p:nvSpPr>
          <p:cNvPr id="22" name="Shape 19"/>
          <p:cNvSpPr/>
          <p:nvPr/>
        </p:nvSpPr>
        <p:spPr>
          <a:xfrm>
            <a:off x="4114800" y="2761488"/>
            <a:ext cx="3931920" cy="420624"/>
          </a:xfrm>
          <a:prstGeom prst="roundRect">
            <a:avLst>
              <a:gd name="adj" fmla="val 26087"/>
            </a:avLst>
          </a:prstGeom>
          <a:solidFill>
            <a:srgbClr val="FFFFFF"/>
          </a:solidFill>
          <a:ln w="12700">
            <a:solidFill>
              <a:srgbClr val="D9E2EE"/>
            </a:solidFill>
            <a:prstDash val="solid"/>
          </a:ln>
        </p:spPr>
      </p:sp>
      <p:sp>
        <p:nvSpPr>
          <p:cNvPr id="23" name="Text 20"/>
          <p:cNvSpPr/>
          <p:nvPr/>
        </p:nvSpPr>
        <p:spPr>
          <a:xfrm>
            <a:off x="4242816" y="2816352"/>
            <a:ext cx="310896" cy="310896"/>
          </a:xfrm>
          <a:prstGeom prst="ellipse">
            <a:avLst/>
          </a:prstGeom>
          <a:solidFill>
            <a:srgbClr val="E7ECF3"/>
          </a:solidFill>
          <a:ln>
            <a:solidFill>
              <a:srgbClr val="E7ECF3"/>
            </a:solidFill>
          </a:ln>
        </p:spPr>
        <p:txBody>
          <a:bodyPr wrap="square" lIns="0" tIns="0" rIns="0" bIns="0" rtlCol="0" anchor="ctr"/>
          <a:lstStyle/>
          <a:p>
            <a:pPr algn="ctr" indent="0" marL="0">
              <a:buNone/>
            </a:pPr>
            <a:r>
              <a:rPr lang="en-US" sz="1100" b="1" dirty="0">
                <a:solidFill>
                  <a:srgbClr val="6E6E6E"/>
                </a:solidFill>
                <a:latin typeface="Arial" pitchFamily="34" charset="0"/>
                <a:ea typeface="Arial" pitchFamily="34" charset="-122"/>
                <a:cs typeface="Arial" pitchFamily="34" charset="-120"/>
              </a:rPr>
              <a:t>2</a:t>
            </a:r>
            <a:endParaRPr lang="en-US" sz="1100" dirty="0"/>
          </a:p>
        </p:txBody>
      </p:sp>
      <p:sp>
        <p:nvSpPr>
          <p:cNvPr id="24" name="Text 21"/>
          <p:cNvSpPr/>
          <p:nvPr/>
        </p:nvSpPr>
        <p:spPr>
          <a:xfrm>
            <a:off x="4736592" y="2761488"/>
            <a:ext cx="3200400" cy="420624"/>
          </a:xfrm>
          <a:prstGeom prst="rect">
            <a:avLst/>
          </a:prstGeom>
          <a:noFill/>
          <a:ln/>
        </p:spPr>
        <p:txBody>
          <a:bodyPr wrap="square" lIns="12700" tIns="45720" rIns="45720" bIns="12700" rtlCol="0" anchor="ctr"/>
          <a:lstStyle/>
          <a:p>
            <a:pPr algn="l" indent="0" marL="0">
              <a:buNone/>
            </a:pPr>
            <a:r>
              <a:rPr lang="en-US" sz="1400" dirty="0">
                <a:solidFill>
                  <a:srgbClr val="16171F"/>
                </a:solidFill>
                <a:latin typeface="Arial" pitchFamily="34" charset="0"/>
                <a:ea typeface="Arial" pitchFamily="34" charset="-122"/>
                <a:cs typeface="Arial" pitchFamily="34" charset="-120"/>
              </a:rPr>
              <a:t>Odysseus: characters and plot</a:t>
            </a:r>
            <a:endParaRPr lang="en-US" sz="1400" dirty="0"/>
          </a:p>
        </p:txBody>
      </p:sp>
      <p:sp>
        <p:nvSpPr>
          <p:cNvPr id="25" name="Shape 22"/>
          <p:cNvSpPr/>
          <p:nvPr/>
        </p:nvSpPr>
        <p:spPr>
          <a:xfrm>
            <a:off x="4114800" y="3328416"/>
            <a:ext cx="3931920" cy="420624"/>
          </a:xfrm>
          <a:prstGeom prst="roundRect">
            <a:avLst>
              <a:gd name="adj" fmla="val 26087"/>
            </a:avLst>
          </a:prstGeom>
          <a:solidFill>
            <a:srgbClr val="FFFFFF"/>
          </a:solidFill>
          <a:ln w="12700">
            <a:solidFill>
              <a:srgbClr val="D9E2EE"/>
            </a:solidFill>
            <a:prstDash val="solid"/>
          </a:ln>
        </p:spPr>
      </p:sp>
      <p:sp>
        <p:nvSpPr>
          <p:cNvPr id="26" name="Text 23"/>
          <p:cNvSpPr/>
          <p:nvPr/>
        </p:nvSpPr>
        <p:spPr>
          <a:xfrm>
            <a:off x="4242816" y="3383280"/>
            <a:ext cx="310896" cy="310896"/>
          </a:xfrm>
          <a:prstGeom prst="ellipse">
            <a:avLst/>
          </a:prstGeom>
          <a:solidFill>
            <a:srgbClr val="E7ECF3"/>
          </a:solidFill>
          <a:ln>
            <a:solidFill>
              <a:srgbClr val="E7ECF3"/>
            </a:solidFill>
          </a:ln>
        </p:spPr>
        <p:txBody>
          <a:bodyPr wrap="square" lIns="0" tIns="0" rIns="0" bIns="0" rtlCol="0" anchor="ctr"/>
          <a:lstStyle/>
          <a:p>
            <a:pPr algn="ctr" indent="0" marL="0">
              <a:buNone/>
            </a:pPr>
            <a:r>
              <a:rPr lang="en-US" sz="1100" b="1" dirty="0">
                <a:solidFill>
                  <a:srgbClr val="6E6E6E"/>
                </a:solidFill>
                <a:latin typeface="Arial" pitchFamily="34" charset="0"/>
                <a:ea typeface="Arial" pitchFamily="34" charset="-122"/>
                <a:cs typeface="Arial" pitchFamily="34" charset="-120"/>
              </a:rPr>
              <a:t>3</a:t>
            </a:r>
            <a:endParaRPr lang="en-US" sz="1100" dirty="0"/>
          </a:p>
        </p:txBody>
      </p:sp>
      <p:sp>
        <p:nvSpPr>
          <p:cNvPr id="27" name="Text 24"/>
          <p:cNvSpPr/>
          <p:nvPr/>
        </p:nvSpPr>
        <p:spPr>
          <a:xfrm>
            <a:off x="4736592" y="3328416"/>
            <a:ext cx="3200400" cy="420624"/>
          </a:xfrm>
          <a:prstGeom prst="rect">
            <a:avLst/>
          </a:prstGeom>
          <a:noFill/>
          <a:ln/>
        </p:spPr>
        <p:txBody>
          <a:bodyPr wrap="square" lIns="12700" tIns="45720" rIns="45720" bIns="12700" rtlCol="0" anchor="ctr"/>
          <a:lstStyle/>
          <a:p>
            <a:pPr algn="l" indent="0" marL="0">
              <a:buNone/>
            </a:pPr>
            <a:r>
              <a:rPr lang="en-US" sz="1400" dirty="0">
                <a:solidFill>
                  <a:srgbClr val="16171F"/>
                </a:solidFill>
                <a:latin typeface="Arial" pitchFamily="34" charset="0"/>
                <a:ea typeface="Arial" pitchFamily="34" charset="-122"/>
                <a:cs typeface="Arial" pitchFamily="34" charset="-120"/>
              </a:rPr>
              <a:t>Language analysis: the Cyclops</a:t>
            </a:r>
            <a:endParaRPr lang="en-US" sz="1400" dirty="0"/>
          </a:p>
        </p:txBody>
      </p:sp>
      <p:sp>
        <p:nvSpPr>
          <p:cNvPr id="28" name="Shape 25"/>
          <p:cNvSpPr/>
          <p:nvPr/>
        </p:nvSpPr>
        <p:spPr>
          <a:xfrm>
            <a:off x="4114800" y="3895344"/>
            <a:ext cx="3931920" cy="420624"/>
          </a:xfrm>
          <a:prstGeom prst="roundRect">
            <a:avLst>
              <a:gd name="adj" fmla="val 26087"/>
            </a:avLst>
          </a:prstGeom>
          <a:solidFill>
            <a:srgbClr val="FFFFFF"/>
          </a:solidFill>
          <a:ln w="12700">
            <a:solidFill>
              <a:srgbClr val="D9E2EE"/>
            </a:solidFill>
            <a:prstDash val="solid"/>
          </a:ln>
        </p:spPr>
      </p:sp>
      <p:sp>
        <p:nvSpPr>
          <p:cNvPr id="29" name="Text 26"/>
          <p:cNvSpPr/>
          <p:nvPr/>
        </p:nvSpPr>
        <p:spPr>
          <a:xfrm>
            <a:off x="4242816" y="3950208"/>
            <a:ext cx="310896" cy="310896"/>
          </a:xfrm>
          <a:prstGeom prst="ellipse">
            <a:avLst/>
          </a:prstGeom>
          <a:solidFill>
            <a:srgbClr val="E7ECF3"/>
          </a:solidFill>
          <a:ln>
            <a:solidFill>
              <a:srgbClr val="E7ECF3"/>
            </a:solidFill>
          </a:ln>
        </p:spPr>
        <p:txBody>
          <a:bodyPr wrap="square" lIns="0" tIns="0" rIns="0" bIns="0" rtlCol="0" anchor="ctr"/>
          <a:lstStyle/>
          <a:p>
            <a:pPr algn="ctr" indent="0" marL="0">
              <a:buNone/>
            </a:pPr>
            <a:r>
              <a:rPr lang="en-US" sz="1100" b="1" dirty="0">
                <a:solidFill>
                  <a:srgbClr val="6E6E6E"/>
                </a:solidFill>
                <a:latin typeface="Arial" pitchFamily="34" charset="0"/>
                <a:ea typeface="Arial" pitchFamily="34" charset="-122"/>
                <a:cs typeface="Arial" pitchFamily="34" charset="-120"/>
              </a:rPr>
              <a:t>4</a:t>
            </a:r>
            <a:endParaRPr lang="en-US" sz="1100" dirty="0"/>
          </a:p>
        </p:txBody>
      </p:sp>
      <p:sp>
        <p:nvSpPr>
          <p:cNvPr id="30" name="Text 27"/>
          <p:cNvSpPr/>
          <p:nvPr/>
        </p:nvSpPr>
        <p:spPr>
          <a:xfrm>
            <a:off x="4736592" y="3895344"/>
            <a:ext cx="3200400" cy="420624"/>
          </a:xfrm>
          <a:prstGeom prst="rect">
            <a:avLst/>
          </a:prstGeom>
          <a:noFill/>
          <a:ln/>
        </p:spPr>
        <p:txBody>
          <a:bodyPr wrap="square" lIns="12700" tIns="45720" rIns="45720" bIns="12700" rtlCol="0" anchor="ctr"/>
          <a:lstStyle/>
          <a:p>
            <a:pPr algn="l" indent="0" marL="0">
              <a:buNone/>
            </a:pPr>
            <a:r>
              <a:rPr lang="en-US" sz="1400" dirty="0">
                <a:solidFill>
                  <a:srgbClr val="16171F"/>
                </a:solidFill>
                <a:latin typeface="Arial" pitchFamily="34" charset="0"/>
                <a:ea typeface="Arial" pitchFamily="34" charset="-122"/>
                <a:cs typeface="Arial" pitchFamily="34" charset="-120"/>
              </a:rPr>
              <a:t>Journeys across texts</a:t>
            </a:r>
            <a:endParaRPr lang="en-US" sz="1400" dirty="0"/>
          </a:p>
        </p:txBody>
      </p:sp>
      <p:sp>
        <p:nvSpPr>
          <p:cNvPr id="31" name="Shape 28"/>
          <p:cNvSpPr/>
          <p:nvPr/>
        </p:nvSpPr>
        <p:spPr>
          <a:xfrm>
            <a:off x="4114800" y="4462272"/>
            <a:ext cx="3931920" cy="420624"/>
          </a:xfrm>
          <a:prstGeom prst="roundRect">
            <a:avLst>
              <a:gd name="adj" fmla="val 26087"/>
            </a:avLst>
          </a:prstGeom>
          <a:solidFill>
            <a:srgbClr val="FFFFFF"/>
          </a:solidFill>
          <a:ln w="12700">
            <a:solidFill>
              <a:srgbClr val="D9E2EE"/>
            </a:solidFill>
            <a:prstDash val="solid"/>
          </a:ln>
        </p:spPr>
      </p:sp>
      <p:sp>
        <p:nvSpPr>
          <p:cNvPr id="32" name="Text 29"/>
          <p:cNvSpPr/>
          <p:nvPr/>
        </p:nvSpPr>
        <p:spPr>
          <a:xfrm>
            <a:off x="4242816" y="4517136"/>
            <a:ext cx="310896" cy="310896"/>
          </a:xfrm>
          <a:prstGeom prst="ellipse">
            <a:avLst/>
          </a:prstGeom>
          <a:solidFill>
            <a:srgbClr val="E7ECF3"/>
          </a:solidFill>
          <a:ln>
            <a:solidFill>
              <a:srgbClr val="E7ECF3"/>
            </a:solidFill>
          </a:ln>
        </p:spPr>
        <p:txBody>
          <a:bodyPr wrap="square" lIns="0" tIns="0" rIns="0" bIns="0" rtlCol="0" anchor="ctr"/>
          <a:lstStyle/>
          <a:p>
            <a:pPr algn="ctr" indent="0" marL="0">
              <a:buNone/>
            </a:pPr>
            <a:r>
              <a:rPr lang="en-US" sz="1100" b="1" dirty="0">
                <a:solidFill>
                  <a:srgbClr val="6E6E6E"/>
                </a:solidFill>
                <a:latin typeface="Arial" pitchFamily="34" charset="0"/>
                <a:ea typeface="Arial" pitchFamily="34" charset="-122"/>
                <a:cs typeface="Arial" pitchFamily="34" charset="-120"/>
              </a:rPr>
              <a:t>5</a:t>
            </a:r>
            <a:endParaRPr lang="en-US" sz="1100" dirty="0"/>
          </a:p>
        </p:txBody>
      </p:sp>
      <p:sp>
        <p:nvSpPr>
          <p:cNvPr id="33" name="Text 30"/>
          <p:cNvSpPr/>
          <p:nvPr/>
        </p:nvSpPr>
        <p:spPr>
          <a:xfrm>
            <a:off x="4736592" y="4462272"/>
            <a:ext cx="3200400" cy="420624"/>
          </a:xfrm>
          <a:prstGeom prst="rect">
            <a:avLst/>
          </a:prstGeom>
          <a:noFill/>
          <a:ln/>
        </p:spPr>
        <p:txBody>
          <a:bodyPr wrap="square" lIns="12700" tIns="45720" rIns="45720" bIns="12700" rtlCol="0" anchor="ctr"/>
          <a:lstStyle/>
          <a:p>
            <a:pPr algn="l" indent="0" marL="0">
              <a:buNone/>
            </a:pPr>
            <a:r>
              <a:rPr lang="en-US" sz="1400" dirty="0">
                <a:solidFill>
                  <a:srgbClr val="16171F"/>
                </a:solidFill>
                <a:latin typeface="Arial" pitchFamily="34" charset="0"/>
                <a:ea typeface="Arial" pitchFamily="34" charset="-122"/>
                <a:cs typeface="Arial" pitchFamily="34" charset="-120"/>
              </a:rPr>
              <a:t>Writing a journey narrative</a:t>
            </a:r>
            <a:endParaRPr lang="en-US" sz="1400" dirty="0"/>
          </a:p>
        </p:txBody>
      </p:sp>
      <p:sp>
        <p:nvSpPr>
          <p:cNvPr id="34" name="Shape 31"/>
          <p:cNvSpPr/>
          <p:nvPr/>
        </p:nvSpPr>
        <p:spPr>
          <a:xfrm>
            <a:off x="4114800" y="5029200"/>
            <a:ext cx="3931920" cy="420624"/>
          </a:xfrm>
          <a:prstGeom prst="roundRect">
            <a:avLst>
              <a:gd name="adj" fmla="val 26087"/>
            </a:avLst>
          </a:prstGeom>
          <a:solidFill>
            <a:srgbClr val="FFFFFF"/>
          </a:solidFill>
          <a:ln w="12700">
            <a:solidFill>
              <a:srgbClr val="D9E2EE"/>
            </a:solidFill>
            <a:prstDash val="solid"/>
          </a:ln>
        </p:spPr>
      </p:sp>
      <p:sp>
        <p:nvSpPr>
          <p:cNvPr id="35" name="Text 32"/>
          <p:cNvSpPr/>
          <p:nvPr/>
        </p:nvSpPr>
        <p:spPr>
          <a:xfrm>
            <a:off x="4242816" y="5084064"/>
            <a:ext cx="310896" cy="310896"/>
          </a:xfrm>
          <a:prstGeom prst="ellipse">
            <a:avLst/>
          </a:prstGeom>
          <a:solidFill>
            <a:srgbClr val="E7ECF3"/>
          </a:solidFill>
          <a:ln>
            <a:solidFill>
              <a:srgbClr val="E7ECF3"/>
            </a:solidFill>
          </a:ln>
        </p:spPr>
        <p:txBody>
          <a:bodyPr wrap="square" lIns="0" tIns="0" rIns="0" bIns="0" rtlCol="0" anchor="ctr"/>
          <a:lstStyle/>
          <a:p>
            <a:pPr algn="ctr" indent="0" marL="0">
              <a:buNone/>
            </a:pPr>
            <a:r>
              <a:rPr lang="en-US" sz="1100" b="1" dirty="0">
                <a:solidFill>
                  <a:srgbClr val="6E6E6E"/>
                </a:solidFill>
                <a:latin typeface="Arial" pitchFamily="34" charset="0"/>
                <a:ea typeface="Arial" pitchFamily="34" charset="-122"/>
                <a:cs typeface="Arial" pitchFamily="34" charset="-120"/>
              </a:rPr>
              <a:t>6</a:t>
            </a:r>
            <a:endParaRPr lang="en-US" sz="1100" dirty="0"/>
          </a:p>
        </p:txBody>
      </p:sp>
      <p:sp>
        <p:nvSpPr>
          <p:cNvPr id="36" name="Text 33"/>
          <p:cNvSpPr/>
          <p:nvPr/>
        </p:nvSpPr>
        <p:spPr>
          <a:xfrm>
            <a:off x="4736592" y="5029200"/>
            <a:ext cx="3200400" cy="420624"/>
          </a:xfrm>
          <a:prstGeom prst="rect">
            <a:avLst/>
          </a:prstGeom>
          <a:noFill/>
          <a:ln/>
        </p:spPr>
        <p:txBody>
          <a:bodyPr wrap="square" lIns="12700" tIns="45720" rIns="45720" bIns="12700" rtlCol="0" anchor="ctr"/>
          <a:lstStyle/>
          <a:p>
            <a:pPr algn="l" indent="0" marL="0">
              <a:buNone/>
            </a:pPr>
            <a:r>
              <a:rPr lang="en-US" sz="1400" dirty="0">
                <a:solidFill>
                  <a:srgbClr val="16171F"/>
                </a:solidFill>
                <a:latin typeface="Arial" pitchFamily="34" charset="0"/>
                <a:ea typeface="Arial" pitchFamily="34" charset="-122"/>
                <a:cs typeface="Arial" pitchFamily="34" charset="-120"/>
              </a:rPr>
              <a:t>Review and vocabulary</a:t>
            </a:r>
            <a:endParaRPr lang="en-US" sz="1400" dirty="0"/>
          </a:p>
        </p:txBody>
      </p:sp>
      <p:sp>
        <p:nvSpPr>
          <p:cNvPr id="37" name="Shape 34"/>
          <p:cNvSpPr/>
          <p:nvPr/>
        </p:nvSpPr>
        <p:spPr>
          <a:xfrm>
            <a:off x="8321040" y="1600200"/>
            <a:ext cx="3383280" cy="4617720"/>
          </a:xfrm>
          <a:prstGeom prst="roundRect">
            <a:avLst>
              <a:gd name="adj" fmla="val 2162"/>
            </a:avLst>
          </a:prstGeom>
          <a:solidFill>
            <a:srgbClr val="F4F6FA"/>
          </a:solidFill>
          <a:ln w="12700">
            <a:solidFill>
              <a:srgbClr val="F4F6FA"/>
            </a:solidFill>
            <a:prstDash val="solid"/>
          </a:ln>
        </p:spPr>
      </p:sp>
      <p:pic>
        <p:nvPicPr>
          <p:cNvPr id="38" name="Image 1" descr="/home/claude/english/kit/decks/_icons/flag-12294D.png">    </p:cNvPr>
          <p:cNvPicPr>
            <a:picLocks noChangeAspect="1"/>
          </p:cNvPicPr>
          <p:nvPr/>
        </p:nvPicPr>
        <p:blipFill>
          <a:blip r:embed="rId2"/>
          <a:stretch>
            <a:fillRect/>
          </a:stretch>
        </p:blipFill>
        <p:spPr>
          <a:xfrm>
            <a:off x="8549640" y="1792224"/>
            <a:ext cx="365760" cy="365760"/>
          </a:xfrm>
          <a:prstGeom prst="rect">
            <a:avLst/>
          </a:prstGeom>
        </p:spPr>
      </p:pic>
      <p:sp>
        <p:nvSpPr>
          <p:cNvPr id="39" name="Text 35"/>
          <p:cNvSpPr/>
          <p:nvPr/>
        </p:nvSpPr>
        <p:spPr>
          <a:xfrm>
            <a:off x="9006840" y="1792224"/>
            <a:ext cx="2651760" cy="365760"/>
          </a:xfrm>
          <a:prstGeom prst="rect">
            <a:avLst/>
          </a:prstGeom>
          <a:noFill/>
          <a:ln/>
        </p:spPr>
        <p:txBody>
          <a:bodyPr wrap="square" lIns="0" tIns="0" rIns="0" bIns="0" rtlCol="0" anchor="ctr"/>
          <a:lstStyle/>
          <a:p>
            <a:pPr indent="0" marL="0">
              <a:buNone/>
            </a:pPr>
            <a:r>
              <a:rPr lang="en-US" sz="1400" b="1" dirty="0">
                <a:solidFill>
                  <a:srgbClr val="12294D"/>
                </a:solidFill>
                <a:latin typeface="Arial" pitchFamily="34" charset="0"/>
                <a:ea typeface="Arial" pitchFamily="34" charset="-122"/>
                <a:cs typeface="Arial" pitchFamily="34" charset="-120"/>
              </a:rPr>
              <a:t>WHERE WE'RE GOING</a:t>
            </a:r>
            <a:endParaRPr lang="en-US" sz="1400" dirty="0"/>
          </a:p>
        </p:txBody>
      </p:sp>
      <p:sp>
        <p:nvSpPr>
          <p:cNvPr id="40" name="Shape 36"/>
          <p:cNvSpPr/>
          <p:nvPr/>
        </p:nvSpPr>
        <p:spPr>
          <a:xfrm>
            <a:off x="8549640" y="2340864"/>
            <a:ext cx="2926080" cy="749808"/>
          </a:xfrm>
          <a:prstGeom prst="roundRect">
            <a:avLst>
              <a:gd name="adj" fmla="val 7317"/>
            </a:avLst>
          </a:prstGeom>
          <a:solidFill>
            <a:srgbClr val="FFFFFF"/>
          </a:solidFill>
          <a:ln w="12700">
            <a:solidFill>
              <a:srgbClr val="D9E2EE"/>
            </a:solidFill>
            <a:prstDash val="solid"/>
          </a:ln>
        </p:spPr>
      </p:sp>
      <p:sp>
        <p:nvSpPr>
          <p:cNvPr id="41" name="Text 37"/>
          <p:cNvSpPr/>
          <p:nvPr/>
        </p:nvSpPr>
        <p:spPr>
          <a:xfrm>
            <a:off x="8686800" y="2340864"/>
            <a:ext cx="2651760" cy="749808"/>
          </a:xfrm>
          <a:prstGeom prst="rect">
            <a:avLst/>
          </a:prstGeom>
          <a:noFill/>
          <a:ln/>
        </p:spPr>
        <p:txBody>
          <a:bodyPr wrap="square" lIns="45720" tIns="91440" rIns="91440" bIns="45720" rtlCol="0" anchor="ctr"/>
          <a:lstStyle/>
          <a:p>
            <a:pPr algn="l" indent="0" marL="0">
              <a:buNone/>
            </a:pPr>
            <a:r>
              <a:rPr lang="en-US" sz="1400" dirty="0">
                <a:solidFill>
                  <a:srgbClr val="16171F"/>
                </a:solidFill>
                <a:latin typeface="Arial" pitchFamily="34" charset="0"/>
                <a:ea typeface="Arial" pitchFamily="34" charset="-122"/>
                <a:cs typeface="Arial" pitchFamily="34" charset="-120"/>
              </a:rPr>
              <a:t>HT3: British Poetry — how a poem makes you feel</a:t>
            </a:r>
            <a:endParaRPr lang="en-US" sz="1400" dirty="0"/>
          </a:p>
        </p:txBody>
      </p:sp>
      <p:sp>
        <p:nvSpPr>
          <p:cNvPr id="42" name="Shape 38"/>
          <p:cNvSpPr/>
          <p:nvPr/>
        </p:nvSpPr>
        <p:spPr>
          <a:xfrm>
            <a:off x="8549640" y="3236976"/>
            <a:ext cx="2926080" cy="749808"/>
          </a:xfrm>
          <a:prstGeom prst="roundRect">
            <a:avLst>
              <a:gd name="adj" fmla="val 7317"/>
            </a:avLst>
          </a:prstGeom>
          <a:solidFill>
            <a:srgbClr val="FFFFFF"/>
          </a:solidFill>
          <a:ln w="12700">
            <a:solidFill>
              <a:srgbClr val="D9E2EE"/>
            </a:solidFill>
            <a:prstDash val="solid"/>
          </a:ln>
        </p:spPr>
      </p:sp>
      <p:sp>
        <p:nvSpPr>
          <p:cNvPr id="43" name="Text 39"/>
          <p:cNvSpPr/>
          <p:nvPr/>
        </p:nvSpPr>
        <p:spPr>
          <a:xfrm>
            <a:off x="8686800" y="3236976"/>
            <a:ext cx="2651760" cy="749808"/>
          </a:xfrm>
          <a:prstGeom prst="rect">
            <a:avLst/>
          </a:prstGeom>
          <a:noFill/>
          <a:ln/>
        </p:spPr>
        <p:txBody>
          <a:bodyPr wrap="square" lIns="45720" tIns="91440" rIns="91440" bIns="45720" rtlCol="0" anchor="ctr"/>
          <a:lstStyle/>
          <a:p>
            <a:pPr algn="l" indent="0" marL="0">
              <a:buNone/>
            </a:pPr>
            <a:r>
              <a:rPr lang="en-US" sz="1400" dirty="0">
                <a:solidFill>
                  <a:srgbClr val="16171F"/>
                </a:solidFill>
                <a:latin typeface="Arial" pitchFamily="34" charset="0"/>
                <a:ea typeface="Arial" pitchFamily="34" charset="-122"/>
                <a:cs typeface="Arial" pitchFamily="34" charset="-120"/>
              </a:rPr>
              <a:t>HT4: The Red-Headed League — keeping a reader guessing</a:t>
            </a:r>
            <a:endParaRPr lang="en-US" sz="1400" dirty="0"/>
          </a:p>
        </p:txBody>
      </p:sp>
      <p:sp>
        <p:nvSpPr>
          <p:cNvPr id="44" name="Shape 40"/>
          <p:cNvSpPr/>
          <p:nvPr/>
        </p:nvSpPr>
        <p:spPr>
          <a:xfrm>
            <a:off x="8549640" y="4133088"/>
            <a:ext cx="2926080" cy="749808"/>
          </a:xfrm>
          <a:prstGeom prst="roundRect">
            <a:avLst>
              <a:gd name="adj" fmla="val 7317"/>
            </a:avLst>
          </a:prstGeom>
          <a:solidFill>
            <a:srgbClr val="FFFFFF"/>
          </a:solidFill>
          <a:ln w="12700">
            <a:solidFill>
              <a:srgbClr val="D9E2EE"/>
            </a:solidFill>
            <a:prstDash val="solid"/>
          </a:ln>
        </p:spPr>
      </p:sp>
      <p:sp>
        <p:nvSpPr>
          <p:cNvPr id="45" name="Text 41"/>
          <p:cNvSpPr/>
          <p:nvPr/>
        </p:nvSpPr>
        <p:spPr>
          <a:xfrm>
            <a:off x="8686800" y="4133088"/>
            <a:ext cx="2651760" cy="749808"/>
          </a:xfrm>
          <a:prstGeom prst="rect">
            <a:avLst/>
          </a:prstGeom>
          <a:noFill/>
          <a:ln/>
        </p:spPr>
        <p:txBody>
          <a:bodyPr wrap="square" lIns="45720" tIns="91440" rIns="91440" bIns="45720" rtlCol="0" anchor="ctr"/>
          <a:lstStyle/>
          <a:p>
            <a:pPr algn="l" indent="0" marL="0">
              <a:buNone/>
            </a:pPr>
            <a:r>
              <a:rPr lang="en-US" sz="1400" dirty="0">
                <a:solidFill>
                  <a:srgbClr val="16171F"/>
                </a:solidFill>
                <a:latin typeface="Arial" pitchFamily="34" charset="0"/>
                <a:ea typeface="Arial" pitchFamily="34" charset="-122"/>
                <a:cs typeface="Arial" pitchFamily="34" charset="-120"/>
              </a:rPr>
              <a:t>Year 8: the novel</a:t>
            </a:r>
            <a:endParaRPr lang="en-US" sz="1400" dirty="0"/>
          </a:p>
        </p:txBody>
      </p:sp>
      <p:sp>
        <p:nvSpPr>
          <p:cNvPr id="46" name="Shape 42"/>
          <p:cNvSpPr/>
          <p:nvPr/>
        </p:nvSpPr>
        <p:spPr>
          <a:xfrm>
            <a:off x="8549640" y="5120640"/>
            <a:ext cx="2926080" cy="960120"/>
          </a:xfrm>
          <a:prstGeom prst="roundRect">
            <a:avLst>
              <a:gd name="adj" fmla="val 5714"/>
            </a:avLst>
          </a:prstGeom>
          <a:solidFill>
            <a:srgbClr val="12294D"/>
          </a:solidFill>
          <a:ln w="12700">
            <a:solidFill>
              <a:srgbClr val="12294D"/>
            </a:solidFill>
            <a:prstDash val="solid"/>
          </a:ln>
        </p:spPr>
      </p:sp>
      <p:sp>
        <p:nvSpPr>
          <p:cNvPr id="47" name="Text 43"/>
          <p:cNvSpPr/>
          <p:nvPr/>
        </p:nvSpPr>
        <p:spPr>
          <a:xfrm>
            <a:off x="8732520" y="5120640"/>
            <a:ext cx="2606040" cy="960120"/>
          </a:xfrm>
          <a:prstGeom prst="rect">
            <a:avLst/>
          </a:prstGeom>
          <a:noFill/>
          <a:ln/>
        </p:spPr>
        <p:txBody>
          <a:bodyPr wrap="square" lIns="45720" tIns="91440" rIns="91440" bIns="45720" rtlCol="0" anchor="ctr"/>
          <a:lstStyle/>
          <a:p>
            <a:pPr algn="l" indent="0" marL="0">
              <a:buNone/>
            </a:pPr>
            <a:r>
              <a:rPr lang="en-US" sz="1400" b="1" dirty="0">
                <a:solidFill>
                  <a:srgbClr val="FFFFFF"/>
                </a:solidFill>
                <a:latin typeface="Arial" pitchFamily="34" charset="0"/>
                <a:ea typeface="Arial" pitchFamily="34" charset="-122"/>
                <a:cs typeface="Arial" pitchFamily="34" charset="-120"/>
              </a:rPr>
              <a:t>Every lesson answers one BIG QUESTION. Every question builds the next.</a:t>
            </a:r>
            <a:endParaRPr lang="en-US" sz="1400" dirty="0"/>
          </a:p>
        </p:txBody>
      </p:sp>
      <p:sp>
        <p:nvSpPr>
          <p:cNvPr id="48" name="Text 44"/>
          <p:cNvSpPr/>
          <p:nvPr/>
        </p:nvSpPr>
        <p:spPr>
          <a:xfrm>
            <a:off x="457200" y="6446520"/>
            <a:ext cx="8229600" cy="274320"/>
          </a:xfrm>
          <a:prstGeom prst="rect">
            <a:avLst/>
          </a:prstGeom>
          <a:noFill/>
          <a:ln/>
        </p:spPr>
        <p:txBody>
          <a:bodyPr wrap="square" lIns="0" tIns="0" rIns="0" bIns="0" rtlCol="0" anchor="ctr"/>
          <a:lstStyle/>
          <a:p>
            <a:pPr indent="0" marL="0">
              <a:buNone/>
            </a:pPr>
            <a:r>
              <a:rPr lang="en-US" sz="1000" dirty="0">
                <a:solidFill>
                  <a:srgbClr val="9AA6B5"/>
                </a:solidFill>
                <a:latin typeface="Arial" pitchFamily="34" charset="0"/>
                <a:ea typeface="Arial" pitchFamily="34" charset="-122"/>
                <a:cs typeface="Arial" pitchFamily="34" charset="-120"/>
              </a:rPr>
              <a:t>Harlington School  ·  The Odyssey  ·  Epic poetry and the epic hero</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2294D"/>
        </a:solidFill>
      </p:bgPr>
    </p:bg>
    <p:spTree>
      <p:nvGrpSpPr>
        <p:cNvPr id="1" name=""/>
        <p:cNvGrpSpPr/>
        <p:nvPr/>
      </p:nvGrpSpPr>
      <p:grpSpPr>
        <a:xfrm>
          <a:off x="0" y="0"/>
          <a:ext cx="0" cy="0"/>
          <a:chOff x="0" y="0"/>
          <a:chExt cx="0" cy="0"/>
        </a:xfrm>
      </p:grpSpPr>
      <p:sp>
        <p:nvSpPr>
          <p:cNvPr id="2" name="Text 0"/>
          <p:cNvSpPr/>
          <p:nvPr/>
        </p:nvSpPr>
        <p:spPr>
          <a:xfrm>
            <a:off x="548640" y="502920"/>
            <a:ext cx="10972800" cy="365760"/>
          </a:xfrm>
          <a:prstGeom prst="rect">
            <a:avLst/>
          </a:prstGeom>
          <a:noFill/>
          <a:ln/>
        </p:spPr>
        <p:txBody>
          <a:bodyPr wrap="square" lIns="0" tIns="0" rIns="0" bIns="0" rtlCol="0" anchor="ctr"/>
          <a:lstStyle/>
          <a:p>
            <a:pPr indent="0" marL="0">
              <a:buNone/>
            </a:pPr>
            <a:r>
              <a:rPr lang="en-US" sz="1400" b="1" dirty="0">
                <a:solidFill>
                  <a:srgbClr val="FFC93C"/>
                </a:solidFill>
                <a:latin typeface="Arial" pitchFamily="34" charset="0"/>
                <a:ea typeface="Arial" pitchFamily="34" charset="-122"/>
                <a:cs typeface="Arial" pitchFamily="34" charset="-120"/>
              </a:rPr>
              <a:t>LESSON 1 · EPIC POETRY AND THE EPIC HERO</a:t>
            </a:r>
            <a:endParaRPr lang="en-US" sz="1400" dirty="0"/>
          </a:p>
        </p:txBody>
      </p:sp>
      <p:sp>
        <p:nvSpPr>
          <p:cNvPr id="3" name="Text 1"/>
          <p:cNvSpPr/>
          <p:nvPr/>
        </p:nvSpPr>
        <p:spPr>
          <a:xfrm>
            <a:off x="548640" y="1005840"/>
            <a:ext cx="10515600" cy="82296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Today you will…</a:t>
            </a:r>
            <a:endParaRPr lang="en-US" sz="3800" dirty="0"/>
          </a:p>
        </p:txBody>
      </p:sp>
      <p:sp>
        <p:nvSpPr>
          <p:cNvPr id="4" name="Text 2"/>
          <p:cNvSpPr/>
          <p:nvPr/>
        </p:nvSpPr>
        <p:spPr>
          <a:xfrm>
            <a:off x="548640" y="1874520"/>
            <a:ext cx="10607040" cy="457200"/>
          </a:xfrm>
          <a:prstGeom prst="rect">
            <a:avLst/>
          </a:prstGeom>
          <a:noFill/>
          <a:ln/>
        </p:spPr>
        <p:txBody>
          <a:bodyPr wrap="square" lIns="0" tIns="0" rIns="0" bIns="0" rtlCol="0" anchor="ctr"/>
          <a:lstStyle/>
          <a:p>
            <a:pPr algn="l" indent="0" marL="0">
              <a:buNone/>
            </a:pPr>
            <a:r>
              <a:rPr lang="en-US" sz="1600" i="1" dirty="0">
                <a:solidFill>
                  <a:srgbClr val="8FA6C4"/>
                </a:solidFill>
                <a:latin typeface="Arial" pitchFamily="34" charset="0"/>
                <a:ea typeface="Arial" pitchFamily="34" charset="-122"/>
                <a:cs typeface="Arial" pitchFamily="34" charset="-120"/>
              </a:rPr>
              <a:t>Our aims climb Bloom's taxonomy — and you will see which step every task is on, all lesson.</a:t>
            </a:r>
            <a:endParaRPr lang="en-US" sz="1600" dirty="0"/>
          </a:p>
        </p:txBody>
      </p:sp>
      <p:sp>
        <p:nvSpPr>
          <p:cNvPr id="5" name="Text 3"/>
          <p:cNvSpPr/>
          <p:nvPr/>
        </p:nvSpPr>
        <p:spPr>
          <a:xfrm>
            <a:off x="548640" y="2606040"/>
            <a:ext cx="2377440" cy="868680"/>
          </a:xfrm>
          <a:prstGeom prst="roundRect">
            <a:avLst>
              <a:gd name="adj" fmla="val 10526"/>
            </a:avLst>
          </a:prstGeom>
          <a:solidFill>
            <a:srgbClr val="00A08A"/>
          </a:solidFill>
          <a:ln>
            <a:solidFill>
              <a:srgbClr val="00A08A"/>
            </a:solid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UNDERSTAND</a:t>
            </a:r>
            <a:endParaRPr lang="en-US" sz="1800" dirty="0"/>
          </a:p>
        </p:txBody>
      </p:sp>
      <p:sp>
        <p:nvSpPr>
          <p:cNvPr id="6" name="Shape 4"/>
          <p:cNvSpPr/>
          <p:nvPr/>
        </p:nvSpPr>
        <p:spPr>
          <a:xfrm>
            <a:off x="3108960" y="2606040"/>
            <a:ext cx="8503920" cy="868680"/>
          </a:xfrm>
          <a:prstGeom prst="roundRect">
            <a:avLst>
              <a:gd name="adj" fmla="val 7368"/>
            </a:avLst>
          </a:prstGeom>
          <a:solidFill>
            <a:srgbClr val="1B315C"/>
          </a:solidFill>
          <a:ln w="19050">
            <a:solidFill>
              <a:srgbClr val="00A08A"/>
            </a:solidFill>
            <a:prstDash val="solid"/>
          </a:ln>
        </p:spPr>
      </p:sp>
      <p:sp>
        <p:nvSpPr>
          <p:cNvPr id="7" name="Text 5"/>
          <p:cNvSpPr/>
          <p:nvPr/>
        </p:nvSpPr>
        <p:spPr>
          <a:xfrm>
            <a:off x="3337560" y="2606040"/>
            <a:ext cx="8092440" cy="868680"/>
          </a:xfrm>
          <a:prstGeom prst="rect">
            <a:avLst/>
          </a:prstGeom>
          <a:noFill/>
          <a:ln/>
        </p:spPr>
        <p:txBody>
          <a:bodyPr wrap="square" lIns="45720" tIns="91440" rIns="91440" bIns="45720" rtlCol="0" anchor="ctr"/>
          <a:lstStyle/>
          <a:p>
            <a:pPr algn="l" indent="0" marL="0">
              <a:buNone/>
            </a:pPr>
            <a:r>
              <a:rPr lang="en-US" sz="1800" dirty="0">
                <a:solidFill>
                  <a:srgbClr val="EAF1FB"/>
                </a:solidFill>
                <a:latin typeface="Arial" pitchFamily="34" charset="0"/>
                <a:ea typeface="Arial" pitchFamily="34" charset="-122"/>
                <a:cs typeface="Arial" pitchFamily="34" charset="-120"/>
              </a:rPr>
              <a:t>Explain what an epic poem is, where The Odyssey comes from, and who Odysseus is.</a:t>
            </a:r>
            <a:endParaRPr lang="en-US" sz="1800" dirty="0"/>
          </a:p>
        </p:txBody>
      </p:sp>
      <p:sp>
        <p:nvSpPr>
          <p:cNvPr id="8" name="Text 6"/>
          <p:cNvSpPr/>
          <p:nvPr/>
        </p:nvSpPr>
        <p:spPr>
          <a:xfrm>
            <a:off x="548640" y="3621024"/>
            <a:ext cx="2377440" cy="868680"/>
          </a:xfrm>
          <a:prstGeom prst="roundRect">
            <a:avLst>
              <a:gd name="adj" fmla="val 10526"/>
            </a:avLst>
          </a:prstGeom>
          <a:solidFill>
            <a:srgbClr val="6C3A6E"/>
          </a:solidFill>
          <a:ln>
            <a:solidFill>
              <a:srgbClr val="6C3A6E"/>
            </a:solid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ANALYSE</a:t>
            </a:r>
            <a:endParaRPr lang="en-US" sz="1800" dirty="0"/>
          </a:p>
        </p:txBody>
      </p:sp>
      <p:sp>
        <p:nvSpPr>
          <p:cNvPr id="9" name="Shape 7"/>
          <p:cNvSpPr/>
          <p:nvPr/>
        </p:nvSpPr>
        <p:spPr>
          <a:xfrm>
            <a:off x="3108960" y="3621024"/>
            <a:ext cx="8503920" cy="868680"/>
          </a:xfrm>
          <a:prstGeom prst="roundRect">
            <a:avLst>
              <a:gd name="adj" fmla="val 7368"/>
            </a:avLst>
          </a:prstGeom>
          <a:solidFill>
            <a:srgbClr val="1B315C"/>
          </a:solidFill>
          <a:ln w="19050">
            <a:solidFill>
              <a:srgbClr val="6C3A6E"/>
            </a:solidFill>
            <a:prstDash val="solid"/>
          </a:ln>
        </p:spPr>
      </p:sp>
      <p:sp>
        <p:nvSpPr>
          <p:cNvPr id="10" name="Text 8"/>
          <p:cNvSpPr/>
          <p:nvPr/>
        </p:nvSpPr>
        <p:spPr>
          <a:xfrm>
            <a:off x="3337560" y="3621024"/>
            <a:ext cx="8092440" cy="868680"/>
          </a:xfrm>
          <a:prstGeom prst="rect">
            <a:avLst/>
          </a:prstGeom>
          <a:noFill/>
          <a:ln/>
        </p:spPr>
        <p:txBody>
          <a:bodyPr wrap="square" lIns="45720" tIns="91440" rIns="91440" bIns="45720" rtlCol="0" anchor="ctr"/>
          <a:lstStyle/>
          <a:p>
            <a:pPr algn="l" indent="0" marL="0">
              <a:buNone/>
            </a:pPr>
            <a:r>
              <a:rPr lang="en-US" sz="1800" dirty="0">
                <a:solidFill>
                  <a:srgbClr val="EAF1FB"/>
                </a:solidFill>
                <a:latin typeface="Arial" pitchFamily="34" charset="0"/>
                <a:ea typeface="Arial" pitchFamily="34" charset="-122"/>
                <a:cs typeface="Arial" pitchFamily="34" charset="-120"/>
              </a:rPr>
              <a:t>Use the words epic hero, hamartia and hubris to describe a character's strengths and flaws.</a:t>
            </a:r>
            <a:endParaRPr lang="en-US" sz="1800" dirty="0"/>
          </a:p>
        </p:txBody>
      </p:sp>
      <p:sp>
        <p:nvSpPr>
          <p:cNvPr id="11" name="Text 9"/>
          <p:cNvSpPr/>
          <p:nvPr/>
        </p:nvSpPr>
        <p:spPr>
          <a:xfrm>
            <a:off x="548640" y="4636008"/>
            <a:ext cx="2377440" cy="868680"/>
          </a:xfrm>
          <a:prstGeom prst="roundRect">
            <a:avLst>
              <a:gd name="adj" fmla="val 10526"/>
            </a:avLst>
          </a:prstGeom>
          <a:solidFill>
            <a:srgbClr val="D0021B"/>
          </a:solidFill>
          <a:ln>
            <a:solidFill>
              <a:srgbClr val="D0021B"/>
            </a:solid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EVALUATE</a:t>
            </a:r>
            <a:endParaRPr lang="en-US" sz="1800" dirty="0"/>
          </a:p>
        </p:txBody>
      </p:sp>
      <p:sp>
        <p:nvSpPr>
          <p:cNvPr id="12" name="Shape 10"/>
          <p:cNvSpPr/>
          <p:nvPr/>
        </p:nvSpPr>
        <p:spPr>
          <a:xfrm>
            <a:off x="3108960" y="4636008"/>
            <a:ext cx="8503920" cy="868680"/>
          </a:xfrm>
          <a:prstGeom prst="roundRect">
            <a:avLst>
              <a:gd name="adj" fmla="val 7368"/>
            </a:avLst>
          </a:prstGeom>
          <a:solidFill>
            <a:srgbClr val="1B315C"/>
          </a:solidFill>
          <a:ln w="19050">
            <a:solidFill>
              <a:srgbClr val="D0021B"/>
            </a:solidFill>
            <a:prstDash val="solid"/>
          </a:ln>
        </p:spPr>
      </p:sp>
      <p:sp>
        <p:nvSpPr>
          <p:cNvPr id="13" name="Text 11"/>
          <p:cNvSpPr/>
          <p:nvPr/>
        </p:nvSpPr>
        <p:spPr>
          <a:xfrm>
            <a:off x="3337560" y="4636008"/>
            <a:ext cx="8092440" cy="868680"/>
          </a:xfrm>
          <a:prstGeom prst="rect">
            <a:avLst/>
          </a:prstGeom>
          <a:noFill/>
          <a:ln/>
        </p:spPr>
        <p:txBody>
          <a:bodyPr wrap="square" lIns="45720" tIns="91440" rIns="91440" bIns="45720" rtlCol="0" anchor="ctr"/>
          <a:lstStyle/>
          <a:p>
            <a:pPr algn="l" indent="0" marL="0">
              <a:buNone/>
            </a:pPr>
            <a:r>
              <a:rPr lang="en-US" sz="1800" dirty="0">
                <a:solidFill>
                  <a:srgbClr val="EAF1FB"/>
                </a:solidFill>
                <a:latin typeface="Arial" pitchFamily="34" charset="0"/>
                <a:ea typeface="Arial" pitchFamily="34" charset="-122"/>
                <a:cs typeface="Arial" pitchFamily="34" charset="-120"/>
              </a:rPr>
              <a:t>Decide whether a hero needs a flaw to be interesting — and say why.</a:t>
            </a:r>
            <a:endParaRPr lang="en-US" sz="1800" dirty="0"/>
          </a:p>
        </p:txBody>
      </p:sp>
      <p:sp>
        <p:nvSpPr>
          <p:cNvPr id="14" name="Text 12"/>
          <p:cNvSpPr/>
          <p:nvPr/>
        </p:nvSpPr>
        <p:spPr>
          <a:xfrm>
            <a:off x="548640" y="5943600"/>
            <a:ext cx="10972800" cy="457200"/>
          </a:xfrm>
          <a:prstGeom prst="rect">
            <a:avLst/>
          </a:prstGeom>
          <a:noFill/>
          <a:ln/>
        </p:spPr>
        <p:txBody>
          <a:bodyPr wrap="square" lIns="0" tIns="0" rIns="0" bIns="0" rtlCol="0" anchor="ctr"/>
          <a:lstStyle/>
          <a:p>
            <a:pPr algn="l" indent="0" marL="0">
              <a:buNone/>
            </a:pPr>
            <a:r>
              <a:rPr lang="en-US" sz="1500" b="1" i="1" dirty="0">
                <a:solidFill>
                  <a:srgbClr val="FFC93C"/>
                </a:solidFill>
                <a:latin typeface="Arial" pitchFamily="34" charset="0"/>
                <a:ea typeface="Arial" pitchFamily="34" charset="-122"/>
                <a:cs typeface="Arial" pitchFamily="34" charset="-120"/>
              </a:rPr>
              <a:t>Success = a full answer to the Big Question by the end. Everything today builds to it.</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457200" y="384048"/>
            <a:ext cx="731520" cy="731520"/>
          </a:xfrm>
          <a:prstGeom prst="roundRect">
            <a:avLst>
              <a:gd name="adj" fmla="val 15000"/>
            </a:avLst>
          </a:prstGeom>
          <a:solidFill>
            <a:srgbClr val="00A08A"/>
          </a:solidFill>
          <a:ln w="12700">
            <a:solidFill>
              <a:srgbClr val="00A08A"/>
            </a:solidFill>
            <a:prstDash val="solid"/>
          </a:ln>
        </p:spPr>
      </p:sp>
      <p:pic>
        <p:nvPicPr>
          <p:cNvPr id="3" name="Image 0" descr="/home/claude/english/kit/decks/_icons/check-circle-FFFFFF.png">    </p:cNvPr>
          <p:cNvPicPr>
            <a:picLocks noChangeAspect="1"/>
          </p:cNvPicPr>
          <p:nvPr/>
        </p:nvPicPr>
        <p:blipFill>
          <a:blip r:embed="rId1"/>
          <a:stretch>
            <a:fillRect/>
          </a:stretch>
        </p:blipFill>
        <p:spPr>
          <a:xfrm>
            <a:off x="603504" y="530352"/>
            <a:ext cx="438912" cy="438912"/>
          </a:xfrm>
          <a:prstGeom prst="rect">
            <a:avLst/>
          </a:prstGeom>
        </p:spPr>
      </p:pic>
      <p:sp>
        <p:nvSpPr>
          <p:cNvPr id="4" name="Text 1"/>
          <p:cNvSpPr/>
          <p:nvPr/>
        </p:nvSpPr>
        <p:spPr>
          <a:xfrm>
            <a:off x="1298448" y="384048"/>
            <a:ext cx="8183880" cy="731520"/>
          </a:xfrm>
          <a:prstGeom prst="roundRect">
            <a:avLst>
              <a:gd name="adj" fmla="val 12500"/>
            </a:avLst>
          </a:prstGeom>
          <a:solidFill>
            <a:srgbClr val="E4F3EF"/>
          </a:solidFill>
          <a:ln>
            <a:solidFill>
              <a:srgbClr val="E4F3EF"/>
            </a:solidFill>
          </a:ln>
        </p:spPr>
        <p:txBody>
          <a:bodyPr wrap="square" lIns="45720" tIns="182880" rIns="137160" bIns="45720" rtlCol="0" anchor="ctr"/>
          <a:lstStyle/>
          <a:p>
            <a:pPr algn="l" indent="0" marL="0">
              <a:buNone/>
            </a:pPr>
            <a:r>
              <a:rPr lang="en-US" sz="2400" b="1" dirty="0">
                <a:solidFill>
                  <a:srgbClr val="12294D"/>
                </a:solidFill>
                <a:latin typeface="Arial" pitchFamily="34" charset="0"/>
                <a:ea typeface="Arial" pitchFamily="34" charset="-122"/>
                <a:cs typeface="Arial" pitchFamily="34" charset="-120"/>
              </a:rPr>
              <a:t>Bell work — mark it</a:t>
            </a:r>
            <a:endParaRPr lang="en-US" sz="2400" dirty="0"/>
          </a:p>
        </p:txBody>
      </p:sp>
      <p:sp>
        <p:nvSpPr>
          <p:cNvPr id="5" name="Text 2"/>
          <p:cNvSpPr/>
          <p:nvPr/>
        </p:nvSpPr>
        <p:spPr>
          <a:xfrm>
            <a:off x="9784080" y="457200"/>
            <a:ext cx="1874520" cy="566928"/>
          </a:xfrm>
          <a:prstGeom prst="roundRect">
            <a:avLst>
              <a:gd name="adj" fmla="val 16129"/>
            </a:avLst>
          </a:prstGeom>
          <a:solidFill>
            <a:srgbClr val="00A08A"/>
          </a:solidFill>
          <a:ln>
            <a:solidFill>
              <a:srgbClr val="00A08A"/>
            </a:solid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a:t>
            </a:r>
            <a:endParaRPr lang="en-US" sz="1700" dirty="0"/>
          </a:p>
        </p:txBody>
      </p:sp>
      <p:sp>
        <p:nvSpPr>
          <p:cNvPr id="6" name="Text 3"/>
          <p:cNvSpPr/>
          <p:nvPr/>
        </p:nvSpPr>
        <p:spPr>
          <a:xfrm>
            <a:off x="1371600" y="1097280"/>
            <a:ext cx="10149840" cy="502920"/>
          </a:xfrm>
          <a:prstGeom prst="rect">
            <a:avLst/>
          </a:prstGeom>
          <a:noFill/>
          <a:ln/>
        </p:spPr>
        <p:txBody>
          <a:bodyPr wrap="square" lIns="45720" tIns="91440" rIns="91440" bIns="45720" rtlCol="0" anchor="ctr"/>
          <a:lstStyle/>
          <a:p>
            <a:pPr algn="l" indent="0" marL="0">
              <a:buNone/>
            </a:pPr>
            <a:r>
              <a:rPr lang="en-US" sz="1500" i="1" dirty="0">
                <a:solidFill>
                  <a:srgbClr val="404040"/>
                </a:solidFill>
                <a:latin typeface="Arial" pitchFamily="34" charset="0"/>
                <a:ea typeface="Arial" pitchFamily="34" charset="-122"/>
                <a:cs typeface="Arial" pitchFamily="34" charset="-120"/>
              </a:rPr>
              <a:t>Mark honestly. Under 3? Re-read tonight.</a:t>
            </a:r>
            <a:endParaRPr lang="en-US" sz="1500" dirty="0"/>
          </a:p>
        </p:txBody>
      </p:sp>
      <p:sp>
        <p:nvSpPr>
          <p:cNvPr id="7" name="Text 4"/>
          <p:cNvSpPr/>
          <p:nvPr/>
        </p:nvSpPr>
        <p:spPr>
          <a:xfrm>
            <a:off x="457200" y="6327648"/>
            <a:ext cx="822960" cy="292608"/>
          </a:xfrm>
          <a:prstGeom prst="rect">
            <a:avLst/>
          </a:prstGeom>
          <a:noFill/>
          <a:ln/>
        </p:spPr>
        <p:txBody>
          <a:bodyPr wrap="square" lIns="0" tIns="0" rIns="0" bIns="0" rtlCol="0" anchor="ctr"/>
          <a:lstStyle/>
          <a:p>
            <a:pPr indent="0" marL="0">
              <a:buNone/>
            </a:pPr>
            <a:r>
              <a:rPr lang="en-US" sz="1100" b="1" dirty="0">
                <a:solidFill>
                  <a:srgbClr val="6E6E6E"/>
                </a:solidFill>
                <a:latin typeface="Arial" pitchFamily="34" charset="0"/>
                <a:ea typeface="Arial" pitchFamily="34" charset="-122"/>
                <a:cs typeface="Arial" pitchFamily="34" charset="-120"/>
              </a:rPr>
              <a:t>AIMS →</a:t>
            </a:r>
            <a:endParaRPr lang="en-US" sz="1100" dirty="0"/>
          </a:p>
        </p:txBody>
      </p:sp>
      <p:sp>
        <p:nvSpPr>
          <p:cNvPr id="8" name="Text 5"/>
          <p:cNvSpPr/>
          <p:nvPr/>
        </p:nvSpPr>
        <p:spPr>
          <a:xfrm>
            <a:off x="1325880" y="6291072"/>
            <a:ext cx="2514600" cy="365760"/>
          </a:xfrm>
          <a:prstGeom prst="roundRect">
            <a:avLst>
              <a:gd name="adj" fmla="val 22500"/>
            </a:avLst>
          </a:prstGeom>
          <a:solidFill>
            <a:srgbClr val="80ADC4"/>
          </a:solidFill>
          <a:ln>
            <a:solidFill>
              <a:srgbClr val="80ADC4"/>
            </a:solid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 REMEMBER</a:t>
            </a:r>
            <a:endParaRPr lang="en-US" sz="1200" dirty="0"/>
          </a:p>
        </p:txBody>
      </p:sp>
      <p:sp>
        <p:nvSpPr>
          <p:cNvPr id="9" name="Text 6"/>
          <p:cNvSpPr/>
          <p:nvPr/>
        </p:nvSpPr>
        <p:spPr>
          <a:xfrm>
            <a:off x="397764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UNDERSTAND</a:t>
            </a:r>
            <a:endParaRPr lang="en-US" sz="1200" dirty="0"/>
          </a:p>
        </p:txBody>
      </p:sp>
      <p:sp>
        <p:nvSpPr>
          <p:cNvPr id="10" name="Text 7"/>
          <p:cNvSpPr/>
          <p:nvPr/>
        </p:nvSpPr>
        <p:spPr>
          <a:xfrm>
            <a:off x="662940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ANALYSE</a:t>
            </a:r>
            <a:endParaRPr lang="en-US" sz="1200" dirty="0"/>
          </a:p>
        </p:txBody>
      </p:sp>
      <p:sp>
        <p:nvSpPr>
          <p:cNvPr id="11" name="Text 8"/>
          <p:cNvSpPr/>
          <p:nvPr/>
        </p:nvSpPr>
        <p:spPr>
          <a:xfrm>
            <a:off x="928116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EVALUATE</a:t>
            </a:r>
            <a:endParaRPr lang="en-US" sz="1200" dirty="0"/>
          </a:p>
        </p:txBody>
      </p:sp>
      <p:sp>
        <p:nvSpPr>
          <p:cNvPr id="12" name="Text 9"/>
          <p:cNvSpPr/>
          <p:nvPr/>
        </p:nvSpPr>
        <p:spPr>
          <a:xfrm>
            <a:off x="457200" y="6702552"/>
            <a:ext cx="8229600" cy="155448"/>
          </a:xfrm>
          <a:prstGeom prst="rect">
            <a:avLst/>
          </a:prstGeom>
          <a:noFill/>
          <a:ln/>
        </p:spPr>
        <p:txBody>
          <a:bodyPr wrap="square" lIns="0" tIns="0" rIns="0" bIns="0" rtlCol="0" anchor="t"/>
          <a:lstStyle/>
          <a:p>
            <a:pPr indent="0" marL="0">
              <a:buNone/>
            </a:pPr>
            <a:r>
              <a:rPr lang="en-US" sz="900" dirty="0">
                <a:solidFill>
                  <a:srgbClr val="AAB4C2"/>
                </a:solidFill>
                <a:latin typeface="Arial" pitchFamily="34" charset="0"/>
                <a:ea typeface="Arial" pitchFamily="34" charset="-122"/>
                <a:cs typeface="Arial" pitchFamily="34" charset="-120"/>
              </a:rPr>
              <a:t>Harlington English · The Odyssey · Epic poetry and the epic hero</a:t>
            </a:r>
            <a:endParaRPr lang="en-US" sz="900" dirty="0"/>
          </a:p>
        </p:txBody>
      </p:sp>
      <p:sp>
        <p:nvSpPr>
          <p:cNvPr id="13" name="Text 10"/>
          <p:cNvSpPr/>
          <p:nvPr/>
        </p:nvSpPr>
        <p:spPr>
          <a:xfrm>
            <a:off x="8961120" y="6702552"/>
            <a:ext cx="2743200" cy="155448"/>
          </a:xfrm>
          <a:prstGeom prst="rect">
            <a:avLst/>
          </a:prstGeom>
          <a:noFill/>
          <a:ln/>
        </p:spPr>
        <p:txBody>
          <a:bodyPr wrap="square" lIns="0" tIns="0" rIns="0" bIns="0" rtlCol="0" anchor="t"/>
          <a:lstStyle/>
          <a:p>
            <a:pPr algn="r" indent="0" marL="0">
              <a:buNone/>
            </a:pPr>
            <a:r>
              <a:rPr lang="en-US" sz="900" dirty="0">
                <a:solidFill>
                  <a:srgbClr val="AAB4C2"/>
                </a:solidFill>
                <a:latin typeface="Arial" pitchFamily="34" charset="0"/>
                <a:ea typeface="Arial" pitchFamily="34" charset="-122"/>
                <a:cs typeface="Arial" pitchFamily="34" charset="-120"/>
              </a:rPr>
              <a:t>ANSWERS</a:t>
            </a:r>
            <a:endParaRPr lang="en-US" sz="900" dirty="0"/>
          </a:p>
        </p:txBody>
      </p:sp>
      <p:sp>
        <p:nvSpPr>
          <p:cNvPr id="14" name="Shape 11"/>
          <p:cNvSpPr/>
          <p:nvPr/>
        </p:nvSpPr>
        <p:spPr>
          <a:xfrm>
            <a:off x="548640" y="1737360"/>
            <a:ext cx="11064240" cy="749808"/>
          </a:xfrm>
          <a:prstGeom prst="roundRect">
            <a:avLst>
              <a:gd name="adj" fmla="val 8537"/>
            </a:avLst>
          </a:prstGeom>
          <a:solidFill>
            <a:srgbClr val="FEF7E4"/>
          </a:solidFill>
          <a:ln w="12700">
            <a:solidFill>
              <a:srgbClr val="E5D9B0"/>
            </a:solidFill>
            <a:prstDash val="solid"/>
          </a:ln>
        </p:spPr>
      </p:sp>
      <p:sp>
        <p:nvSpPr>
          <p:cNvPr id="15" name="Text 12"/>
          <p:cNvSpPr/>
          <p:nvPr/>
        </p:nvSpPr>
        <p:spPr>
          <a:xfrm>
            <a:off x="731520" y="1764792"/>
            <a:ext cx="5486400" cy="694944"/>
          </a:xfrm>
          <a:prstGeom prst="rect">
            <a:avLst/>
          </a:prstGeom>
          <a:noFill/>
          <a:ln/>
        </p:spPr>
        <p:txBody>
          <a:bodyPr wrap="square" lIns="45720" tIns="91440" rIns="91440" bIns="45720" rtlCol="0" anchor="ctr"/>
          <a:lstStyle/>
          <a:p>
            <a:pPr algn="l" indent="0" marL="0">
              <a:buNone/>
            </a:pPr>
            <a:r>
              <a:rPr lang="en-US" sz="1800" b="1" dirty="0">
                <a:solidFill>
                  <a:srgbClr val="12294D"/>
                </a:solidFill>
                <a:latin typeface="Arial" pitchFamily="34" charset="0"/>
                <a:ea typeface="Arial" pitchFamily="34" charset="-122"/>
                <a:cs typeface="Arial" pitchFamily="34" charset="-120"/>
              </a:rPr>
              <a:t>1.  Name one myth or legend you read at primary school.</a:t>
            </a:r>
            <a:endParaRPr lang="en-US" sz="1800" dirty="0"/>
          </a:p>
        </p:txBody>
      </p:sp>
      <p:sp>
        <p:nvSpPr>
          <p:cNvPr id="16" name="Text 13"/>
          <p:cNvSpPr/>
          <p:nvPr/>
        </p:nvSpPr>
        <p:spPr>
          <a:xfrm>
            <a:off x="6309360" y="1764792"/>
            <a:ext cx="5120640" cy="694944"/>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Any named story — Theseus, Perseus, King Arthur, Robin Hood, Beowulf all count.</a:t>
            </a:r>
            <a:endParaRPr lang="en-US" sz="1800" dirty="0"/>
          </a:p>
        </p:txBody>
      </p:sp>
      <p:sp>
        <p:nvSpPr>
          <p:cNvPr id="17" name="Shape 14"/>
          <p:cNvSpPr/>
          <p:nvPr/>
        </p:nvSpPr>
        <p:spPr>
          <a:xfrm>
            <a:off x="548640" y="2633472"/>
            <a:ext cx="11064240" cy="749808"/>
          </a:xfrm>
          <a:prstGeom prst="roundRect">
            <a:avLst>
              <a:gd name="adj" fmla="val 8537"/>
            </a:avLst>
          </a:prstGeom>
          <a:solidFill>
            <a:srgbClr val="FFFFFF"/>
          </a:solidFill>
          <a:ln w="12700">
            <a:solidFill>
              <a:srgbClr val="E5D9B0"/>
            </a:solidFill>
            <a:prstDash val="solid"/>
          </a:ln>
        </p:spPr>
      </p:sp>
      <p:sp>
        <p:nvSpPr>
          <p:cNvPr id="18" name="Text 15"/>
          <p:cNvSpPr/>
          <p:nvPr/>
        </p:nvSpPr>
        <p:spPr>
          <a:xfrm>
            <a:off x="731520" y="2660904"/>
            <a:ext cx="5486400" cy="694944"/>
          </a:xfrm>
          <a:prstGeom prst="rect">
            <a:avLst/>
          </a:prstGeom>
          <a:noFill/>
          <a:ln/>
        </p:spPr>
        <p:txBody>
          <a:bodyPr wrap="square" lIns="45720" tIns="91440" rIns="91440" bIns="45720" rtlCol="0" anchor="ctr"/>
          <a:lstStyle/>
          <a:p>
            <a:pPr algn="l" indent="0" marL="0">
              <a:buNone/>
            </a:pPr>
            <a:r>
              <a:rPr lang="en-US" sz="1800" b="1" dirty="0">
                <a:solidFill>
                  <a:srgbClr val="12294D"/>
                </a:solidFill>
                <a:latin typeface="Arial" pitchFamily="34" charset="0"/>
                <a:ea typeface="Arial" pitchFamily="34" charset="-122"/>
                <a:cs typeface="Arial" pitchFamily="34" charset="-120"/>
              </a:rPr>
              <a:t>2.  What is a myth? Finish: A myth is a story that…</a:t>
            </a:r>
            <a:endParaRPr lang="en-US" sz="1800" dirty="0"/>
          </a:p>
        </p:txBody>
      </p:sp>
      <p:sp>
        <p:nvSpPr>
          <p:cNvPr id="19" name="Text 16"/>
          <p:cNvSpPr/>
          <p:nvPr/>
        </p:nvSpPr>
        <p:spPr>
          <a:xfrm>
            <a:off x="6309360" y="2660904"/>
            <a:ext cx="5120640" cy="694944"/>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…is very old, has gods or monsters in it, and explains something about the world.</a:t>
            </a:r>
            <a:endParaRPr lang="en-US" sz="1800" dirty="0"/>
          </a:p>
        </p:txBody>
      </p:sp>
      <p:sp>
        <p:nvSpPr>
          <p:cNvPr id="20" name="Shape 17"/>
          <p:cNvSpPr/>
          <p:nvPr/>
        </p:nvSpPr>
        <p:spPr>
          <a:xfrm>
            <a:off x="548640" y="3529584"/>
            <a:ext cx="11064240" cy="749808"/>
          </a:xfrm>
          <a:prstGeom prst="roundRect">
            <a:avLst>
              <a:gd name="adj" fmla="val 8537"/>
            </a:avLst>
          </a:prstGeom>
          <a:solidFill>
            <a:srgbClr val="FEF7E4"/>
          </a:solidFill>
          <a:ln w="12700">
            <a:solidFill>
              <a:srgbClr val="E5D9B0"/>
            </a:solidFill>
            <a:prstDash val="solid"/>
          </a:ln>
        </p:spPr>
      </p:sp>
      <p:sp>
        <p:nvSpPr>
          <p:cNvPr id="21" name="Text 18"/>
          <p:cNvSpPr/>
          <p:nvPr/>
        </p:nvSpPr>
        <p:spPr>
          <a:xfrm>
            <a:off x="731520" y="3557016"/>
            <a:ext cx="5486400" cy="694944"/>
          </a:xfrm>
          <a:prstGeom prst="rect">
            <a:avLst/>
          </a:prstGeom>
          <a:noFill/>
          <a:ln/>
        </p:spPr>
        <p:txBody>
          <a:bodyPr wrap="square" lIns="45720" tIns="91440" rIns="91440" bIns="45720" rtlCol="0" anchor="ctr"/>
          <a:lstStyle/>
          <a:p>
            <a:pPr algn="l" indent="0" marL="0">
              <a:buNone/>
            </a:pPr>
            <a:r>
              <a:rPr lang="en-US" sz="1800" b="1" dirty="0">
                <a:solidFill>
                  <a:srgbClr val="12294D"/>
                </a:solidFill>
                <a:latin typeface="Arial" pitchFamily="34" charset="0"/>
                <a:ea typeface="Arial" pitchFamily="34" charset="-122"/>
                <a:cs typeface="Arial" pitchFamily="34" charset="-120"/>
              </a:rPr>
              <a:t>3.  Name one Greek god or goddess and what they rule.</a:t>
            </a:r>
            <a:endParaRPr lang="en-US" sz="1800" dirty="0"/>
          </a:p>
        </p:txBody>
      </p:sp>
      <p:sp>
        <p:nvSpPr>
          <p:cNvPr id="22" name="Text 19"/>
          <p:cNvSpPr/>
          <p:nvPr/>
        </p:nvSpPr>
        <p:spPr>
          <a:xfrm>
            <a:off x="6309360" y="3557016"/>
            <a:ext cx="5120640" cy="694944"/>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Zeus (sky), Poseidon (sea), Athena (wisdom), Hades (the dead) — any correct pair.</a:t>
            </a:r>
            <a:endParaRPr lang="en-US" sz="1800" dirty="0"/>
          </a:p>
        </p:txBody>
      </p:sp>
      <p:sp>
        <p:nvSpPr>
          <p:cNvPr id="23" name="Shape 20"/>
          <p:cNvSpPr/>
          <p:nvPr/>
        </p:nvSpPr>
        <p:spPr>
          <a:xfrm>
            <a:off x="548640" y="4425696"/>
            <a:ext cx="11064240" cy="749808"/>
          </a:xfrm>
          <a:prstGeom prst="roundRect">
            <a:avLst>
              <a:gd name="adj" fmla="val 8537"/>
            </a:avLst>
          </a:prstGeom>
          <a:solidFill>
            <a:srgbClr val="FFFFFF"/>
          </a:solidFill>
          <a:ln w="12700">
            <a:solidFill>
              <a:srgbClr val="E5D9B0"/>
            </a:solidFill>
            <a:prstDash val="solid"/>
          </a:ln>
        </p:spPr>
      </p:sp>
      <p:sp>
        <p:nvSpPr>
          <p:cNvPr id="24" name="Text 21"/>
          <p:cNvSpPr/>
          <p:nvPr/>
        </p:nvSpPr>
        <p:spPr>
          <a:xfrm>
            <a:off x="731520" y="4453128"/>
            <a:ext cx="5486400" cy="694944"/>
          </a:xfrm>
          <a:prstGeom prst="rect">
            <a:avLst/>
          </a:prstGeom>
          <a:noFill/>
          <a:ln/>
        </p:spPr>
        <p:txBody>
          <a:bodyPr wrap="square" lIns="45720" tIns="91440" rIns="91440" bIns="45720" rtlCol="0" anchor="ctr"/>
          <a:lstStyle/>
          <a:p>
            <a:pPr algn="l" indent="0" marL="0">
              <a:buNone/>
            </a:pPr>
            <a:r>
              <a:rPr lang="en-US" sz="1800" b="1" dirty="0">
                <a:solidFill>
                  <a:srgbClr val="12294D"/>
                </a:solidFill>
                <a:latin typeface="Arial" pitchFamily="34" charset="0"/>
                <a:ea typeface="Arial" pitchFamily="34" charset="-122"/>
                <a:cs typeface="Arial" pitchFamily="34" charset="-120"/>
              </a:rPr>
              <a:t>4.  What is a monster for, in a story?</a:t>
            </a:r>
            <a:endParaRPr lang="en-US" sz="1800" dirty="0"/>
          </a:p>
        </p:txBody>
      </p:sp>
      <p:sp>
        <p:nvSpPr>
          <p:cNvPr id="25" name="Text 22"/>
          <p:cNvSpPr/>
          <p:nvPr/>
        </p:nvSpPr>
        <p:spPr>
          <a:xfrm>
            <a:off x="6309360" y="4453128"/>
            <a:ext cx="5120640" cy="694944"/>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To test the hero — it is the danger that shows us what the hero is made of.</a:t>
            </a:r>
            <a:endParaRPr lang="en-US" sz="1800" dirty="0"/>
          </a:p>
        </p:txBody>
      </p:sp>
      <p:sp>
        <p:nvSpPr>
          <p:cNvPr id="26" name="Shape 23"/>
          <p:cNvSpPr/>
          <p:nvPr/>
        </p:nvSpPr>
        <p:spPr>
          <a:xfrm>
            <a:off x="548640" y="5321808"/>
            <a:ext cx="11064240" cy="749808"/>
          </a:xfrm>
          <a:prstGeom prst="roundRect">
            <a:avLst>
              <a:gd name="adj" fmla="val 8537"/>
            </a:avLst>
          </a:prstGeom>
          <a:solidFill>
            <a:srgbClr val="FEF7E4"/>
          </a:solidFill>
          <a:ln w="12700">
            <a:solidFill>
              <a:srgbClr val="E5D9B0"/>
            </a:solidFill>
            <a:prstDash val="solid"/>
          </a:ln>
        </p:spPr>
      </p:sp>
      <p:sp>
        <p:nvSpPr>
          <p:cNvPr id="27" name="Text 24"/>
          <p:cNvSpPr/>
          <p:nvPr/>
        </p:nvSpPr>
        <p:spPr>
          <a:xfrm>
            <a:off x="731520" y="5349240"/>
            <a:ext cx="5486400" cy="694944"/>
          </a:xfrm>
          <a:prstGeom prst="rect">
            <a:avLst/>
          </a:prstGeom>
          <a:noFill/>
          <a:ln/>
        </p:spPr>
        <p:txBody>
          <a:bodyPr wrap="square" lIns="45720" tIns="91440" rIns="91440" bIns="45720" rtlCol="0" anchor="ctr"/>
          <a:lstStyle/>
          <a:p>
            <a:pPr algn="l" indent="0" marL="0">
              <a:buNone/>
            </a:pPr>
            <a:r>
              <a:rPr lang="en-US" sz="1800" b="1" dirty="0">
                <a:solidFill>
                  <a:srgbClr val="12294D"/>
                </a:solidFill>
                <a:latin typeface="Arial" pitchFamily="34" charset="0"/>
                <a:ea typeface="Arial" pitchFamily="34" charset="-122"/>
                <a:cs typeface="Arial" pitchFamily="34" charset="-120"/>
              </a:rPr>
              <a:t>5.  Finish the sentence: A hero is someone who…</a:t>
            </a:r>
            <a:endParaRPr lang="en-US" sz="1800" dirty="0"/>
          </a:p>
        </p:txBody>
      </p:sp>
      <p:sp>
        <p:nvSpPr>
          <p:cNvPr id="28" name="Text 25"/>
          <p:cNvSpPr/>
          <p:nvPr/>
        </p:nvSpPr>
        <p:spPr>
          <a:xfrm>
            <a:off x="6309360" y="5349240"/>
            <a:ext cx="5120640" cy="694944"/>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…faces something bigger than themselves and does not give up.</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457200" y="384048"/>
            <a:ext cx="731520" cy="731520"/>
          </a:xfrm>
          <a:prstGeom prst="roundRect">
            <a:avLst>
              <a:gd name="adj" fmla="val 15000"/>
            </a:avLst>
          </a:prstGeom>
          <a:solidFill>
            <a:srgbClr val="00A08A"/>
          </a:solidFill>
          <a:ln w="12700">
            <a:solidFill>
              <a:srgbClr val="00A08A"/>
            </a:solidFill>
            <a:prstDash val="solid"/>
          </a:ln>
        </p:spPr>
      </p:sp>
      <p:pic>
        <p:nvPicPr>
          <p:cNvPr id="3" name="Image 0" descr="/home/claude/english/kit/decks/_icons/key-FFFFFF.png">    </p:cNvPr>
          <p:cNvPicPr>
            <a:picLocks noChangeAspect="1"/>
          </p:cNvPicPr>
          <p:nvPr/>
        </p:nvPicPr>
        <p:blipFill>
          <a:blip r:embed="rId1"/>
          <a:stretch>
            <a:fillRect/>
          </a:stretch>
        </p:blipFill>
        <p:spPr>
          <a:xfrm>
            <a:off x="603504" y="530352"/>
            <a:ext cx="438912" cy="438912"/>
          </a:xfrm>
          <a:prstGeom prst="rect">
            <a:avLst/>
          </a:prstGeom>
        </p:spPr>
      </p:pic>
      <p:sp>
        <p:nvSpPr>
          <p:cNvPr id="4" name="Text 1"/>
          <p:cNvSpPr/>
          <p:nvPr/>
        </p:nvSpPr>
        <p:spPr>
          <a:xfrm>
            <a:off x="1298448" y="384048"/>
            <a:ext cx="8183880" cy="731520"/>
          </a:xfrm>
          <a:prstGeom prst="roundRect">
            <a:avLst>
              <a:gd name="adj" fmla="val 12500"/>
            </a:avLst>
          </a:prstGeom>
          <a:solidFill>
            <a:srgbClr val="E4F3EF"/>
          </a:solidFill>
          <a:ln>
            <a:solidFill>
              <a:srgbClr val="E4F3EF"/>
            </a:solidFill>
          </a:ln>
        </p:spPr>
        <p:txBody>
          <a:bodyPr wrap="square" lIns="45720" tIns="182880" rIns="137160" bIns="45720" rtlCol="0" anchor="ctr"/>
          <a:lstStyle/>
          <a:p>
            <a:pPr algn="l" indent="0" marL="0">
              <a:buNone/>
            </a:pPr>
            <a:r>
              <a:rPr lang="en-US" sz="2400" b="1" dirty="0">
                <a:solidFill>
                  <a:srgbClr val="12294D"/>
                </a:solidFill>
                <a:latin typeface="Arial" pitchFamily="34" charset="0"/>
                <a:ea typeface="Arial" pitchFamily="34" charset="-122"/>
                <a:cs typeface="Arial" pitchFamily="34" charset="-120"/>
              </a:rPr>
              <a:t>Key words — go deeper</a:t>
            </a:r>
            <a:endParaRPr lang="en-US" sz="2400" dirty="0"/>
          </a:p>
        </p:txBody>
      </p:sp>
      <p:sp>
        <p:nvSpPr>
          <p:cNvPr id="5" name="Text 2"/>
          <p:cNvSpPr/>
          <p:nvPr/>
        </p:nvSpPr>
        <p:spPr>
          <a:xfrm>
            <a:off x="9784080" y="457200"/>
            <a:ext cx="1874520" cy="566928"/>
          </a:xfrm>
          <a:prstGeom prst="roundRect">
            <a:avLst>
              <a:gd name="adj" fmla="val 16129"/>
            </a:avLst>
          </a:prstGeom>
          <a:solidFill>
            <a:srgbClr val="00A08A"/>
          </a:solidFill>
          <a:ln>
            <a:solidFill>
              <a:srgbClr val="00A08A"/>
            </a:solid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 8 min</a:t>
            </a:r>
            <a:endParaRPr lang="en-US" sz="1700" dirty="0"/>
          </a:p>
        </p:txBody>
      </p:sp>
      <p:sp>
        <p:nvSpPr>
          <p:cNvPr id="6" name="Text 3"/>
          <p:cNvSpPr/>
          <p:nvPr/>
        </p:nvSpPr>
        <p:spPr>
          <a:xfrm>
            <a:off x="1371600" y="1097280"/>
            <a:ext cx="10149840" cy="502920"/>
          </a:xfrm>
          <a:prstGeom prst="rect">
            <a:avLst/>
          </a:prstGeom>
          <a:noFill/>
          <a:ln/>
        </p:spPr>
        <p:txBody>
          <a:bodyPr wrap="square" lIns="45720" tIns="91440" rIns="91440" bIns="45720" rtlCol="0" anchor="ctr"/>
          <a:lstStyle/>
          <a:p>
            <a:pPr algn="l" indent="0" marL="0">
              <a:buNone/>
            </a:pPr>
            <a:r>
              <a:rPr lang="en-US" sz="1500" i="1" dirty="0">
                <a:solidFill>
                  <a:srgbClr val="404040"/>
                </a:solidFill>
                <a:latin typeface="Arial" pitchFamily="34" charset="0"/>
                <a:ea typeface="Arial" pitchFamily="34" charset="-122"/>
                <a:cs typeface="Arial" pitchFamily="34" charset="-120"/>
              </a:rPr>
              <a:t>Not just the meaning — the DEEP explanation. Take each key word from meaning to mastery.</a:t>
            </a:r>
            <a:endParaRPr lang="en-US" sz="1500" dirty="0"/>
          </a:p>
        </p:txBody>
      </p:sp>
      <p:sp>
        <p:nvSpPr>
          <p:cNvPr id="7" name="Text 4"/>
          <p:cNvSpPr/>
          <p:nvPr/>
        </p:nvSpPr>
        <p:spPr>
          <a:xfrm>
            <a:off x="457200" y="6327648"/>
            <a:ext cx="822960" cy="292608"/>
          </a:xfrm>
          <a:prstGeom prst="rect">
            <a:avLst/>
          </a:prstGeom>
          <a:noFill/>
          <a:ln/>
        </p:spPr>
        <p:txBody>
          <a:bodyPr wrap="square" lIns="0" tIns="0" rIns="0" bIns="0" rtlCol="0" anchor="ctr"/>
          <a:lstStyle/>
          <a:p>
            <a:pPr indent="0" marL="0">
              <a:buNone/>
            </a:pPr>
            <a:r>
              <a:rPr lang="en-US" sz="1100" b="1" dirty="0">
                <a:solidFill>
                  <a:srgbClr val="6E6E6E"/>
                </a:solidFill>
                <a:latin typeface="Arial" pitchFamily="34" charset="0"/>
                <a:ea typeface="Arial" pitchFamily="34" charset="-122"/>
                <a:cs typeface="Arial" pitchFamily="34" charset="-120"/>
              </a:rPr>
              <a:t>AIMS →</a:t>
            </a:r>
            <a:endParaRPr lang="en-US" sz="1100" dirty="0"/>
          </a:p>
        </p:txBody>
      </p:sp>
      <p:sp>
        <p:nvSpPr>
          <p:cNvPr id="8" name="Text 5"/>
          <p:cNvSpPr/>
          <p:nvPr/>
        </p:nvSpPr>
        <p:spPr>
          <a:xfrm>
            <a:off x="132588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REMEMBER</a:t>
            </a:r>
            <a:endParaRPr lang="en-US" sz="1200" dirty="0"/>
          </a:p>
        </p:txBody>
      </p:sp>
      <p:sp>
        <p:nvSpPr>
          <p:cNvPr id="9" name="Text 6"/>
          <p:cNvSpPr/>
          <p:nvPr/>
        </p:nvSpPr>
        <p:spPr>
          <a:xfrm>
            <a:off x="3977640" y="6291072"/>
            <a:ext cx="2514600" cy="365760"/>
          </a:xfrm>
          <a:prstGeom prst="roundRect">
            <a:avLst>
              <a:gd name="adj" fmla="val 22500"/>
            </a:avLst>
          </a:prstGeom>
          <a:solidFill>
            <a:srgbClr val="00A08A"/>
          </a:solidFill>
          <a:ln>
            <a:solidFill>
              <a:srgbClr val="00A08A"/>
            </a:solid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 UNDERSTAND</a:t>
            </a:r>
            <a:endParaRPr lang="en-US" sz="1200" dirty="0"/>
          </a:p>
        </p:txBody>
      </p:sp>
      <p:sp>
        <p:nvSpPr>
          <p:cNvPr id="10" name="Text 7"/>
          <p:cNvSpPr/>
          <p:nvPr/>
        </p:nvSpPr>
        <p:spPr>
          <a:xfrm>
            <a:off x="662940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ANALYSE</a:t>
            </a:r>
            <a:endParaRPr lang="en-US" sz="1200" dirty="0"/>
          </a:p>
        </p:txBody>
      </p:sp>
      <p:sp>
        <p:nvSpPr>
          <p:cNvPr id="11" name="Text 8"/>
          <p:cNvSpPr/>
          <p:nvPr/>
        </p:nvSpPr>
        <p:spPr>
          <a:xfrm>
            <a:off x="928116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EVALUATE</a:t>
            </a:r>
            <a:endParaRPr lang="en-US" sz="1200" dirty="0"/>
          </a:p>
        </p:txBody>
      </p:sp>
      <p:sp>
        <p:nvSpPr>
          <p:cNvPr id="12" name="Text 9"/>
          <p:cNvSpPr/>
          <p:nvPr/>
        </p:nvSpPr>
        <p:spPr>
          <a:xfrm>
            <a:off x="457200" y="6702552"/>
            <a:ext cx="8229600" cy="155448"/>
          </a:xfrm>
          <a:prstGeom prst="rect">
            <a:avLst/>
          </a:prstGeom>
          <a:noFill/>
          <a:ln/>
        </p:spPr>
        <p:txBody>
          <a:bodyPr wrap="square" lIns="0" tIns="0" rIns="0" bIns="0" rtlCol="0" anchor="t"/>
          <a:lstStyle/>
          <a:p>
            <a:pPr indent="0" marL="0">
              <a:buNone/>
            </a:pPr>
            <a:r>
              <a:rPr lang="en-US" sz="900" dirty="0">
                <a:solidFill>
                  <a:srgbClr val="AAB4C2"/>
                </a:solidFill>
                <a:latin typeface="Arial" pitchFamily="34" charset="0"/>
                <a:ea typeface="Arial" pitchFamily="34" charset="-122"/>
                <a:cs typeface="Arial" pitchFamily="34" charset="-120"/>
              </a:rPr>
              <a:t>Harlington English · The Odyssey · Epic poetry and the epic hero</a:t>
            </a:r>
            <a:endParaRPr lang="en-US" sz="900" dirty="0"/>
          </a:p>
        </p:txBody>
      </p:sp>
      <p:sp>
        <p:nvSpPr>
          <p:cNvPr id="13" name="Shape 10"/>
          <p:cNvSpPr/>
          <p:nvPr/>
        </p:nvSpPr>
        <p:spPr>
          <a:xfrm>
            <a:off x="548640" y="1783080"/>
            <a:ext cx="2651760" cy="914400"/>
          </a:xfrm>
          <a:prstGeom prst="roundRect">
            <a:avLst>
              <a:gd name="adj" fmla="val 8000"/>
            </a:avLst>
          </a:prstGeom>
          <a:solidFill>
            <a:srgbClr val="00A08A"/>
          </a:solidFill>
          <a:ln w="12700">
            <a:solidFill>
              <a:srgbClr val="00A08A"/>
            </a:solidFill>
            <a:prstDash val="solid"/>
          </a:ln>
        </p:spPr>
      </p:sp>
      <p:sp>
        <p:nvSpPr>
          <p:cNvPr id="14" name="Text 11"/>
          <p:cNvSpPr/>
          <p:nvPr/>
        </p:nvSpPr>
        <p:spPr>
          <a:xfrm>
            <a:off x="640080" y="1874520"/>
            <a:ext cx="2468880" cy="36576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1 MEAN</a:t>
            </a:r>
            <a:endParaRPr lang="en-US" sz="1600" dirty="0"/>
          </a:p>
        </p:txBody>
      </p:sp>
      <p:sp>
        <p:nvSpPr>
          <p:cNvPr id="15" name="Text 12"/>
          <p:cNvSpPr/>
          <p:nvPr/>
        </p:nvSpPr>
        <p:spPr>
          <a:xfrm>
            <a:off x="658368" y="2212848"/>
            <a:ext cx="2432304" cy="457200"/>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say what it means in your own words</a:t>
            </a:r>
            <a:endParaRPr lang="en-US" sz="1200" dirty="0"/>
          </a:p>
        </p:txBody>
      </p:sp>
      <p:sp>
        <p:nvSpPr>
          <p:cNvPr id="16" name="Shape 13"/>
          <p:cNvSpPr/>
          <p:nvPr/>
        </p:nvSpPr>
        <p:spPr>
          <a:xfrm>
            <a:off x="3346704" y="1783080"/>
            <a:ext cx="2651760" cy="914400"/>
          </a:xfrm>
          <a:prstGeom prst="roundRect">
            <a:avLst>
              <a:gd name="adj" fmla="val 8000"/>
            </a:avLst>
          </a:prstGeom>
          <a:solidFill>
            <a:srgbClr val="80ADC4"/>
          </a:solidFill>
          <a:ln w="12700">
            <a:solidFill>
              <a:srgbClr val="80ADC4"/>
            </a:solidFill>
            <a:prstDash val="solid"/>
          </a:ln>
        </p:spPr>
      </p:sp>
      <p:sp>
        <p:nvSpPr>
          <p:cNvPr id="17" name="Text 14"/>
          <p:cNvSpPr/>
          <p:nvPr/>
        </p:nvSpPr>
        <p:spPr>
          <a:xfrm>
            <a:off x="3438144" y="1874520"/>
            <a:ext cx="2468880" cy="36576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2 USE</a:t>
            </a:r>
            <a:endParaRPr lang="en-US" sz="1600" dirty="0"/>
          </a:p>
        </p:txBody>
      </p:sp>
      <p:sp>
        <p:nvSpPr>
          <p:cNvPr id="18" name="Text 15"/>
          <p:cNvSpPr/>
          <p:nvPr/>
        </p:nvSpPr>
        <p:spPr>
          <a:xfrm>
            <a:off x="3456432" y="2212848"/>
            <a:ext cx="2432304" cy="457200"/>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put it in a sentence of your own</a:t>
            </a:r>
            <a:endParaRPr lang="en-US" sz="1200" dirty="0"/>
          </a:p>
        </p:txBody>
      </p:sp>
      <p:sp>
        <p:nvSpPr>
          <p:cNvPr id="19" name="Shape 16"/>
          <p:cNvSpPr/>
          <p:nvPr/>
        </p:nvSpPr>
        <p:spPr>
          <a:xfrm>
            <a:off x="6144768" y="1783080"/>
            <a:ext cx="2651760" cy="914400"/>
          </a:xfrm>
          <a:prstGeom prst="roundRect">
            <a:avLst>
              <a:gd name="adj" fmla="val 8000"/>
            </a:avLst>
          </a:prstGeom>
          <a:solidFill>
            <a:srgbClr val="6C3A6E"/>
          </a:solidFill>
          <a:ln w="12700">
            <a:solidFill>
              <a:srgbClr val="6C3A6E"/>
            </a:solidFill>
            <a:prstDash val="solid"/>
          </a:ln>
        </p:spPr>
      </p:sp>
      <p:sp>
        <p:nvSpPr>
          <p:cNvPr id="20" name="Text 17"/>
          <p:cNvSpPr/>
          <p:nvPr/>
        </p:nvSpPr>
        <p:spPr>
          <a:xfrm>
            <a:off x="6236208" y="1874520"/>
            <a:ext cx="2468880" cy="36576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3 SPOT</a:t>
            </a:r>
            <a:endParaRPr lang="en-US" sz="1600" dirty="0"/>
          </a:p>
        </p:txBody>
      </p:sp>
      <p:sp>
        <p:nvSpPr>
          <p:cNvPr id="21" name="Text 18"/>
          <p:cNvSpPr/>
          <p:nvPr/>
        </p:nvSpPr>
        <p:spPr>
          <a:xfrm>
            <a:off x="6254496" y="2212848"/>
            <a:ext cx="2432304" cy="457200"/>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find it in today's text</a:t>
            </a:r>
            <a:endParaRPr lang="en-US" sz="1200" dirty="0"/>
          </a:p>
        </p:txBody>
      </p:sp>
      <p:sp>
        <p:nvSpPr>
          <p:cNvPr id="22" name="Shape 19"/>
          <p:cNvSpPr/>
          <p:nvPr/>
        </p:nvSpPr>
        <p:spPr>
          <a:xfrm>
            <a:off x="8942832" y="1783080"/>
            <a:ext cx="2651760" cy="914400"/>
          </a:xfrm>
          <a:prstGeom prst="roundRect">
            <a:avLst>
              <a:gd name="adj" fmla="val 8000"/>
            </a:avLst>
          </a:prstGeom>
          <a:solidFill>
            <a:srgbClr val="D0021B"/>
          </a:solidFill>
          <a:ln w="12700">
            <a:solidFill>
              <a:srgbClr val="D0021B"/>
            </a:solidFill>
            <a:prstDash val="solid"/>
          </a:ln>
        </p:spPr>
      </p:sp>
      <p:sp>
        <p:nvSpPr>
          <p:cNvPr id="23" name="Text 20"/>
          <p:cNvSpPr/>
          <p:nvPr/>
        </p:nvSpPr>
        <p:spPr>
          <a:xfrm>
            <a:off x="9034272" y="1874520"/>
            <a:ext cx="2468880" cy="36576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4 LINK</a:t>
            </a:r>
            <a:endParaRPr lang="en-US" sz="1600" dirty="0"/>
          </a:p>
        </p:txBody>
      </p:sp>
      <p:sp>
        <p:nvSpPr>
          <p:cNvPr id="24" name="Text 21"/>
          <p:cNvSpPr/>
          <p:nvPr/>
        </p:nvSpPr>
        <p:spPr>
          <a:xfrm>
            <a:off x="9052560" y="2212848"/>
            <a:ext cx="2432304" cy="457200"/>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link it to the Big Question</a:t>
            </a:r>
            <a:endParaRPr lang="en-US" sz="1200" dirty="0"/>
          </a:p>
        </p:txBody>
      </p:sp>
      <p:sp>
        <p:nvSpPr>
          <p:cNvPr id="25" name="Text 22"/>
          <p:cNvSpPr/>
          <p:nvPr/>
        </p:nvSpPr>
        <p:spPr>
          <a:xfrm>
            <a:off x="548640" y="2926080"/>
            <a:ext cx="10972800" cy="365760"/>
          </a:xfrm>
          <a:prstGeom prst="rect">
            <a:avLst/>
          </a:prstGeom>
          <a:noFill/>
          <a:ln/>
        </p:spPr>
        <p:txBody>
          <a:bodyPr wrap="square" lIns="0" tIns="0" rIns="0" bIns="0" rtlCol="0" anchor="ctr"/>
          <a:lstStyle/>
          <a:p>
            <a:pPr algn="l" indent="0" marL="0">
              <a:buNone/>
            </a:pPr>
            <a:r>
              <a:rPr lang="en-US" sz="1800" b="1" dirty="0">
                <a:solidFill>
                  <a:srgbClr val="12294D"/>
                </a:solidFill>
                <a:latin typeface="Arial" pitchFamily="34" charset="0"/>
                <a:ea typeface="Arial" pitchFamily="34" charset="-122"/>
                <a:cs typeface="Arial" pitchFamily="34" charset="-120"/>
              </a:rPr>
              <a:t>Do the four steps for EACH key word:</a:t>
            </a:r>
            <a:endParaRPr lang="en-US" sz="1800" dirty="0"/>
          </a:p>
        </p:txBody>
      </p:sp>
      <p:sp>
        <p:nvSpPr>
          <p:cNvPr id="26" name="Text 23"/>
          <p:cNvSpPr/>
          <p:nvPr/>
        </p:nvSpPr>
        <p:spPr>
          <a:xfrm>
            <a:off x="548640" y="3401568"/>
            <a:ext cx="2834640" cy="460858"/>
          </a:xfrm>
          <a:prstGeom prst="roundRect">
            <a:avLst>
              <a:gd name="adj" fmla="val 17857"/>
            </a:avLst>
          </a:prstGeom>
          <a:solidFill>
            <a:srgbClr val="FEF7E4"/>
          </a:solidFill>
          <a:ln w="12700">
            <a:solidFill>
              <a:srgbClr val="E5D9B0"/>
            </a:solidFill>
          </a:ln>
        </p:spPr>
        <p:txBody>
          <a:bodyPr wrap="square" lIns="45720" tIns="137160" rIns="91440" bIns="45720" rtlCol="0" anchor="ctr"/>
          <a:lstStyle/>
          <a:p>
            <a:pPr algn="l" indent="0" marL="0">
              <a:buNone/>
            </a:pPr>
            <a:r>
              <a:rPr lang="en-US" sz="1800" b="1" dirty="0">
                <a:solidFill>
                  <a:srgbClr val="12294D"/>
                </a:solidFill>
                <a:latin typeface="Arial" pitchFamily="34" charset="0"/>
                <a:ea typeface="Arial" pitchFamily="34" charset="-122"/>
                <a:cs typeface="Arial" pitchFamily="34" charset="-120"/>
              </a:rPr>
              <a:t>epic</a:t>
            </a:r>
            <a:endParaRPr lang="en-US" sz="1800" dirty="0"/>
          </a:p>
        </p:txBody>
      </p:sp>
      <p:sp>
        <p:nvSpPr>
          <p:cNvPr id="27" name="Text 24"/>
          <p:cNvSpPr/>
          <p:nvPr/>
        </p:nvSpPr>
        <p:spPr>
          <a:xfrm>
            <a:off x="3566160" y="3401568"/>
            <a:ext cx="8046720" cy="460858"/>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a long poem about a hero's great deeds and journeys</a:t>
            </a:r>
            <a:endParaRPr lang="en-US" sz="1800" dirty="0"/>
          </a:p>
        </p:txBody>
      </p:sp>
      <p:sp>
        <p:nvSpPr>
          <p:cNvPr id="28" name="Text 25"/>
          <p:cNvSpPr/>
          <p:nvPr/>
        </p:nvSpPr>
        <p:spPr>
          <a:xfrm>
            <a:off x="548640" y="3972154"/>
            <a:ext cx="2834640" cy="460858"/>
          </a:xfrm>
          <a:prstGeom prst="roundRect">
            <a:avLst>
              <a:gd name="adj" fmla="val 17857"/>
            </a:avLst>
          </a:prstGeom>
          <a:solidFill>
            <a:srgbClr val="FEF7E4"/>
          </a:solidFill>
          <a:ln w="12700">
            <a:solidFill>
              <a:srgbClr val="E5D9B0"/>
            </a:solidFill>
          </a:ln>
        </p:spPr>
        <p:txBody>
          <a:bodyPr wrap="square" lIns="45720" tIns="137160" rIns="91440" bIns="45720" rtlCol="0" anchor="ctr"/>
          <a:lstStyle/>
          <a:p>
            <a:pPr algn="l" indent="0" marL="0">
              <a:buNone/>
            </a:pPr>
            <a:r>
              <a:rPr lang="en-US" sz="1800" b="1" dirty="0">
                <a:solidFill>
                  <a:srgbClr val="12294D"/>
                </a:solidFill>
                <a:latin typeface="Arial" pitchFamily="34" charset="0"/>
                <a:ea typeface="Arial" pitchFamily="34" charset="-122"/>
                <a:cs typeface="Arial" pitchFamily="34" charset="-120"/>
              </a:rPr>
              <a:t>myth</a:t>
            </a:r>
            <a:endParaRPr lang="en-US" sz="1800" dirty="0"/>
          </a:p>
        </p:txBody>
      </p:sp>
      <p:sp>
        <p:nvSpPr>
          <p:cNvPr id="29" name="Text 26"/>
          <p:cNvSpPr/>
          <p:nvPr/>
        </p:nvSpPr>
        <p:spPr>
          <a:xfrm>
            <a:off x="3566160" y="3972154"/>
            <a:ext cx="8046720" cy="460858"/>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an old story of gods, heroes and monsters that explains the world</a:t>
            </a:r>
            <a:endParaRPr lang="en-US" sz="1800" dirty="0"/>
          </a:p>
        </p:txBody>
      </p:sp>
      <p:sp>
        <p:nvSpPr>
          <p:cNvPr id="30" name="Text 27"/>
          <p:cNvSpPr/>
          <p:nvPr/>
        </p:nvSpPr>
        <p:spPr>
          <a:xfrm>
            <a:off x="548640" y="4542739"/>
            <a:ext cx="2834640" cy="460858"/>
          </a:xfrm>
          <a:prstGeom prst="roundRect">
            <a:avLst>
              <a:gd name="adj" fmla="val 17857"/>
            </a:avLst>
          </a:prstGeom>
          <a:solidFill>
            <a:srgbClr val="FEF7E4"/>
          </a:solidFill>
          <a:ln w="12700">
            <a:solidFill>
              <a:srgbClr val="E5D9B0"/>
            </a:solidFill>
          </a:ln>
        </p:spPr>
        <p:txBody>
          <a:bodyPr wrap="square" lIns="45720" tIns="137160" rIns="91440" bIns="45720" rtlCol="0" anchor="ctr"/>
          <a:lstStyle/>
          <a:p>
            <a:pPr algn="l" indent="0" marL="0">
              <a:buNone/>
            </a:pPr>
            <a:r>
              <a:rPr lang="en-US" sz="1800" b="1" dirty="0">
                <a:solidFill>
                  <a:srgbClr val="12294D"/>
                </a:solidFill>
                <a:latin typeface="Arial" pitchFamily="34" charset="0"/>
                <a:ea typeface="Arial" pitchFamily="34" charset="-122"/>
                <a:cs typeface="Arial" pitchFamily="34" charset="-120"/>
              </a:rPr>
              <a:t>epic hero</a:t>
            </a:r>
            <a:endParaRPr lang="en-US" sz="1800" dirty="0"/>
          </a:p>
        </p:txBody>
      </p:sp>
      <p:sp>
        <p:nvSpPr>
          <p:cNvPr id="31" name="Text 28"/>
          <p:cNvSpPr/>
          <p:nvPr/>
        </p:nvSpPr>
        <p:spPr>
          <a:xfrm>
            <a:off x="3566160" y="4542739"/>
            <a:ext cx="8046720" cy="460858"/>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the larger-than-life main character of an epic, tested by the gods</a:t>
            </a:r>
            <a:endParaRPr lang="en-US" sz="1800" dirty="0"/>
          </a:p>
        </p:txBody>
      </p:sp>
      <p:sp>
        <p:nvSpPr>
          <p:cNvPr id="32" name="Text 29"/>
          <p:cNvSpPr/>
          <p:nvPr/>
        </p:nvSpPr>
        <p:spPr>
          <a:xfrm>
            <a:off x="548640" y="5113325"/>
            <a:ext cx="2834640" cy="460858"/>
          </a:xfrm>
          <a:prstGeom prst="roundRect">
            <a:avLst>
              <a:gd name="adj" fmla="val 17857"/>
            </a:avLst>
          </a:prstGeom>
          <a:solidFill>
            <a:srgbClr val="FEF7E4"/>
          </a:solidFill>
          <a:ln w="12700">
            <a:solidFill>
              <a:srgbClr val="E5D9B0"/>
            </a:solidFill>
          </a:ln>
        </p:spPr>
        <p:txBody>
          <a:bodyPr wrap="square" lIns="45720" tIns="137160" rIns="91440" bIns="45720" rtlCol="0" anchor="ctr"/>
          <a:lstStyle/>
          <a:p>
            <a:pPr algn="l" indent="0" marL="0">
              <a:buNone/>
            </a:pPr>
            <a:r>
              <a:rPr lang="en-US" sz="1800" b="1" dirty="0">
                <a:solidFill>
                  <a:srgbClr val="12294D"/>
                </a:solidFill>
                <a:latin typeface="Arial" pitchFamily="34" charset="0"/>
                <a:ea typeface="Arial" pitchFamily="34" charset="-122"/>
                <a:cs typeface="Arial" pitchFamily="34" charset="-120"/>
              </a:rPr>
              <a:t>hamartia</a:t>
            </a:r>
            <a:endParaRPr lang="en-US" sz="1800" dirty="0"/>
          </a:p>
        </p:txBody>
      </p:sp>
      <p:sp>
        <p:nvSpPr>
          <p:cNvPr id="33" name="Text 30"/>
          <p:cNvSpPr/>
          <p:nvPr/>
        </p:nvSpPr>
        <p:spPr>
          <a:xfrm>
            <a:off x="3566160" y="5113325"/>
            <a:ext cx="8046720" cy="460858"/>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the flaw or mistake in a hero that leads to their downfall</a:t>
            </a:r>
            <a:endParaRPr lang="en-US" sz="1800" dirty="0"/>
          </a:p>
        </p:txBody>
      </p:sp>
      <p:sp>
        <p:nvSpPr>
          <p:cNvPr id="34" name="Text 31"/>
          <p:cNvSpPr/>
          <p:nvPr/>
        </p:nvSpPr>
        <p:spPr>
          <a:xfrm>
            <a:off x="548640" y="5683910"/>
            <a:ext cx="2834640" cy="460858"/>
          </a:xfrm>
          <a:prstGeom prst="roundRect">
            <a:avLst>
              <a:gd name="adj" fmla="val 17857"/>
            </a:avLst>
          </a:prstGeom>
          <a:solidFill>
            <a:srgbClr val="FEF7E4"/>
          </a:solidFill>
          <a:ln w="12700">
            <a:solidFill>
              <a:srgbClr val="E5D9B0"/>
            </a:solidFill>
          </a:ln>
        </p:spPr>
        <p:txBody>
          <a:bodyPr wrap="square" lIns="45720" tIns="137160" rIns="91440" bIns="45720" rtlCol="0" anchor="ctr"/>
          <a:lstStyle/>
          <a:p>
            <a:pPr algn="l" indent="0" marL="0">
              <a:buNone/>
            </a:pPr>
            <a:r>
              <a:rPr lang="en-US" sz="1800" b="1" dirty="0">
                <a:solidFill>
                  <a:srgbClr val="12294D"/>
                </a:solidFill>
                <a:latin typeface="Arial" pitchFamily="34" charset="0"/>
                <a:ea typeface="Arial" pitchFamily="34" charset="-122"/>
                <a:cs typeface="Arial" pitchFamily="34" charset="-120"/>
              </a:rPr>
              <a:t>hubris</a:t>
            </a:r>
            <a:endParaRPr lang="en-US" sz="1800" dirty="0"/>
          </a:p>
        </p:txBody>
      </p:sp>
      <p:sp>
        <p:nvSpPr>
          <p:cNvPr id="35" name="Text 32"/>
          <p:cNvSpPr/>
          <p:nvPr/>
        </p:nvSpPr>
        <p:spPr>
          <a:xfrm>
            <a:off x="3566160" y="5683910"/>
            <a:ext cx="8046720" cy="460858"/>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dangerous pride — thinking you are greater than the gods or the rules</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457200" y="384048"/>
            <a:ext cx="731520" cy="731520"/>
          </a:xfrm>
          <a:prstGeom prst="roundRect">
            <a:avLst>
              <a:gd name="adj" fmla="val 15000"/>
            </a:avLst>
          </a:prstGeom>
          <a:solidFill>
            <a:srgbClr val="00A08A"/>
          </a:solidFill>
          <a:ln w="12700">
            <a:solidFill>
              <a:srgbClr val="00A08A"/>
            </a:solidFill>
            <a:prstDash val="solid"/>
          </a:ln>
        </p:spPr>
      </p:sp>
      <p:pic>
        <p:nvPicPr>
          <p:cNvPr id="3" name="Image 0" descr="/home/claude/english/kit/decks/_icons/book-open-FFFFFF.png">    </p:cNvPr>
          <p:cNvPicPr>
            <a:picLocks noChangeAspect="1"/>
          </p:cNvPicPr>
          <p:nvPr/>
        </p:nvPicPr>
        <p:blipFill>
          <a:blip r:embed="rId1"/>
          <a:stretch>
            <a:fillRect/>
          </a:stretch>
        </p:blipFill>
        <p:spPr>
          <a:xfrm>
            <a:off x="603504" y="530352"/>
            <a:ext cx="438912" cy="438912"/>
          </a:xfrm>
          <a:prstGeom prst="rect">
            <a:avLst/>
          </a:prstGeom>
        </p:spPr>
      </p:pic>
      <p:sp>
        <p:nvSpPr>
          <p:cNvPr id="4" name="Text 1"/>
          <p:cNvSpPr/>
          <p:nvPr/>
        </p:nvSpPr>
        <p:spPr>
          <a:xfrm>
            <a:off x="1298448" y="384048"/>
            <a:ext cx="8183880" cy="731520"/>
          </a:xfrm>
          <a:prstGeom prst="roundRect">
            <a:avLst>
              <a:gd name="adj" fmla="val 12500"/>
            </a:avLst>
          </a:prstGeom>
          <a:solidFill>
            <a:srgbClr val="E4F3EF"/>
          </a:solidFill>
          <a:ln>
            <a:solidFill>
              <a:srgbClr val="E4F3EF"/>
            </a:solidFill>
          </a:ln>
        </p:spPr>
        <p:txBody>
          <a:bodyPr wrap="square" lIns="45720" tIns="182880" rIns="137160" bIns="45720" rtlCol="0" anchor="ctr"/>
          <a:lstStyle/>
          <a:p>
            <a:pPr algn="l" indent="0" marL="0">
              <a:buNone/>
            </a:pPr>
            <a:r>
              <a:rPr lang="en-US" sz="2400" b="1" dirty="0">
                <a:solidFill>
                  <a:srgbClr val="12294D"/>
                </a:solidFill>
                <a:latin typeface="Arial" pitchFamily="34" charset="0"/>
                <a:ea typeface="Arial" pitchFamily="34" charset="-122"/>
                <a:cs typeface="Arial" pitchFamily="34" charset="-120"/>
              </a:rPr>
              <a:t>What is an epic?</a:t>
            </a:r>
            <a:endParaRPr lang="en-US" sz="2400" dirty="0"/>
          </a:p>
        </p:txBody>
      </p:sp>
      <p:sp>
        <p:nvSpPr>
          <p:cNvPr id="5" name="Text 2"/>
          <p:cNvSpPr/>
          <p:nvPr/>
        </p:nvSpPr>
        <p:spPr>
          <a:xfrm>
            <a:off x="9784080" y="457200"/>
            <a:ext cx="1874520" cy="566928"/>
          </a:xfrm>
          <a:prstGeom prst="roundRect">
            <a:avLst>
              <a:gd name="adj" fmla="val 16129"/>
            </a:avLst>
          </a:prstGeom>
          <a:solidFill>
            <a:srgbClr val="00A08A"/>
          </a:solidFill>
          <a:ln>
            <a:solidFill>
              <a:srgbClr val="00A08A"/>
            </a:solid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 10 min</a:t>
            </a:r>
            <a:endParaRPr lang="en-US" sz="1700" dirty="0"/>
          </a:p>
        </p:txBody>
      </p:sp>
      <p:sp>
        <p:nvSpPr>
          <p:cNvPr id="6" name="Text 3"/>
          <p:cNvSpPr/>
          <p:nvPr/>
        </p:nvSpPr>
        <p:spPr>
          <a:xfrm>
            <a:off x="1371600" y="1097280"/>
            <a:ext cx="10149840" cy="502920"/>
          </a:xfrm>
          <a:prstGeom prst="rect">
            <a:avLst/>
          </a:prstGeom>
          <a:noFill/>
          <a:ln/>
        </p:spPr>
        <p:txBody>
          <a:bodyPr wrap="square" lIns="45720" tIns="91440" rIns="91440" bIns="45720" rtlCol="0" anchor="ctr"/>
          <a:lstStyle/>
          <a:p>
            <a:pPr algn="l" indent="0" marL="0">
              <a:buNone/>
            </a:pPr>
            <a:r>
              <a:rPr lang="en-US" sz="1500" i="1" dirty="0">
                <a:solidFill>
                  <a:srgbClr val="404040"/>
                </a:solidFill>
                <a:latin typeface="Arial" pitchFamily="34" charset="0"/>
                <a:ea typeface="Arial" pitchFamily="34" charset="-122"/>
                <a:cs typeface="Arial" pitchFamily="34" charset="-120"/>
              </a:rPr>
              <a:t>Three things every epic has. Spot them in The Odyssey as we go.</a:t>
            </a:r>
            <a:endParaRPr lang="en-US" sz="1500" dirty="0"/>
          </a:p>
        </p:txBody>
      </p:sp>
      <p:sp>
        <p:nvSpPr>
          <p:cNvPr id="7" name="Text 4"/>
          <p:cNvSpPr/>
          <p:nvPr/>
        </p:nvSpPr>
        <p:spPr>
          <a:xfrm>
            <a:off x="457200" y="6327648"/>
            <a:ext cx="822960" cy="292608"/>
          </a:xfrm>
          <a:prstGeom prst="rect">
            <a:avLst/>
          </a:prstGeom>
          <a:noFill/>
          <a:ln/>
        </p:spPr>
        <p:txBody>
          <a:bodyPr wrap="square" lIns="0" tIns="0" rIns="0" bIns="0" rtlCol="0" anchor="ctr"/>
          <a:lstStyle/>
          <a:p>
            <a:pPr indent="0" marL="0">
              <a:buNone/>
            </a:pPr>
            <a:r>
              <a:rPr lang="en-US" sz="1100" b="1" dirty="0">
                <a:solidFill>
                  <a:srgbClr val="6E6E6E"/>
                </a:solidFill>
                <a:latin typeface="Arial" pitchFamily="34" charset="0"/>
                <a:ea typeface="Arial" pitchFamily="34" charset="-122"/>
                <a:cs typeface="Arial" pitchFamily="34" charset="-120"/>
              </a:rPr>
              <a:t>AIMS →</a:t>
            </a:r>
            <a:endParaRPr lang="en-US" sz="1100" dirty="0"/>
          </a:p>
        </p:txBody>
      </p:sp>
      <p:sp>
        <p:nvSpPr>
          <p:cNvPr id="8" name="Text 5"/>
          <p:cNvSpPr/>
          <p:nvPr/>
        </p:nvSpPr>
        <p:spPr>
          <a:xfrm>
            <a:off x="132588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REMEMBER</a:t>
            </a:r>
            <a:endParaRPr lang="en-US" sz="1200" dirty="0"/>
          </a:p>
        </p:txBody>
      </p:sp>
      <p:sp>
        <p:nvSpPr>
          <p:cNvPr id="9" name="Text 6"/>
          <p:cNvSpPr/>
          <p:nvPr/>
        </p:nvSpPr>
        <p:spPr>
          <a:xfrm>
            <a:off x="3977640" y="6291072"/>
            <a:ext cx="2514600" cy="365760"/>
          </a:xfrm>
          <a:prstGeom prst="roundRect">
            <a:avLst>
              <a:gd name="adj" fmla="val 22500"/>
            </a:avLst>
          </a:prstGeom>
          <a:solidFill>
            <a:srgbClr val="00A08A"/>
          </a:solidFill>
          <a:ln>
            <a:solidFill>
              <a:srgbClr val="00A08A"/>
            </a:solid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 UNDERSTAND</a:t>
            </a:r>
            <a:endParaRPr lang="en-US" sz="1200" dirty="0"/>
          </a:p>
        </p:txBody>
      </p:sp>
      <p:sp>
        <p:nvSpPr>
          <p:cNvPr id="10" name="Text 7"/>
          <p:cNvSpPr/>
          <p:nvPr/>
        </p:nvSpPr>
        <p:spPr>
          <a:xfrm>
            <a:off x="662940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ANALYSE</a:t>
            </a:r>
            <a:endParaRPr lang="en-US" sz="1200" dirty="0"/>
          </a:p>
        </p:txBody>
      </p:sp>
      <p:sp>
        <p:nvSpPr>
          <p:cNvPr id="11" name="Text 8"/>
          <p:cNvSpPr/>
          <p:nvPr/>
        </p:nvSpPr>
        <p:spPr>
          <a:xfrm>
            <a:off x="928116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EVALUATE</a:t>
            </a:r>
            <a:endParaRPr lang="en-US" sz="1200" dirty="0"/>
          </a:p>
        </p:txBody>
      </p:sp>
      <p:sp>
        <p:nvSpPr>
          <p:cNvPr id="12" name="Text 9"/>
          <p:cNvSpPr/>
          <p:nvPr/>
        </p:nvSpPr>
        <p:spPr>
          <a:xfrm>
            <a:off x="457200" y="6702552"/>
            <a:ext cx="8229600" cy="155448"/>
          </a:xfrm>
          <a:prstGeom prst="rect">
            <a:avLst/>
          </a:prstGeom>
          <a:noFill/>
          <a:ln/>
        </p:spPr>
        <p:txBody>
          <a:bodyPr wrap="square" lIns="0" tIns="0" rIns="0" bIns="0" rtlCol="0" anchor="t"/>
          <a:lstStyle/>
          <a:p>
            <a:pPr indent="0" marL="0">
              <a:buNone/>
            </a:pPr>
            <a:r>
              <a:rPr lang="en-US" sz="900" dirty="0">
                <a:solidFill>
                  <a:srgbClr val="AAB4C2"/>
                </a:solidFill>
                <a:latin typeface="Arial" pitchFamily="34" charset="0"/>
                <a:ea typeface="Arial" pitchFamily="34" charset="-122"/>
                <a:cs typeface="Arial" pitchFamily="34" charset="-120"/>
              </a:rPr>
              <a:t>Harlington English · The Odyssey · Epic poetry and the epic hero</a:t>
            </a:r>
            <a:endParaRPr lang="en-US" sz="900" dirty="0"/>
          </a:p>
        </p:txBody>
      </p:sp>
      <p:sp>
        <p:nvSpPr>
          <p:cNvPr id="13" name="Shape 10"/>
          <p:cNvSpPr/>
          <p:nvPr/>
        </p:nvSpPr>
        <p:spPr>
          <a:xfrm>
            <a:off x="548640" y="4754880"/>
            <a:ext cx="11064240" cy="1371600"/>
          </a:xfrm>
          <a:prstGeom prst="roundRect">
            <a:avLst>
              <a:gd name="adj" fmla="val 4000"/>
            </a:avLst>
          </a:prstGeom>
          <a:solidFill>
            <a:srgbClr val="12294D"/>
          </a:solidFill>
          <a:ln w="12700">
            <a:solidFill>
              <a:srgbClr val="12294D"/>
            </a:solidFill>
            <a:prstDash val="solid"/>
          </a:ln>
        </p:spPr>
      </p:sp>
      <p:pic>
        <p:nvPicPr>
          <p:cNvPr id="14" name="Image 1" descr="/home/claude/english/kit/decks/_icons/message-circle-FFFFFF.png">    </p:cNvPr>
          <p:cNvPicPr>
            <a:picLocks noChangeAspect="1"/>
          </p:cNvPicPr>
          <p:nvPr/>
        </p:nvPicPr>
        <p:blipFill>
          <a:blip r:embed="rId2"/>
          <a:stretch>
            <a:fillRect/>
          </a:stretch>
        </p:blipFill>
        <p:spPr>
          <a:xfrm>
            <a:off x="777240" y="4956048"/>
            <a:ext cx="566928" cy="566928"/>
          </a:xfrm>
          <a:prstGeom prst="rect">
            <a:avLst/>
          </a:prstGeom>
        </p:spPr>
      </p:pic>
      <p:sp>
        <p:nvSpPr>
          <p:cNvPr id="15" name="Text 11"/>
          <p:cNvSpPr/>
          <p:nvPr/>
        </p:nvSpPr>
        <p:spPr>
          <a:xfrm>
            <a:off x="1417320" y="4919472"/>
            <a:ext cx="3200400" cy="457200"/>
          </a:xfrm>
          <a:prstGeom prst="rect">
            <a:avLst/>
          </a:prstGeom>
          <a:noFill/>
          <a:ln/>
        </p:spPr>
        <p:txBody>
          <a:bodyPr wrap="square" lIns="0" tIns="0" rIns="0" bIns="0" rtlCol="0" anchor="ctr"/>
          <a:lstStyle/>
          <a:p>
            <a:pPr indent="0" marL="0">
              <a:buNone/>
            </a:pPr>
            <a:r>
              <a:rPr lang="en-US" sz="1600" b="1" dirty="0">
                <a:solidFill>
                  <a:srgbClr val="FFC93C"/>
                </a:solidFill>
                <a:latin typeface="Arial" pitchFamily="34" charset="0"/>
                <a:ea typeface="Arial" pitchFamily="34" charset="-122"/>
                <a:cs typeface="Arial" pitchFamily="34" charset="-120"/>
              </a:rPr>
              <a:t>DISCUSS · 3 MIN</a:t>
            </a:r>
            <a:endParaRPr lang="en-US" sz="1600" dirty="0"/>
          </a:p>
        </p:txBody>
      </p:sp>
      <p:sp>
        <p:nvSpPr>
          <p:cNvPr id="16" name="Text 12"/>
          <p:cNvSpPr/>
          <p:nvPr/>
        </p:nvSpPr>
        <p:spPr>
          <a:xfrm>
            <a:off x="777240" y="5394960"/>
            <a:ext cx="10607040" cy="658368"/>
          </a:xfrm>
          <a:prstGeom prst="rect">
            <a:avLst/>
          </a:prstGeom>
          <a:noFill/>
          <a:ln/>
        </p:spPr>
        <p:txBody>
          <a:bodyPr wrap="square" lIns="0" tIns="0" rIns="0" bIns="0" rtlCol="0" anchor="ctr"/>
          <a:lstStyle/>
          <a:p>
            <a:pPr algn="l" indent="0" marL="0">
              <a:buNone/>
            </a:pPr>
            <a:r>
              <a:rPr lang="en-US" sz="1800" i="1" dirty="0">
                <a:solidFill>
                  <a:srgbClr val="CFE0F2"/>
                </a:solidFill>
                <a:latin typeface="Arial" pitchFamily="34" charset="0"/>
                <a:ea typeface="Arial" pitchFamily="34" charset="-122"/>
                <a:cs typeface="Arial" pitchFamily="34" charset="-120"/>
              </a:rPr>
              <a:t>Why would the Greeks SING a story this long instead of writing it down?</a:t>
            </a:r>
            <a:endParaRPr lang="en-US" sz="1800" dirty="0"/>
          </a:p>
        </p:txBody>
      </p:sp>
      <p:sp>
        <p:nvSpPr>
          <p:cNvPr id="17" name="Text 13"/>
          <p:cNvSpPr/>
          <p:nvPr/>
        </p:nvSpPr>
        <p:spPr>
          <a:xfrm>
            <a:off x="548640" y="1783080"/>
            <a:ext cx="2606040" cy="719328"/>
          </a:xfrm>
          <a:prstGeom prst="roundRect">
            <a:avLst>
              <a:gd name="adj" fmla="val 12712"/>
            </a:avLst>
          </a:prstGeom>
          <a:solidFill>
            <a:srgbClr val="00A08A"/>
          </a:solidFill>
          <a:ln>
            <a:solidFill>
              <a:srgbClr val="00A08A"/>
            </a:solidFill>
          </a:ln>
        </p:spPr>
        <p:txBody>
          <a:bodyPr wrap="square" lIns="45720" tIns="137160" rIns="91440" bIns="45720" rtlCol="0" anchor="ctr"/>
          <a:lstStyle/>
          <a:p>
            <a:pPr algn="l" indent="0" marL="0">
              <a:buNone/>
            </a:pPr>
            <a:r>
              <a:rPr lang="en-US" sz="1600" b="1" dirty="0">
                <a:solidFill>
                  <a:srgbClr val="FFFFFF"/>
                </a:solidFill>
                <a:latin typeface="Arial" pitchFamily="34" charset="0"/>
                <a:ea typeface="Arial" pitchFamily="34" charset="-122"/>
                <a:cs typeface="Arial" pitchFamily="34" charset="-120"/>
              </a:rPr>
              <a:t>A LONG POEM</a:t>
            </a:r>
            <a:endParaRPr lang="en-US" sz="1600" dirty="0"/>
          </a:p>
        </p:txBody>
      </p:sp>
      <p:sp>
        <p:nvSpPr>
          <p:cNvPr id="18" name="Shape 14"/>
          <p:cNvSpPr/>
          <p:nvPr/>
        </p:nvSpPr>
        <p:spPr>
          <a:xfrm>
            <a:off x="3291840" y="1783080"/>
            <a:ext cx="8321040" cy="719328"/>
          </a:xfrm>
          <a:prstGeom prst="roundRect">
            <a:avLst>
              <a:gd name="adj" fmla="val 10169"/>
            </a:avLst>
          </a:prstGeom>
          <a:solidFill>
            <a:srgbClr val="FEF7E4"/>
          </a:solidFill>
          <a:ln w="12700">
            <a:solidFill>
              <a:srgbClr val="E5D9B0"/>
            </a:solidFill>
            <a:prstDash val="solid"/>
          </a:ln>
        </p:spPr>
      </p:sp>
      <p:sp>
        <p:nvSpPr>
          <p:cNvPr id="19" name="Text 15"/>
          <p:cNvSpPr/>
          <p:nvPr/>
        </p:nvSpPr>
        <p:spPr>
          <a:xfrm>
            <a:off x="3456432" y="1783080"/>
            <a:ext cx="8001000" cy="719328"/>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The Odyssey is about 12,000 lines long. It was sung aloud by a poet, not read from a page — for hundreds of years before it was written down.</a:t>
            </a:r>
            <a:endParaRPr lang="en-US" sz="1800" dirty="0"/>
          </a:p>
        </p:txBody>
      </p:sp>
      <p:sp>
        <p:nvSpPr>
          <p:cNvPr id="20" name="Text 16"/>
          <p:cNvSpPr/>
          <p:nvPr/>
        </p:nvSpPr>
        <p:spPr>
          <a:xfrm>
            <a:off x="548640" y="2612136"/>
            <a:ext cx="2606040" cy="719328"/>
          </a:xfrm>
          <a:prstGeom prst="roundRect">
            <a:avLst>
              <a:gd name="adj" fmla="val 12712"/>
            </a:avLst>
          </a:prstGeom>
          <a:solidFill>
            <a:srgbClr val="00A08A"/>
          </a:solidFill>
          <a:ln>
            <a:solidFill>
              <a:srgbClr val="00A08A"/>
            </a:solidFill>
          </a:ln>
        </p:spPr>
        <p:txBody>
          <a:bodyPr wrap="square" lIns="45720" tIns="137160" rIns="91440" bIns="45720" rtlCol="0" anchor="ctr"/>
          <a:lstStyle/>
          <a:p>
            <a:pPr algn="l" indent="0" marL="0">
              <a:buNone/>
            </a:pPr>
            <a:r>
              <a:rPr lang="en-US" sz="1600" b="1" dirty="0">
                <a:solidFill>
                  <a:srgbClr val="FFFFFF"/>
                </a:solidFill>
                <a:latin typeface="Arial" pitchFamily="34" charset="0"/>
                <a:ea typeface="Arial" pitchFamily="34" charset="-122"/>
                <a:cs typeface="Arial" pitchFamily="34" charset="-120"/>
              </a:rPr>
              <a:t>A HERO'S JOURNEY</a:t>
            </a:r>
            <a:endParaRPr lang="en-US" sz="1600" dirty="0"/>
          </a:p>
        </p:txBody>
      </p:sp>
      <p:sp>
        <p:nvSpPr>
          <p:cNvPr id="21" name="Shape 17"/>
          <p:cNvSpPr/>
          <p:nvPr/>
        </p:nvSpPr>
        <p:spPr>
          <a:xfrm>
            <a:off x="3291840" y="2612136"/>
            <a:ext cx="8321040" cy="719328"/>
          </a:xfrm>
          <a:prstGeom prst="roundRect">
            <a:avLst>
              <a:gd name="adj" fmla="val 10169"/>
            </a:avLst>
          </a:prstGeom>
          <a:solidFill>
            <a:srgbClr val="FEF7E4"/>
          </a:solidFill>
          <a:ln w="12700">
            <a:solidFill>
              <a:srgbClr val="E5D9B0"/>
            </a:solidFill>
            <a:prstDash val="solid"/>
          </a:ln>
        </p:spPr>
      </p:sp>
      <p:sp>
        <p:nvSpPr>
          <p:cNvPr id="22" name="Text 18"/>
          <p:cNvSpPr/>
          <p:nvPr/>
        </p:nvSpPr>
        <p:spPr>
          <a:xfrm>
            <a:off x="3456432" y="2612136"/>
            <a:ext cx="8001000" cy="719328"/>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One larger-than-life hero, one huge task. Odysseus must get home from the war at Troy. It takes him ten years.</a:t>
            </a:r>
            <a:endParaRPr lang="en-US" sz="1800" dirty="0"/>
          </a:p>
        </p:txBody>
      </p:sp>
      <p:sp>
        <p:nvSpPr>
          <p:cNvPr id="23" name="Text 19"/>
          <p:cNvSpPr/>
          <p:nvPr/>
        </p:nvSpPr>
        <p:spPr>
          <a:xfrm>
            <a:off x="548640" y="3441192"/>
            <a:ext cx="2606040" cy="719328"/>
          </a:xfrm>
          <a:prstGeom prst="roundRect">
            <a:avLst>
              <a:gd name="adj" fmla="val 12712"/>
            </a:avLst>
          </a:prstGeom>
          <a:solidFill>
            <a:srgbClr val="00A08A"/>
          </a:solidFill>
          <a:ln>
            <a:solidFill>
              <a:srgbClr val="00A08A"/>
            </a:solidFill>
          </a:ln>
        </p:spPr>
        <p:txBody>
          <a:bodyPr wrap="square" lIns="45720" tIns="137160" rIns="91440" bIns="45720" rtlCol="0" anchor="ctr"/>
          <a:lstStyle/>
          <a:p>
            <a:pPr algn="l" indent="0" marL="0">
              <a:buNone/>
            </a:pPr>
            <a:r>
              <a:rPr lang="en-US" sz="1600" b="1" dirty="0">
                <a:solidFill>
                  <a:srgbClr val="FFFFFF"/>
                </a:solidFill>
                <a:latin typeface="Arial" pitchFamily="34" charset="0"/>
                <a:ea typeface="Arial" pitchFamily="34" charset="-122"/>
                <a:cs typeface="Arial" pitchFamily="34" charset="-120"/>
              </a:rPr>
              <a:t>GODS AND MONSTERS</a:t>
            </a:r>
            <a:endParaRPr lang="en-US" sz="1600" dirty="0"/>
          </a:p>
        </p:txBody>
      </p:sp>
      <p:sp>
        <p:nvSpPr>
          <p:cNvPr id="24" name="Shape 20"/>
          <p:cNvSpPr/>
          <p:nvPr/>
        </p:nvSpPr>
        <p:spPr>
          <a:xfrm>
            <a:off x="3291840" y="3441192"/>
            <a:ext cx="8321040" cy="719328"/>
          </a:xfrm>
          <a:prstGeom prst="roundRect">
            <a:avLst>
              <a:gd name="adj" fmla="val 10169"/>
            </a:avLst>
          </a:prstGeom>
          <a:solidFill>
            <a:srgbClr val="FEF7E4"/>
          </a:solidFill>
          <a:ln w="12700">
            <a:solidFill>
              <a:srgbClr val="E5D9B0"/>
            </a:solidFill>
            <a:prstDash val="solid"/>
          </a:ln>
        </p:spPr>
      </p:sp>
      <p:sp>
        <p:nvSpPr>
          <p:cNvPr id="25" name="Text 21"/>
          <p:cNvSpPr/>
          <p:nvPr/>
        </p:nvSpPr>
        <p:spPr>
          <a:xfrm>
            <a:off x="3456432" y="3441192"/>
            <a:ext cx="8001000" cy="719328"/>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The gods take sides. Athena helps Odysseus; Poseidon hates him. Monsters test him on every island.</a:t>
            </a:r>
            <a:endParaRPr lang="en-US" sz="1800" dirty="0"/>
          </a:p>
        </p:txBody>
      </p:sp>
      <p:sp>
        <p:nvSpPr>
          <p:cNvPr id="26" name="Text 22"/>
          <p:cNvSpPr/>
          <p:nvPr/>
        </p:nvSpPr>
        <p:spPr>
          <a:xfrm>
            <a:off x="548640" y="4206240"/>
            <a:ext cx="11064240" cy="365760"/>
          </a:xfrm>
          <a:prstGeom prst="rect">
            <a:avLst/>
          </a:prstGeom>
          <a:noFill/>
          <a:ln/>
        </p:spPr>
        <p:txBody>
          <a:bodyPr wrap="square" lIns="0" tIns="0" rIns="0" bIns="0" rtlCol="0" anchor="ctr"/>
          <a:lstStyle/>
          <a:p>
            <a:pPr algn="l" indent="0" marL="0">
              <a:buNone/>
            </a:pPr>
            <a:r>
              <a:rPr lang="en-US" sz="1500" b="1" i="1" dirty="0">
                <a:solidFill>
                  <a:srgbClr val="12294D"/>
                </a:solidFill>
                <a:latin typeface="Arial" pitchFamily="34" charset="0"/>
                <a:ea typeface="Arial" pitchFamily="34" charset="-122"/>
                <a:cs typeface="Arial" pitchFamily="34" charset="-120"/>
              </a:rPr>
              <a:t>➜  Epic = a long poem, a hero, a journey, and the gods watching.</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457200" y="384048"/>
            <a:ext cx="731520" cy="731520"/>
          </a:xfrm>
          <a:prstGeom prst="roundRect">
            <a:avLst>
              <a:gd name="adj" fmla="val 15000"/>
            </a:avLst>
          </a:prstGeom>
          <a:solidFill>
            <a:srgbClr val="00A08A"/>
          </a:solidFill>
          <a:ln w="12700">
            <a:solidFill>
              <a:srgbClr val="00A08A"/>
            </a:solidFill>
            <a:prstDash val="solid"/>
          </a:ln>
        </p:spPr>
      </p:sp>
      <p:pic>
        <p:nvPicPr>
          <p:cNvPr id="3" name="Image 0" descr="/home/claude/english/kit/decks/_icons/book-open-FFFFFF.png">    </p:cNvPr>
          <p:cNvPicPr>
            <a:picLocks noChangeAspect="1"/>
          </p:cNvPicPr>
          <p:nvPr/>
        </p:nvPicPr>
        <p:blipFill>
          <a:blip r:embed="rId1"/>
          <a:stretch>
            <a:fillRect/>
          </a:stretch>
        </p:blipFill>
        <p:spPr>
          <a:xfrm>
            <a:off x="603504" y="530352"/>
            <a:ext cx="438912" cy="438912"/>
          </a:xfrm>
          <a:prstGeom prst="rect">
            <a:avLst/>
          </a:prstGeom>
        </p:spPr>
      </p:pic>
      <p:sp>
        <p:nvSpPr>
          <p:cNvPr id="4" name="Text 1"/>
          <p:cNvSpPr/>
          <p:nvPr/>
        </p:nvSpPr>
        <p:spPr>
          <a:xfrm>
            <a:off x="1298448" y="384048"/>
            <a:ext cx="8183880" cy="731520"/>
          </a:xfrm>
          <a:prstGeom prst="roundRect">
            <a:avLst>
              <a:gd name="adj" fmla="val 12500"/>
            </a:avLst>
          </a:prstGeom>
          <a:solidFill>
            <a:srgbClr val="E4F3EF"/>
          </a:solidFill>
          <a:ln>
            <a:solidFill>
              <a:srgbClr val="E4F3EF"/>
            </a:solidFill>
          </a:ln>
        </p:spPr>
        <p:txBody>
          <a:bodyPr wrap="square" lIns="45720" tIns="182880" rIns="137160" bIns="45720" rtlCol="0" anchor="ctr"/>
          <a:lstStyle/>
          <a:p>
            <a:pPr algn="l" indent="0" marL="0">
              <a:buNone/>
            </a:pPr>
            <a:r>
              <a:rPr lang="en-US" sz="2400" b="1" dirty="0">
                <a:solidFill>
                  <a:srgbClr val="12294D"/>
                </a:solidFill>
                <a:latin typeface="Arial" pitchFamily="34" charset="0"/>
                <a:ea typeface="Arial" pitchFamily="34" charset="-122"/>
                <a:cs typeface="Arial" pitchFamily="34" charset="-120"/>
              </a:rPr>
              <a:t>Where the story comes from</a:t>
            </a:r>
            <a:endParaRPr lang="en-US" sz="2400" dirty="0"/>
          </a:p>
        </p:txBody>
      </p:sp>
      <p:sp>
        <p:nvSpPr>
          <p:cNvPr id="5" name="Text 2"/>
          <p:cNvSpPr/>
          <p:nvPr/>
        </p:nvSpPr>
        <p:spPr>
          <a:xfrm>
            <a:off x="9784080" y="457200"/>
            <a:ext cx="1874520" cy="566928"/>
          </a:xfrm>
          <a:prstGeom prst="roundRect">
            <a:avLst>
              <a:gd name="adj" fmla="val 16129"/>
            </a:avLst>
          </a:prstGeom>
          <a:solidFill>
            <a:srgbClr val="00A08A"/>
          </a:solidFill>
          <a:ln>
            <a:solidFill>
              <a:srgbClr val="00A08A"/>
            </a:solid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 8 min</a:t>
            </a:r>
            <a:endParaRPr lang="en-US" sz="1700" dirty="0"/>
          </a:p>
        </p:txBody>
      </p:sp>
      <p:sp>
        <p:nvSpPr>
          <p:cNvPr id="6" name="Text 3"/>
          <p:cNvSpPr/>
          <p:nvPr/>
        </p:nvSpPr>
        <p:spPr>
          <a:xfrm>
            <a:off x="1371600" y="1097280"/>
            <a:ext cx="10149840" cy="502920"/>
          </a:xfrm>
          <a:prstGeom prst="rect">
            <a:avLst/>
          </a:prstGeom>
          <a:noFill/>
          <a:ln/>
        </p:spPr>
        <p:txBody>
          <a:bodyPr wrap="square" lIns="45720" tIns="91440" rIns="91440" bIns="45720" rtlCol="0" anchor="ctr"/>
          <a:lstStyle/>
          <a:p>
            <a:pPr algn="l" indent="0" marL="0">
              <a:buNone/>
            </a:pPr>
            <a:r>
              <a:rPr lang="en-US" sz="1500" i="1" dirty="0">
                <a:solidFill>
                  <a:srgbClr val="404040"/>
                </a:solidFill>
                <a:latin typeface="Arial" pitchFamily="34" charset="0"/>
                <a:ea typeface="Arial" pitchFamily="34" charset="-122"/>
                <a:cs typeface="Arial" pitchFamily="34" charset="-120"/>
              </a:rPr>
              <a:t>Greek myth: the world before The Odyssey begins.</a:t>
            </a:r>
            <a:endParaRPr lang="en-US" sz="1500" dirty="0"/>
          </a:p>
        </p:txBody>
      </p:sp>
      <p:sp>
        <p:nvSpPr>
          <p:cNvPr id="7" name="Text 4"/>
          <p:cNvSpPr/>
          <p:nvPr/>
        </p:nvSpPr>
        <p:spPr>
          <a:xfrm>
            <a:off x="457200" y="6327648"/>
            <a:ext cx="822960" cy="292608"/>
          </a:xfrm>
          <a:prstGeom prst="rect">
            <a:avLst/>
          </a:prstGeom>
          <a:noFill/>
          <a:ln/>
        </p:spPr>
        <p:txBody>
          <a:bodyPr wrap="square" lIns="0" tIns="0" rIns="0" bIns="0" rtlCol="0" anchor="ctr"/>
          <a:lstStyle/>
          <a:p>
            <a:pPr indent="0" marL="0">
              <a:buNone/>
            </a:pPr>
            <a:r>
              <a:rPr lang="en-US" sz="1100" b="1" dirty="0">
                <a:solidFill>
                  <a:srgbClr val="6E6E6E"/>
                </a:solidFill>
                <a:latin typeface="Arial" pitchFamily="34" charset="0"/>
                <a:ea typeface="Arial" pitchFamily="34" charset="-122"/>
                <a:cs typeface="Arial" pitchFamily="34" charset="-120"/>
              </a:rPr>
              <a:t>AIMS →</a:t>
            </a:r>
            <a:endParaRPr lang="en-US" sz="1100" dirty="0"/>
          </a:p>
        </p:txBody>
      </p:sp>
      <p:sp>
        <p:nvSpPr>
          <p:cNvPr id="8" name="Text 5"/>
          <p:cNvSpPr/>
          <p:nvPr/>
        </p:nvSpPr>
        <p:spPr>
          <a:xfrm>
            <a:off x="132588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REMEMBER</a:t>
            </a:r>
            <a:endParaRPr lang="en-US" sz="1200" dirty="0"/>
          </a:p>
        </p:txBody>
      </p:sp>
      <p:sp>
        <p:nvSpPr>
          <p:cNvPr id="9" name="Text 6"/>
          <p:cNvSpPr/>
          <p:nvPr/>
        </p:nvSpPr>
        <p:spPr>
          <a:xfrm>
            <a:off x="3977640" y="6291072"/>
            <a:ext cx="2514600" cy="365760"/>
          </a:xfrm>
          <a:prstGeom prst="roundRect">
            <a:avLst>
              <a:gd name="adj" fmla="val 22500"/>
            </a:avLst>
          </a:prstGeom>
          <a:solidFill>
            <a:srgbClr val="00A08A"/>
          </a:solidFill>
          <a:ln>
            <a:solidFill>
              <a:srgbClr val="00A08A"/>
            </a:solid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 UNDERSTAND</a:t>
            </a:r>
            <a:endParaRPr lang="en-US" sz="1200" dirty="0"/>
          </a:p>
        </p:txBody>
      </p:sp>
      <p:sp>
        <p:nvSpPr>
          <p:cNvPr id="10" name="Text 7"/>
          <p:cNvSpPr/>
          <p:nvPr/>
        </p:nvSpPr>
        <p:spPr>
          <a:xfrm>
            <a:off x="662940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ANALYSE</a:t>
            </a:r>
            <a:endParaRPr lang="en-US" sz="1200" dirty="0"/>
          </a:p>
        </p:txBody>
      </p:sp>
      <p:sp>
        <p:nvSpPr>
          <p:cNvPr id="11" name="Text 8"/>
          <p:cNvSpPr/>
          <p:nvPr/>
        </p:nvSpPr>
        <p:spPr>
          <a:xfrm>
            <a:off x="928116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EVALUATE</a:t>
            </a:r>
            <a:endParaRPr lang="en-US" sz="1200" dirty="0"/>
          </a:p>
        </p:txBody>
      </p:sp>
      <p:sp>
        <p:nvSpPr>
          <p:cNvPr id="12" name="Text 9"/>
          <p:cNvSpPr/>
          <p:nvPr/>
        </p:nvSpPr>
        <p:spPr>
          <a:xfrm>
            <a:off x="457200" y="6702552"/>
            <a:ext cx="8229600" cy="155448"/>
          </a:xfrm>
          <a:prstGeom prst="rect">
            <a:avLst/>
          </a:prstGeom>
          <a:noFill/>
          <a:ln/>
        </p:spPr>
        <p:txBody>
          <a:bodyPr wrap="square" lIns="0" tIns="0" rIns="0" bIns="0" rtlCol="0" anchor="t"/>
          <a:lstStyle/>
          <a:p>
            <a:pPr indent="0" marL="0">
              <a:buNone/>
            </a:pPr>
            <a:r>
              <a:rPr lang="en-US" sz="900" dirty="0">
                <a:solidFill>
                  <a:srgbClr val="AAB4C2"/>
                </a:solidFill>
                <a:latin typeface="Arial" pitchFamily="34" charset="0"/>
                <a:ea typeface="Arial" pitchFamily="34" charset="-122"/>
                <a:cs typeface="Arial" pitchFamily="34" charset="-120"/>
              </a:rPr>
              <a:t>Harlington English · The Odyssey · Epic poetry and the epic hero</a:t>
            </a:r>
            <a:endParaRPr lang="en-US" sz="900" dirty="0"/>
          </a:p>
        </p:txBody>
      </p:sp>
      <p:sp>
        <p:nvSpPr>
          <p:cNvPr id="13" name="Text 10"/>
          <p:cNvSpPr/>
          <p:nvPr/>
        </p:nvSpPr>
        <p:spPr>
          <a:xfrm>
            <a:off x="548640" y="1783080"/>
            <a:ext cx="2606040" cy="914400"/>
          </a:xfrm>
          <a:prstGeom prst="roundRect">
            <a:avLst>
              <a:gd name="adj" fmla="val 10000"/>
            </a:avLst>
          </a:prstGeom>
          <a:solidFill>
            <a:srgbClr val="00A08A"/>
          </a:solidFill>
          <a:ln>
            <a:solidFill>
              <a:srgbClr val="00A08A"/>
            </a:solidFill>
          </a:ln>
        </p:spPr>
        <p:txBody>
          <a:bodyPr wrap="square" lIns="45720" tIns="137160" rIns="91440" bIns="45720" rtlCol="0" anchor="ctr"/>
          <a:lstStyle/>
          <a:p>
            <a:pPr algn="l" indent="0" marL="0">
              <a:buNone/>
            </a:pPr>
            <a:r>
              <a:rPr lang="en-US" sz="1600" b="1" dirty="0">
                <a:solidFill>
                  <a:srgbClr val="FFFFFF"/>
                </a:solidFill>
                <a:latin typeface="Arial" pitchFamily="34" charset="0"/>
                <a:ea typeface="Arial" pitchFamily="34" charset="-122"/>
                <a:cs typeface="Arial" pitchFamily="34" charset="-120"/>
              </a:rPr>
              <a:t>THE WAR</a:t>
            </a:r>
            <a:endParaRPr lang="en-US" sz="1600" dirty="0"/>
          </a:p>
        </p:txBody>
      </p:sp>
      <p:sp>
        <p:nvSpPr>
          <p:cNvPr id="14" name="Shape 11"/>
          <p:cNvSpPr/>
          <p:nvPr/>
        </p:nvSpPr>
        <p:spPr>
          <a:xfrm>
            <a:off x="3291840" y="1783080"/>
            <a:ext cx="8321040" cy="914400"/>
          </a:xfrm>
          <a:prstGeom prst="roundRect">
            <a:avLst>
              <a:gd name="adj" fmla="val 8000"/>
            </a:avLst>
          </a:prstGeom>
          <a:solidFill>
            <a:srgbClr val="FEF7E4"/>
          </a:solidFill>
          <a:ln w="12700">
            <a:solidFill>
              <a:srgbClr val="E5D9B0"/>
            </a:solidFill>
            <a:prstDash val="solid"/>
          </a:ln>
        </p:spPr>
      </p:sp>
      <p:sp>
        <p:nvSpPr>
          <p:cNvPr id="15" name="Text 12"/>
          <p:cNvSpPr/>
          <p:nvPr/>
        </p:nvSpPr>
        <p:spPr>
          <a:xfrm>
            <a:off x="3456432" y="1783080"/>
            <a:ext cx="8001000" cy="914400"/>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The Greeks fought the city of Troy for ten years. The trick that ended it — a wooden horse full of soldiers — was Odysseus' idea.</a:t>
            </a:r>
            <a:endParaRPr lang="en-US" sz="1800" dirty="0"/>
          </a:p>
        </p:txBody>
      </p:sp>
      <p:sp>
        <p:nvSpPr>
          <p:cNvPr id="16" name="Text 13"/>
          <p:cNvSpPr/>
          <p:nvPr/>
        </p:nvSpPr>
        <p:spPr>
          <a:xfrm>
            <a:off x="548640" y="2843784"/>
            <a:ext cx="2606040" cy="914400"/>
          </a:xfrm>
          <a:prstGeom prst="roundRect">
            <a:avLst>
              <a:gd name="adj" fmla="val 10000"/>
            </a:avLst>
          </a:prstGeom>
          <a:solidFill>
            <a:srgbClr val="00A08A"/>
          </a:solidFill>
          <a:ln>
            <a:solidFill>
              <a:srgbClr val="00A08A"/>
            </a:solidFill>
          </a:ln>
        </p:spPr>
        <p:txBody>
          <a:bodyPr wrap="square" lIns="45720" tIns="137160" rIns="91440" bIns="45720" rtlCol="0" anchor="ctr"/>
          <a:lstStyle/>
          <a:p>
            <a:pPr algn="l" indent="0" marL="0">
              <a:buNone/>
            </a:pPr>
            <a:r>
              <a:rPr lang="en-US" sz="1600" b="1" dirty="0">
                <a:solidFill>
                  <a:srgbClr val="FFFFFF"/>
                </a:solidFill>
                <a:latin typeface="Arial" pitchFamily="34" charset="0"/>
                <a:ea typeface="Arial" pitchFamily="34" charset="-122"/>
                <a:cs typeface="Arial" pitchFamily="34" charset="-120"/>
              </a:rPr>
              <a:t>THE POET</a:t>
            </a:r>
            <a:endParaRPr lang="en-US" sz="1600" dirty="0"/>
          </a:p>
        </p:txBody>
      </p:sp>
      <p:sp>
        <p:nvSpPr>
          <p:cNvPr id="17" name="Shape 14"/>
          <p:cNvSpPr/>
          <p:nvPr/>
        </p:nvSpPr>
        <p:spPr>
          <a:xfrm>
            <a:off x="3291840" y="2843784"/>
            <a:ext cx="8321040" cy="914400"/>
          </a:xfrm>
          <a:prstGeom prst="roundRect">
            <a:avLst>
              <a:gd name="adj" fmla="val 8000"/>
            </a:avLst>
          </a:prstGeom>
          <a:solidFill>
            <a:srgbClr val="FEF7E4"/>
          </a:solidFill>
          <a:ln w="12700">
            <a:solidFill>
              <a:srgbClr val="E5D9B0"/>
            </a:solidFill>
            <a:prstDash val="solid"/>
          </a:ln>
        </p:spPr>
      </p:sp>
      <p:sp>
        <p:nvSpPr>
          <p:cNvPr id="18" name="Text 15"/>
          <p:cNvSpPr/>
          <p:nvPr/>
        </p:nvSpPr>
        <p:spPr>
          <a:xfrm>
            <a:off x="3456432" y="2843784"/>
            <a:ext cx="8001000" cy="914400"/>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The Greeks said a blind poet called Homer made the poem, about 2,700 years ago. Nobody knows for certain who he was.</a:t>
            </a:r>
            <a:endParaRPr lang="en-US" sz="1800" dirty="0"/>
          </a:p>
        </p:txBody>
      </p:sp>
      <p:sp>
        <p:nvSpPr>
          <p:cNvPr id="19" name="Text 16"/>
          <p:cNvSpPr/>
          <p:nvPr/>
        </p:nvSpPr>
        <p:spPr>
          <a:xfrm>
            <a:off x="548640" y="3904488"/>
            <a:ext cx="2606040" cy="914400"/>
          </a:xfrm>
          <a:prstGeom prst="roundRect">
            <a:avLst>
              <a:gd name="adj" fmla="val 10000"/>
            </a:avLst>
          </a:prstGeom>
          <a:solidFill>
            <a:srgbClr val="00A08A"/>
          </a:solidFill>
          <a:ln>
            <a:solidFill>
              <a:srgbClr val="00A08A"/>
            </a:solidFill>
          </a:ln>
        </p:spPr>
        <p:txBody>
          <a:bodyPr wrap="square" lIns="45720" tIns="137160" rIns="91440" bIns="45720" rtlCol="0" anchor="ctr"/>
          <a:lstStyle/>
          <a:p>
            <a:pPr algn="l" indent="0" marL="0">
              <a:buNone/>
            </a:pPr>
            <a:r>
              <a:rPr lang="en-US" sz="1600" b="1" dirty="0">
                <a:solidFill>
                  <a:srgbClr val="FFFFFF"/>
                </a:solidFill>
                <a:latin typeface="Arial" pitchFamily="34" charset="0"/>
                <a:ea typeface="Arial" pitchFamily="34" charset="-122"/>
                <a:cs typeface="Arial" pitchFamily="34" charset="-120"/>
              </a:rPr>
              <a:t>THE GODS</a:t>
            </a:r>
            <a:endParaRPr lang="en-US" sz="1600" dirty="0"/>
          </a:p>
        </p:txBody>
      </p:sp>
      <p:sp>
        <p:nvSpPr>
          <p:cNvPr id="20" name="Shape 17"/>
          <p:cNvSpPr/>
          <p:nvPr/>
        </p:nvSpPr>
        <p:spPr>
          <a:xfrm>
            <a:off x="3291840" y="3904488"/>
            <a:ext cx="8321040" cy="914400"/>
          </a:xfrm>
          <a:prstGeom prst="roundRect">
            <a:avLst>
              <a:gd name="adj" fmla="val 8000"/>
            </a:avLst>
          </a:prstGeom>
          <a:solidFill>
            <a:srgbClr val="FEF7E4"/>
          </a:solidFill>
          <a:ln w="12700">
            <a:solidFill>
              <a:srgbClr val="E5D9B0"/>
            </a:solidFill>
            <a:prstDash val="solid"/>
          </a:ln>
        </p:spPr>
      </p:sp>
      <p:sp>
        <p:nvSpPr>
          <p:cNvPr id="21" name="Text 18"/>
          <p:cNvSpPr/>
          <p:nvPr/>
        </p:nvSpPr>
        <p:spPr>
          <a:xfrm>
            <a:off x="3456432" y="3904488"/>
            <a:ext cx="8001000" cy="914400"/>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Greek gods are powerful but not perfect. They argue, sulk and take revenge. A hero who offends one is in real trouble.</a:t>
            </a:r>
            <a:endParaRPr lang="en-US" sz="1800" dirty="0"/>
          </a:p>
        </p:txBody>
      </p:sp>
      <p:sp>
        <p:nvSpPr>
          <p:cNvPr id="22" name="Text 19"/>
          <p:cNvSpPr/>
          <p:nvPr/>
        </p:nvSpPr>
        <p:spPr>
          <a:xfrm>
            <a:off x="548640" y="5715000"/>
            <a:ext cx="11064240" cy="365760"/>
          </a:xfrm>
          <a:prstGeom prst="rect">
            <a:avLst/>
          </a:prstGeom>
          <a:noFill/>
          <a:ln/>
        </p:spPr>
        <p:txBody>
          <a:bodyPr wrap="square" lIns="0" tIns="0" rIns="0" bIns="0" rtlCol="0" anchor="ctr"/>
          <a:lstStyle/>
          <a:p>
            <a:pPr algn="l" indent="0" marL="0">
              <a:buNone/>
            </a:pPr>
            <a:r>
              <a:rPr lang="en-US" sz="1500" b="1" i="1" dirty="0">
                <a:solidFill>
                  <a:srgbClr val="12294D"/>
                </a:solidFill>
                <a:latin typeface="Arial" pitchFamily="34" charset="0"/>
                <a:ea typeface="Arial" pitchFamily="34" charset="-122"/>
                <a:cs typeface="Arial" pitchFamily="34" charset="-120"/>
              </a:rPr>
              <a:t>➜  A myth explains the world; an epic follows one hero through it.</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457200" y="384048"/>
            <a:ext cx="731520" cy="731520"/>
          </a:xfrm>
          <a:prstGeom prst="roundRect">
            <a:avLst>
              <a:gd name="adj" fmla="val 15000"/>
            </a:avLst>
          </a:prstGeom>
          <a:solidFill>
            <a:srgbClr val="00A08A"/>
          </a:solidFill>
          <a:ln w="12700">
            <a:solidFill>
              <a:srgbClr val="00A08A"/>
            </a:solidFill>
            <a:prstDash val="solid"/>
          </a:ln>
        </p:spPr>
      </p:sp>
      <p:pic>
        <p:nvPicPr>
          <p:cNvPr id="3" name="Image 0" descr="/home/claude/english/kit/decks/_icons/file-text-FFFFFF.png">    </p:cNvPr>
          <p:cNvPicPr>
            <a:picLocks noChangeAspect="1"/>
          </p:cNvPicPr>
          <p:nvPr/>
        </p:nvPicPr>
        <p:blipFill>
          <a:blip r:embed="rId1"/>
          <a:stretch>
            <a:fillRect/>
          </a:stretch>
        </p:blipFill>
        <p:spPr>
          <a:xfrm>
            <a:off x="603504" y="530352"/>
            <a:ext cx="438912" cy="438912"/>
          </a:xfrm>
          <a:prstGeom prst="rect">
            <a:avLst/>
          </a:prstGeom>
        </p:spPr>
      </p:pic>
      <p:sp>
        <p:nvSpPr>
          <p:cNvPr id="4" name="Text 1"/>
          <p:cNvSpPr/>
          <p:nvPr/>
        </p:nvSpPr>
        <p:spPr>
          <a:xfrm>
            <a:off x="1298448" y="384048"/>
            <a:ext cx="8183880" cy="731520"/>
          </a:xfrm>
          <a:prstGeom prst="roundRect">
            <a:avLst>
              <a:gd name="adj" fmla="val 12500"/>
            </a:avLst>
          </a:prstGeom>
          <a:solidFill>
            <a:srgbClr val="E4F3EF"/>
          </a:solidFill>
          <a:ln>
            <a:solidFill>
              <a:srgbClr val="E4F3EF"/>
            </a:solidFill>
          </a:ln>
        </p:spPr>
        <p:txBody>
          <a:bodyPr wrap="square" lIns="45720" tIns="182880" rIns="137160" bIns="45720" rtlCol="0" anchor="ctr"/>
          <a:lstStyle/>
          <a:p>
            <a:pPr algn="l" indent="0" marL="0">
              <a:buNone/>
            </a:pPr>
            <a:r>
              <a:rPr lang="en-US" sz="2400" b="1" dirty="0">
                <a:solidFill>
                  <a:srgbClr val="12294D"/>
                </a:solidFill>
                <a:latin typeface="Arial" pitchFamily="34" charset="0"/>
                <a:ea typeface="Arial" pitchFamily="34" charset="-122"/>
                <a:cs typeface="Arial" pitchFamily="34" charset="-120"/>
              </a:rPr>
              <a:t>Read the extract</a:t>
            </a:r>
            <a:endParaRPr lang="en-US" sz="2400" dirty="0"/>
          </a:p>
        </p:txBody>
      </p:sp>
      <p:sp>
        <p:nvSpPr>
          <p:cNvPr id="5" name="Text 2"/>
          <p:cNvSpPr/>
          <p:nvPr/>
        </p:nvSpPr>
        <p:spPr>
          <a:xfrm>
            <a:off x="9784080" y="457200"/>
            <a:ext cx="1874520" cy="566928"/>
          </a:xfrm>
          <a:prstGeom prst="roundRect">
            <a:avLst>
              <a:gd name="adj" fmla="val 16129"/>
            </a:avLst>
          </a:prstGeom>
          <a:solidFill>
            <a:srgbClr val="00A08A"/>
          </a:solidFill>
          <a:ln>
            <a:solidFill>
              <a:srgbClr val="00A08A"/>
            </a:solid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 8 min</a:t>
            </a:r>
            <a:endParaRPr lang="en-US" sz="1700" dirty="0"/>
          </a:p>
        </p:txBody>
      </p:sp>
      <p:sp>
        <p:nvSpPr>
          <p:cNvPr id="6" name="Text 3"/>
          <p:cNvSpPr/>
          <p:nvPr/>
        </p:nvSpPr>
        <p:spPr>
          <a:xfrm>
            <a:off x="1371600" y="1097280"/>
            <a:ext cx="10149840" cy="502920"/>
          </a:xfrm>
          <a:prstGeom prst="rect">
            <a:avLst/>
          </a:prstGeom>
          <a:noFill/>
          <a:ln/>
        </p:spPr>
        <p:txBody>
          <a:bodyPr wrap="square" lIns="45720" tIns="91440" rIns="91440" bIns="45720" rtlCol="0" anchor="ctr"/>
          <a:lstStyle/>
          <a:p>
            <a:pPr algn="l" indent="0" marL="0">
              <a:buNone/>
            </a:pPr>
            <a:r>
              <a:rPr lang="en-US" sz="1500" i="1" dirty="0">
                <a:solidFill>
                  <a:srgbClr val="404040"/>
                </a:solidFill>
                <a:latin typeface="Arial" pitchFamily="34" charset="0"/>
                <a:ea typeface="Arial" pitchFamily="34" charset="-122"/>
                <a:cs typeface="Arial" pitchFamily="34" charset="-120"/>
              </a:rPr>
              <a:t>A modern retelling of the poem's opening. Read it twice: once for the story, once for the words.</a:t>
            </a:r>
            <a:endParaRPr lang="en-US" sz="1500" dirty="0"/>
          </a:p>
        </p:txBody>
      </p:sp>
      <p:sp>
        <p:nvSpPr>
          <p:cNvPr id="7" name="Text 4"/>
          <p:cNvSpPr/>
          <p:nvPr/>
        </p:nvSpPr>
        <p:spPr>
          <a:xfrm>
            <a:off x="457200" y="6327648"/>
            <a:ext cx="822960" cy="292608"/>
          </a:xfrm>
          <a:prstGeom prst="rect">
            <a:avLst/>
          </a:prstGeom>
          <a:noFill/>
          <a:ln/>
        </p:spPr>
        <p:txBody>
          <a:bodyPr wrap="square" lIns="0" tIns="0" rIns="0" bIns="0" rtlCol="0" anchor="ctr"/>
          <a:lstStyle/>
          <a:p>
            <a:pPr indent="0" marL="0">
              <a:buNone/>
            </a:pPr>
            <a:r>
              <a:rPr lang="en-US" sz="1100" b="1" dirty="0">
                <a:solidFill>
                  <a:srgbClr val="6E6E6E"/>
                </a:solidFill>
                <a:latin typeface="Arial" pitchFamily="34" charset="0"/>
                <a:ea typeface="Arial" pitchFamily="34" charset="-122"/>
                <a:cs typeface="Arial" pitchFamily="34" charset="-120"/>
              </a:rPr>
              <a:t>AIMS →</a:t>
            </a:r>
            <a:endParaRPr lang="en-US" sz="1100" dirty="0"/>
          </a:p>
        </p:txBody>
      </p:sp>
      <p:sp>
        <p:nvSpPr>
          <p:cNvPr id="8" name="Text 5"/>
          <p:cNvSpPr/>
          <p:nvPr/>
        </p:nvSpPr>
        <p:spPr>
          <a:xfrm>
            <a:off x="132588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REMEMBER</a:t>
            </a:r>
            <a:endParaRPr lang="en-US" sz="1200" dirty="0"/>
          </a:p>
        </p:txBody>
      </p:sp>
      <p:sp>
        <p:nvSpPr>
          <p:cNvPr id="9" name="Text 6"/>
          <p:cNvSpPr/>
          <p:nvPr/>
        </p:nvSpPr>
        <p:spPr>
          <a:xfrm>
            <a:off x="3977640" y="6291072"/>
            <a:ext cx="2514600" cy="365760"/>
          </a:xfrm>
          <a:prstGeom prst="roundRect">
            <a:avLst>
              <a:gd name="adj" fmla="val 22500"/>
            </a:avLst>
          </a:prstGeom>
          <a:solidFill>
            <a:srgbClr val="00A08A"/>
          </a:solidFill>
          <a:ln>
            <a:solidFill>
              <a:srgbClr val="00A08A"/>
            </a:solid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 UNDERSTAND</a:t>
            </a:r>
            <a:endParaRPr lang="en-US" sz="1200" dirty="0"/>
          </a:p>
        </p:txBody>
      </p:sp>
      <p:sp>
        <p:nvSpPr>
          <p:cNvPr id="10" name="Text 7"/>
          <p:cNvSpPr/>
          <p:nvPr/>
        </p:nvSpPr>
        <p:spPr>
          <a:xfrm>
            <a:off x="662940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ANALYSE</a:t>
            </a:r>
            <a:endParaRPr lang="en-US" sz="1200" dirty="0"/>
          </a:p>
        </p:txBody>
      </p:sp>
      <p:sp>
        <p:nvSpPr>
          <p:cNvPr id="11" name="Text 8"/>
          <p:cNvSpPr/>
          <p:nvPr/>
        </p:nvSpPr>
        <p:spPr>
          <a:xfrm>
            <a:off x="928116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EVALUATE</a:t>
            </a:r>
            <a:endParaRPr lang="en-US" sz="1200" dirty="0"/>
          </a:p>
        </p:txBody>
      </p:sp>
      <p:sp>
        <p:nvSpPr>
          <p:cNvPr id="12" name="Text 9"/>
          <p:cNvSpPr/>
          <p:nvPr/>
        </p:nvSpPr>
        <p:spPr>
          <a:xfrm>
            <a:off x="457200" y="6702552"/>
            <a:ext cx="8229600" cy="155448"/>
          </a:xfrm>
          <a:prstGeom prst="rect">
            <a:avLst/>
          </a:prstGeom>
          <a:noFill/>
          <a:ln/>
        </p:spPr>
        <p:txBody>
          <a:bodyPr wrap="square" lIns="0" tIns="0" rIns="0" bIns="0" rtlCol="0" anchor="t"/>
          <a:lstStyle/>
          <a:p>
            <a:pPr indent="0" marL="0">
              <a:buNone/>
            </a:pPr>
            <a:r>
              <a:rPr lang="en-US" sz="900" dirty="0">
                <a:solidFill>
                  <a:srgbClr val="AAB4C2"/>
                </a:solidFill>
                <a:latin typeface="Arial" pitchFamily="34" charset="0"/>
                <a:ea typeface="Arial" pitchFamily="34" charset="-122"/>
                <a:cs typeface="Arial" pitchFamily="34" charset="-120"/>
              </a:rPr>
              <a:t>Harlington English · The Odyssey · Epic poetry and the epic hero</a:t>
            </a:r>
            <a:endParaRPr lang="en-US" sz="900" dirty="0"/>
          </a:p>
        </p:txBody>
      </p:sp>
      <p:sp>
        <p:nvSpPr>
          <p:cNvPr id="13" name="Shape 10"/>
          <p:cNvSpPr/>
          <p:nvPr/>
        </p:nvSpPr>
        <p:spPr>
          <a:xfrm>
            <a:off x="548640" y="1783080"/>
            <a:ext cx="6949440" cy="4343400"/>
          </a:xfrm>
          <a:prstGeom prst="roundRect">
            <a:avLst>
              <a:gd name="adj" fmla="val 1263"/>
            </a:avLst>
          </a:prstGeom>
          <a:solidFill>
            <a:srgbClr val="FEF7E4"/>
          </a:solidFill>
          <a:ln w="12700">
            <a:solidFill>
              <a:srgbClr val="E5D9B0"/>
            </a:solidFill>
            <a:prstDash val="solid"/>
          </a:ln>
        </p:spPr>
      </p:sp>
      <p:sp>
        <p:nvSpPr>
          <p:cNvPr id="14" name="Text 11"/>
          <p:cNvSpPr/>
          <p:nvPr/>
        </p:nvSpPr>
        <p:spPr>
          <a:xfrm>
            <a:off x="731520" y="1874520"/>
            <a:ext cx="6583680" cy="274320"/>
          </a:xfrm>
          <a:prstGeom prst="rect">
            <a:avLst/>
          </a:prstGeom>
          <a:noFill/>
          <a:ln/>
        </p:spPr>
        <p:txBody>
          <a:bodyPr wrap="square" lIns="0" tIns="0" rIns="0" bIns="0" rtlCol="0" anchor="ctr"/>
          <a:lstStyle/>
          <a:p>
            <a:pPr indent="0" marL="0">
              <a:buNone/>
            </a:pPr>
            <a:r>
              <a:rPr lang="en-US" sz="1100" b="1" spc="100" kern="0" dirty="0">
                <a:solidFill>
                  <a:srgbClr val="8A6D00"/>
                </a:solidFill>
                <a:latin typeface="Arial" pitchFamily="34" charset="0"/>
                <a:ea typeface="Arial" pitchFamily="34" charset="-122"/>
                <a:cs typeface="Arial" pitchFamily="34" charset="-120"/>
              </a:rPr>
              <a:t>ORIGINAL RETELLING WRITTEN FOR THIS LESSON</a:t>
            </a:r>
            <a:endParaRPr lang="en-US" sz="1100" dirty="0"/>
          </a:p>
        </p:txBody>
      </p:sp>
      <p:sp>
        <p:nvSpPr>
          <p:cNvPr id="15" name="Text 12"/>
          <p:cNvSpPr/>
          <p:nvPr/>
        </p:nvSpPr>
        <p:spPr>
          <a:xfrm>
            <a:off x="685800" y="2176272"/>
            <a:ext cx="6675120" cy="3840480"/>
          </a:xfrm>
          <a:prstGeom prst="rect">
            <a:avLst/>
          </a:prstGeom>
          <a:noFill/>
          <a:ln/>
        </p:spPr>
        <p:txBody>
          <a:bodyPr wrap="square" lIns="91440" tIns="137160" rIns="137160" bIns="91440" rtlCol="0" anchor="t"/>
          <a:lstStyle/>
          <a:p>
            <a:pPr algn="l" indent="0" marL="0">
              <a:buNone/>
            </a:pPr>
            <a:r>
              <a:rPr lang="en-US" sz="1800" dirty="0">
                <a:solidFill>
                  <a:srgbClr val="16171F"/>
                </a:solidFill>
                <a:latin typeface="Arial" pitchFamily="34" charset="0"/>
                <a:ea typeface="Arial" pitchFamily="34" charset="-122"/>
                <a:cs typeface="Arial" pitchFamily="34" charset="-120"/>
              </a:rPr>
              <a:t>Tell me, Muse, about the man who could not sit still. The man of many turns, who saw the walls of Troy fall and then wandered for years across a wine-dark sea. He saw the cities of strange peoples and learned their minds. He suffered on the water, fighting for his own life and for the lives of his men. But he could not save them, for all his trying. They died by their own foolishness, and he came home alone.</a:t>
            </a:r>
            <a:endParaRPr lang="en-US" sz="1800" dirty="0"/>
          </a:p>
        </p:txBody>
      </p:sp>
      <p:sp>
        <p:nvSpPr>
          <p:cNvPr id="16" name="Text 13"/>
          <p:cNvSpPr/>
          <p:nvPr/>
        </p:nvSpPr>
        <p:spPr>
          <a:xfrm>
            <a:off x="7726680" y="1783080"/>
            <a:ext cx="502920" cy="548640"/>
          </a:xfrm>
          <a:prstGeom prst="roundRect">
            <a:avLst>
              <a:gd name="adj" fmla="val 21818"/>
            </a:avLst>
          </a:prstGeom>
          <a:solidFill>
            <a:srgbClr val="FFC93C"/>
          </a:solidFill>
          <a:ln>
            <a:solidFill>
              <a:srgbClr val="FFC93C"/>
            </a:solidFill>
          </a:ln>
        </p:spPr>
        <p:txBody>
          <a:bodyPr wrap="square" lIns="0" tIns="0" rIns="0" bIns="0" rtlCol="0" anchor="ctr"/>
          <a:lstStyle/>
          <a:p>
            <a:pPr algn="ctr" indent="0" marL="0">
              <a:buNone/>
            </a:pPr>
            <a:r>
              <a:rPr lang="en-US" sz="1800" b="1" dirty="0">
                <a:solidFill>
                  <a:srgbClr val="12294D"/>
                </a:solidFill>
                <a:latin typeface="Arial" pitchFamily="34" charset="0"/>
                <a:ea typeface="Arial" pitchFamily="34" charset="-122"/>
                <a:cs typeface="Arial" pitchFamily="34" charset="-120"/>
              </a:rPr>
              <a:t>1</a:t>
            </a:r>
            <a:endParaRPr lang="en-US" sz="1800" dirty="0"/>
          </a:p>
        </p:txBody>
      </p:sp>
      <p:sp>
        <p:nvSpPr>
          <p:cNvPr id="17" name="Shape 14"/>
          <p:cNvSpPr/>
          <p:nvPr/>
        </p:nvSpPr>
        <p:spPr>
          <a:xfrm>
            <a:off x="8321040" y="1783080"/>
            <a:ext cx="3291840" cy="960120"/>
          </a:xfrm>
          <a:prstGeom prst="roundRect">
            <a:avLst>
              <a:gd name="adj" fmla="val 6667"/>
            </a:avLst>
          </a:prstGeom>
          <a:solidFill>
            <a:srgbClr val="FFFFFF"/>
          </a:solidFill>
          <a:ln w="12700">
            <a:solidFill>
              <a:srgbClr val="80ADC4"/>
            </a:solidFill>
            <a:prstDash val="solid"/>
          </a:ln>
        </p:spPr>
      </p:sp>
      <p:sp>
        <p:nvSpPr>
          <p:cNvPr id="18" name="Text 15"/>
          <p:cNvSpPr/>
          <p:nvPr/>
        </p:nvSpPr>
        <p:spPr>
          <a:xfrm>
            <a:off x="8366760" y="1783080"/>
            <a:ext cx="3200400" cy="960120"/>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Who is the poet asking for help — and why?</a:t>
            </a:r>
            <a:endParaRPr lang="en-US" sz="1800" dirty="0"/>
          </a:p>
        </p:txBody>
      </p:sp>
      <p:sp>
        <p:nvSpPr>
          <p:cNvPr id="19" name="Text 16"/>
          <p:cNvSpPr/>
          <p:nvPr/>
        </p:nvSpPr>
        <p:spPr>
          <a:xfrm>
            <a:off x="7726680" y="2889504"/>
            <a:ext cx="502920" cy="548640"/>
          </a:xfrm>
          <a:prstGeom prst="roundRect">
            <a:avLst>
              <a:gd name="adj" fmla="val 21818"/>
            </a:avLst>
          </a:prstGeom>
          <a:solidFill>
            <a:srgbClr val="FFC93C"/>
          </a:solidFill>
          <a:ln>
            <a:solidFill>
              <a:srgbClr val="FFC93C"/>
            </a:solidFill>
          </a:ln>
        </p:spPr>
        <p:txBody>
          <a:bodyPr wrap="square" lIns="0" tIns="0" rIns="0" bIns="0" rtlCol="0" anchor="ctr"/>
          <a:lstStyle/>
          <a:p>
            <a:pPr algn="ctr" indent="0" marL="0">
              <a:buNone/>
            </a:pPr>
            <a:r>
              <a:rPr lang="en-US" sz="1800" b="1" dirty="0">
                <a:solidFill>
                  <a:srgbClr val="12294D"/>
                </a:solidFill>
                <a:latin typeface="Arial" pitchFamily="34" charset="0"/>
                <a:ea typeface="Arial" pitchFamily="34" charset="-122"/>
                <a:cs typeface="Arial" pitchFamily="34" charset="-120"/>
              </a:rPr>
              <a:t>2</a:t>
            </a:r>
            <a:endParaRPr lang="en-US" sz="1800" dirty="0"/>
          </a:p>
        </p:txBody>
      </p:sp>
      <p:sp>
        <p:nvSpPr>
          <p:cNvPr id="20" name="Shape 17"/>
          <p:cNvSpPr/>
          <p:nvPr/>
        </p:nvSpPr>
        <p:spPr>
          <a:xfrm>
            <a:off x="8321040" y="2889504"/>
            <a:ext cx="3291840" cy="960120"/>
          </a:xfrm>
          <a:prstGeom prst="roundRect">
            <a:avLst>
              <a:gd name="adj" fmla="val 6667"/>
            </a:avLst>
          </a:prstGeom>
          <a:solidFill>
            <a:srgbClr val="FFFFFF"/>
          </a:solidFill>
          <a:ln w="12700">
            <a:solidFill>
              <a:srgbClr val="80ADC4"/>
            </a:solidFill>
            <a:prstDash val="solid"/>
          </a:ln>
        </p:spPr>
      </p:sp>
      <p:sp>
        <p:nvSpPr>
          <p:cNvPr id="21" name="Text 18"/>
          <p:cNvSpPr/>
          <p:nvPr/>
        </p:nvSpPr>
        <p:spPr>
          <a:xfrm>
            <a:off x="8366760" y="2889504"/>
            <a:ext cx="3200400" cy="960120"/>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Find two phrases that praise the hero.</a:t>
            </a:r>
            <a:endParaRPr lang="en-US" sz="1800" dirty="0"/>
          </a:p>
        </p:txBody>
      </p:sp>
      <p:sp>
        <p:nvSpPr>
          <p:cNvPr id="22" name="Text 19"/>
          <p:cNvSpPr/>
          <p:nvPr/>
        </p:nvSpPr>
        <p:spPr>
          <a:xfrm>
            <a:off x="7726680" y="3995928"/>
            <a:ext cx="502920" cy="548640"/>
          </a:xfrm>
          <a:prstGeom prst="roundRect">
            <a:avLst>
              <a:gd name="adj" fmla="val 21818"/>
            </a:avLst>
          </a:prstGeom>
          <a:solidFill>
            <a:srgbClr val="FFC93C"/>
          </a:solidFill>
          <a:ln>
            <a:solidFill>
              <a:srgbClr val="FFC93C"/>
            </a:solidFill>
          </a:ln>
        </p:spPr>
        <p:txBody>
          <a:bodyPr wrap="square" lIns="0" tIns="0" rIns="0" bIns="0" rtlCol="0" anchor="ctr"/>
          <a:lstStyle/>
          <a:p>
            <a:pPr algn="ctr" indent="0" marL="0">
              <a:buNone/>
            </a:pPr>
            <a:r>
              <a:rPr lang="en-US" sz="1800" b="1" dirty="0">
                <a:solidFill>
                  <a:srgbClr val="12294D"/>
                </a:solidFill>
                <a:latin typeface="Arial" pitchFamily="34" charset="0"/>
                <a:ea typeface="Arial" pitchFamily="34" charset="-122"/>
                <a:cs typeface="Arial" pitchFamily="34" charset="-120"/>
              </a:rPr>
              <a:t>3</a:t>
            </a:r>
            <a:endParaRPr lang="en-US" sz="1800" dirty="0"/>
          </a:p>
        </p:txBody>
      </p:sp>
      <p:sp>
        <p:nvSpPr>
          <p:cNvPr id="23" name="Shape 20"/>
          <p:cNvSpPr/>
          <p:nvPr/>
        </p:nvSpPr>
        <p:spPr>
          <a:xfrm>
            <a:off x="8321040" y="3995928"/>
            <a:ext cx="3291840" cy="960120"/>
          </a:xfrm>
          <a:prstGeom prst="roundRect">
            <a:avLst>
              <a:gd name="adj" fmla="val 6667"/>
            </a:avLst>
          </a:prstGeom>
          <a:solidFill>
            <a:srgbClr val="FFFFFF"/>
          </a:solidFill>
          <a:ln w="12700">
            <a:solidFill>
              <a:srgbClr val="80ADC4"/>
            </a:solidFill>
            <a:prstDash val="solid"/>
          </a:ln>
        </p:spPr>
      </p:sp>
      <p:sp>
        <p:nvSpPr>
          <p:cNvPr id="24" name="Text 21"/>
          <p:cNvSpPr/>
          <p:nvPr/>
        </p:nvSpPr>
        <p:spPr>
          <a:xfrm>
            <a:off x="8366760" y="3995928"/>
            <a:ext cx="3200400" cy="960120"/>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What warning is hidden in the last two lines?</a:t>
            </a:r>
            <a:endParaRPr lang="en-US" sz="1800" dirty="0"/>
          </a:p>
        </p:txBody>
      </p:sp>
      <p:sp>
        <p:nvSpPr>
          <p:cNvPr id="25" name="Text 22"/>
          <p:cNvSpPr/>
          <p:nvPr/>
        </p:nvSpPr>
        <p:spPr>
          <a:xfrm>
            <a:off x="7726680" y="5102352"/>
            <a:ext cx="502920" cy="548640"/>
          </a:xfrm>
          <a:prstGeom prst="roundRect">
            <a:avLst>
              <a:gd name="adj" fmla="val 21818"/>
            </a:avLst>
          </a:prstGeom>
          <a:solidFill>
            <a:srgbClr val="FFC93C"/>
          </a:solidFill>
          <a:ln>
            <a:solidFill>
              <a:srgbClr val="FFC93C"/>
            </a:solidFill>
          </a:ln>
        </p:spPr>
        <p:txBody>
          <a:bodyPr wrap="square" lIns="0" tIns="0" rIns="0" bIns="0" rtlCol="0" anchor="ctr"/>
          <a:lstStyle/>
          <a:p>
            <a:pPr algn="ctr" indent="0" marL="0">
              <a:buNone/>
            </a:pPr>
            <a:r>
              <a:rPr lang="en-US" sz="1800" b="1" dirty="0">
                <a:solidFill>
                  <a:srgbClr val="12294D"/>
                </a:solidFill>
                <a:latin typeface="Arial" pitchFamily="34" charset="0"/>
                <a:ea typeface="Arial" pitchFamily="34" charset="-122"/>
                <a:cs typeface="Arial" pitchFamily="34" charset="-120"/>
              </a:rPr>
              <a:t>4</a:t>
            </a:r>
            <a:endParaRPr lang="en-US" sz="1800" dirty="0"/>
          </a:p>
        </p:txBody>
      </p:sp>
      <p:sp>
        <p:nvSpPr>
          <p:cNvPr id="26" name="Shape 23"/>
          <p:cNvSpPr/>
          <p:nvPr/>
        </p:nvSpPr>
        <p:spPr>
          <a:xfrm>
            <a:off x="8321040" y="5102352"/>
            <a:ext cx="3291840" cy="960120"/>
          </a:xfrm>
          <a:prstGeom prst="roundRect">
            <a:avLst>
              <a:gd name="adj" fmla="val 6667"/>
            </a:avLst>
          </a:prstGeom>
          <a:solidFill>
            <a:srgbClr val="FFFFFF"/>
          </a:solidFill>
          <a:ln w="12700">
            <a:solidFill>
              <a:srgbClr val="80ADC4"/>
            </a:solidFill>
            <a:prstDash val="solid"/>
          </a:ln>
        </p:spPr>
      </p:sp>
      <p:sp>
        <p:nvSpPr>
          <p:cNvPr id="27" name="Text 24"/>
          <p:cNvSpPr/>
          <p:nvPr/>
        </p:nvSpPr>
        <p:spPr>
          <a:xfrm>
            <a:off x="8366760" y="5102352"/>
            <a:ext cx="3200400" cy="960120"/>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How does the opening make you want to read on?</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457200" y="384048"/>
            <a:ext cx="731520" cy="731520"/>
          </a:xfrm>
          <a:prstGeom prst="roundRect">
            <a:avLst>
              <a:gd name="adj" fmla="val 15000"/>
            </a:avLst>
          </a:prstGeom>
          <a:solidFill>
            <a:srgbClr val="6C3A6E"/>
          </a:solidFill>
          <a:ln w="12700">
            <a:solidFill>
              <a:srgbClr val="6C3A6E"/>
            </a:solidFill>
            <a:prstDash val="solid"/>
          </a:ln>
        </p:spPr>
      </p:sp>
      <p:pic>
        <p:nvPicPr>
          <p:cNvPr id="3" name="Image 0" descr="/home/claude/english/kit/decks/_icons/book-open-FFFFFF.png">    </p:cNvPr>
          <p:cNvPicPr>
            <a:picLocks noChangeAspect="1"/>
          </p:cNvPicPr>
          <p:nvPr/>
        </p:nvPicPr>
        <p:blipFill>
          <a:blip r:embed="rId1"/>
          <a:stretch>
            <a:fillRect/>
          </a:stretch>
        </p:blipFill>
        <p:spPr>
          <a:xfrm>
            <a:off x="603504" y="530352"/>
            <a:ext cx="438912" cy="438912"/>
          </a:xfrm>
          <a:prstGeom prst="rect">
            <a:avLst/>
          </a:prstGeom>
        </p:spPr>
      </p:pic>
      <p:sp>
        <p:nvSpPr>
          <p:cNvPr id="4" name="Text 1"/>
          <p:cNvSpPr/>
          <p:nvPr/>
        </p:nvSpPr>
        <p:spPr>
          <a:xfrm>
            <a:off x="1298448" y="384048"/>
            <a:ext cx="8183880" cy="731520"/>
          </a:xfrm>
          <a:prstGeom prst="roundRect">
            <a:avLst>
              <a:gd name="adj" fmla="val 12500"/>
            </a:avLst>
          </a:prstGeom>
          <a:solidFill>
            <a:srgbClr val="EFE6F0"/>
          </a:solidFill>
          <a:ln>
            <a:solidFill>
              <a:srgbClr val="EFE6F0"/>
            </a:solidFill>
          </a:ln>
        </p:spPr>
        <p:txBody>
          <a:bodyPr wrap="square" lIns="45720" tIns="182880" rIns="137160" bIns="45720" rtlCol="0" anchor="ctr"/>
          <a:lstStyle/>
          <a:p>
            <a:pPr algn="l" indent="0" marL="0">
              <a:buNone/>
            </a:pPr>
            <a:r>
              <a:rPr lang="en-US" sz="2400" b="1" dirty="0">
                <a:solidFill>
                  <a:srgbClr val="12294D"/>
                </a:solidFill>
                <a:latin typeface="Arial" pitchFamily="34" charset="0"/>
                <a:ea typeface="Arial" pitchFamily="34" charset="-122"/>
                <a:cs typeface="Arial" pitchFamily="34" charset="-120"/>
              </a:rPr>
              <a:t>The epic hero — and his flaw</a:t>
            </a:r>
            <a:endParaRPr lang="en-US" sz="2400" dirty="0"/>
          </a:p>
        </p:txBody>
      </p:sp>
      <p:sp>
        <p:nvSpPr>
          <p:cNvPr id="5" name="Text 2"/>
          <p:cNvSpPr/>
          <p:nvPr/>
        </p:nvSpPr>
        <p:spPr>
          <a:xfrm>
            <a:off x="9784080" y="457200"/>
            <a:ext cx="1874520" cy="566928"/>
          </a:xfrm>
          <a:prstGeom prst="roundRect">
            <a:avLst>
              <a:gd name="adj" fmla="val 16129"/>
            </a:avLst>
          </a:prstGeom>
          <a:solidFill>
            <a:srgbClr val="6C3A6E"/>
          </a:solidFill>
          <a:ln>
            <a:solidFill>
              <a:srgbClr val="6C3A6E"/>
            </a:solid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 9 min</a:t>
            </a:r>
            <a:endParaRPr lang="en-US" sz="1700" dirty="0"/>
          </a:p>
        </p:txBody>
      </p:sp>
      <p:sp>
        <p:nvSpPr>
          <p:cNvPr id="6" name="Text 3"/>
          <p:cNvSpPr/>
          <p:nvPr/>
        </p:nvSpPr>
        <p:spPr>
          <a:xfrm>
            <a:off x="1371600" y="1097280"/>
            <a:ext cx="10149840" cy="502920"/>
          </a:xfrm>
          <a:prstGeom prst="rect">
            <a:avLst/>
          </a:prstGeom>
          <a:noFill/>
          <a:ln/>
        </p:spPr>
        <p:txBody>
          <a:bodyPr wrap="square" lIns="45720" tIns="91440" rIns="91440" bIns="45720" rtlCol="0" anchor="ctr"/>
          <a:lstStyle/>
          <a:p>
            <a:pPr algn="l" indent="0" marL="0">
              <a:buNone/>
            </a:pPr>
            <a:r>
              <a:rPr lang="en-US" sz="1500" i="1" dirty="0">
                <a:solidFill>
                  <a:srgbClr val="404040"/>
                </a:solidFill>
                <a:latin typeface="Arial" pitchFamily="34" charset="0"/>
                <a:ea typeface="Arial" pitchFamily="34" charset="-122"/>
                <a:cs typeface="Arial" pitchFamily="34" charset="-120"/>
              </a:rPr>
              <a:t>Two Greek words we will use all half term.</a:t>
            </a:r>
            <a:endParaRPr lang="en-US" sz="1500" dirty="0"/>
          </a:p>
        </p:txBody>
      </p:sp>
      <p:sp>
        <p:nvSpPr>
          <p:cNvPr id="7" name="Text 4"/>
          <p:cNvSpPr/>
          <p:nvPr/>
        </p:nvSpPr>
        <p:spPr>
          <a:xfrm>
            <a:off x="457200" y="6327648"/>
            <a:ext cx="822960" cy="292608"/>
          </a:xfrm>
          <a:prstGeom prst="rect">
            <a:avLst/>
          </a:prstGeom>
          <a:noFill/>
          <a:ln/>
        </p:spPr>
        <p:txBody>
          <a:bodyPr wrap="square" lIns="0" tIns="0" rIns="0" bIns="0" rtlCol="0" anchor="ctr"/>
          <a:lstStyle/>
          <a:p>
            <a:pPr indent="0" marL="0">
              <a:buNone/>
            </a:pPr>
            <a:r>
              <a:rPr lang="en-US" sz="1100" b="1" dirty="0">
                <a:solidFill>
                  <a:srgbClr val="6E6E6E"/>
                </a:solidFill>
                <a:latin typeface="Arial" pitchFamily="34" charset="0"/>
                <a:ea typeface="Arial" pitchFamily="34" charset="-122"/>
                <a:cs typeface="Arial" pitchFamily="34" charset="-120"/>
              </a:rPr>
              <a:t>AIMS →</a:t>
            </a:r>
            <a:endParaRPr lang="en-US" sz="1100" dirty="0"/>
          </a:p>
        </p:txBody>
      </p:sp>
      <p:sp>
        <p:nvSpPr>
          <p:cNvPr id="8" name="Text 5"/>
          <p:cNvSpPr/>
          <p:nvPr/>
        </p:nvSpPr>
        <p:spPr>
          <a:xfrm>
            <a:off x="132588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REMEMBER</a:t>
            </a:r>
            <a:endParaRPr lang="en-US" sz="1200" dirty="0"/>
          </a:p>
        </p:txBody>
      </p:sp>
      <p:sp>
        <p:nvSpPr>
          <p:cNvPr id="9" name="Text 6"/>
          <p:cNvSpPr/>
          <p:nvPr/>
        </p:nvSpPr>
        <p:spPr>
          <a:xfrm>
            <a:off x="397764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UNDERSTAND</a:t>
            </a:r>
            <a:endParaRPr lang="en-US" sz="1200" dirty="0"/>
          </a:p>
        </p:txBody>
      </p:sp>
      <p:sp>
        <p:nvSpPr>
          <p:cNvPr id="10" name="Text 7"/>
          <p:cNvSpPr/>
          <p:nvPr/>
        </p:nvSpPr>
        <p:spPr>
          <a:xfrm>
            <a:off x="6629400" y="6291072"/>
            <a:ext cx="2514600" cy="365760"/>
          </a:xfrm>
          <a:prstGeom prst="roundRect">
            <a:avLst>
              <a:gd name="adj" fmla="val 22500"/>
            </a:avLst>
          </a:prstGeom>
          <a:solidFill>
            <a:srgbClr val="6C3A6E"/>
          </a:solidFill>
          <a:ln>
            <a:solidFill>
              <a:srgbClr val="6C3A6E"/>
            </a:solid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 ANALYSE</a:t>
            </a:r>
            <a:endParaRPr lang="en-US" sz="1200" dirty="0"/>
          </a:p>
        </p:txBody>
      </p:sp>
      <p:sp>
        <p:nvSpPr>
          <p:cNvPr id="11" name="Text 8"/>
          <p:cNvSpPr/>
          <p:nvPr/>
        </p:nvSpPr>
        <p:spPr>
          <a:xfrm>
            <a:off x="928116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EVALUATE</a:t>
            </a:r>
            <a:endParaRPr lang="en-US" sz="1200" dirty="0"/>
          </a:p>
        </p:txBody>
      </p:sp>
      <p:sp>
        <p:nvSpPr>
          <p:cNvPr id="12" name="Text 9"/>
          <p:cNvSpPr/>
          <p:nvPr/>
        </p:nvSpPr>
        <p:spPr>
          <a:xfrm>
            <a:off x="457200" y="6702552"/>
            <a:ext cx="8229600" cy="155448"/>
          </a:xfrm>
          <a:prstGeom prst="rect">
            <a:avLst/>
          </a:prstGeom>
          <a:noFill/>
          <a:ln/>
        </p:spPr>
        <p:txBody>
          <a:bodyPr wrap="square" lIns="0" tIns="0" rIns="0" bIns="0" rtlCol="0" anchor="t"/>
          <a:lstStyle/>
          <a:p>
            <a:pPr indent="0" marL="0">
              <a:buNone/>
            </a:pPr>
            <a:r>
              <a:rPr lang="en-US" sz="900" dirty="0">
                <a:solidFill>
                  <a:srgbClr val="AAB4C2"/>
                </a:solidFill>
                <a:latin typeface="Arial" pitchFamily="34" charset="0"/>
                <a:ea typeface="Arial" pitchFamily="34" charset="-122"/>
                <a:cs typeface="Arial" pitchFamily="34" charset="-120"/>
              </a:rPr>
              <a:t>Harlington English · The Odyssey · Epic poetry and the epic hero</a:t>
            </a:r>
            <a:endParaRPr lang="en-US" sz="900" dirty="0"/>
          </a:p>
        </p:txBody>
      </p:sp>
      <p:sp>
        <p:nvSpPr>
          <p:cNvPr id="13" name="Text 10"/>
          <p:cNvSpPr/>
          <p:nvPr/>
        </p:nvSpPr>
        <p:spPr>
          <a:xfrm>
            <a:off x="548640" y="1783080"/>
            <a:ext cx="2606040" cy="914400"/>
          </a:xfrm>
          <a:prstGeom prst="roundRect">
            <a:avLst>
              <a:gd name="adj" fmla="val 10000"/>
            </a:avLst>
          </a:prstGeom>
          <a:solidFill>
            <a:srgbClr val="6C3A6E"/>
          </a:solidFill>
          <a:ln>
            <a:solidFill>
              <a:srgbClr val="6C3A6E"/>
            </a:solidFill>
          </a:ln>
        </p:spPr>
        <p:txBody>
          <a:bodyPr wrap="square" lIns="45720" tIns="137160" rIns="91440" bIns="45720" rtlCol="0" anchor="ctr"/>
          <a:lstStyle/>
          <a:p>
            <a:pPr algn="l" indent="0" marL="0">
              <a:buNone/>
            </a:pPr>
            <a:r>
              <a:rPr lang="en-US" sz="1600" b="1" dirty="0">
                <a:solidFill>
                  <a:srgbClr val="FFFFFF"/>
                </a:solidFill>
                <a:latin typeface="Arial" pitchFamily="34" charset="0"/>
                <a:ea typeface="Arial" pitchFamily="34" charset="-122"/>
                <a:cs typeface="Arial" pitchFamily="34" charset="-120"/>
              </a:rPr>
              <a:t>EPIC HERO</a:t>
            </a:r>
            <a:endParaRPr lang="en-US" sz="1600" dirty="0"/>
          </a:p>
        </p:txBody>
      </p:sp>
      <p:sp>
        <p:nvSpPr>
          <p:cNvPr id="14" name="Shape 11"/>
          <p:cNvSpPr/>
          <p:nvPr/>
        </p:nvSpPr>
        <p:spPr>
          <a:xfrm>
            <a:off x="3291840" y="1783080"/>
            <a:ext cx="8321040" cy="914400"/>
          </a:xfrm>
          <a:prstGeom prst="roundRect">
            <a:avLst>
              <a:gd name="adj" fmla="val 8000"/>
            </a:avLst>
          </a:prstGeom>
          <a:solidFill>
            <a:srgbClr val="FEF7E4"/>
          </a:solidFill>
          <a:ln w="12700">
            <a:solidFill>
              <a:srgbClr val="E5D9B0"/>
            </a:solidFill>
            <a:prstDash val="solid"/>
          </a:ln>
        </p:spPr>
      </p:sp>
      <p:sp>
        <p:nvSpPr>
          <p:cNvPr id="15" name="Text 12"/>
          <p:cNvSpPr/>
          <p:nvPr/>
        </p:nvSpPr>
        <p:spPr>
          <a:xfrm>
            <a:off x="3456432" y="1783080"/>
            <a:ext cx="8001000" cy="914400"/>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Braver, cleverer and stronger than ordinary people — but still human. Odysseus is famous for cunning, not just strength.</a:t>
            </a:r>
            <a:endParaRPr lang="en-US" sz="1800" dirty="0"/>
          </a:p>
        </p:txBody>
      </p:sp>
      <p:sp>
        <p:nvSpPr>
          <p:cNvPr id="16" name="Text 13"/>
          <p:cNvSpPr/>
          <p:nvPr/>
        </p:nvSpPr>
        <p:spPr>
          <a:xfrm>
            <a:off x="548640" y="2843784"/>
            <a:ext cx="2606040" cy="914400"/>
          </a:xfrm>
          <a:prstGeom prst="roundRect">
            <a:avLst>
              <a:gd name="adj" fmla="val 10000"/>
            </a:avLst>
          </a:prstGeom>
          <a:solidFill>
            <a:srgbClr val="6C3A6E"/>
          </a:solidFill>
          <a:ln>
            <a:solidFill>
              <a:srgbClr val="6C3A6E"/>
            </a:solidFill>
          </a:ln>
        </p:spPr>
        <p:txBody>
          <a:bodyPr wrap="square" lIns="45720" tIns="137160" rIns="91440" bIns="45720" rtlCol="0" anchor="ctr"/>
          <a:lstStyle/>
          <a:p>
            <a:pPr algn="l" indent="0" marL="0">
              <a:buNone/>
            </a:pPr>
            <a:r>
              <a:rPr lang="en-US" sz="1600" b="1" dirty="0">
                <a:solidFill>
                  <a:srgbClr val="FFFFFF"/>
                </a:solidFill>
                <a:latin typeface="Arial" pitchFamily="34" charset="0"/>
                <a:ea typeface="Arial" pitchFamily="34" charset="-122"/>
                <a:cs typeface="Arial" pitchFamily="34" charset="-120"/>
              </a:rPr>
              <a:t>HAMARTIA</a:t>
            </a:r>
            <a:endParaRPr lang="en-US" sz="1600" dirty="0"/>
          </a:p>
        </p:txBody>
      </p:sp>
      <p:sp>
        <p:nvSpPr>
          <p:cNvPr id="17" name="Shape 14"/>
          <p:cNvSpPr/>
          <p:nvPr/>
        </p:nvSpPr>
        <p:spPr>
          <a:xfrm>
            <a:off x="3291840" y="2843784"/>
            <a:ext cx="8321040" cy="914400"/>
          </a:xfrm>
          <a:prstGeom prst="roundRect">
            <a:avLst>
              <a:gd name="adj" fmla="val 8000"/>
            </a:avLst>
          </a:prstGeom>
          <a:solidFill>
            <a:srgbClr val="FEF7E4"/>
          </a:solidFill>
          <a:ln w="12700">
            <a:solidFill>
              <a:srgbClr val="E5D9B0"/>
            </a:solidFill>
            <a:prstDash val="solid"/>
          </a:ln>
        </p:spPr>
      </p:sp>
      <p:sp>
        <p:nvSpPr>
          <p:cNvPr id="18" name="Text 15"/>
          <p:cNvSpPr/>
          <p:nvPr/>
        </p:nvSpPr>
        <p:spPr>
          <a:xfrm>
            <a:off x="3456432" y="2843784"/>
            <a:ext cx="8001000" cy="914400"/>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The flaw or mistake that causes the hero's downfall. Odysseus' flaw is that he cannot resist showing off how clever he is.</a:t>
            </a:r>
            <a:endParaRPr lang="en-US" sz="1800" dirty="0"/>
          </a:p>
        </p:txBody>
      </p:sp>
      <p:sp>
        <p:nvSpPr>
          <p:cNvPr id="19" name="Text 16"/>
          <p:cNvSpPr/>
          <p:nvPr/>
        </p:nvSpPr>
        <p:spPr>
          <a:xfrm>
            <a:off x="548640" y="3904488"/>
            <a:ext cx="2606040" cy="914400"/>
          </a:xfrm>
          <a:prstGeom prst="roundRect">
            <a:avLst>
              <a:gd name="adj" fmla="val 10000"/>
            </a:avLst>
          </a:prstGeom>
          <a:solidFill>
            <a:srgbClr val="6C3A6E"/>
          </a:solidFill>
          <a:ln>
            <a:solidFill>
              <a:srgbClr val="6C3A6E"/>
            </a:solidFill>
          </a:ln>
        </p:spPr>
        <p:txBody>
          <a:bodyPr wrap="square" lIns="45720" tIns="137160" rIns="91440" bIns="45720" rtlCol="0" anchor="ctr"/>
          <a:lstStyle/>
          <a:p>
            <a:pPr algn="l" indent="0" marL="0">
              <a:buNone/>
            </a:pPr>
            <a:r>
              <a:rPr lang="en-US" sz="1600" b="1" dirty="0">
                <a:solidFill>
                  <a:srgbClr val="FFFFFF"/>
                </a:solidFill>
                <a:latin typeface="Arial" pitchFamily="34" charset="0"/>
                <a:ea typeface="Arial" pitchFamily="34" charset="-122"/>
                <a:cs typeface="Arial" pitchFamily="34" charset="-120"/>
              </a:rPr>
              <a:t>HUBRIS</a:t>
            </a:r>
            <a:endParaRPr lang="en-US" sz="1600" dirty="0"/>
          </a:p>
        </p:txBody>
      </p:sp>
      <p:sp>
        <p:nvSpPr>
          <p:cNvPr id="20" name="Shape 17"/>
          <p:cNvSpPr/>
          <p:nvPr/>
        </p:nvSpPr>
        <p:spPr>
          <a:xfrm>
            <a:off x="3291840" y="3904488"/>
            <a:ext cx="8321040" cy="914400"/>
          </a:xfrm>
          <a:prstGeom prst="roundRect">
            <a:avLst>
              <a:gd name="adj" fmla="val 8000"/>
            </a:avLst>
          </a:prstGeom>
          <a:solidFill>
            <a:srgbClr val="FEF7E4"/>
          </a:solidFill>
          <a:ln w="12700">
            <a:solidFill>
              <a:srgbClr val="E5D9B0"/>
            </a:solidFill>
            <a:prstDash val="solid"/>
          </a:ln>
        </p:spPr>
      </p:sp>
      <p:sp>
        <p:nvSpPr>
          <p:cNvPr id="21" name="Text 18"/>
          <p:cNvSpPr/>
          <p:nvPr/>
        </p:nvSpPr>
        <p:spPr>
          <a:xfrm>
            <a:off x="3456432" y="3904488"/>
            <a:ext cx="8001000" cy="914400"/>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Dangerous pride — believing you are above the gods. When Odysseus shouts his real name at the Cyclops, that is hubris. It costs him ten years.</a:t>
            </a:r>
            <a:endParaRPr lang="en-US" sz="1800" dirty="0"/>
          </a:p>
        </p:txBody>
      </p:sp>
      <p:sp>
        <p:nvSpPr>
          <p:cNvPr id="22" name="Text 19"/>
          <p:cNvSpPr/>
          <p:nvPr/>
        </p:nvSpPr>
        <p:spPr>
          <a:xfrm>
            <a:off x="548640" y="5715000"/>
            <a:ext cx="11064240" cy="365760"/>
          </a:xfrm>
          <a:prstGeom prst="rect">
            <a:avLst/>
          </a:prstGeom>
          <a:noFill/>
          <a:ln/>
        </p:spPr>
        <p:txBody>
          <a:bodyPr wrap="square" lIns="0" tIns="0" rIns="0" bIns="0" rtlCol="0" anchor="ctr"/>
          <a:lstStyle/>
          <a:p>
            <a:pPr algn="l" indent="0" marL="0">
              <a:buNone/>
            </a:pPr>
            <a:r>
              <a:rPr lang="en-US" sz="1500" b="1" i="1" dirty="0">
                <a:solidFill>
                  <a:srgbClr val="12294D"/>
                </a:solidFill>
                <a:latin typeface="Arial" pitchFamily="34" charset="0"/>
                <a:ea typeface="Arial" pitchFamily="34" charset="-122"/>
                <a:cs typeface="Arial" pitchFamily="34" charset="-120"/>
              </a:rPr>
              <a:t>➜  The flaw is not a mistake in the story — it IS the story.</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457200" y="384048"/>
            <a:ext cx="731520" cy="731520"/>
          </a:xfrm>
          <a:prstGeom prst="roundRect">
            <a:avLst>
              <a:gd name="adj" fmla="val 15000"/>
            </a:avLst>
          </a:prstGeom>
          <a:solidFill>
            <a:srgbClr val="D0021B"/>
          </a:solidFill>
          <a:ln w="12700">
            <a:solidFill>
              <a:srgbClr val="D0021B"/>
            </a:solidFill>
            <a:prstDash val="solid"/>
          </a:ln>
        </p:spPr>
      </p:sp>
      <p:pic>
        <p:nvPicPr>
          <p:cNvPr id="3" name="Image 0" descr="/home/claude/english/kit/decks/_icons/users-FFFFFF.png">    </p:cNvPr>
          <p:cNvPicPr>
            <a:picLocks noChangeAspect="1"/>
          </p:cNvPicPr>
          <p:nvPr/>
        </p:nvPicPr>
        <p:blipFill>
          <a:blip r:embed="rId1"/>
          <a:stretch>
            <a:fillRect/>
          </a:stretch>
        </p:blipFill>
        <p:spPr>
          <a:xfrm>
            <a:off x="603504" y="530352"/>
            <a:ext cx="438912" cy="438912"/>
          </a:xfrm>
          <a:prstGeom prst="rect">
            <a:avLst/>
          </a:prstGeom>
        </p:spPr>
      </p:pic>
      <p:sp>
        <p:nvSpPr>
          <p:cNvPr id="4" name="Text 1"/>
          <p:cNvSpPr/>
          <p:nvPr/>
        </p:nvSpPr>
        <p:spPr>
          <a:xfrm>
            <a:off x="1298448" y="384048"/>
            <a:ext cx="8183880" cy="731520"/>
          </a:xfrm>
          <a:prstGeom prst="roundRect">
            <a:avLst>
              <a:gd name="adj" fmla="val 12500"/>
            </a:avLst>
          </a:prstGeom>
          <a:solidFill>
            <a:srgbClr val="FDE6E9"/>
          </a:solidFill>
          <a:ln>
            <a:solidFill>
              <a:srgbClr val="FDE6E9"/>
            </a:solidFill>
          </a:ln>
        </p:spPr>
        <p:txBody>
          <a:bodyPr wrap="square" lIns="45720" tIns="182880" rIns="137160" bIns="45720" rtlCol="0" anchor="ctr"/>
          <a:lstStyle/>
          <a:p>
            <a:pPr algn="l" indent="0" marL="0">
              <a:buNone/>
            </a:pPr>
            <a:r>
              <a:rPr lang="en-US" sz="2400" b="1" dirty="0">
                <a:solidFill>
                  <a:srgbClr val="12294D"/>
                </a:solidFill>
                <a:latin typeface="Arial" pitchFamily="34" charset="0"/>
                <a:ea typeface="Arial" pitchFamily="34" charset="-122"/>
                <a:cs typeface="Arial" pitchFamily="34" charset="-120"/>
              </a:rPr>
              <a:t>TALK · think-pair-share</a:t>
            </a:r>
            <a:endParaRPr lang="en-US" sz="2400" dirty="0"/>
          </a:p>
        </p:txBody>
      </p:sp>
      <p:sp>
        <p:nvSpPr>
          <p:cNvPr id="5" name="Text 2"/>
          <p:cNvSpPr/>
          <p:nvPr/>
        </p:nvSpPr>
        <p:spPr>
          <a:xfrm>
            <a:off x="9784080" y="457200"/>
            <a:ext cx="1874520" cy="566928"/>
          </a:xfrm>
          <a:prstGeom prst="roundRect">
            <a:avLst>
              <a:gd name="adj" fmla="val 16129"/>
            </a:avLst>
          </a:prstGeom>
          <a:solidFill>
            <a:srgbClr val="D0021B"/>
          </a:solidFill>
          <a:ln>
            <a:solidFill>
              <a:srgbClr val="D0021B"/>
            </a:solid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 7 min</a:t>
            </a:r>
            <a:endParaRPr lang="en-US" sz="1700" dirty="0"/>
          </a:p>
        </p:txBody>
      </p:sp>
      <p:sp>
        <p:nvSpPr>
          <p:cNvPr id="6" name="Text 3"/>
          <p:cNvSpPr/>
          <p:nvPr/>
        </p:nvSpPr>
        <p:spPr>
          <a:xfrm>
            <a:off x="1371600" y="1097280"/>
            <a:ext cx="10149840" cy="502920"/>
          </a:xfrm>
          <a:prstGeom prst="rect">
            <a:avLst/>
          </a:prstGeom>
          <a:noFill/>
          <a:ln/>
        </p:spPr>
        <p:txBody>
          <a:bodyPr wrap="square" lIns="45720" tIns="91440" rIns="91440" bIns="45720" rtlCol="0" anchor="ctr"/>
          <a:lstStyle/>
          <a:p>
            <a:pPr algn="l" indent="0" marL="0">
              <a:buNone/>
            </a:pPr>
            <a:r>
              <a:rPr lang="en-US" sz="1500" i="1" dirty="0">
                <a:solidFill>
                  <a:srgbClr val="404040"/>
                </a:solidFill>
                <a:latin typeface="Arial" pitchFamily="34" charset="0"/>
                <a:ea typeface="Arial" pitchFamily="34" charset="-122"/>
                <a:cs typeface="Arial" pitchFamily="34" charset="-120"/>
              </a:rPr>
              <a:t>Everyone speaks; nobody passes. Use the key words.</a:t>
            </a:r>
            <a:endParaRPr lang="en-US" sz="1500" dirty="0"/>
          </a:p>
        </p:txBody>
      </p:sp>
      <p:sp>
        <p:nvSpPr>
          <p:cNvPr id="7" name="Text 4"/>
          <p:cNvSpPr/>
          <p:nvPr/>
        </p:nvSpPr>
        <p:spPr>
          <a:xfrm>
            <a:off x="457200" y="6327648"/>
            <a:ext cx="822960" cy="292608"/>
          </a:xfrm>
          <a:prstGeom prst="rect">
            <a:avLst/>
          </a:prstGeom>
          <a:noFill/>
          <a:ln/>
        </p:spPr>
        <p:txBody>
          <a:bodyPr wrap="square" lIns="0" tIns="0" rIns="0" bIns="0" rtlCol="0" anchor="ctr"/>
          <a:lstStyle/>
          <a:p>
            <a:pPr indent="0" marL="0">
              <a:buNone/>
            </a:pPr>
            <a:r>
              <a:rPr lang="en-US" sz="1100" b="1" dirty="0">
                <a:solidFill>
                  <a:srgbClr val="6E6E6E"/>
                </a:solidFill>
                <a:latin typeface="Arial" pitchFamily="34" charset="0"/>
                <a:ea typeface="Arial" pitchFamily="34" charset="-122"/>
                <a:cs typeface="Arial" pitchFamily="34" charset="-120"/>
              </a:rPr>
              <a:t>AIMS →</a:t>
            </a:r>
            <a:endParaRPr lang="en-US" sz="1100" dirty="0"/>
          </a:p>
        </p:txBody>
      </p:sp>
      <p:sp>
        <p:nvSpPr>
          <p:cNvPr id="8" name="Text 5"/>
          <p:cNvSpPr/>
          <p:nvPr/>
        </p:nvSpPr>
        <p:spPr>
          <a:xfrm>
            <a:off x="132588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REMEMBER</a:t>
            </a:r>
            <a:endParaRPr lang="en-US" sz="1200" dirty="0"/>
          </a:p>
        </p:txBody>
      </p:sp>
      <p:sp>
        <p:nvSpPr>
          <p:cNvPr id="9" name="Text 6"/>
          <p:cNvSpPr/>
          <p:nvPr/>
        </p:nvSpPr>
        <p:spPr>
          <a:xfrm>
            <a:off x="397764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UNDERSTAND</a:t>
            </a:r>
            <a:endParaRPr lang="en-US" sz="1200" dirty="0"/>
          </a:p>
        </p:txBody>
      </p:sp>
      <p:sp>
        <p:nvSpPr>
          <p:cNvPr id="10" name="Text 7"/>
          <p:cNvSpPr/>
          <p:nvPr/>
        </p:nvSpPr>
        <p:spPr>
          <a:xfrm>
            <a:off x="662940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ANALYSE</a:t>
            </a:r>
            <a:endParaRPr lang="en-US" sz="1200" dirty="0"/>
          </a:p>
        </p:txBody>
      </p:sp>
      <p:sp>
        <p:nvSpPr>
          <p:cNvPr id="11" name="Text 8"/>
          <p:cNvSpPr/>
          <p:nvPr/>
        </p:nvSpPr>
        <p:spPr>
          <a:xfrm>
            <a:off x="9281160" y="6291072"/>
            <a:ext cx="2514600" cy="365760"/>
          </a:xfrm>
          <a:prstGeom prst="roundRect">
            <a:avLst>
              <a:gd name="adj" fmla="val 22500"/>
            </a:avLst>
          </a:prstGeom>
          <a:solidFill>
            <a:srgbClr val="D0021B"/>
          </a:solidFill>
          <a:ln>
            <a:solidFill>
              <a:srgbClr val="D0021B"/>
            </a:solid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 EVALUATE</a:t>
            </a:r>
            <a:endParaRPr lang="en-US" sz="1200" dirty="0"/>
          </a:p>
        </p:txBody>
      </p:sp>
      <p:sp>
        <p:nvSpPr>
          <p:cNvPr id="12" name="Text 9"/>
          <p:cNvSpPr/>
          <p:nvPr/>
        </p:nvSpPr>
        <p:spPr>
          <a:xfrm>
            <a:off x="457200" y="6702552"/>
            <a:ext cx="8229600" cy="155448"/>
          </a:xfrm>
          <a:prstGeom prst="rect">
            <a:avLst/>
          </a:prstGeom>
          <a:noFill/>
          <a:ln/>
        </p:spPr>
        <p:txBody>
          <a:bodyPr wrap="square" lIns="0" tIns="0" rIns="0" bIns="0" rtlCol="0" anchor="t"/>
          <a:lstStyle/>
          <a:p>
            <a:pPr indent="0" marL="0">
              <a:buNone/>
            </a:pPr>
            <a:r>
              <a:rPr lang="en-US" sz="900" dirty="0">
                <a:solidFill>
                  <a:srgbClr val="AAB4C2"/>
                </a:solidFill>
                <a:latin typeface="Arial" pitchFamily="34" charset="0"/>
                <a:ea typeface="Arial" pitchFamily="34" charset="-122"/>
                <a:cs typeface="Arial" pitchFamily="34" charset="-120"/>
              </a:rPr>
              <a:t>Harlington English · The Odyssey · Epic poetry and the epic hero</a:t>
            </a:r>
            <a:endParaRPr lang="en-US" sz="900" dirty="0"/>
          </a:p>
        </p:txBody>
      </p:sp>
      <p:sp>
        <p:nvSpPr>
          <p:cNvPr id="13" name="Shape 10"/>
          <p:cNvSpPr/>
          <p:nvPr/>
        </p:nvSpPr>
        <p:spPr>
          <a:xfrm>
            <a:off x="548640" y="1783080"/>
            <a:ext cx="7772400" cy="457200"/>
          </a:xfrm>
          <a:prstGeom prst="roundRect">
            <a:avLst>
              <a:gd name="adj" fmla="val 20000"/>
            </a:avLst>
          </a:prstGeom>
          <a:solidFill>
            <a:srgbClr val="00A08A"/>
          </a:solidFill>
          <a:ln w="12700">
            <a:solidFill>
              <a:srgbClr val="00A08A"/>
            </a:solidFill>
            <a:prstDash val="solid"/>
          </a:ln>
        </p:spPr>
      </p:sp>
      <p:pic>
        <p:nvPicPr>
          <p:cNvPr id="14" name="Image 1" descr="/home/claude/english/kit/decks/_icons/users-FFFFFF.png">    </p:cNvPr>
          <p:cNvPicPr>
            <a:picLocks noChangeAspect="1"/>
          </p:cNvPicPr>
          <p:nvPr/>
        </p:nvPicPr>
        <p:blipFill>
          <a:blip r:embed="rId2"/>
          <a:stretch>
            <a:fillRect/>
          </a:stretch>
        </p:blipFill>
        <p:spPr>
          <a:xfrm>
            <a:off x="3003233" y="1888236"/>
            <a:ext cx="246888" cy="246888"/>
          </a:xfrm>
          <a:prstGeom prst="rect">
            <a:avLst/>
          </a:prstGeom>
        </p:spPr>
      </p:pic>
      <p:sp>
        <p:nvSpPr>
          <p:cNvPr id="15" name="Text 11"/>
          <p:cNvSpPr/>
          <p:nvPr/>
        </p:nvSpPr>
        <p:spPr>
          <a:xfrm>
            <a:off x="3368993" y="1783080"/>
            <a:ext cx="2771775" cy="457200"/>
          </a:xfrm>
          <a:prstGeom prst="rect">
            <a:avLst/>
          </a:prstGeom>
          <a:noFill/>
          <a:ln/>
        </p:spPr>
        <p:txBody>
          <a:bodyPr wrap="square" lIns="0" tIns="0" rIns="0" bIns="0" rtlCol="0" anchor="ctr"/>
          <a:lstStyle/>
          <a:p>
            <a:pPr algn="l" indent="0" marL="0">
              <a:buNone/>
            </a:pPr>
            <a:r>
              <a:rPr lang="en-US" sz="1500" b="1" dirty="0">
                <a:solidFill>
                  <a:srgbClr val="FFFFFF"/>
                </a:solidFill>
                <a:latin typeface="Arial" pitchFamily="34" charset="0"/>
                <a:ea typeface="Arial" pitchFamily="34" charset="-122"/>
                <a:cs typeface="Arial" pitchFamily="34" charset="-120"/>
              </a:rPr>
              <a:t>TALK · THINK-PAIR-SHARE</a:t>
            </a:r>
            <a:endParaRPr lang="en-US" sz="1500" dirty="0"/>
          </a:p>
        </p:txBody>
      </p:sp>
      <p:sp>
        <p:nvSpPr>
          <p:cNvPr id="16" name="Shape 12"/>
          <p:cNvSpPr/>
          <p:nvPr/>
        </p:nvSpPr>
        <p:spPr>
          <a:xfrm>
            <a:off x="548640" y="2377440"/>
            <a:ext cx="11064240" cy="868680"/>
          </a:xfrm>
          <a:prstGeom prst="roundRect">
            <a:avLst>
              <a:gd name="adj" fmla="val 8421"/>
            </a:avLst>
          </a:prstGeom>
          <a:solidFill>
            <a:srgbClr val="FFC93C"/>
          </a:solidFill>
          <a:ln w="12700">
            <a:solidFill>
              <a:srgbClr val="FFC93C"/>
            </a:solidFill>
            <a:prstDash val="solid"/>
          </a:ln>
        </p:spPr>
      </p:sp>
      <p:sp>
        <p:nvSpPr>
          <p:cNvPr id="17" name="Text 13"/>
          <p:cNvSpPr/>
          <p:nvPr/>
        </p:nvSpPr>
        <p:spPr>
          <a:xfrm>
            <a:off x="777240" y="2377440"/>
            <a:ext cx="1920240" cy="868680"/>
          </a:xfrm>
          <a:prstGeom prst="rect">
            <a:avLst/>
          </a:prstGeom>
          <a:noFill/>
          <a:ln/>
        </p:spPr>
        <p:txBody>
          <a:bodyPr wrap="square" lIns="0" tIns="0" rIns="0" bIns="0" rtlCol="0" anchor="ctr"/>
          <a:lstStyle/>
          <a:p>
            <a:pPr indent="0" marL="0">
              <a:buNone/>
            </a:pPr>
            <a:r>
              <a:rPr lang="en-US" sz="1600" b="1" dirty="0">
                <a:solidFill>
                  <a:srgbClr val="12294D"/>
                </a:solidFill>
                <a:latin typeface="Arial" pitchFamily="34" charset="0"/>
                <a:ea typeface="Arial" pitchFamily="34" charset="-122"/>
                <a:cs typeface="Arial" pitchFamily="34" charset="-120"/>
              </a:rPr>
              <a:t>THE FOCUS:</a:t>
            </a:r>
            <a:endParaRPr lang="en-US" sz="1600" dirty="0"/>
          </a:p>
        </p:txBody>
      </p:sp>
      <p:sp>
        <p:nvSpPr>
          <p:cNvPr id="18" name="Text 14"/>
          <p:cNvSpPr/>
          <p:nvPr/>
        </p:nvSpPr>
        <p:spPr>
          <a:xfrm>
            <a:off x="2697480" y="2377440"/>
            <a:ext cx="8732520" cy="868680"/>
          </a:xfrm>
          <a:prstGeom prst="rect">
            <a:avLst/>
          </a:prstGeom>
          <a:noFill/>
          <a:ln/>
        </p:spPr>
        <p:txBody>
          <a:bodyPr wrap="square" lIns="45720" tIns="91440" rIns="91440" bIns="45720" rtlCol="0" anchor="ctr"/>
          <a:lstStyle/>
          <a:p>
            <a:pPr algn="l" indent="0" marL="0">
              <a:buNone/>
            </a:pPr>
            <a:r>
              <a:rPr lang="en-US" sz="1800" b="1" i="1" dirty="0">
                <a:solidFill>
                  <a:srgbClr val="12294D"/>
                </a:solidFill>
                <a:latin typeface="Arial" pitchFamily="34" charset="0"/>
                <a:ea typeface="Arial" pitchFamily="34" charset="-122"/>
                <a:cs typeface="Arial" pitchFamily="34" charset="-120"/>
              </a:rPr>
              <a:t>Does a hero need a flaw to be interesting?</a:t>
            </a:r>
            <a:endParaRPr lang="en-US" sz="1800" dirty="0"/>
          </a:p>
        </p:txBody>
      </p:sp>
      <p:sp>
        <p:nvSpPr>
          <p:cNvPr id="19" name="Text 15"/>
          <p:cNvSpPr/>
          <p:nvPr/>
        </p:nvSpPr>
        <p:spPr>
          <a:xfrm>
            <a:off x="548640" y="3401568"/>
            <a:ext cx="560070" cy="560070"/>
          </a:xfrm>
          <a:prstGeom prst="ellipse">
            <a:avLst/>
          </a:prstGeom>
          <a:solidFill>
            <a:srgbClr val="12294D"/>
          </a:solidFill>
          <a:ln>
            <a:solidFill>
              <a:srgbClr val="12294D"/>
            </a:solidFill>
          </a:ln>
        </p:spPr>
        <p:txBody>
          <a:bodyPr wrap="square" lIns="0" tIns="0" rIns="0" bIns="0" rtlCol="0" anchor="ctr"/>
          <a:lstStyle/>
          <a:p>
            <a:pPr algn="ctr" indent="0" marL="0">
              <a:buNone/>
            </a:pPr>
            <a:r>
              <a:rPr lang="en-US" sz="1800" b="1" dirty="0">
                <a:solidFill>
                  <a:srgbClr val="FFC93C"/>
                </a:solidFill>
                <a:latin typeface="Arial" pitchFamily="34" charset="0"/>
                <a:ea typeface="Arial" pitchFamily="34" charset="-122"/>
                <a:cs typeface="Arial" pitchFamily="34" charset="-120"/>
              </a:rPr>
              <a:t>1</a:t>
            </a:r>
            <a:endParaRPr lang="en-US" sz="1800" dirty="0"/>
          </a:p>
        </p:txBody>
      </p:sp>
      <p:sp>
        <p:nvSpPr>
          <p:cNvPr id="20" name="Shape 16"/>
          <p:cNvSpPr/>
          <p:nvPr/>
        </p:nvSpPr>
        <p:spPr>
          <a:xfrm>
            <a:off x="1280160" y="3401568"/>
            <a:ext cx="10332720" cy="560070"/>
          </a:xfrm>
          <a:prstGeom prst="roundRect">
            <a:avLst>
              <a:gd name="adj" fmla="val 13061"/>
            </a:avLst>
          </a:prstGeom>
          <a:solidFill>
            <a:srgbClr val="FFFFFF"/>
          </a:solidFill>
          <a:ln w="12700">
            <a:solidFill>
              <a:srgbClr val="80ADC4"/>
            </a:solidFill>
            <a:prstDash val="solid"/>
          </a:ln>
        </p:spPr>
      </p:sp>
      <p:sp>
        <p:nvSpPr>
          <p:cNvPr id="21" name="Text 17"/>
          <p:cNvSpPr/>
          <p:nvPr/>
        </p:nvSpPr>
        <p:spPr>
          <a:xfrm>
            <a:off x="1463040" y="3401568"/>
            <a:ext cx="10058400" cy="560070"/>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THINK — one minute. Write one sentence: A hero needs / does not need a flaw because…</a:t>
            </a:r>
            <a:endParaRPr lang="en-US" sz="1800" dirty="0"/>
          </a:p>
        </p:txBody>
      </p:sp>
      <p:sp>
        <p:nvSpPr>
          <p:cNvPr id="22" name="Text 18"/>
          <p:cNvSpPr/>
          <p:nvPr/>
        </p:nvSpPr>
        <p:spPr>
          <a:xfrm>
            <a:off x="548640" y="4062222"/>
            <a:ext cx="560070" cy="560070"/>
          </a:xfrm>
          <a:prstGeom prst="ellipse">
            <a:avLst/>
          </a:prstGeom>
          <a:solidFill>
            <a:srgbClr val="12294D"/>
          </a:solidFill>
          <a:ln>
            <a:solidFill>
              <a:srgbClr val="12294D"/>
            </a:solidFill>
          </a:ln>
        </p:spPr>
        <p:txBody>
          <a:bodyPr wrap="square" lIns="0" tIns="0" rIns="0" bIns="0" rtlCol="0" anchor="ctr"/>
          <a:lstStyle/>
          <a:p>
            <a:pPr algn="ctr" indent="0" marL="0">
              <a:buNone/>
            </a:pPr>
            <a:r>
              <a:rPr lang="en-US" sz="1800" b="1" dirty="0">
                <a:solidFill>
                  <a:srgbClr val="FFC93C"/>
                </a:solidFill>
                <a:latin typeface="Arial" pitchFamily="34" charset="0"/>
                <a:ea typeface="Arial" pitchFamily="34" charset="-122"/>
                <a:cs typeface="Arial" pitchFamily="34" charset="-120"/>
              </a:rPr>
              <a:t>2</a:t>
            </a:r>
            <a:endParaRPr lang="en-US" sz="1800" dirty="0"/>
          </a:p>
        </p:txBody>
      </p:sp>
      <p:sp>
        <p:nvSpPr>
          <p:cNvPr id="23" name="Shape 19"/>
          <p:cNvSpPr/>
          <p:nvPr/>
        </p:nvSpPr>
        <p:spPr>
          <a:xfrm>
            <a:off x="1280160" y="4062222"/>
            <a:ext cx="10332720" cy="560070"/>
          </a:xfrm>
          <a:prstGeom prst="roundRect">
            <a:avLst>
              <a:gd name="adj" fmla="val 13061"/>
            </a:avLst>
          </a:prstGeom>
          <a:solidFill>
            <a:srgbClr val="F4F6FA"/>
          </a:solidFill>
          <a:ln w="12700">
            <a:solidFill>
              <a:srgbClr val="80ADC4"/>
            </a:solidFill>
            <a:prstDash val="solid"/>
          </a:ln>
        </p:spPr>
      </p:sp>
      <p:sp>
        <p:nvSpPr>
          <p:cNvPr id="24" name="Text 20"/>
          <p:cNvSpPr/>
          <p:nvPr/>
        </p:nvSpPr>
        <p:spPr>
          <a:xfrm>
            <a:off x="1463040" y="4062222"/>
            <a:ext cx="10058400" cy="560070"/>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PAIR — swap sentences. Find one hero you both know who has a flaw.</a:t>
            </a:r>
            <a:endParaRPr lang="en-US" sz="1800" dirty="0"/>
          </a:p>
        </p:txBody>
      </p:sp>
      <p:sp>
        <p:nvSpPr>
          <p:cNvPr id="25" name="Text 21"/>
          <p:cNvSpPr/>
          <p:nvPr/>
        </p:nvSpPr>
        <p:spPr>
          <a:xfrm>
            <a:off x="548640" y="4722876"/>
            <a:ext cx="560070" cy="560070"/>
          </a:xfrm>
          <a:prstGeom prst="ellipse">
            <a:avLst/>
          </a:prstGeom>
          <a:solidFill>
            <a:srgbClr val="12294D"/>
          </a:solidFill>
          <a:ln>
            <a:solidFill>
              <a:srgbClr val="12294D"/>
            </a:solidFill>
          </a:ln>
        </p:spPr>
        <p:txBody>
          <a:bodyPr wrap="square" lIns="0" tIns="0" rIns="0" bIns="0" rtlCol="0" anchor="ctr"/>
          <a:lstStyle/>
          <a:p>
            <a:pPr algn="ctr" indent="0" marL="0">
              <a:buNone/>
            </a:pPr>
            <a:r>
              <a:rPr lang="en-US" sz="1800" b="1" dirty="0">
                <a:solidFill>
                  <a:srgbClr val="FFC93C"/>
                </a:solidFill>
                <a:latin typeface="Arial" pitchFamily="34" charset="0"/>
                <a:ea typeface="Arial" pitchFamily="34" charset="-122"/>
                <a:cs typeface="Arial" pitchFamily="34" charset="-120"/>
              </a:rPr>
              <a:t>3</a:t>
            </a:r>
            <a:endParaRPr lang="en-US" sz="1800" dirty="0"/>
          </a:p>
        </p:txBody>
      </p:sp>
      <p:sp>
        <p:nvSpPr>
          <p:cNvPr id="26" name="Shape 22"/>
          <p:cNvSpPr/>
          <p:nvPr/>
        </p:nvSpPr>
        <p:spPr>
          <a:xfrm>
            <a:off x="1280160" y="4722876"/>
            <a:ext cx="10332720" cy="560070"/>
          </a:xfrm>
          <a:prstGeom prst="roundRect">
            <a:avLst>
              <a:gd name="adj" fmla="val 13061"/>
            </a:avLst>
          </a:prstGeom>
          <a:solidFill>
            <a:srgbClr val="FFFFFF"/>
          </a:solidFill>
          <a:ln w="12700">
            <a:solidFill>
              <a:srgbClr val="80ADC4"/>
            </a:solidFill>
            <a:prstDash val="solid"/>
          </a:ln>
        </p:spPr>
      </p:sp>
      <p:sp>
        <p:nvSpPr>
          <p:cNvPr id="27" name="Text 23"/>
          <p:cNvSpPr/>
          <p:nvPr/>
        </p:nvSpPr>
        <p:spPr>
          <a:xfrm>
            <a:off x="1463040" y="4722876"/>
            <a:ext cx="10058400" cy="560070"/>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SHARE — one pair reads out. The class names the flaw: hamartia or hubris?</a:t>
            </a:r>
            <a:endParaRPr lang="en-US" sz="1800" dirty="0"/>
          </a:p>
        </p:txBody>
      </p:sp>
      <p:sp>
        <p:nvSpPr>
          <p:cNvPr id="28" name="Text 24"/>
          <p:cNvSpPr/>
          <p:nvPr/>
        </p:nvSpPr>
        <p:spPr>
          <a:xfrm>
            <a:off x="548640" y="5383530"/>
            <a:ext cx="560070" cy="560070"/>
          </a:xfrm>
          <a:prstGeom prst="ellipse">
            <a:avLst/>
          </a:prstGeom>
          <a:solidFill>
            <a:srgbClr val="12294D"/>
          </a:solidFill>
          <a:ln>
            <a:solidFill>
              <a:srgbClr val="12294D"/>
            </a:solidFill>
          </a:ln>
        </p:spPr>
        <p:txBody>
          <a:bodyPr wrap="square" lIns="0" tIns="0" rIns="0" bIns="0" rtlCol="0" anchor="ctr"/>
          <a:lstStyle/>
          <a:p>
            <a:pPr algn="ctr" indent="0" marL="0">
              <a:buNone/>
            </a:pPr>
            <a:r>
              <a:rPr lang="en-US" sz="1800" b="1" dirty="0">
                <a:solidFill>
                  <a:srgbClr val="FFC93C"/>
                </a:solidFill>
                <a:latin typeface="Arial" pitchFamily="34" charset="0"/>
                <a:ea typeface="Arial" pitchFamily="34" charset="-122"/>
                <a:cs typeface="Arial" pitchFamily="34" charset="-120"/>
              </a:rPr>
              <a:t>4</a:t>
            </a:r>
            <a:endParaRPr lang="en-US" sz="1800" dirty="0"/>
          </a:p>
        </p:txBody>
      </p:sp>
      <p:sp>
        <p:nvSpPr>
          <p:cNvPr id="29" name="Shape 25"/>
          <p:cNvSpPr/>
          <p:nvPr/>
        </p:nvSpPr>
        <p:spPr>
          <a:xfrm>
            <a:off x="1280160" y="5383530"/>
            <a:ext cx="10332720" cy="560070"/>
          </a:xfrm>
          <a:prstGeom prst="roundRect">
            <a:avLst>
              <a:gd name="adj" fmla="val 13061"/>
            </a:avLst>
          </a:prstGeom>
          <a:solidFill>
            <a:srgbClr val="F4F6FA"/>
          </a:solidFill>
          <a:ln w="12700">
            <a:solidFill>
              <a:srgbClr val="80ADC4"/>
            </a:solidFill>
            <a:prstDash val="solid"/>
          </a:ln>
        </p:spPr>
      </p:sp>
      <p:sp>
        <p:nvSpPr>
          <p:cNvPr id="30" name="Text 26"/>
          <p:cNvSpPr/>
          <p:nvPr/>
        </p:nvSpPr>
        <p:spPr>
          <a:xfrm>
            <a:off x="1463040" y="5383530"/>
            <a:ext cx="10058400" cy="560070"/>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Improve your sentence with one key word you did not use before.</a:t>
            </a:r>
            <a:endParaRPr lang="en-US" sz="1800" dirty="0"/>
          </a:p>
        </p:txBody>
      </p:sp>
      <p:sp>
        <p:nvSpPr>
          <p:cNvPr id="31" name="Text 27"/>
          <p:cNvSpPr/>
          <p:nvPr/>
        </p:nvSpPr>
        <p:spPr>
          <a:xfrm>
            <a:off x="548640" y="5998464"/>
            <a:ext cx="11064240" cy="256032"/>
          </a:xfrm>
          <a:prstGeom prst="rect">
            <a:avLst/>
          </a:prstGeom>
          <a:noFill/>
          <a:ln/>
        </p:spPr>
        <p:txBody>
          <a:bodyPr wrap="square" lIns="0" tIns="0" rIns="0" bIns="0" rtlCol="0" anchor="ctr"/>
          <a:lstStyle/>
          <a:p>
            <a:pPr algn="l" indent="0" marL="0">
              <a:buNone/>
            </a:pPr>
            <a:r>
              <a:rPr lang="en-US" sz="1200" i="1" dirty="0">
                <a:solidFill>
                  <a:srgbClr val="6E6E6E"/>
                </a:solidFill>
                <a:latin typeface="Arial" pitchFamily="34" charset="0"/>
                <a:ea typeface="Arial" pitchFamily="34" charset="-122"/>
                <a:cs typeface="Arial" pitchFamily="34" charset="-120"/>
              </a:rPr>
              <a:t>Evidence: EEF Toolkit · Oral language interventions — +6 months, very low cost</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457200" y="384048"/>
            <a:ext cx="731520" cy="731520"/>
          </a:xfrm>
          <a:prstGeom prst="roundRect">
            <a:avLst>
              <a:gd name="adj" fmla="val 15000"/>
            </a:avLst>
          </a:prstGeom>
          <a:solidFill>
            <a:srgbClr val="00A08A"/>
          </a:solidFill>
          <a:ln w="12700">
            <a:solidFill>
              <a:srgbClr val="00A08A"/>
            </a:solidFill>
            <a:prstDash val="solid"/>
          </a:ln>
        </p:spPr>
      </p:sp>
      <p:pic>
        <p:nvPicPr>
          <p:cNvPr id="3" name="Image 0" descr="/home/claude/english/kit/decks/_icons/award-FFFFFF.png">    </p:cNvPr>
          <p:cNvPicPr>
            <a:picLocks noChangeAspect="1"/>
          </p:cNvPicPr>
          <p:nvPr/>
        </p:nvPicPr>
        <p:blipFill>
          <a:blip r:embed="rId1"/>
          <a:stretch>
            <a:fillRect/>
          </a:stretch>
        </p:blipFill>
        <p:spPr>
          <a:xfrm>
            <a:off x="603504" y="530352"/>
            <a:ext cx="438912" cy="438912"/>
          </a:xfrm>
          <a:prstGeom prst="rect">
            <a:avLst/>
          </a:prstGeom>
        </p:spPr>
      </p:pic>
      <p:sp>
        <p:nvSpPr>
          <p:cNvPr id="4" name="Text 1"/>
          <p:cNvSpPr/>
          <p:nvPr/>
        </p:nvSpPr>
        <p:spPr>
          <a:xfrm>
            <a:off x="1298448" y="384048"/>
            <a:ext cx="8183880" cy="731520"/>
          </a:xfrm>
          <a:prstGeom prst="roundRect">
            <a:avLst>
              <a:gd name="adj" fmla="val 12500"/>
            </a:avLst>
          </a:prstGeom>
          <a:solidFill>
            <a:srgbClr val="E4F3EF"/>
          </a:solidFill>
          <a:ln>
            <a:solidFill>
              <a:srgbClr val="E4F3EF"/>
            </a:solidFill>
          </a:ln>
        </p:spPr>
        <p:txBody>
          <a:bodyPr wrap="square" lIns="45720" tIns="182880" rIns="137160" bIns="45720" rtlCol="0" anchor="ctr"/>
          <a:lstStyle/>
          <a:p>
            <a:pPr algn="l" indent="0" marL="0">
              <a:buNone/>
            </a:pPr>
            <a:r>
              <a:rPr lang="en-US" sz="2400" b="1" dirty="0">
                <a:solidFill>
                  <a:srgbClr val="12294D"/>
                </a:solidFill>
                <a:latin typeface="Arial" pitchFamily="34" charset="0"/>
                <a:ea typeface="Arial" pitchFamily="34" charset="-122"/>
                <a:cs typeface="Arial" pitchFamily="34" charset="-120"/>
              </a:rPr>
              <a:t>Exit ticket — what a strong answer shows</a:t>
            </a:r>
            <a:endParaRPr lang="en-US" sz="2400" dirty="0"/>
          </a:p>
        </p:txBody>
      </p:sp>
      <p:sp>
        <p:nvSpPr>
          <p:cNvPr id="5" name="Text 2"/>
          <p:cNvSpPr/>
          <p:nvPr/>
        </p:nvSpPr>
        <p:spPr>
          <a:xfrm>
            <a:off x="9784080" y="457200"/>
            <a:ext cx="1874520" cy="566928"/>
          </a:xfrm>
          <a:prstGeom prst="roundRect">
            <a:avLst>
              <a:gd name="adj" fmla="val 16129"/>
            </a:avLst>
          </a:prstGeom>
          <a:solidFill>
            <a:srgbClr val="00A08A"/>
          </a:solidFill>
          <a:ln>
            <a:solidFill>
              <a:srgbClr val="00A08A"/>
            </a:solid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a:t>
            </a:r>
            <a:endParaRPr lang="en-US" sz="1700" dirty="0"/>
          </a:p>
        </p:txBody>
      </p:sp>
      <p:sp>
        <p:nvSpPr>
          <p:cNvPr id="6" name="Text 3"/>
          <p:cNvSpPr/>
          <p:nvPr/>
        </p:nvSpPr>
        <p:spPr>
          <a:xfrm>
            <a:off x="1371600" y="1097280"/>
            <a:ext cx="10149840" cy="502920"/>
          </a:xfrm>
          <a:prstGeom prst="rect">
            <a:avLst/>
          </a:prstGeom>
          <a:noFill/>
          <a:ln/>
        </p:spPr>
        <p:txBody>
          <a:bodyPr wrap="square" lIns="45720" tIns="91440" rIns="91440" bIns="45720" rtlCol="0" anchor="ctr"/>
          <a:lstStyle/>
          <a:p>
            <a:pPr algn="l" indent="0" marL="0">
              <a:buNone/>
            </a:pPr>
            <a:r>
              <a:rPr lang="en-US" sz="1500" i="1" dirty="0">
                <a:solidFill>
                  <a:srgbClr val="404040"/>
                </a:solidFill>
                <a:latin typeface="Arial" pitchFamily="34" charset="0"/>
                <a:ea typeface="Arial" pitchFamily="34" charset="-122"/>
                <a:cs typeface="Arial" pitchFamily="34" charset="-120"/>
              </a:rPr>
              <a:t>Three sentences on your exit slip. Did you make these moves?</a:t>
            </a:r>
            <a:endParaRPr lang="en-US" sz="1500" dirty="0"/>
          </a:p>
        </p:txBody>
      </p:sp>
      <p:sp>
        <p:nvSpPr>
          <p:cNvPr id="7" name="Text 4"/>
          <p:cNvSpPr/>
          <p:nvPr/>
        </p:nvSpPr>
        <p:spPr>
          <a:xfrm>
            <a:off x="457200" y="6327648"/>
            <a:ext cx="822960" cy="292608"/>
          </a:xfrm>
          <a:prstGeom prst="rect">
            <a:avLst/>
          </a:prstGeom>
          <a:noFill/>
          <a:ln/>
        </p:spPr>
        <p:txBody>
          <a:bodyPr wrap="square" lIns="0" tIns="0" rIns="0" bIns="0" rtlCol="0" anchor="ctr"/>
          <a:lstStyle/>
          <a:p>
            <a:pPr indent="0" marL="0">
              <a:buNone/>
            </a:pPr>
            <a:r>
              <a:rPr lang="en-US" sz="1100" b="1" dirty="0">
                <a:solidFill>
                  <a:srgbClr val="6E6E6E"/>
                </a:solidFill>
                <a:latin typeface="Arial" pitchFamily="34" charset="0"/>
                <a:ea typeface="Arial" pitchFamily="34" charset="-122"/>
                <a:cs typeface="Arial" pitchFamily="34" charset="-120"/>
              </a:rPr>
              <a:t>AIMS →</a:t>
            </a:r>
            <a:endParaRPr lang="en-US" sz="1100" dirty="0"/>
          </a:p>
        </p:txBody>
      </p:sp>
      <p:sp>
        <p:nvSpPr>
          <p:cNvPr id="8" name="Text 5"/>
          <p:cNvSpPr/>
          <p:nvPr/>
        </p:nvSpPr>
        <p:spPr>
          <a:xfrm>
            <a:off x="132588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REMEMBER</a:t>
            </a:r>
            <a:endParaRPr lang="en-US" sz="1200" dirty="0"/>
          </a:p>
        </p:txBody>
      </p:sp>
      <p:sp>
        <p:nvSpPr>
          <p:cNvPr id="9" name="Text 6"/>
          <p:cNvSpPr/>
          <p:nvPr/>
        </p:nvSpPr>
        <p:spPr>
          <a:xfrm>
            <a:off x="397764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UNDERSTAND</a:t>
            </a:r>
            <a:endParaRPr lang="en-US" sz="1200" dirty="0"/>
          </a:p>
        </p:txBody>
      </p:sp>
      <p:sp>
        <p:nvSpPr>
          <p:cNvPr id="10" name="Text 7"/>
          <p:cNvSpPr/>
          <p:nvPr/>
        </p:nvSpPr>
        <p:spPr>
          <a:xfrm>
            <a:off x="662940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ANALYSE</a:t>
            </a:r>
            <a:endParaRPr lang="en-US" sz="1200" dirty="0"/>
          </a:p>
        </p:txBody>
      </p:sp>
      <p:sp>
        <p:nvSpPr>
          <p:cNvPr id="11" name="Text 8"/>
          <p:cNvSpPr/>
          <p:nvPr/>
        </p:nvSpPr>
        <p:spPr>
          <a:xfrm>
            <a:off x="9281160" y="6291072"/>
            <a:ext cx="2514600" cy="365760"/>
          </a:xfrm>
          <a:prstGeom prst="roundRect">
            <a:avLst>
              <a:gd name="adj" fmla="val 22500"/>
            </a:avLst>
          </a:prstGeom>
          <a:solidFill>
            <a:srgbClr val="D0021B"/>
          </a:solidFill>
          <a:ln>
            <a:solidFill>
              <a:srgbClr val="D0021B"/>
            </a:solid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 EVALUATE</a:t>
            </a:r>
            <a:endParaRPr lang="en-US" sz="1200" dirty="0"/>
          </a:p>
        </p:txBody>
      </p:sp>
      <p:sp>
        <p:nvSpPr>
          <p:cNvPr id="12" name="Text 9"/>
          <p:cNvSpPr/>
          <p:nvPr/>
        </p:nvSpPr>
        <p:spPr>
          <a:xfrm>
            <a:off x="457200" y="6702552"/>
            <a:ext cx="8229600" cy="155448"/>
          </a:xfrm>
          <a:prstGeom prst="rect">
            <a:avLst/>
          </a:prstGeom>
          <a:noFill/>
          <a:ln/>
        </p:spPr>
        <p:txBody>
          <a:bodyPr wrap="square" lIns="0" tIns="0" rIns="0" bIns="0" rtlCol="0" anchor="t"/>
          <a:lstStyle/>
          <a:p>
            <a:pPr indent="0" marL="0">
              <a:buNone/>
            </a:pPr>
            <a:r>
              <a:rPr lang="en-US" sz="900" dirty="0">
                <a:solidFill>
                  <a:srgbClr val="AAB4C2"/>
                </a:solidFill>
                <a:latin typeface="Arial" pitchFamily="34" charset="0"/>
                <a:ea typeface="Arial" pitchFamily="34" charset="-122"/>
                <a:cs typeface="Arial" pitchFamily="34" charset="-120"/>
              </a:rPr>
              <a:t>Harlington English · The Odyssey · Epic poetry and the epic hero</a:t>
            </a:r>
            <a:endParaRPr lang="en-US" sz="900" dirty="0"/>
          </a:p>
        </p:txBody>
      </p:sp>
      <p:sp>
        <p:nvSpPr>
          <p:cNvPr id="13" name="Text 10"/>
          <p:cNvSpPr/>
          <p:nvPr/>
        </p:nvSpPr>
        <p:spPr>
          <a:xfrm>
            <a:off x="8961120" y="6702552"/>
            <a:ext cx="2743200" cy="155448"/>
          </a:xfrm>
          <a:prstGeom prst="rect">
            <a:avLst/>
          </a:prstGeom>
          <a:noFill/>
          <a:ln/>
        </p:spPr>
        <p:txBody>
          <a:bodyPr wrap="square" lIns="0" tIns="0" rIns="0" bIns="0" rtlCol="0" anchor="t"/>
          <a:lstStyle/>
          <a:p>
            <a:pPr algn="r" indent="0" marL="0">
              <a:buNone/>
            </a:pPr>
            <a:r>
              <a:rPr lang="en-US" sz="900" dirty="0">
                <a:solidFill>
                  <a:srgbClr val="AAB4C2"/>
                </a:solidFill>
                <a:latin typeface="Arial" pitchFamily="34" charset="0"/>
                <a:ea typeface="Arial" pitchFamily="34" charset="-122"/>
                <a:cs typeface="Arial" pitchFamily="34" charset="-120"/>
              </a:rPr>
              <a:t>THE MOVES</a:t>
            </a:r>
            <a:endParaRPr lang="en-US" sz="900" dirty="0"/>
          </a:p>
        </p:txBody>
      </p:sp>
      <p:sp>
        <p:nvSpPr>
          <p:cNvPr id="14" name="Text 11"/>
          <p:cNvSpPr/>
          <p:nvPr/>
        </p:nvSpPr>
        <p:spPr>
          <a:xfrm>
            <a:off x="548640" y="1783080"/>
            <a:ext cx="3017520" cy="914400"/>
          </a:xfrm>
          <a:prstGeom prst="roundRect">
            <a:avLst>
              <a:gd name="adj" fmla="val 7000"/>
            </a:avLst>
          </a:prstGeom>
          <a:solidFill>
            <a:srgbClr val="12294D"/>
          </a:solidFill>
          <a:ln>
            <a:solidFill>
              <a:srgbClr val="12294D"/>
            </a:solidFill>
          </a:ln>
        </p:spPr>
        <p:txBody>
          <a:bodyPr wrap="square" lIns="45720" tIns="137160" rIns="91440" bIns="45720" rtlCol="0" anchor="ctr"/>
          <a:lstStyle/>
          <a:p>
            <a:pPr algn="l" indent="0" marL="0">
              <a:buNone/>
            </a:pPr>
            <a:r>
              <a:rPr lang="en-US" sz="1600" b="1" dirty="0">
                <a:solidFill>
                  <a:srgbClr val="FFC93C"/>
                </a:solidFill>
                <a:latin typeface="Arial" pitchFamily="34" charset="0"/>
                <a:ea typeface="Arial" pitchFamily="34" charset="-122"/>
                <a:cs typeface="Arial" pitchFamily="34" charset="-120"/>
              </a:rPr>
              <a:t>Define</a:t>
            </a:r>
            <a:endParaRPr lang="en-US" sz="1600" dirty="0"/>
          </a:p>
        </p:txBody>
      </p:sp>
      <p:sp>
        <p:nvSpPr>
          <p:cNvPr id="15" name="Shape 12"/>
          <p:cNvSpPr/>
          <p:nvPr/>
        </p:nvSpPr>
        <p:spPr>
          <a:xfrm>
            <a:off x="3703320" y="1783080"/>
            <a:ext cx="7909560" cy="914400"/>
          </a:xfrm>
          <a:prstGeom prst="roundRect">
            <a:avLst>
              <a:gd name="adj" fmla="val 6000"/>
            </a:avLst>
          </a:prstGeom>
          <a:solidFill>
            <a:srgbClr val="FEF7E4"/>
          </a:solidFill>
          <a:ln w="12700">
            <a:solidFill>
              <a:srgbClr val="E5D9B0"/>
            </a:solidFill>
            <a:prstDash val="solid"/>
          </a:ln>
        </p:spPr>
      </p:sp>
      <p:sp>
        <p:nvSpPr>
          <p:cNvPr id="16" name="Text 13"/>
          <p:cNvSpPr/>
          <p:nvPr/>
        </p:nvSpPr>
        <p:spPr>
          <a:xfrm>
            <a:off x="3886200" y="1783080"/>
            <a:ext cx="7589520" cy="914400"/>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Say what an epic is in your own words — long poem, hero, journey, gods.</a:t>
            </a:r>
            <a:endParaRPr lang="en-US" sz="1800" dirty="0"/>
          </a:p>
        </p:txBody>
      </p:sp>
      <p:sp>
        <p:nvSpPr>
          <p:cNvPr id="17" name="Text 14"/>
          <p:cNvSpPr/>
          <p:nvPr/>
        </p:nvSpPr>
        <p:spPr>
          <a:xfrm>
            <a:off x="548640" y="2843784"/>
            <a:ext cx="3017520" cy="914400"/>
          </a:xfrm>
          <a:prstGeom prst="roundRect">
            <a:avLst>
              <a:gd name="adj" fmla="val 7000"/>
            </a:avLst>
          </a:prstGeom>
          <a:solidFill>
            <a:srgbClr val="12294D"/>
          </a:solidFill>
          <a:ln>
            <a:solidFill>
              <a:srgbClr val="12294D"/>
            </a:solidFill>
          </a:ln>
        </p:spPr>
        <p:txBody>
          <a:bodyPr wrap="square" lIns="45720" tIns="137160" rIns="91440" bIns="45720" rtlCol="0" anchor="ctr"/>
          <a:lstStyle/>
          <a:p>
            <a:pPr algn="l" indent="0" marL="0">
              <a:buNone/>
            </a:pPr>
            <a:r>
              <a:rPr lang="en-US" sz="1600" b="1" dirty="0">
                <a:solidFill>
                  <a:srgbClr val="FFC93C"/>
                </a:solidFill>
                <a:latin typeface="Arial" pitchFamily="34" charset="0"/>
                <a:ea typeface="Arial" pitchFamily="34" charset="-122"/>
                <a:cs typeface="Arial" pitchFamily="34" charset="-120"/>
              </a:rPr>
              <a:t>Name the flaw</a:t>
            </a:r>
            <a:endParaRPr lang="en-US" sz="1600" dirty="0"/>
          </a:p>
        </p:txBody>
      </p:sp>
      <p:sp>
        <p:nvSpPr>
          <p:cNvPr id="18" name="Shape 15"/>
          <p:cNvSpPr/>
          <p:nvPr/>
        </p:nvSpPr>
        <p:spPr>
          <a:xfrm>
            <a:off x="3703320" y="2843784"/>
            <a:ext cx="7909560" cy="914400"/>
          </a:xfrm>
          <a:prstGeom prst="roundRect">
            <a:avLst>
              <a:gd name="adj" fmla="val 6000"/>
            </a:avLst>
          </a:prstGeom>
          <a:solidFill>
            <a:srgbClr val="FEF7E4"/>
          </a:solidFill>
          <a:ln w="12700">
            <a:solidFill>
              <a:srgbClr val="E5D9B0"/>
            </a:solidFill>
            <a:prstDash val="solid"/>
          </a:ln>
        </p:spPr>
      </p:sp>
      <p:sp>
        <p:nvSpPr>
          <p:cNvPr id="19" name="Text 16"/>
          <p:cNvSpPr/>
          <p:nvPr/>
        </p:nvSpPr>
        <p:spPr>
          <a:xfrm>
            <a:off x="3886200" y="2843784"/>
            <a:ext cx="7589520" cy="914400"/>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Use hamartia or hubris correctly, with the moment from the story that shows it.</a:t>
            </a:r>
            <a:endParaRPr lang="en-US" sz="1800" dirty="0"/>
          </a:p>
        </p:txBody>
      </p:sp>
      <p:sp>
        <p:nvSpPr>
          <p:cNvPr id="20" name="Text 17"/>
          <p:cNvSpPr/>
          <p:nvPr/>
        </p:nvSpPr>
        <p:spPr>
          <a:xfrm>
            <a:off x="548640" y="3904488"/>
            <a:ext cx="3017520" cy="914400"/>
          </a:xfrm>
          <a:prstGeom prst="roundRect">
            <a:avLst>
              <a:gd name="adj" fmla="val 7000"/>
            </a:avLst>
          </a:prstGeom>
          <a:solidFill>
            <a:srgbClr val="12294D"/>
          </a:solidFill>
          <a:ln>
            <a:solidFill>
              <a:srgbClr val="12294D"/>
            </a:solidFill>
          </a:ln>
        </p:spPr>
        <p:txBody>
          <a:bodyPr wrap="square" lIns="45720" tIns="137160" rIns="91440" bIns="45720" rtlCol="0" anchor="ctr"/>
          <a:lstStyle/>
          <a:p>
            <a:pPr algn="l" indent="0" marL="0">
              <a:buNone/>
            </a:pPr>
            <a:r>
              <a:rPr lang="en-US" sz="1600" b="1" dirty="0">
                <a:solidFill>
                  <a:srgbClr val="FFC93C"/>
                </a:solidFill>
                <a:latin typeface="Arial" pitchFamily="34" charset="0"/>
                <a:ea typeface="Arial" pitchFamily="34" charset="-122"/>
                <a:cs typeface="Arial" pitchFamily="34" charset="-120"/>
              </a:rPr>
              <a:t>Decide</a:t>
            </a:r>
            <a:endParaRPr lang="en-US" sz="1600" dirty="0"/>
          </a:p>
        </p:txBody>
      </p:sp>
      <p:sp>
        <p:nvSpPr>
          <p:cNvPr id="21" name="Shape 18"/>
          <p:cNvSpPr/>
          <p:nvPr/>
        </p:nvSpPr>
        <p:spPr>
          <a:xfrm>
            <a:off x="3703320" y="3904488"/>
            <a:ext cx="7909560" cy="914400"/>
          </a:xfrm>
          <a:prstGeom prst="roundRect">
            <a:avLst>
              <a:gd name="adj" fmla="val 6000"/>
            </a:avLst>
          </a:prstGeom>
          <a:solidFill>
            <a:srgbClr val="FEF7E4"/>
          </a:solidFill>
          <a:ln w="12700">
            <a:solidFill>
              <a:srgbClr val="E5D9B0"/>
            </a:solidFill>
            <a:prstDash val="solid"/>
          </a:ln>
        </p:spPr>
      </p:sp>
      <p:sp>
        <p:nvSpPr>
          <p:cNvPr id="22" name="Text 19"/>
          <p:cNvSpPr/>
          <p:nvPr/>
        </p:nvSpPr>
        <p:spPr>
          <a:xfrm>
            <a:off x="3886200" y="3904488"/>
            <a:ext cx="7589520" cy="914400"/>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Answer the Big Question with your own view and one reason.</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2294D"/>
        </a:solidFill>
      </p:bgPr>
    </p:bg>
    <p:spTree>
      <p:nvGrpSpPr>
        <p:cNvPr id="1" name=""/>
        <p:cNvGrpSpPr/>
        <p:nvPr/>
      </p:nvGrpSpPr>
      <p:grpSpPr>
        <a:xfrm>
          <a:off x="0" y="0"/>
          <a:ext cx="0" cy="0"/>
          <a:chOff x="0" y="0"/>
          <a:chExt cx="0" cy="0"/>
        </a:xfrm>
      </p:grpSpPr>
      <p:sp>
        <p:nvSpPr>
          <p:cNvPr id="2" name="Text 0"/>
          <p:cNvSpPr/>
          <p:nvPr/>
        </p:nvSpPr>
        <p:spPr>
          <a:xfrm>
            <a:off x="548640" y="594360"/>
            <a:ext cx="10058400" cy="365760"/>
          </a:xfrm>
          <a:prstGeom prst="rect">
            <a:avLst/>
          </a:prstGeom>
          <a:noFill/>
          <a:ln/>
        </p:spPr>
        <p:txBody>
          <a:bodyPr wrap="square" lIns="0" tIns="0" rIns="0" bIns="0" rtlCol="0" anchor="ctr"/>
          <a:lstStyle/>
          <a:p>
            <a:pPr indent="0" marL="0">
              <a:buNone/>
            </a:pPr>
            <a:r>
              <a:rPr lang="en-US" sz="1500" b="1" dirty="0">
                <a:solidFill>
                  <a:srgbClr val="FFC93C"/>
                </a:solidFill>
                <a:latin typeface="Arial" pitchFamily="34" charset="0"/>
                <a:ea typeface="Arial" pitchFamily="34" charset="-122"/>
                <a:cs typeface="Arial" pitchFamily="34" charset="-120"/>
              </a:rPr>
              <a:t>BEFORE YOU LEAVE</a:t>
            </a:r>
            <a:endParaRPr lang="en-US" sz="1500" dirty="0"/>
          </a:p>
        </p:txBody>
      </p:sp>
      <p:sp>
        <p:nvSpPr>
          <p:cNvPr id="3" name="Text 1"/>
          <p:cNvSpPr/>
          <p:nvPr/>
        </p:nvSpPr>
        <p:spPr>
          <a:xfrm>
            <a:off x="548640" y="1051560"/>
            <a:ext cx="10515600" cy="731520"/>
          </a:xfrm>
          <a:prstGeom prst="rect">
            <a:avLst/>
          </a:prstGeom>
          <a:noFill/>
          <a:ln/>
        </p:spPr>
        <p:txBody>
          <a:bodyPr wrap="square" lIns="0" tIns="0" rIns="0" bIns="0" rtlCol="0" anchor="ctr"/>
          <a:lstStyle/>
          <a:p>
            <a:pPr algn="l" indent="0" marL="0">
              <a:buNone/>
            </a:pPr>
            <a:r>
              <a:rPr lang="en-US" sz="3000" b="1" dirty="0">
                <a:solidFill>
                  <a:srgbClr val="FFFFFF"/>
                </a:solidFill>
                <a:latin typeface="Arial" pitchFamily="34" charset="0"/>
                <a:ea typeface="Arial" pitchFamily="34" charset="-122"/>
                <a:cs typeface="Arial" pitchFamily="34" charset="-120"/>
              </a:rPr>
              <a:t>Home learning — the come-back loop</a:t>
            </a:r>
            <a:endParaRPr lang="en-US" sz="3000" dirty="0"/>
          </a:p>
        </p:txBody>
      </p:sp>
      <p:sp>
        <p:nvSpPr>
          <p:cNvPr id="4" name="Shape 2"/>
          <p:cNvSpPr/>
          <p:nvPr/>
        </p:nvSpPr>
        <p:spPr>
          <a:xfrm>
            <a:off x="548640" y="2011680"/>
            <a:ext cx="5349240" cy="1828800"/>
          </a:xfrm>
          <a:prstGeom prst="roundRect">
            <a:avLst>
              <a:gd name="adj" fmla="val 3000"/>
            </a:avLst>
          </a:prstGeom>
          <a:solidFill>
            <a:srgbClr val="1B315C"/>
          </a:solidFill>
          <a:ln w="12700">
            <a:solidFill>
              <a:srgbClr val="80ADC4"/>
            </a:solidFill>
            <a:prstDash val="solid"/>
          </a:ln>
        </p:spPr>
      </p:sp>
      <p:pic>
        <p:nvPicPr>
          <p:cNvPr id="5" name="Image 0" descr="/home/claude/english/kit/decks/_icons/headphones-FFFFFF.png">    </p:cNvPr>
          <p:cNvPicPr>
            <a:picLocks noChangeAspect="1"/>
          </p:cNvPicPr>
          <p:nvPr/>
        </p:nvPicPr>
        <p:blipFill>
          <a:blip r:embed="rId1"/>
          <a:stretch>
            <a:fillRect/>
          </a:stretch>
        </p:blipFill>
        <p:spPr>
          <a:xfrm>
            <a:off x="822960" y="2331720"/>
            <a:ext cx="566928" cy="566928"/>
          </a:xfrm>
          <a:prstGeom prst="rect">
            <a:avLst/>
          </a:prstGeom>
        </p:spPr>
      </p:pic>
      <p:sp>
        <p:nvSpPr>
          <p:cNvPr id="6" name="Text 3"/>
          <p:cNvSpPr/>
          <p:nvPr/>
        </p:nvSpPr>
        <p:spPr>
          <a:xfrm>
            <a:off x="1783080" y="2194560"/>
            <a:ext cx="3931920" cy="502920"/>
          </a:xfrm>
          <a:prstGeom prst="rect">
            <a:avLst/>
          </a:prstGeom>
          <a:noFill/>
          <a:ln/>
        </p:spPr>
        <p:txBody>
          <a:bodyPr wrap="square" lIns="0" tIns="0" rIns="0" bIns="0" rtlCol="0" anchor="ctr"/>
          <a:lstStyle/>
          <a:p>
            <a:pPr algn="l" indent="0" marL="0">
              <a:buNone/>
            </a:pPr>
            <a:r>
              <a:rPr lang="en-US" sz="1900" b="1" dirty="0">
                <a:solidFill>
                  <a:srgbClr val="FFC93C"/>
                </a:solidFill>
                <a:latin typeface="Arial" pitchFamily="34" charset="0"/>
                <a:ea typeface="Arial" pitchFamily="34" charset="-122"/>
                <a:cs typeface="Arial" pitchFamily="34" charset="-120"/>
              </a:rPr>
              <a:t>Listen</a:t>
            </a:r>
            <a:endParaRPr lang="en-US" sz="1900" dirty="0"/>
          </a:p>
        </p:txBody>
      </p:sp>
      <p:sp>
        <p:nvSpPr>
          <p:cNvPr id="7" name="Text 4"/>
          <p:cNvSpPr/>
          <p:nvPr/>
        </p:nvSpPr>
        <p:spPr>
          <a:xfrm>
            <a:off x="1783080" y="2670048"/>
            <a:ext cx="3931920" cy="1051560"/>
          </a:xfrm>
          <a:prstGeom prst="rect">
            <a:avLst/>
          </a:prstGeom>
          <a:noFill/>
          <a:ln/>
        </p:spPr>
        <p:txBody>
          <a:bodyPr wrap="square" lIns="0" tIns="0" rIns="0" bIns="0" rtlCol="0" anchor="t"/>
          <a:lstStyle/>
          <a:p>
            <a:pPr algn="l" indent="0" marL="0">
              <a:buNone/>
            </a:pPr>
            <a:r>
              <a:rPr lang="en-US" sz="1800" dirty="0">
                <a:solidFill>
                  <a:srgbClr val="CFE0F2"/>
                </a:solidFill>
                <a:latin typeface="Arial" pitchFamily="34" charset="0"/>
                <a:ea typeface="Arial" pitchFamily="34" charset="-122"/>
                <a:cs typeface="Arial" pitchFamily="34" charset="-120"/>
              </a:rPr>
              <a:t>Open the read-along edition and listen to pages 1 to 3. Tap any sentence you are not sure of.</a:t>
            </a:r>
            <a:endParaRPr lang="en-US" sz="1800" dirty="0"/>
          </a:p>
        </p:txBody>
      </p:sp>
      <p:sp>
        <p:nvSpPr>
          <p:cNvPr id="8" name="Shape 5"/>
          <p:cNvSpPr/>
          <p:nvPr/>
        </p:nvSpPr>
        <p:spPr>
          <a:xfrm>
            <a:off x="6172200" y="2011680"/>
            <a:ext cx="5349240" cy="1828800"/>
          </a:xfrm>
          <a:prstGeom prst="roundRect">
            <a:avLst>
              <a:gd name="adj" fmla="val 3000"/>
            </a:avLst>
          </a:prstGeom>
          <a:solidFill>
            <a:srgbClr val="1B315C"/>
          </a:solidFill>
          <a:ln w="12700">
            <a:solidFill>
              <a:srgbClr val="80ADC4"/>
            </a:solidFill>
            <a:prstDash val="solid"/>
          </a:ln>
        </p:spPr>
      </p:sp>
      <p:pic>
        <p:nvPicPr>
          <p:cNvPr id="9" name="Image 1" descr="/home/claude/english/kit/decks/_icons/book-open-FFFFFF.png">    </p:cNvPr>
          <p:cNvPicPr>
            <a:picLocks noChangeAspect="1"/>
          </p:cNvPicPr>
          <p:nvPr/>
        </p:nvPicPr>
        <p:blipFill>
          <a:blip r:embed="rId2"/>
          <a:stretch>
            <a:fillRect/>
          </a:stretch>
        </p:blipFill>
        <p:spPr>
          <a:xfrm>
            <a:off x="6446520" y="2331720"/>
            <a:ext cx="566928" cy="566928"/>
          </a:xfrm>
          <a:prstGeom prst="rect">
            <a:avLst/>
          </a:prstGeom>
        </p:spPr>
      </p:pic>
      <p:sp>
        <p:nvSpPr>
          <p:cNvPr id="10" name="Text 6"/>
          <p:cNvSpPr/>
          <p:nvPr/>
        </p:nvSpPr>
        <p:spPr>
          <a:xfrm>
            <a:off x="7406640" y="2194560"/>
            <a:ext cx="3931920" cy="502920"/>
          </a:xfrm>
          <a:prstGeom prst="rect">
            <a:avLst/>
          </a:prstGeom>
          <a:noFill/>
          <a:ln/>
        </p:spPr>
        <p:txBody>
          <a:bodyPr wrap="square" lIns="0" tIns="0" rIns="0" bIns="0" rtlCol="0" anchor="ctr"/>
          <a:lstStyle/>
          <a:p>
            <a:pPr algn="l" indent="0" marL="0">
              <a:buNone/>
            </a:pPr>
            <a:r>
              <a:rPr lang="en-US" sz="1900" b="1" dirty="0">
                <a:solidFill>
                  <a:srgbClr val="FFC93C"/>
                </a:solidFill>
                <a:latin typeface="Arial" pitchFamily="34" charset="0"/>
                <a:ea typeface="Arial" pitchFamily="34" charset="-122"/>
                <a:cs typeface="Arial" pitchFamily="34" charset="-120"/>
              </a:rPr>
              <a:t>Read</a:t>
            </a:r>
            <a:endParaRPr lang="en-US" sz="1900" dirty="0"/>
          </a:p>
        </p:txBody>
      </p:sp>
      <p:sp>
        <p:nvSpPr>
          <p:cNvPr id="11" name="Text 7"/>
          <p:cNvSpPr/>
          <p:nvPr/>
        </p:nvSpPr>
        <p:spPr>
          <a:xfrm>
            <a:off x="7406640" y="2670048"/>
            <a:ext cx="3931920" cy="1051560"/>
          </a:xfrm>
          <a:prstGeom prst="rect">
            <a:avLst/>
          </a:prstGeom>
          <a:noFill/>
          <a:ln/>
        </p:spPr>
        <p:txBody>
          <a:bodyPr wrap="square" lIns="0" tIns="0" rIns="0" bIns="0" rtlCol="0" anchor="t"/>
          <a:lstStyle/>
          <a:p>
            <a:pPr algn="l" indent="0" marL="0">
              <a:buNone/>
            </a:pPr>
            <a:r>
              <a:rPr lang="en-US" sz="1800" dirty="0">
                <a:solidFill>
                  <a:srgbClr val="CFE0F2"/>
                </a:solidFill>
                <a:latin typeface="Arial" pitchFamily="34" charset="0"/>
                <a:ea typeface="Arial" pitchFamily="34" charset="-122"/>
                <a:cs typeface="Arial" pitchFamily="34" charset="-120"/>
              </a:rPr>
              <a:t>Read the extract again. Underline every word that praises Odysseus.</a:t>
            </a:r>
            <a:endParaRPr lang="en-US" sz="1800" dirty="0"/>
          </a:p>
        </p:txBody>
      </p:sp>
      <p:sp>
        <p:nvSpPr>
          <p:cNvPr id="12" name="Shape 8"/>
          <p:cNvSpPr/>
          <p:nvPr/>
        </p:nvSpPr>
        <p:spPr>
          <a:xfrm>
            <a:off x="548640" y="4023360"/>
            <a:ext cx="5349240" cy="1828800"/>
          </a:xfrm>
          <a:prstGeom prst="roundRect">
            <a:avLst>
              <a:gd name="adj" fmla="val 3000"/>
            </a:avLst>
          </a:prstGeom>
          <a:solidFill>
            <a:srgbClr val="1B315C"/>
          </a:solidFill>
          <a:ln w="12700">
            <a:solidFill>
              <a:srgbClr val="80ADC4"/>
            </a:solidFill>
            <a:prstDash val="solid"/>
          </a:ln>
        </p:spPr>
      </p:sp>
      <p:pic>
        <p:nvPicPr>
          <p:cNvPr id="13" name="Image 2" descr="/home/claude/english/kit/decks/_icons/edit-3-FFFFFF.png">    </p:cNvPr>
          <p:cNvPicPr>
            <a:picLocks noChangeAspect="1"/>
          </p:cNvPicPr>
          <p:nvPr/>
        </p:nvPicPr>
        <p:blipFill>
          <a:blip r:embed="rId3"/>
          <a:stretch>
            <a:fillRect/>
          </a:stretch>
        </p:blipFill>
        <p:spPr>
          <a:xfrm>
            <a:off x="822960" y="4343400"/>
            <a:ext cx="566928" cy="566928"/>
          </a:xfrm>
          <a:prstGeom prst="rect">
            <a:avLst/>
          </a:prstGeom>
        </p:spPr>
      </p:pic>
      <p:sp>
        <p:nvSpPr>
          <p:cNvPr id="14" name="Text 9"/>
          <p:cNvSpPr/>
          <p:nvPr/>
        </p:nvSpPr>
        <p:spPr>
          <a:xfrm>
            <a:off x="1783080" y="4206240"/>
            <a:ext cx="3931920" cy="502920"/>
          </a:xfrm>
          <a:prstGeom prst="rect">
            <a:avLst/>
          </a:prstGeom>
          <a:noFill/>
          <a:ln/>
        </p:spPr>
        <p:txBody>
          <a:bodyPr wrap="square" lIns="0" tIns="0" rIns="0" bIns="0" rtlCol="0" anchor="ctr"/>
          <a:lstStyle/>
          <a:p>
            <a:pPr algn="l" indent="0" marL="0">
              <a:buNone/>
            </a:pPr>
            <a:r>
              <a:rPr lang="en-US" sz="1900" b="1" dirty="0">
                <a:solidFill>
                  <a:srgbClr val="FFC93C"/>
                </a:solidFill>
                <a:latin typeface="Arial" pitchFamily="34" charset="0"/>
                <a:ea typeface="Arial" pitchFamily="34" charset="-122"/>
                <a:cs typeface="Arial" pitchFamily="34" charset="-120"/>
              </a:rPr>
              <a:t>Write</a:t>
            </a:r>
            <a:endParaRPr lang="en-US" sz="1900" dirty="0"/>
          </a:p>
        </p:txBody>
      </p:sp>
      <p:sp>
        <p:nvSpPr>
          <p:cNvPr id="15" name="Text 10"/>
          <p:cNvSpPr/>
          <p:nvPr/>
        </p:nvSpPr>
        <p:spPr>
          <a:xfrm>
            <a:off x="1783080" y="4681728"/>
            <a:ext cx="3931920" cy="1051560"/>
          </a:xfrm>
          <a:prstGeom prst="rect">
            <a:avLst/>
          </a:prstGeom>
          <a:noFill/>
          <a:ln/>
        </p:spPr>
        <p:txBody>
          <a:bodyPr wrap="square" lIns="0" tIns="0" rIns="0" bIns="0" rtlCol="0" anchor="t"/>
          <a:lstStyle/>
          <a:p>
            <a:pPr algn="l" indent="0" marL="0">
              <a:buNone/>
            </a:pPr>
            <a:r>
              <a:rPr lang="en-US" sz="1800" dirty="0">
                <a:solidFill>
                  <a:srgbClr val="CFE0F2"/>
                </a:solidFill>
                <a:latin typeface="Arial" pitchFamily="34" charset="0"/>
                <a:ea typeface="Arial" pitchFamily="34" charset="-122"/>
                <a:cs typeface="Arial" pitchFamily="34" charset="-120"/>
              </a:rPr>
              <a:t>Five sentences: what an epic is, using epic, hero and myth.</a:t>
            </a:r>
            <a:endParaRPr lang="en-US" sz="1800" dirty="0"/>
          </a:p>
        </p:txBody>
      </p:sp>
      <p:sp>
        <p:nvSpPr>
          <p:cNvPr id="16" name="Shape 11"/>
          <p:cNvSpPr/>
          <p:nvPr/>
        </p:nvSpPr>
        <p:spPr>
          <a:xfrm>
            <a:off x="6172200" y="4023360"/>
            <a:ext cx="5349240" cy="1828800"/>
          </a:xfrm>
          <a:prstGeom prst="roundRect">
            <a:avLst>
              <a:gd name="adj" fmla="val 3000"/>
            </a:avLst>
          </a:prstGeom>
          <a:solidFill>
            <a:srgbClr val="1B315C"/>
          </a:solidFill>
          <a:ln w="12700">
            <a:solidFill>
              <a:srgbClr val="80ADC4"/>
            </a:solidFill>
            <a:prstDash val="solid"/>
          </a:ln>
        </p:spPr>
      </p:sp>
      <p:pic>
        <p:nvPicPr>
          <p:cNvPr id="17" name="Image 3" descr="/home/claude/english/kit/decks/_icons/repeat-FFFFFF.png">    </p:cNvPr>
          <p:cNvPicPr>
            <a:picLocks noChangeAspect="1"/>
          </p:cNvPicPr>
          <p:nvPr/>
        </p:nvPicPr>
        <p:blipFill>
          <a:blip r:embed="rId4"/>
          <a:stretch>
            <a:fillRect/>
          </a:stretch>
        </p:blipFill>
        <p:spPr>
          <a:xfrm>
            <a:off x="6446520" y="4343400"/>
            <a:ext cx="566928" cy="566928"/>
          </a:xfrm>
          <a:prstGeom prst="rect">
            <a:avLst/>
          </a:prstGeom>
        </p:spPr>
      </p:pic>
      <p:sp>
        <p:nvSpPr>
          <p:cNvPr id="18" name="Text 12"/>
          <p:cNvSpPr/>
          <p:nvPr/>
        </p:nvSpPr>
        <p:spPr>
          <a:xfrm>
            <a:off x="7406640" y="4206240"/>
            <a:ext cx="3931920" cy="502920"/>
          </a:xfrm>
          <a:prstGeom prst="rect">
            <a:avLst/>
          </a:prstGeom>
          <a:noFill/>
          <a:ln/>
        </p:spPr>
        <p:txBody>
          <a:bodyPr wrap="square" lIns="0" tIns="0" rIns="0" bIns="0" rtlCol="0" anchor="ctr"/>
          <a:lstStyle/>
          <a:p>
            <a:pPr algn="l" indent="0" marL="0">
              <a:buNone/>
            </a:pPr>
            <a:r>
              <a:rPr lang="en-US" sz="1900" b="1" dirty="0">
                <a:solidFill>
                  <a:srgbClr val="FFC93C"/>
                </a:solidFill>
                <a:latin typeface="Arial" pitchFamily="34" charset="0"/>
                <a:ea typeface="Arial" pitchFamily="34" charset="-122"/>
                <a:cs typeface="Arial" pitchFamily="34" charset="-120"/>
              </a:rPr>
              <a:t>Return</a:t>
            </a:r>
            <a:endParaRPr lang="en-US" sz="1900" dirty="0"/>
          </a:p>
        </p:txBody>
      </p:sp>
      <p:sp>
        <p:nvSpPr>
          <p:cNvPr id="19" name="Text 13"/>
          <p:cNvSpPr/>
          <p:nvPr/>
        </p:nvSpPr>
        <p:spPr>
          <a:xfrm>
            <a:off x="7406640" y="4681728"/>
            <a:ext cx="3931920" cy="1051560"/>
          </a:xfrm>
          <a:prstGeom prst="rect">
            <a:avLst/>
          </a:prstGeom>
          <a:noFill/>
          <a:ln/>
        </p:spPr>
        <p:txBody>
          <a:bodyPr wrap="square" lIns="0" tIns="0" rIns="0" bIns="0" rtlCol="0" anchor="t"/>
          <a:lstStyle/>
          <a:p>
            <a:pPr algn="l" indent="0" marL="0">
              <a:buNone/>
            </a:pPr>
            <a:r>
              <a:rPr lang="en-US" sz="1800" dirty="0">
                <a:solidFill>
                  <a:srgbClr val="CFE0F2"/>
                </a:solidFill>
                <a:latin typeface="Arial" pitchFamily="34" charset="0"/>
                <a:ea typeface="Arial" pitchFamily="34" charset="-122"/>
                <a:cs typeface="Arial" pitchFamily="34" charset="-120"/>
              </a:rPr>
              <a:t>This lesson's bell questions come back next week. Can you beat your score of /5?</a:t>
            </a:r>
            <a:endParaRPr lang="en-US" sz="1800" dirty="0"/>
          </a:p>
        </p:txBody>
      </p:sp>
      <p:sp>
        <p:nvSpPr>
          <p:cNvPr id="20" name="Text 14"/>
          <p:cNvSpPr/>
          <p:nvPr/>
        </p:nvSpPr>
        <p:spPr>
          <a:xfrm>
            <a:off x="548640" y="6309360"/>
            <a:ext cx="10058400" cy="365760"/>
          </a:xfrm>
          <a:prstGeom prst="rect">
            <a:avLst/>
          </a:prstGeom>
          <a:noFill/>
          <a:ln/>
        </p:spPr>
        <p:txBody>
          <a:bodyPr wrap="square" lIns="0" tIns="0" rIns="0" bIns="0" rtlCol="0" anchor="ctr"/>
          <a:lstStyle/>
          <a:p>
            <a:pPr indent="0" marL="0">
              <a:buNone/>
            </a:pPr>
            <a:r>
              <a:rPr lang="en-US" sz="1200" i="1" dirty="0">
                <a:solidFill>
                  <a:srgbClr val="8FA6C4"/>
                </a:solidFill>
                <a:latin typeface="Arial" pitchFamily="34" charset="0"/>
                <a:ea typeface="Arial" pitchFamily="34" charset="-122"/>
                <a:cs typeface="Arial" pitchFamily="34" charset="-120"/>
              </a:rPr>
              <a:t>Harlington English · The Odyssey · Lesson 1 of 6</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Odyssey · L1 Epic poetry and the epic hero</dc:title>
  <dc:subject>PptxGenJS Presentation</dc:subject>
  <dc:creator>Harlington English</dc:creator>
  <cp:lastModifiedBy>Harlington English</cp:lastModifiedBy>
  <cp:revision>1</cp:revision>
  <dcterms:created xsi:type="dcterms:W3CDTF">2026-09-04T20:58:57Z</dcterms:created>
  <dcterms:modified xsi:type="dcterms:W3CDTF">2026-09-04T20:58:57Z</dcterms:modified>
</cp:coreProperties>
</file>