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ODYSSEY · LESSON 4 of 6</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Journeys across texts</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imagery? Give an example from the Cyclops extract.</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are the four moves of an analytical paragraph?</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effect mean when we analyse?</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is a short sentence after long ones powerful?</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goddess keeps Odysseus for seven years — and why does he leave?</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Odyssey</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L1: epic, hero, journey</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L2: motivation — who wants what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L3: method → quotation → effect</a:t>
            </a:r>
            <a:endParaRPr lang="en-US" sz="1400" dirty="0"/>
          </a:p>
        </p:txBody>
      </p:sp>
      <p:sp>
        <p:nvSpPr>
          <p:cNvPr id="16" name="Text 13"/>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7" name="Shape 14"/>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18" name="Text 15"/>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19" name="Text 16"/>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Epic poetry and the epic hero</a:t>
            </a:r>
            <a:endParaRPr lang="en-US" sz="1400" dirty="0"/>
          </a:p>
        </p:txBody>
      </p:sp>
      <p:sp>
        <p:nvSpPr>
          <p:cNvPr id="20" name="Shape 17"/>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1" name="Text 18"/>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2" name="Text 19"/>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Odysseus: characters and plot</a:t>
            </a:r>
            <a:endParaRPr lang="en-US" sz="1400" dirty="0"/>
          </a:p>
        </p:txBody>
      </p:sp>
      <p:sp>
        <p:nvSpPr>
          <p:cNvPr id="23" name="Shape 20"/>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4" name="Text 21"/>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5" name="Text 22"/>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Language analysis: the Cyclops</a:t>
            </a:r>
            <a:endParaRPr lang="en-US" sz="1400" dirty="0"/>
          </a:p>
        </p:txBody>
      </p:sp>
      <p:sp>
        <p:nvSpPr>
          <p:cNvPr id="26" name="Shape 23"/>
          <p:cNvSpPr/>
          <p:nvPr/>
        </p:nvSpPr>
        <p:spPr>
          <a:xfrm>
            <a:off x="4114800" y="3895344"/>
            <a:ext cx="3931920" cy="420624"/>
          </a:xfrm>
          <a:prstGeom prst="roundRect">
            <a:avLst>
              <a:gd name="adj" fmla="val 26087"/>
            </a:avLst>
          </a:prstGeom>
          <a:solidFill>
            <a:srgbClr val="12294D"/>
          </a:solidFill>
          <a:ln w="12700">
            <a:solidFill>
              <a:srgbClr val="12294D"/>
            </a:solidFill>
            <a:prstDash val="solid"/>
          </a:ln>
        </p:spPr>
      </p:sp>
      <p:sp>
        <p:nvSpPr>
          <p:cNvPr id="27" name="Text 24"/>
          <p:cNvSpPr/>
          <p:nvPr/>
        </p:nvSpPr>
        <p:spPr>
          <a:xfrm>
            <a:off x="4242816" y="3950208"/>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4</a:t>
            </a:r>
            <a:endParaRPr lang="en-US" sz="1100" dirty="0"/>
          </a:p>
        </p:txBody>
      </p:sp>
      <p:sp>
        <p:nvSpPr>
          <p:cNvPr id="28" name="Text 25"/>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Journeys across texts</a:t>
            </a:r>
            <a:endParaRPr lang="en-US" sz="1400" dirty="0"/>
          </a:p>
        </p:txBody>
      </p:sp>
      <p:sp>
        <p:nvSpPr>
          <p:cNvPr id="29" name="Shape 26"/>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0" name="Text 27"/>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1" name="Text 28"/>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Writing a journey narrative</a:t>
            </a:r>
            <a:endParaRPr lang="en-US" sz="1400" dirty="0"/>
          </a:p>
        </p:txBody>
      </p:sp>
      <p:sp>
        <p:nvSpPr>
          <p:cNvPr id="32" name="Shape 29"/>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3" name="Text 30"/>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4" name="Text 31"/>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and vocabulary</a:t>
            </a:r>
            <a:endParaRPr lang="en-US" sz="1400" dirty="0"/>
          </a:p>
        </p:txBody>
      </p:sp>
      <p:sp>
        <p:nvSpPr>
          <p:cNvPr id="35" name="Shape 32"/>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6"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7" name="Text 33"/>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38" name="Shape 34"/>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39" name="Text 35"/>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L5: writing your own journey narrative</a:t>
            </a:r>
            <a:endParaRPr lang="en-US" sz="1400" dirty="0"/>
          </a:p>
        </p:txBody>
      </p:sp>
      <p:sp>
        <p:nvSpPr>
          <p:cNvPr id="40" name="Shape 36"/>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1" name="Text 37"/>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2" name="Shape 38"/>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3" name="Text 39"/>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non-fiction and travel writing</a:t>
            </a:r>
            <a:endParaRPr lang="en-US" sz="1400" dirty="0"/>
          </a:p>
        </p:txBody>
      </p:sp>
      <p:sp>
        <p:nvSpPr>
          <p:cNvPr id="44" name="Shape 40"/>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5" name="Text 41"/>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6" name="Text 42"/>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Odyssey  ·  Journeys across texts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4 · JOURNEYS ACROSS TEXTS</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Read two journey texts and say what each traveller wants, fears and leaves behind.</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Compare how the two writers use language and structure to present a journey.</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Argue which journey changes its traveller more — in one side of extended writing.</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What is imagery? Give an example from the Cyclops extract.</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Words for the senses — 'the cave stank of goats and smoke'.</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are the four moves of an analytical paragraph?</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Point, evidence, method, effect (plus zoom in on one word).</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What does effect mean when we analyse?</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the word choice makes the reader think, see or feel.</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Why is a short sentence after long ones powerful?</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It breaks the rhythm — a punch; the reader stops and waits with the character.</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Which goddess keeps Odysseus for seven years — and why does he leave?</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Calypso; the gods order her to let him go, and he is homesick.</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compare</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what is similar AND what is different, then say why</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structure</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order a writer puts things in — and why</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narrator</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voice that tells the story: first person (I) or third (he/she)</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setting</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where and when a story happens</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tone</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feeling in the writer's voice — hopeful, bitter, calm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How to compare two texts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6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Comparing is not two summaries in a row. It is one idea, two texts, side by side.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SAME</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 both journeys share? A leaving, a danger, a longing for somewhere else. Name the shared idea first.</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DIFFERENT</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Then the difference in HOW: narrator, setting, tone, sentence length. 'Both… but whereas Text A…, Text B…'.</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WHY</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with why the writer chose it. An epic wants a hero; a modern story often wants an ordinary person we recognise.</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Both… whereas… because.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Text A — leaving Calypso</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6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 modern retelling of the epic. First person; a hero who has been kept for seven years.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RETELLING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On the eighteenth day I saw the mountains of a land I did not know, and I wept, because they were not mine. Then the sea god saw me. The sky went black in the time it takes to draw a breath. Waves came from every side at once, tall as houses, and the raft spun like a leaf. I held the mast and I thought of Ithaca, of the smoke rising from my own roof. I had lived through Troy. I would live through this.</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narrator want, and what stands in his way?</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the simile. What does it make the raft seem like?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sentence shows the hero's courage most?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Text B — the last bus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6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modern journey story. Third person; an ordinary traveller.</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STORY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bus had been moving for nineteen hours and Amal had stopped counting the towns. Her mother slept against the window. Outside, the fields were the wrong colour, a grey-green she had no word for. She had one bag, a phone with no signal and a piece of paper with an address on it. She did not cry. She had decided that at the border. Instead she read the address again, until the letters stopped looking strange.</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Amal want, and what stands in her way?</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the detail that shows she feels out of place.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is her courage different from Odysseus'?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Side by side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Same idea in each row. Fill the gaps with your own evidence before you write.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Shape 10"/>
          <p:cNvSpPr/>
          <p:nvPr/>
        </p:nvSpPr>
        <p:spPr>
          <a:xfrm>
            <a:off x="548640" y="1828800"/>
            <a:ext cx="353568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Text A — the raft</a:t>
            </a:r>
            <a:endParaRPr lang="en-US" sz="1600" dirty="0"/>
          </a:p>
        </p:txBody>
      </p:sp>
      <p:sp>
        <p:nvSpPr>
          <p:cNvPr id="15" name="Text 12"/>
          <p:cNvSpPr/>
          <p:nvPr/>
        </p:nvSpPr>
        <p:spPr>
          <a:xfrm>
            <a:off x="64008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epic retelling</a:t>
            </a:r>
            <a:endParaRPr lang="en-US" sz="1400" dirty="0"/>
          </a:p>
        </p:txBody>
      </p:sp>
      <p:sp>
        <p:nvSpPr>
          <p:cNvPr id="16" name="Shape 13"/>
          <p:cNvSpPr/>
          <p:nvPr/>
        </p:nvSpPr>
        <p:spPr>
          <a:xfrm>
            <a:off x="548640" y="2788920"/>
            <a:ext cx="3535680" cy="3291840"/>
          </a:xfrm>
          <a:prstGeom prst="roundRect">
            <a:avLst>
              <a:gd name="adj" fmla="val 1667"/>
            </a:avLst>
          </a:prstGeom>
          <a:solidFill>
            <a:srgbClr val="FBF0D8"/>
          </a:solidFill>
          <a:ln w="12700">
            <a:solidFill>
              <a:srgbClr val="12294D"/>
            </a:solidFill>
            <a:prstDash val="solid"/>
          </a:ln>
        </p:spPr>
      </p:sp>
      <p:sp>
        <p:nvSpPr>
          <p:cNvPr id="17" name="Text 14"/>
          <p:cNvSpPr/>
          <p:nvPr/>
        </p:nvSpPr>
        <p:spPr>
          <a:xfrm>
            <a:off x="65836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First person: 'I'. Danger is a god and a storm. Tone: proud, defiant. Structure: builds to a short, strong last line.</a:t>
            </a:r>
            <a:endParaRPr lang="en-US" sz="1800" dirty="0"/>
          </a:p>
        </p:txBody>
      </p:sp>
      <p:sp>
        <p:nvSpPr>
          <p:cNvPr id="18" name="Shape 15"/>
          <p:cNvSpPr/>
          <p:nvPr/>
        </p:nvSpPr>
        <p:spPr>
          <a:xfrm>
            <a:off x="4312920" y="1828800"/>
            <a:ext cx="353568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440436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Text B — the bus</a:t>
            </a:r>
            <a:endParaRPr lang="en-US" sz="1600" dirty="0"/>
          </a:p>
        </p:txBody>
      </p:sp>
      <p:sp>
        <p:nvSpPr>
          <p:cNvPr id="20" name="Text 17"/>
          <p:cNvSpPr/>
          <p:nvPr/>
        </p:nvSpPr>
        <p:spPr>
          <a:xfrm>
            <a:off x="440436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modern story</a:t>
            </a:r>
            <a:endParaRPr lang="en-US" sz="1400" dirty="0"/>
          </a:p>
        </p:txBody>
      </p:sp>
      <p:sp>
        <p:nvSpPr>
          <p:cNvPr id="21" name="Shape 18"/>
          <p:cNvSpPr/>
          <p:nvPr/>
        </p:nvSpPr>
        <p:spPr>
          <a:xfrm>
            <a:off x="4312920" y="2788920"/>
            <a:ext cx="3535680" cy="3291840"/>
          </a:xfrm>
          <a:prstGeom prst="roundRect">
            <a:avLst>
              <a:gd name="adj" fmla="val 1667"/>
            </a:avLst>
          </a:prstGeom>
          <a:solidFill>
            <a:srgbClr val="E4F3EF"/>
          </a:solidFill>
          <a:ln w="12700">
            <a:solidFill>
              <a:srgbClr val="00A08A"/>
            </a:solidFill>
            <a:prstDash val="solid"/>
          </a:ln>
        </p:spPr>
      </p:sp>
      <p:sp>
        <p:nvSpPr>
          <p:cNvPr id="22" name="Text 19"/>
          <p:cNvSpPr/>
          <p:nvPr/>
        </p:nvSpPr>
        <p:spPr>
          <a:xfrm>
            <a:off x="442264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Third person: 'she'. Danger is quiet — no signal, a strange land. Tone: calm, held-in. Structure: small details, one decision.</a:t>
            </a:r>
            <a:endParaRPr lang="en-US" sz="1800" dirty="0"/>
          </a:p>
        </p:txBody>
      </p:sp>
      <p:sp>
        <p:nvSpPr>
          <p:cNvPr id="23" name="Shape 20"/>
          <p:cNvSpPr/>
          <p:nvPr/>
        </p:nvSpPr>
        <p:spPr>
          <a:xfrm>
            <a:off x="8077200" y="1828800"/>
            <a:ext cx="353568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816864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Both</a:t>
            </a:r>
            <a:endParaRPr lang="en-US" sz="1600" dirty="0"/>
          </a:p>
        </p:txBody>
      </p:sp>
      <p:sp>
        <p:nvSpPr>
          <p:cNvPr id="25" name="Text 22"/>
          <p:cNvSpPr/>
          <p:nvPr/>
        </p:nvSpPr>
        <p:spPr>
          <a:xfrm>
            <a:off x="816864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the shared idea</a:t>
            </a:r>
            <a:endParaRPr lang="en-US" sz="1400" dirty="0"/>
          </a:p>
        </p:txBody>
      </p:sp>
      <p:sp>
        <p:nvSpPr>
          <p:cNvPr id="26" name="Shape 23"/>
          <p:cNvSpPr/>
          <p:nvPr/>
        </p:nvSpPr>
        <p:spPr>
          <a:xfrm>
            <a:off x="8077200" y="2788920"/>
            <a:ext cx="3535680" cy="3291840"/>
          </a:xfrm>
          <a:prstGeom prst="roundRect">
            <a:avLst>
              <a:gd name="adj" fmla="val 1667"/>
            </a:avLst>
          </a:prstGeom>
          <a:solidFill>
            <a:srgbClr val="FBE4E4"/>
          </a:solidFill>
          <a:ln w="12700">
            <a:solidFill>
              <a:srgbClr val="FF5470"/>
            </a:solidFill>
            <a:prstDash val="solid"/>
          </a:ln>
        </p:spPr>
      </p:sp>
      <p:sp>
        <p:nvSpPr>
          <p:cNvPr id="27" name="Text 24"/>
          <p:cNvSpPr/>
          <p:nvPr/>
        </p:nvSpPr>
        <p:spPr>
          <a:xfrm>
            <a:off x="818692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A traveller far from home, one thing to hold on to (a mast, an address), and a choice not to give up.</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The extended write — 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20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One side of writing. Each rung is one paragraph. Twenty minutes, in silence.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Journeys across texts</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Paragraph 1 — What do both travellers want? Introduce both texts in three sentences.</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Paragraph 2 — How does each writer show danger? Quotation, method, effect for BOTH texts.</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Paragraph 3 — How does the narrator (I / she) and tone change how we feel about each traveller?</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Paragraph 4 — Which journey changes its traveller more? Decide, and give the one reason that would convince a doubter.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pages 8 to 10. Do the 'finish the sentence' task.</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Re-read Text B. Find three small details that tell you where Amal is, without being told.</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Improve one paragraph of your extended write using 'Both… whereas… because'.</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 you write a journey of your own. Think of a journey you have made.</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Odyssey · Lesson 4 of 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Odyssey · L4 Journeys across texts</dc:title>
  <dc:subject>PptxGenJS Presentation</dc:subject>
  <dc:creator>Harlington English</dc:creator>
  <cp:lastModifiedBy>Harlington English</cp:lastModifiedBy>
  <cp:revision>1</cp:revision>
  <dcterms:created xsi:type="dcterms:W3CDTF">2026-09-04T20:58:58Z</dcterms:created>
  <dcterms:modified xsi:type="dcterms:W3CDTF">2026-09-04T20:58:58Z</dcterms:modified>
</cp:coreProperties>
</file>