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ODYSSEY · LESSON 3 of 6</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Language analysis: the Cyclops</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motivation mean? What is Odysseus' motivation?</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Who is the protagonist of The Odyssey? Who is the antagonist?</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three stops on Odysseus' journey, in order.</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mistake does Odysseus make after escaping the Cyclops?</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simile? Give one.</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Language analysis: the Cyclops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Odyssey</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similes, adjectives, powerful verbs</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L1: epic, hamartia, hubris</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L2: motivation, cunning, protagonist</a:t>
            </a:r>
            <a:endParaRPr lang="en-US" sz="1400" dirty="0"/>
          </a:p>
        </p:txBody>
      </p:sp>
      <p:sp>
        <p:nvSpPr>
          <p:cNvPr id="16" name="Text 13"/>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7" name="Shape 14"/>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18" name="Text 15"/>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19" name="Text 16"/>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Epic poetry and the epic hero</a:t>
            </a:r>
            <a:endParaRPr lang="en-US" sz="1400" dirty="0"/>
          </a:p>
        </p:txBody>
      </p:sp>
      <p:sp>
        <p:nvSpPr>
          <p:cNvPr id="20" name="Shape 17"/>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1" name="Text 18"/>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2" name="Text 19"/>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Odysseus: characters and plot</a:t>
            </a:r>
            <a:endParaRPr lang="en-US" sz="1400" dirty="0"/>
          </a:p>
        </p:txBody>
      </p:sp>
      <p:sp>
        <p:nvSpPr>
          <p:cNvPr id="23" name="Shape 20"/>
          <p:cNvSpPr/>
          <p:nvPr/>
        </p:nvSpPr>
        <p:spPr>
          <a:xfrm>
            <a:off x="4114800" y="3328416"/>
            <a:ext cx="3931920" cy="420624"/>
          </a:xfrm>
          <a:prstGeom prst="roundRect">
            <a:avLst>
              <a:gd name="adj" fmla="val 26087"/>
            </a:avLst>
          </a:prstGeom>
          <a:solidFill>
            <a:srgbClr val="12294D"/>
          </a:solidFill>
          <a:ln w="12700">
            <a:solidFill>
              <a:srgbClr val="12294D"/>
            </a:solidFill>
            <a:prstDash val="solid"/>
          </a:ln>
        </p:spPr>
      </p:sp>
      <p:sp>
        <p:nvSpPr>
          <p:cNvPr id="24" name="Text 21"/>
          <p:cNvSpPr/>
          <p:nvPr/>
        </p:nvSpPr>
        <p:spPr>
          <a:xfrm>
            <a:off x="4242816" y="3383280"/>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3</a:t>
            </a:r>
            <a:endParaRPr lang="en-US" sz="1100" dirty="0"/>
          </a:p>
        </p:txBody>
      </p:sp>
      <p:sp>
        <p:nvSpPr>
          <p:cNvPr id="25" name="Text 22"/>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Language analysis: the Cyclops</a:t>
            </a:r>
            <a:endParaRPr lang="en-US" sz="1400" dirty="0"/>
          </a:p>
        </p:txBody>
      </p:sp>
      <p:sp>
        <p:nvSpPr>
          <p:cNvPr id="26" name="Shape 23"/>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7" name="Text 24"/>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28" name="Text 25"/>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Journeys across texts</a:t>
            </a:r>
            <a:endParaRPr lang="en-US" sz="1400" dirty="0"/>
          </a:p>
        </p:txBody>
      </p:sp>
      <p:sp>
        <p:nvSpPr>
          <p:cNvPr id="29" name="Shape 26"/>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0" name="Text 27"/>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1" name="Text 28"/>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Writing a journey narrative</a:t>
            </a:r>
            <a:endParaRPr lang="en-US" sz="1400" dirty="0"/>
          </a:p>
        </p:txBody>
      </p:sp>
      <p:sp>
        <p:nvSpPr>
          <p:cNvPr id="32" name="Shape 29"/>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3" name="Text 30"/>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4" name="Text 31"/>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Review and vocabulary</a:t>
            </a:r>
            <a:endParaRPr lang="en-US" sz="1400" dirty="0"/>
          </a:p>
        </p:txBody>
      </p:sp>
      <p:sp>
        <p:nvSpPr>
          <p:cNvPr id="35" name="Shape 32"/>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36"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37" name="Text 33"/>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38" name="Shape 34"/>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39" name="Text 35"/>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L4: comparing journeys — the extended write</a:t>
            </a:r>
            <a:endParaRPr lang="en-US" sz="1400" dirty="0"/>
          </a:p>
        </p:txBody>
      </p:sp>
      <p:sp>
        <p:nvSpPr>
          <p:cNvPr id="40" name="Shape 36"/>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1" name="Text 37"/>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HT3: British Poetry — how a poem makes you feel</a:t>
            </a:r>
            <a:endParaRPr lang="en-US" sz="1400" dirty="0"/>
          </a:p>
        </p:txBody>
      </p:sp>
      <p:sp>
        <p:nvSpPr>
          <p:cNvPr id="42" name="Shape 38"/>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3" name="Text 39"/>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the novel</a:t>
            </a:r>
            <a:endParaRPr lang="en-US" sz="1400" dirty="0"/>
          </a:p>
        </p:txBody>
      </p:sp>
      <p:sp>
        <p:nvSpPr>
          <p:cNvPr id="44" name="Shape 40"/>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45" name="Text 41"/>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46" name="Text 42"/>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Odyssey  ·  Language analysis: the Cyclops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3 · LANGUAGE ANALYSIS: THE CYCLOPS</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Spot the language methods a writer uses: simile, imagery, powerful verbs, sentence length.</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the EFFECT of a word choice on the reader, using a quotation.</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Write one analytical paragraph that makes every move a strong answer makes.</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Language analysis: the Cyclops</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What does motivation mean? What is Odysseus' motivation?</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reason a character acts; Odysseus wants to get home to Ithaca.</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Who is the protagonist of The Odyssey? Who is the antagonist?</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Protagonist: Odysseus. Antagonist: Poseidon (or the Cyclops, or the suitors).</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Name three stops on Odysseus' journey, in order.</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Troy, the Cyclops, the bag of winds, Circe, the Sirens, Calypso, Ithaca — any three in order.</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What mistake does Odysseus make after escaping the Cyclops?</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He shouts his real name — hubris — so Poseidon knows who to punish.</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What is a simile? Give one.</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comparison using like or as: 'as tall as a tree'.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Language analysis: the Cyclops</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simile</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comparison using 'like' or 'as'</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imagery</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words that paint a picture for the senses</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verb</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doing word — strong verbs show action and mood</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effect</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a word choice makes the reader think or feel</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analyse</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take a text apart to explain how it works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How to read like an analyst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AO2: the writer CHOSE every word. Our job is to say why it works.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Language analysis: the Cyclops</a:t>
            </a:r>
            <a:endParaRPr lang="en-US" sz="900" dirty="0"/>
          </a:p>
        </p:txBody>
      </p:sp>
      <p:sp>
        <p:nvSpPr>
          <p:cNvPr id="13" name="Text 10"/>
          <p:cNvSpPr/>
          <p:nvPr/>
        </p:nvSpPr>
        <p:spPr>
          <a:xfrm>
            <a:off x="548640" y="1783080"/>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SIMILE</a:t>
            </a:r>
            <a:endParaRPr lang="en-US" sz="1600" dirty="0"/>
          </a:p>
        </p:txBody>
      </p:sp>
      <p:sp>
        <p:nvSpPr>
          <p:cNvPr id="14" name="Shape 11"/>
          <p:cNvSpPr/>
          <p:nvPr/>
        </p:nvSpPr>
        <p:spPr>
          <a:xfrm>
            <a:off x="3291840" y="1783080"/>
            <a:ext cx="8321040" cy="889254"/>
          </a:xfrm>
          <a:prstGeom prst="roundRect">
            <a:avLst>
              <a:gd name="adj" fmla="val 8226"/>
            </a:avLst>
          </a:prstGeom>
          <a:solidFill>
            <a:srgbClr val="FEF7E4"/>
          </a:solidFill>
          <a:ln w="12700">
            <a:solidFill>
              <a:srgbClr val="E5D9B0"/>
            </a:solidFill>
            <a:prstDash val="solid"/>
          </a:ln>
        </p:spPr>
      </p:sp>
      <p:sp>
        <p:nvSpPr>
          <p:cNvPr id="15" name="Text 12"/>
          <p:cNvSpPr/>
          <p:nvPr/>
        </p:nvSpPr>
        <p:spPr>
          <a:xfrm>
            <a:off x="3456432" y="1783080"/>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'His eye was like a lamp' — a comparison with like or as. Ask: what does the second thing add? A lamp is bright, watching, hot.</a:t>
            </a:r>
            <a:endParaRPr lang="en-US" sz="1800" dirty="0"/>
          </a:p>
        </p:txBody>
      </p:sp>
      <p:sp>
        <p:nvSpPr>
          <p:cNvPr id="16" name="Text 13"/>
          <p:cNvSpPr/>
          <p:nvPr/>
        </p:nvSpPr>
        <p:spPr>
          <a:xfrm>
            <a:off x="548640" y="2782062"/>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IMAGERY</a:t>
            </a:r>
            <a:endParaRPr lang="en-US" sz="1600" dirty="0"/>
          </a:p>
        </p:txBody>
      </p:sp>
      <p:sp>
        <p:nvSpPr>
          <p:cNvPr id="17" name="Shape 14"/>
          <p:cNvSpPr/>
          <p:nvPr/>
        </p:nvSpPr>
        <p:spPr>
          <a:xfrm>
            <a:off x="3291840" y="2782062"/>
            <a:ext cx="8321040" cy="889254"/>
          </a:xfrm>
          <a:prstGeom prst="roundRect">
            <a:avLst>
              <a:gd name="adj" fmla="val 8226"/>
            </a:avLst>
          </a:prstGeom>
          <a:solidFill>
            <a:srgbClr val="FEF7E4"/>
          </a:solidFill>
          <a:ln w="12700">
            <a:solidFill>
              <a:srgbClr val="E5D9B0"/>
            </a:solidFill>
            <a:prstDash val="solid"/>
          </a:ln>
        </p:spPr>
      </p:sp>
      <p:sp>
        <p:nvSpPr>
          <p:cNvPr id="18" name="Text 15"/>
          <p:cNvSpPr/>
          <p:nvPr/>
        </p:nvSpPr>
        <p:spPr>
          <a:xfrm>
            <a:off x="3456432" y="2782062"/>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Words for the senses: what we see, hear, smell, feel. 'The cave stank of goats and smoke' makes the reader stand inside it.</a:t>
            </a:r>
            <a:endParaRPr lang="en-US" sz="1800" dirty="0"/>
          </a:p>
        </p:txBody>
      </p:sp>
      <p:sp>
        <p:nvSpPr>
          <p:cNvPr id="19" name="Text 16"/>
          <p:cNvSpPr/>
          <p:nvPr/>
        </p:nvSpPr>
        <p:spPr>
          <a:xfrm>
            <a:off x="548640" y="3781044"/>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VERBS</a:t>
            </a:r>
            <a:endParaRPr lang="en-US" sz="1600" dirty="0"/>
          </a:p>
        </p:txBody>
      </p:sp>
      <p:sp>
        <p:nvSpPr>
          <p:cNvPr id="20" name="Shape 17"/>
          <p:cNvSpPr/>
          <p:nvPr/>
        </p:nvSpPr>
        <p:spPr>
          <a:xfrm>
            <a:off x="3291840" y="3781044"/>
            <a:ext cx="8321040" cy="889254"/>
          </a:xfrm>
          <a:prstGeom prst="roundRect">
            <a:avLst>
              <a:gd name="adj" fmla="val 8226"/>
            </a:avLst>
          </a:prstGeom>
          <a:solidFill>
            <a:srgbClr val="FEF7E4"/>
          </a:solidFill>
          <a:ln w="12700">
            <a:solidFill>
              <a:srgbClr val="E5D9B0"/>
            </a:solidFill>
            <a:prstDash val="solid"/>
          </a:ln>
        </p:spPr>
      </p:sp>
      <p:sp>
        <p:nvSpPr>
          <p:cNvPr id="21" name="Text 18"/>
          <p:cNvSpPr/>
          <p:nvPr/>
        </p:nvSpPr>
        <p:spPr>
          <a:xfrm>
            <a:off x="3456432" y="3781044"/>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Doing words carry mood. 'He grabbed', 'he smashed', 'he snored' each tell us something different about the monster.</a:t>
            </a:r>
            <a:endParaRPr lang="en-US" sz="1800" dirty="0"/>
          </a:p>
        </p:txBody>
      </p:sp>
      <p:sp>
        <p:nvSpPr>
          <p:cNvPr id="22" name="Text 19"/>
          <p:cNvSpPr/>
          <p:nvPr/>
        </p:nvSpPr>
        <p:spPr>
          <a:xfrm>
            <a:off x="548640" y="4780026"/>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SENTENCE LENGTH</a:t>
            </a:r>
            <a:endParaRPr lang="en-US" sz="1600" dirty="0"/>
          </a:p>
        </p:txBody>
      </p:sp>
      <p:sp>
        <p:nvSpPr>
          <p:cNvPr id="23" name="Shape 20"/>
          <p:cNvSpPr/>
          <p:nvPr/>
        </p:nvSpPr>
        <p:spPr>
          <a:xfrm>
            <a:off x="3291840" y="4780026"/>
            <a:ext cx="8321040" cy="889254"/>
          </a:xfrm>
          <a:prstGeom prst="roundRect">
            <a:avLst>
              <a:gd name="adj" fmla="val 8226"/>
            </a:avLst>
          </a:prstGeom>
          <a:solidFill>
            <a:srgbClr val="FEF7E4"/>
          </a:solidFill>
          <a:ln w="12700">
            <a:solidFill>
              <a:srgbClr val="E5D9B0"/>
            </a:solidFill>
            <a:prstDash val="solid"/>
          </a:ln>
        </p:spPr>
      </p:sp>
      <p:sp>
        <p:nvSpPr>
          <p:cNvPr id="24" name="Text 21"/>
          <p:cNvSpPr/>
          <p:nvPr/>
        </p:nvSpPr>
        <p:spPr>
          <a:xfrm>
            <a:off x="3456432" y="4780026"/>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short sentence after long ones is a punch. 'We waited.' The reader waits too.</a:t>
            </a:r>
            <a:endParaRPr lang="en-US" sz="1800" dirty="0"/>
          </a:p>
        </p:txBody>
      </p:sp>
      <p:sp>
        <p:nvSpPr>
          <p:cNvPr id="25" name="Text 22"/>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Method → quotation → effect. Every time.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The Cyclops comes home. Read once for the story, once hunting for the four methods.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Language analysis: the Cyclops</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RETELLING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We heard him before we saw him. The ground shook with each step, and the sheep poured into the cave ahead of him like dirty water. Then he filled the doorway. His one eye was as round and pale as the moon, and it moved over us slowly, the way a farmer looks at goats. He lifted a stone that twenty carts could not have shifted and dropped it across the door. The dark closed over us. We waited.</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the simile. What does it compare, and why?</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verb makes the giant sound most powerful?</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is 'We waited.' so short?</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does the writer make us afraid before the giant speaks?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message-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Two lines — analyse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12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For EACH quotation: what does it MEAN · what METHOD is used · what EFFECT does it have on the reader?</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Language analysis: the Cyclops</a:t>
            </a:r>
            <a:endParaRPr lang="en-US" sz="900" dirty="0"/>
          </a:p>
        </p:txBody>
      </p:sp>
      <p:sp>
        <p:nvSpPr>
          <p:cNvPr id="13" name="Shape 10"/>
          <p:cNvSpPr/>
          <p:nvPr/>
        </p:nvSpPr>
        <p:spPr>
          <a:xfrm>
            <a:off x="548640" y="1783080"/>
            <a:ext cx="5417820" cy="502920"/>
          </a:xfrm>
          <a:prstGeom prst="roundRect">
            <a:avLst>
              <a:gd name="adj" fmla="val 14545"/>
            </a:avLst>
          </a:prstGeom>
          <a:solidFill>
            <a:srgbClr val="8A6D00"/>
          </a:solidFill>
          <a:ln w="12700">
            <a:solidFill>
              <a:srgbClr val="8A6D00"/>
            </a:solidFill>
            <a:prstDash val="solid"/>
          </a:ln>
        </p:spPr>
      </p:sp>
      <p:pic>
        <p:nvPicPr>
          <p:cNvPr id="14" name="Image 1" descr="/home/claude/english/kit/decks/_icons/book-open-FFFFFF.png">    </p:cNvPr>
          <p:cNvPicPr>
            <a:picLocks noChangeAspect="1"/>
          </p:cNvPicPr>
          <p:nvPr/>
        </p:nvPicPr>
        <p:blipFill>
          <a:blip r:embed="rId2"/>
          <a:stretch>
            <a:fillRect/>
          </a:stretch>
        </p:blipFill>
        <p:spPr>
          <a:xfrm>
            <a:off x="685800" y="1911096"/>
            <a:ext cx="246888" cy="246888"/>
          </a:xfrm>
          <a:prstGeom prst="rect">
            <a:avLst/>
          </a:prstGeom>
        </p:spPr>
      </p:pic>
      <p:sp>
        <p:nvSpPr>
          <p:cNvPr id="15" name="Text 11"/>
          <p:cNvSpPr/>
          <p:nvPr/>
        </p:nvSpPr>
        <p:spPr>
          <a:xfrm>
            <a:off x="96012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Line 2</a:t>
            </a:r>
            <a:endParaRPr lang="en-US" sz="1800" dirty="0"/>
          </a:p>
        </p:txBody>
      </p:sp>
      <p:sp>
        <p:nvSpPr>
          <p:cNvPr id="16" name="Shape 12"/>
          <p:cNvSpPr/>
          <p:nvPr/>
        </p:nvSpPr>
        <p:spPr>
          <a:xfrm>
            <a:off x="548640" y="2377440"/>
            <a:ext cx="5417820" cy="1691640"/>
          </a:xfrm>
          <a:prstGeom prst="roundRect">
            <a:avLst>
              <a:gd name="adj" fmla="val 3243"/>
            </a:avLst>
          </a:prstGeom>
          <a:solidFill>
            <a:srgbClr val="FBF0D8"/>
          </a:solidFill>
          <a:ln w="12700">
            <a:solidFill>
              <a:srgbClr val="8A6D00"/>
            </a:solidFill>
            <a:prstDash val="solid"/>
          </a:ln>
        </p:spPr>
      </p:sp>
      <p:sp>
        <p:nvSpPr>
          <p:cNvPr id="17" name="Text 13"/>
          <p:cNvSpPr/>
          <p:nvPr/>
        </p:nvSpPr>
        <p:spPr>
          <a:xfrm>
            <a:off x="68580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His one eye was as round and pale as the moon, and it moved over us slowly, the way a farmer looks at goats.</a:t>
            </a:r>
            <a:endParaRPr lang="en-US" sz="1800" dirty="0"/>
          </a:p>
        </p:txBody>
      </p:sp>
      <p:sp>
        <p:nvSpPr>
          <p:cNvPr id="18" name="Text 14"/>
          <p:cNvSpPr/>
          <p:nvPr/>
        </p:nvSpPr>
        <p:spPr>
          <a:xfrm>
            <a:off x="54864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19" name="Shape 15"/>
          <p:cNvSpPr/>
          <p:nvPr/>
        </p:nvSpPr>
        <p:spPr>
          <a:xfrm>
            <a:off x="1920240" y="4206240"/>
            <a:ext cx="4046220" cy="548640"/>
          </a:xfrm>
          <a:prstGeom prst="roundRect">
            <a:avLst>
              <a:gd name="adj" fmla="val 11667"/>
            </a:avLst>
          </a:prstGeom>
          <a:solidFill>
            <a:srgbClr val="F4F6FA"/>
          </a:solidFill>
          <a:ln w="12700">
            <a:solidFill>
              <a:srgbClr val="80ADC4"/>
            </a:solidFill>
            <a:prstDash val="solid"/>
          </a:ln>
        </p:spPr>
      </p:sp>
      <p:sp>
        <p:nvSpPr>
          <p:cNvPr id="20" name="Text 16"/>
          <p:cNvSpPr/>
          <p:nvPr/>
        </p:nvSpPr>
        <p:spPr>
          <a:xfrm>
            <a:off x="201168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21" name="Text 17"/>
          <p:cNvSpPr/>
          <p:nvPr/>
        </p:nvSpPr>
        <p:spPr>
          <a:xfrm>
            <a:off x="54864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METHOD</a:t>
            </a:r>
            <a:endParaRPr lang="en-US" sz="1400" dirty="0"/>
          </a:p>
        </p:txBody>
      </p:sp>
      <p:sp>
        <p:nvSpPr>
          <p:cNvPr id="22" name="Shape 18"/>
          <p:cNvSpPr/>
          <p:nvPr/>
        </p:nvSpPr>
        <p:spPr>
          <a:xfrm>
            <a:off x="1920240" y="4892040"/>
            <a:ext cx="4046220" cy="548640"/>
          </a:xfrm>
          <a:prstGeom prst="roundRect">
            <a:avLst>
              <a:gd name="adj" fmla="val 11667"/>
            </a:avLst>
          </a:prstGeom>
          <a:solidFill>
            <a:srgbClr val="F4F6FA"/>
          </a:solidFill>
          <a:ln w="12700">
            <a:solidFill>
              <a:srgbClr val="80ADC4"/>
            </a:solidFill>
            <a:prstDash val="solid"/>
          </a:ln>
        </p:spPr>
      </p:sp>
      <p:sp>
        <p:nvSpPr>
          <p:cNvPr id="23" name="Text 19"/>
          <p:cNvSpPr/>
          <p:nvPr/>
        </p:nvSpPr>
        <p:spPr>
          <a:xfrm>
            <a:off x="201168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which method is the writer using?</a:t>
            </a:r>
            <a:endParaRPr lang="en-US" sz="1400" dirty="0"/>
          </a:p>
        </p:txBody>
      </p:sp>
      <p:sp>
        <p:nvSpPr>
          <p:cNvPr id="24" name="Text 20"/>
          <p:cNvSpPr/>
          <p:nvPr/>
        </p:nvSpPr>
        <p:spPr>
          <a:xfrm>
            <a:off x="54864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25" name="Shape 21"/>
          <p:cNvSpPr/>
          <p:nvPr/>
        </p:nvSpPr>
        <p:spPr>
          <a:xfrm>
            <a:off x="1920240" y="5577840"/>
            <a:ext cx="4046220" cy="548640"/>
          </a:xfrm>
          <a:prstGeom prst="roundRect">
            <a:avLst>
              <a:gd name="adj" fmla="val 11667"/>
            </a:avLst>
          </a:prstGeom>
          <a:solidFill>
            <a:srgbClr val="F4F6FA"/>
          </a:solidFill>
          <a:ln w="12700">
            <a:solidFill>
              <a:srgbClr val="80ADC4"/>
            </a:solidFill>
            <a:prstDash val="solid"/>
          </a:ln>
        </p:spPr>
      </p:sp>
      <p:sp>
        <p:nvSpPr>
          <p:cNvPr id="26" name="Text 22"/>
          <p:cNvSpPr/>
          <p:nvPr/>
        </p:nvSpPr>
        <p:spPr>
          <a:xfrm>
            <a:off x="201168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
        <p:nvSpPr>
          <p:cNvPr id="27" name="Shape 23"/>
          <p:cNvSpPr/>
          <p:nvPr/>
        </p:nvSpPr>
        <p:spPr>
          <a:xfrm>
            <a:off x="6195060" y="1783080"/>
            <a:ext cx="5417820" cy="502920"/>
          </a:xfrm>
          <a:prstGeom prst="roundRect">
            <a:avLst>
              <a:gd name="adj" fmla="val 14545"/>
            </a:avLst>
          </a:prstGeom>
          <a:solidFill>
            <a:srgbClr val="8A6D00"/>
          </a:solidFill>
          <a:ln w="12700">
            <a:solidFill>
              <a:srgbClr val="8A6D00"/>
            </a:solidFill>
            <a:prstDash val="solid"/>
          </a:ln>
        </p:spPr>
      </p:sp>
      <p:pic>
        <p:nvPicPr>
          <p:cNvPr id="28" name="Image 2" descr="/home/claude/english/kit/decks/_icons/book-open-FFFFFF.png">    </p:cNvPr>
          <p:cNvPicPr>
            <a:picLocks noChangeAspect="1"/>
          </p:cNvPicPr>
          <p:nvPr/>
        </p:nvPicPr>
        <p:blipFill>
          <a:blip r:embed="rId3"/>
          <a:stretch>
            <a:fillRect/>
          </a:stretch>
        </p:blipFill>
        <p:spPr>
          <a:xfrm>
            <a:off x="6332220" y="1911096"/>
            <a:ext cx="246888" cy="246888"/>
          </a:xfrm>
          <a:prstGeom prst="rect">
            <a:avLst/>
          </a:prstGeom>
        </p:spPr>
      </p:pic>
      <p:sp>
        <p:nvSpPr>
          <p:cNvPr id="29" name="Text 24"/>
          <p:cNvSpPr/>
          <p:nvPr/>
        </p:nvSpPr>
        <p:spPr>
          <a:xfrm>
            <a:off x="660654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Line 4</a:t>
            </a:r>
            <a:endParaRPr lang="en-US" sz="1800" dirty="0"/>
          </a:p>
        </p:txBody>
      </p:sp>
      <p:sp>
        <p:nvSpPr>
          <p:cNvPr id="30" name="Shape 25"/>
          <p:cNvSpPr/>
          <p:nvPr/>
        </p:nvSpPr>
        <p:spPr>
          <a:xfrm>
            <a:off x="6195060" y="2377440"/>
            <a:ext cx="5417820" cy="1691640"/>
          </a:xfrm>
          <a:prstGeom prst="roundRect">
            <a:avLst>
              <a:gd name="adj" fmla="val 3243"/>
            </a:avLst>
          </a:prstGeom>
          <a:solidFill>
            <a:srgbClr val="FBF0D8"/>
          </a:solidFill>
          <a:ln w="12700">
            <a:solidFill>
              <a:srgbClr val="8A6D00"/>
            </a:solidFill>
            <a:prstDash val="solid"/>
          </a:ln>
        </p:spPr>
      </p:sp>
      <p:sp>
        <p:nvSpPr>
          <p:cNvPr id="31" name="Text 26"/>
          <p:cNvSpPr/>
          <p:nvPr/>
        </p:nvSpPr>
        <p:spPr>
          <a:xfrm>
            <a:off x="633222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The dark closed over us. We waited.</a:t>
            </a:r>
            <a:endParaRPr lang="en-US" sz="1800" dirty="0"/>
          </a:p>
        </p:txBody>
      </p:sp>
      <p:sp>
        <p:nvSpPr>
          <p:cNvPr id="32" name="Text 27"/>
          <p:cNvSpPr/>
          <p:nvPr/>
        </p:nvSpPr>
        <p:spPr>
          <a:xfrm>
            <a:off x="619506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33" name="Shape 28"/>
          <p:cNvSpPr/>
          <p:nvPr/>
        </p:nvSpPr>
        <p:spPr>
          <a:xfrm>
            <a:off x="7566660" y="4206240"/>
            <a:ext cx="4046220" cy="548640"/>
          </a:xfrm>
          <a:prstGeom prst="roundRect">
            <a:avLst>
              <a:gd name="adj" fmla="val 11667"/>
            </a:avLst>
          </a:prstGeom>
          <a:solidFill>
            <a:srgbClr val="F4F6FA"/>
          </a:solidFill>
          <a:ln w="12700">
            <a:solidFill>
              <a:srgbClr val="80ADC4"/>
            </a:solidFill>
            <a:prstDash val="solid"/>
          </a:ln>
        </p:spPr>
      </p:sp>
      <p:sp>
        <p:nvSpPr>
          <p:cNvPr id="34" name="Text 29"/>
          <p:cNvSpPr/>
          <p:nvPr/>
        </p:nvSpPr>
        <p:spPr>
          <a:xfrm>
            <a:off x="765810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35" name="Text 30"/>
          <p:cNvSpPr/>
          <p:nvPr/>
        </p:nvSpPr>
        <p:spPr>
          <a:xfrm>
            <a:off x="619506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METHOD</a:t>
            </a:r>
            <a:endParaRPr lang="en-US" sz="1400" dirty="0"/>
          </a:p>
        </p:txBody>
      </p:sp>
      <p:sp>
        <p:nvSpPr>
          <p:cNvPr id="36" name="Shape 31"/>
          <p:cNvSpPr/>
          <p:nvPr/>
        </p:nvSpPr>
        <p:spPr>
          <a:xfrm>
            <a:off x="7566660" y="4892040"/>
            <a:ext cx="4046220" cy="548640"/>
          </a:xfrm>
          <a:prstGeom prst="roundRect">
            <a:avLst>
              <a:gd name="adj" fmla="val 11667"/>
            </a:avLst>
          </a:prstGeom>
          <a:solidFill>
            <a:srgbClr val="F4F6FA"/>
          </a:solidFill>
          <a:ln w="12700">
            <a:solidFill>
              <a:srgbClr val="80ADC4"/>
            </a:solidFill>
            <a:prstDash val="solid"/>
          </a:ln>
        </p:spPr>
      </p:sp>
      <p:sp>
        <p:nvSpPr>
          <p:cNvPr id="37" name="Text 32"/>
          <p:cNvSpPr/>
          <p:nvPr/>
        </p:nvSpPr>
        <p:spPr>
          <a:xfrm>
            <a:off x="765810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which method is the writer using?</a:t>
            </a:r>
            <a:endParaRPr lang="en-US" sz="1400" dirty="0"/>
          </a:p>
        </p:txBody>
      </p:sp>
      <p:sp>
        <p:nvSpPr>
          <p:cNvPr id="38" name="Text 33"/>
          <p:cNvSpPr/>
          <p:nvPr/>
        </p:nvSpPr>
        <p:spPr>
          <a:xfrm>
            <a:off x="619506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39" name="Shape 34"/>
          <p:cNvSpPr/>
          <p:nvPr/>
        </p:nvSpPr>
        <p:spPr>
          <a:xfrm>
            <a:off x="7566660" y="5577840"/>
            <a:ext cx="4046220" cy="548640"/>
          </a:xfrm>
          <a:prstGeom prst="roundRect">
            <a:avLst>
              <a:gd name="adj" fmla="val 11667"/>
            </a:avLst>
          </a:prstGeom>
          <a:solidFill>
            <a:srgbClr val="F4F6FA"/>
          </a:solidFill>
          <a:ln w="12700">
            <a:solidFill>
              <a:srgbClr val="80ADC4"/>
            </a:solidFill>
            <a:prstDash val="solid"/>
          </a:ln>
        </p:spPr>
      </p:sp>
      <p:sp>
        <p:nvSpPr>
          <p:cNvPr id="40" name="Text 35"/>
          <p:cNvSpPr/>
          <p:nvPr/>
        </p:nvSpPr>
        <p:spPr>
          <a:xfrm>
            <a:off x="765810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bar-chart-2-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Climb the ladder</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Each rung is harder. Full sentences. The top rung is your analytical paragraph.</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Language analysis: the Cyclops</a:t>
            </a:r>
            <a:endParaRPr lang="en-US" sz="900" dirty="0"/>
          </a:p>
        </p:txBody>
      </p:sp>
      <p:sp>
        <p:nvSpPr>
          <p:cNvPr id="13" name="Text 10"/>
          <p:cNvSpPr/>
          <p:nvPr/>
        </p:nvSpPr>
        <p:spPr>
          <a:xfrm>
            <a:off x="548640" y="1783080"/>
            <a:ext cx="2148840" cy="749808"/>
          </a:xfrm>
          <a:prstGeom prst="roundRect">
            <a:avLst>
              <a:gd name="adj" fmla="val 12195"/>
            </a:avLst>
          </a:prstGeom>
          <a:solidFill>
            <a:srgbClr val="00A08A"/>
          </a:solidFill>
          <a:ln>
            <a:solidFill>
              <a:srgbClr val="00A08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UNDERSTAND</a:t>
            </a:r>
            <a:endParaRPr lang="en-US" sz="1400" dirty="0"/>
          </a:p>
        </p:txBody>
      </p:sp>
      <p:sp>
        <p:nvSpPr>
          <p:cNvPr id="14" name="Shape 11"/>
          <p:cNvSpPr/>
          <p:nvPr/>
        </p:nvSpPr>
        <p:spPr>
          <a:xfrm>
            <a:off x="2834640" y="1783080"/>
            <a:ext cx="8778240" cy="749808"/>
          </a:xfrm>
          <a:prstGeom prst="roundRect">
            <a:avLst>
              <a:gd name="adj" fmla="val 9756"/>
            </a:avLst>
          </a:prstGeom>
          <a:solidFill>
            <a:srgbClr val="F4F6FA"/>
          </a:solidFill>
          <a:ln w="12700">
            <a:solidFill>
              <a:srgbClr val="80ADC4"/>
            </a:solidFill>
            <a:prstDash val="solid"/>
          </a:ln>
        </p:spPr>
      </p:sp>
      <p:sp>
        <p:nvSpPr>
          <p:cNvPr id="15" name="Text 12"/>
          <p:cNvSpPr/>
          <p:nvPr/>
        </p:nvSpPr>
        <p:spPr>
          <a:xfrm>
            <a:off x="3017520" y="1783080"/>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the Cyclops do in the extract, in three sentences?</a:t>
            </a:r>
            <a:endParaRPr lang="en-US" sz="1800" dirty="0"/>
          </a:p>
        </p:txBody>
      </p:sp>
      <p:sp>
        <p:nvSpPr>
          <p:cNvPr id="16" name="Text 13"/>
          <p:cNvSpPr/>
          <p:nvPr/>
        </p:nvSpPr>
        <p:spPr>
          <a:xfrm>
            <a:off x="548640" y="2679192"/>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17" name="Shape 14"/>
          <p:cNvSpPr/>
          <p:nvPr/>
        </p:nvSpPr>
        <p:spPr>
          <a:xfrm>
            <a:off x="2834640" y="2679192"/>
            <a:ext cx="8778240" cy="749808"/>
          </a:xfrm>
          <a:prstGeom prst="roundRect">
            <a:avLst>
              <a:gd name="adj" fmla="val 9756"/>
            </a:avLst>
          </a:prstGeom>
          <a:solidFill>
            <a:srgbClr val="F4F6FA"/>
          </a:solidFill>
          <a:ln w="12700">
            <a:solidFill>
              <a:srgbClr val="80ADC4"/>
            </a:solidFill>
            <a:prstDash val="solid"/>
          </a:ln>
        </p:spPr>
      </p:sp>
      <p:sp>
        <p:nvSpPr>
          <p:cNvPr id="18" name="Text 15"/>
          <p:cNvSpPr/>
          <p:nvPr/>
        </p:nvSpPr>
        <p:spPr>
          <a:xfrm>
            <a:off x="3017520" y="2679192"/>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Pick the word 'poured'. What does it make you picture, and what does it tell us about the sheep?</a:t>
            </a:r>
            <a:endParaRPr lang="en-US" sz="1800" dirty="0"/>
          </a:p>
        </p:txBody>
      </p:sp>
      <p:sp>
        <p:nvSpPr>
          <p:cNvPr id="19" name="Text 16"/>
          <p:cNvSpPr/>
          <p:nvPr/>
        </p:nvSpPr>
        <p:spPr>
          <a:xfrm>
            <a:off x="548640" y="3575304"/>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20" name="Shape 17"/>
          <p:cNvSpPr/>
          <p:nvPr/>
        </p:nvSpPr>
        <p:spPr>
          <a:xfrm>
            <a:off x="2834640" y="3575304"/>
            <a:ext cx="8778240" cy="749808"/>
          </a:xfrm>
          <a:prstGeom prst="roundRect">
            <a:avLst>
              <a:gd name="adj" fmla="val 9756"/>
            </a:avLst>
          </a:prstGeom>
          <a:solidFill>
            <a:srgbClr val="F4F6FA"/>
          </a:solidFill>
          <a:ln w="12700">
            <a:solidFill>
              <a:srgbClr val="80ADC4"/>
            </a:solidFill>
            <a:prstDash val="solid"/>
          </a:ln>
        </p:spPr>
      </p:sp>
      <p:sp>
        <p:nvSpPr>
          <p:cNvPr id="21" name="Text 18"/>
          <p:cNvSpPr/>
          <p:nvPr/>
        </p:nvSpPr>
        <p:spPr>
          <a:xfrm>
            <a:off x="3017520" y="3575304"/>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compare the men to goats? What does it show about how the Cyclops sees them?</a:t>
            </a:r>
            <a:endParaRPr lang="en-US" sz="1800" dirty="0"/>
          </a:p>
        </p:txBody>
      </p:sp>
      <p:sp>
        <p:nvSpPr>
          <p:cNvPr id="22" name="Text 19"/>
          <p:cNvSpPr/>
          <p:nvPr/>
        </p:nvSpPr>
        <p:spPr>
          <a:xfrm>
            <a:off x="548640" y="4471416"/>
            <a:ext cx="2148840" cy="749808"/>
          </a:xfrm>
          <a:prstGeom prst="roundRect">
            <a:avLst>
              <a:gd name="adj" fmla="val 12195"/>
            </a:avLst>
          </a:prstGeom>
          <a:solidFill>
            <a:srgbClr val="D0021B"/>
          </a:solidFill>
          <a:ln>
            <a:solidFill>
              <a:srgbClr val="D0021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EVALUATE</a:t>
            </a:r>
            <a:endParaRPr lang="en-US" sz="1400" dirty="0"/>
          </a:p>
        </p:txBody>
      </p:sp>
      <p:sp>
        <p:nvSpPr>
          <p:cNvPr id="23" name="Shape 20"/>
          <p:cNvSpPr/>
          <p:nvPr/>
        </p:nvSpPr>
        <p:spPr>
          <a:xfrm>
            <a:off x="2834640" y="4471416"/>
            <a:ext cx="8778240" cy="749808"/>
          </a:xfrm>
          <a:prstGeom prst="roundRect">
            <a:avLst>
              <a:gd name="adj" fmla="val 9756"/>
            </a:avLst>
          </a:prstGeom>
          <a:solidFill>
            <a:srgbClr val="EFE6F0"/>
          </a:solidFill>
          <a:ln w="12700">
            <a:solidFill>
              <a:srgbClr val="80ADC4"/>
            </a:solidFill>
            <a:prstDash val="solid"/>
          </a:ln>
        </p:spPr>
      </p:sp>
      <p:sp>
        <p:nvSpPr>
          <p:cNvPr id="24" name="Text 21"/>
          <p:cNvSpPr/>
          <p:nvPr/>
        </p:nvSpPr>
        <p:spPr>
          <a:xfrm>
            <a:off x="3017520" y="4471416"/>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does the writer make the Cyclops frightening? Write one full paragraph: method, quotation, effect.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WRITE · the analytical paragraph</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6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Six minutes, in silence. Then swap and check for the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Language analysis: the Cyclops</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130106" y="1888236"/>
            <a:ext cx="246888" cy="246888"/>
          </a:xfrm>
          <a:prstGeom prst="rect">
            <a:avLst/>
          </a:prstGeom>
        </p:spPr>
      </p:pic>
      <p:sp>
        <p:nvSpPr>
          <p:cNvPr id="15" name="Text 11"/>
          <p:cNvSpPr/>
          <p:nvPr/>
        </p:nvSpPr>
        <p:spPr>
          <a:xfrm>
            <a:off x="3495865" y="1783080"/>
            <a:ext cx="2518029"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INDEPENDENT WRITING</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How does the writer make the Cyclops frightening?</a:t>
            </a:r>
            <a:endParaRPr lang="en-US" sz="1800" dirty="0"/>
          </a:p>
        </p:txBody>
      </p:sp>
      <p:sp>
        <p:nvSpPr>
          <p:cNvPr id="19" name="Text 15"/>
          <p:cNvSpPr/>
          <p:nvPr/>
        </p:nvSpPr>
        <p:spPr>
          <a:xfrm>
            <a:off x="548640" y="3401568"/>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427939"/>
          </a:xfrm>
          <a:prstGeom prst="roundRect">
            <a:avLst>
              <a:gd name="adj" fmla="val 17094"/>
            </a:avLst>
          </a:prstGeom>
          <a:solidFill>
            <a:srgbClr val="FFFFFF"/>
          </a:solidFill>
          <a:ln w="12700">
            <a:solidFill>
              <a:srgbClr val="80ADC4"/>
            </a:solidFill>
            <a:prstDash val="solid"/>
          </a:ln>
        </p:spPr>
      </p:sp>
      <p:sp>
        <p:nvSpPr>
          <p:cNvPr id="21" name="Text 17"/>
          <p:cNvSpPr/>
          <p:nvPr/>
        </p:nvSpPr>
        <p:spPr>
          <a:xfrm>
            <a:off x="1463040" y="3401568"/>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POINT — one sentence that answers the question.</a:t>
            </a:r>
            <a:endParaRPr lang="en-US" sz="1800" dirty="0"/>
          </a:p>
        </p:txBody>
      </p:sp>
      <p:sp>
        <p:nvSpPr>
          <p:cNvPr id="22" name="Text 18"/>
          <p:cNvSpPr/>
          <p:nvPr/>
        </p:nvSpPr>
        <p:spPr>
          <a:xfrm>
            <a:off x="548640" y="3930091"/>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3930091"/>
            <a:ext cx="10332720" cy="427939"/>
          </a:xfrm>
          <a:prstGeom prst="roundRect">
            <a:avLst>
              <a:gd name="adj" fmla="val 17094"/>
            </a:avLst>
          </a:prstGeom>
          <a:solidFill>
            <a:srgbClr val="F4F6FA"/>
          </a:solidFill>
          <a:ln w="12700">
            <a:solidFill>
              <a:srgbClr val="80ADC4"/>
            </a:solidFill>
            <a:prstDash val="solid"/>
          </a:ln>
        </p:spPr>
      </p:sp>
      <p:sp>
        <p:nvSpPr>
          <p:cNvPr id="24" name="Text 20"/>
          <p:cNvSpPr/>
          <p:nvPr/>
        </p:nvSpPr>
        <p:spPr>
          <a:xfrm>
            <a:off x="1463040" y="3930091"/>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EVIDENCE — one short quotation, in quotation marks.</a:t>
            </a:r>
            <a:endParaRPr lang="en-US" sz="1800" dirty="0"/>
          </a:p>
        </p:txBody>
      </p:sp>
      <p:sp>
        <p:nvSpPr>
          <p:cNvPr id="25" name="Text 21"/>
          <p:cNvSpPr/>
          <p:nvPr/>
        </p:nvSpPr>
        <p:spPr>
          <a:xfrm>
            <a:off x="548640" y="4458614"/>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458614"/>
            <a:ext cx="10332720" cy="427939"/>
          </a:xfrm>
          <a:prstGeom prst="roundRect">
            <a:avLst>
              <a:gd name="adj" fmla="val 17094"/>
            </a:avLst>
          </a:prstGeom>
          <a:solidFill>
            <a:srgbClr val="FFFFFF"/>
          </a:solidFill>
          <a:ln w="12700">
            <a:solidFill>
              <a:srgbClr val="80ADC4"/>
            </a:solidFill>
            <a:prstDash val="solid"/>
          </a:ln>
        </p:spPr>
      </p:sp>
      <p:sp>
        <p:nvSpPr>
          <p:cNvPr id="27" name="Text 23"/>
          <p:cNvSpPr/>
          <p:nvPr/>
        </p:nvSpPr>
        <p:spPr>
          <a:xfrm>
            <a:off x="1463040" y="4458614"/>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METHOD — name it: simile, imagery, verb or sentence length.</a:t>
            </a:r>
            <a:endParaRPr lang="en-US" sz="1800" dirty="0"/>
          </a:p>
        </p:txBody>
      </p:sp>
      <p:sp>
        <p:nvSpPr>
          <p:cNvPr id="28" name="Text 24"/>
          <p:cNvSpPr/>
          <p:nvPr/>
        </p:nvSpPr>
        <p:spPr>
          <a:xfrm>
            <a:off x="548640" y="4987138"/>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4987138"/>
            <a:ext cx="10332720" cy="427939"/>
          </a:xfrm>
          <a:prstGeom prst="roundRect">
            <a:avLst>
              <a:gd name="adj" fmla="val 17094"/>
            </a:avLst>
          </a:prstGeom>
          <a:solidFill>
            <a:srgbClr val="F4F6FA"/>
          </a:solidFill>
          <a:ln w="12700">
            <a:solidFill>
              <a:srgbClr val="80ADC4"/>
            </a:solidFill>
            <a:prstDash val="solid"/>
          </a:ln>
        </p:spPr>
      </p:sp>
      <p:sp>
        <p:nvSpPr>
          <p:cNvPr id="30" name="Text 26"/>
          <p:cNvSpPr/>
          <p:nvPr/>
        </p:nvSpPr>
        <p:spPr>
          <a:xfrm>
            <a:off x="1463040" y="4987138"/>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EFFECT — what it makes the reader see, feel or fear.</a:t>
            </a:r>
            <a:endParaRPr lang="en-US" sz="1800" dirty="0"/>
          </a:p>
        </p:txBody>
      </p:sp>
      <p:sp>
        <p:nvSpPr>
          <p:cNvPr id="31" name="Text 27"/>
          <p:cNvSpPr/>
          <p:nvPr/>
        </p:nvSpPr>
        <p:spPr>
          <a:xfrm>
            <a:off x="548640" y="5515661"/>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5</a:t>
            </a:r>
            <a:endParaRPr lang="en-US" sz="1800" dirty="0"/>
          </a:p>
        </p:txBody>
      </p:sp>
      <p:sp>
        <p:nvSpPr>
          <p:cNvPr id="32" name="Shape 28"/>
          <p:cNvSpPr/>
          <p:nvPr/>
        </p:nvSpPr>
        <p:spPr>
          <a:xfrm>
            <a:off x="1280160" y="5515661"/>
            <a:ext cx="10332720" cy="427939"/>
          </a:xfrm>
          <a:prstGeom prst="roundRect">
            <a:avLst>
              <a:gd name="adj" fmla="val 17094"/>
            </a:avLst>
          </a:prstGeom>
          <a:solidFill>
            <a:srgbClr val="FFFFFF"/>
          </a:solidFill>
          <a:ln w="12700">
            <a:solidFill>
              <a:srgbClr val="80ADC4"/>
            </a:solidFill>
            <a:prstDash val="solid"/>
          </a:ln>
        </p:spPr>
      </p:sp>
      <p:sp>
        <p:nvSpPr>
          <p:cNvPr id="33" name="Text 29"/>
          <p:cNvSpPr/>
          <p:nvPr/>
        </p:nvSpPr>
        <p:spPr>
          <a:xfrm>
            <a:off x="1463040" y="5515661"/>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ZOOM — one single word, and what that word alone does.</a:t>
            </a:r>
            <a:endParaRPr lang="en-US" sz="1800" dirty="0"/>
          </a:p>
        </p:txBody>
      </p:sp>
      <p:sp>
        <p:nvSpPr>
          <p:cNvPr id="34" name="Text 30"/>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Feedback — +6 months; peer check against the moves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What a strong paragraph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a model answer — the MOVES a good paragraph makes. Tick the ones your partner made.</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Odyssey · Language analysis: the Cyclops</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Answer first</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first sentence answers the question; it does not retell the story.</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Quote short</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few words, not a whole line — then the sentence that says what they show.</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Name the method</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Simile, imagery, verb, sentence length — and what that method DOES here.</a:t>
            </a:r>
            <a:endParaRPr lang="en-US" sz="1800" dirty="0"/>
          </a:p>
        </p:txBody>
      </p:sp>
      <p:sp>
        <p:nvSpPr>
          <p:cNvPr id="23" name="Text 20"/>
          <p:cNvSpPr/>
          <p:nvPr/>
        </p:nvSpPr>
        <p:spPr>
          <a:xfrm>
            <a:off x="548640" y="4965192"/>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Zoom in</a:t>
            </a:r>
            <a:endParaRPr lang="en-US" sz="1600" dirty="0"/>
          </a:p>
        </p:txBody>
      </p:sp>
      <p:sp>
        <p:nvSpPr>
          <p:cNvPr id="24" name="Shape 21"/>
          <p:cNvSpPr/>
          <p:nvPr/>
        </p:nvSpPr>
        <p:spPr>
          <a:xfrm>
            <a:off x="3703320" y="4965192"/>
            <a:ext cx="7909560" cy="914400"/>
          </a:xfrm>
          <a:prstGeom prst="roundRect">
            <a:avLst>
              <a:gd name="adj" fmla="val 6000"/>
            </a:avLst>
          </a:prstGeom>
          <a:solidFill>
            <a:srgbClr val="FEF7E4"/>
          </a:solidFill>
          <a:ln w="12700">
            <a:solidFill>
              <a:srgbClr val="E5D9B0"/>
            </a:solidFill>
            <a:prstDash val="solid"/>
          </a:ln>
        </p:spPr>
      </p:sp>
      <p:sp>
        <p:nvSpPr>
          <p:cNvPr id="25" name="Text 22"/>
          <p:cNvSpPr/>
          <p:nvPr/>
        </p:nvSpPr>
        <p:spPr>
          <a:xfrm>
            <a:off x="3886200" y="4965192"/>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Pick one word — 'poured', 'pale', 'closed' — and say what it makes us feel.</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Read-along edition, pages 2 and 3. Do the 'find the line' task.</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book-open-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Find one simile in anything you read this week. Copy it and say what it compares.</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Redraft your paragraph using the four moves. Zoom in on a different word.</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Learn: simile, imagery, verb, effect, analyse. Retrieval quiz next lesson.</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Odyssey · Lesson 3 of 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Odyssey · L3 Language analysis: the Cyclops</dc:title>
  <dc:subject>PptxGenJS Presentation</dc:subject>
  <dc:creator>Harlington English</dc:creator>
  <cp:lastModifiedBy>Harlington English</cp:lastModifiedBy>
  <cp:revision>1</cp:revision>
  <dcterms:created xsi:type="dcterms:W3CDTF">2026-09-04T20:58:58Z</dcterms:created>
  <dcterms:modified xsi:type="dcterms:W3CDTF">2026-09-04T20:58:58Z</dcterms:modified>
</cp:coreProperties>
</file>