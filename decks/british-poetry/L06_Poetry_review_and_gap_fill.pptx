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57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YEAR 7 · BRITISH POETRY · LESSON 6 of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Poetry review and gap fill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235440" y="3657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pic>
        <p:nvPicPr>
          <p:cNvPr id="6" name="Image 0" descr="/home/claude/english/kit/decks/_icons/bell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5669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12680" y="502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12680" y="841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minutes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— no notes. Answer all five, then say one in a full sentence. Score yourself /5.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1965960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4440" y="1965960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two link words: one for a similarity, one for a difference.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640" y="2770632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34440" y="2770632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Snow and Snow Day, what image did BOTH poems share?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8640" y="3575304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34440" y="3575304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AO1? What is AO2?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4379976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34440" y="4379976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difference between a simile and a metaphor?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48640" y="5184648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34440" y="5184648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Big Question of this unit?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Poetry review and gap fill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595360" cy="777240"/>
          </a:xfrm>
          <a:prstGeom prst="roundRect">
            <a:avLst>
              <a:gd name="adj" fmla="val 8235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British Poetry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26880" y="713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is the Curriculum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8" name="Image 0" descr="/home/claude/english/kit/decks/_icons/layers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9222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WE'VE BEEN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2340864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340864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KS2: rhymes, chants and performance poems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3127248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127248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HT1: the history of the English language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3913632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913632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HT2: The Odyssey — an epic poem, sung aloud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" y="4700016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700016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writer chooses words on purpose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11480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UNIT, LESSON BY LESSON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114800" y="219456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42816" y="224942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36592" y="219456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Poetry toolkit: the key terms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114800" y="2761488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42816" y="2816352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36592" y="2761488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Contemporary British poets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114800" y="3328416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42816" y="3383280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736592" y="3328416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reading: AO1 and AO2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114800" y="3895344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42816" y="3950208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736592" y="3895344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your own poem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114800" y="4462272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42816" y="4517136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736592" y="4462272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two poems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4114800" y="502920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242816" y="5084064"/>
            <a:ext cx="310896" cy="310896"/>
          </a:xfrm>
          <a:prstGeom prst="ellipse">
            <a:avLst/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736592" y="502920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Poetry review and gap fill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832104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38" name="Image 1" descr="/home/claude/english/kit/decks/_icons/flag-12294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792224"/>
            <a:ext cx="365760" cy="36576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900684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WE'RE GOING</a:t>
            </a:r>
            <a:endParaRPr lang="en-US" sz="1400" dirty="0"/>
          </a:p>
        </p:txBody>
      </p:sp>
      <p:sp>
        <p:nvSpPr>
          <p:cNvPr id="40" name="Shape 36"/>
          <p:cNvSpPr/>
          <p:nvPr/>
        </p:nvSpPr>
        <p:spPr>
          <a:xfrm>
            <a:off x="8549640" y="2340864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8686800" y="2340864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HT4: The Red-Headed League — crime fiction</a:t>
            </a:r>
            <a:endParaRPr lang="en-US" sz="1400" dirty="0"/>
          </a:p>
        </p:txBody>
      </p:sp>
      <p:sp>
        <p:nvSpPr>
          <p:cNvPr id="42" name="Shape 38"/>
          <p:cNvSpPr/>
          <p:nvPr/>
        </p:nvSpPr>
        <p:spPr>
          <a:xfrm>
            <a:off x="8549640" y="3236976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8686800" y="3236976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HT5: Non-fiction and travel writing</a:t>
            </a:r>
            <a:endParaRPr lang="en-US" sz="1400" dirty="0"/>
          </a:p>
        </p:txBody>
      </p:sp>
      <p:sp>
        <p:nvSpPr>
          <p:cNvPr id="44" name="Shape 40"/>
          <p:cNvSpPr/>
          <p:nvPr/>
        </p:nvSpPr>
        <p:spPr>
          <a:xfrm>
            <a:off x="8549640" y="4133088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8686800" y="4133088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8: poetry across time</a:t>
            </a:r>
            <a:endParaRPr lang="en-US" sz="1400" dirty="0"/>
          </a:p>
        </p:txBody>
      </p:sp>
      <p:sp>
        <p:nvSpPr>
          <p:cNvPr id="46" name="Shape 42"/>
          <p:cNvSpPr/>
          <p:nvPr/>
        </p:nvSpPr>
        <p:spPr>
          <a:xfrm>
            <a:off x="8549640" y="512064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8732520" y="5120640"/>
            <a:ext cx="260604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lesson answers one BIG QUESTION. Every question builds the next.</a:t>
            </a:r>
            <a:endParaRPr lang="en-US" sz="1400" dirty="0"/>
          </a:p>
        </p:txBody>
      </p:sp>
      <p:sp>
        <p:nvSpPr>
          <p:cNvPr id="48" name="Text 4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School  ·  British Poetry  ·  Poetry review and gap fill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 · POETRY REVIEW AND GAP FILL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will…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aims climb Bloom's taxonomy — and you will see which step every task is on, all lesson.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108960" y="2606040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00A0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2606040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the poetry terms of the unit and use each one correctly in a gap-fill sentence.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621024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08960" y="3621024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6C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3621024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the unit's words into three jobs — sound, picture, shape — and explain one link between them.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636008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08960" y="4636008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D002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4636008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the Big Question in one paragraph, using at least four key words and evidence from a poem we read.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= a full answer to the Big Question by the end. Everything today builds to it.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check-circl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 — mark it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honestly. Under 3? Re-read tonight.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Poetry review and gap fill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173736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1764792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Name the two link words: one for a similarity, one for a difference.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09360" y="1764792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Similarly (or both / likewise); whereas (or however / in contrast).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2633472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2660904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In Snow and Snow Day, what image did BOTH poems share?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09360" y="2660904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 as a blank page — written on in A, empty in B.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48640" y="3529584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3557016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What is AO1? What is AO2?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309360" y="3557016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AO1 = what it means, with a quotation; AO2 = how the language works.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4425696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4453128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What is the difference between a simile and a metaphor?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309360" y="4453128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simile uses like or as; a metaphor says one thing IS another.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48640" y="5321808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349240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What is the Big Question of this unit?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309360" y="5349240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a poem make you feel something?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key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words — go deeper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the meaning — the DEEP explanation. Take each key word from meaning to mastery.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Poetry review and gap fill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MEAN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8368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it means in your own words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46704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80ADC4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38144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USE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56432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in a sentence of your own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44768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6208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SPOT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254496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it in today's text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942832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34272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LINK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052560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it to the Big Question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four steps for EACH key word: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48640" y="3401568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rhyme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3566160" y="3401568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that end with the same sound: night / light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48640" y="3972154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rhythm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566160" y="3972154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beat of a line — strong and weak sounds in a pattern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48640" y="4542739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imagery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3566160" y="4542739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that paint a picture: simile, metaphor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48640" y="5113325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3566160" y="5113325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mood of the poet's voice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548640" y="5683910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3566160" y="5683910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order a poet puts things in — and the turn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weeks in four ideas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6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we did, in four cards. Which lesson does each one come from?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Poetry review and gap fill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606040" cy="889254"/>
          </a:xfrm>
          <a:prstGeom prst="roundRect">
            <a:avLst>
              <a:gd name="adj" fmla="val 10283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1840" y="1783080"/>
            <a:ext cx="8321040" cy="889254"/>
          </a:xfrm>
          <a:prstGeom prst="roundRect">
            <a:avLst>
              <a:gd name="adj" fmla="val 8226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1783080"/>
            <a:ext cx="8001000" cy="88925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Rhyme, rhythm, repeated sounds, the short line. A poem is heard before it is understood — Jess found the beat on the bus.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782062"/>
            <a:ext cx="2606040" cy="889254"/>
          </a:xfrm>
          <a:prstGeom prst="roundRect">
            <a:avLst>
              <a:gd name="adj" fmla="val 10283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PICTURE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91840" y="2782062"/>
            <a:ext cx="8321040" cy="889254"/>
          </a:xfrm>
          <a:prstGeom prst="roundRect">
            <a:avLst>
              <a:gd name="adj" fmla="val 8226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6432" y="2782062"/>
            <a:ext cx="8001000" cy="88925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Simile, metaphor, imagery, connotation. The fog is a cat; the sky is a lid; the road fills up with nothing.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781044"/>
            <a:ext cx="2606040" cy="889254"/>
          </a:xfrm>
          <a:prstGeom prst="roundRect">
            <a:avLst>
              <a:gd name="adj" fmla="val 10283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291840" y="3781044"/>
            <a:ext cx="8321040" cy="889254"/>
          </a:xfrm>
          <a:prstGeom prst="roundRect">
            <a:avLst>
              <a:gd name="adj" fmla="val 8226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6432" y="3781044"/>
            <a:ext cx="8001000" cy="88925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Line, stanza, form, structure, the turn. Where a poem stops and where it changes is a choice.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4780026"/>
            <a:ext cx="2606040" cy="889254"/>
          </a:xfrm>
          <a:prstGeom prst="roundRect">
            <a:avLst>
              <a:gd name="adj" fmla="val 10283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291840" y="4780026"/>
            <a:ext cx="8321040" cy="889254"/>
          </a:xfrm>
          <a:prstGeom prst="roundRect">
            <a:avLst>
              <a:gd name="adj" fmla="val 8226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56432" y="4780026"/>
            <a:ext cx="8001000" cy="88925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Tone, perspective, dialect, influence. Who is speaking, where they come from, and what they feel.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 Sound · picture · shape · voice — that is how a poem makes you feel something.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user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QUIZ · round 1 — the terms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questions, on your own, in silence. Mark in pairs. No notes.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Poetry review and gap fill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14" name="Image 1" descr="/home/claude/english/kit/decks/_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488" y="188823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125248" y="1783080"/>
            <a:ext cx="325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· SOLO THEN PAIRS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23774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2377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FOCUS: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697480" y="2377440"/>
            <a:ext cx="873252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define every key word of the unit without looking?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48640" y="3401568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280160" y="3401568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463040" y="3401568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reads ten terms from the unit's word list.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48640" y="4062222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280160" y="4062222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463040" y="4062222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definition each, in your own words. An example scores a bonus point.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48640" y="4722876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1280160" y="4722876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463040" y="4722876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and mark. Any term you missed goes on your revision card.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548640" y="5383530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1280160" y="5383530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463040" y="5383530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Class: which term did most people miss? Re-teach it in one minute.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548640" y="599846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EEF Toolkit · Feedback — +6 months; low-stakes retrieval quizzing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user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QUIZ · round 2 — gap fill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scheme's gap-fill task. Each sentence is missing one key word.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Poetry review and gap fill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14" name="Image 1" descr="/home/claude/english/kit/decks/_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781" y="188823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64541" y="1783080"/>
            <a:ext cx="23806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· GAP FILL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23774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2377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FOCUS: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697480" y="2377440"/>
            <a:ext cx="873252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each gap with the right term — then write one gap-fill sentence of your own for a partner.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48640" y="3401568"/>
            <a:ext cx="427939" cy="427939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280160" y="3401568"/>
            <a:ext cx="10332720" cy="427939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463040" y="3401568"/>
            <a:ext cx="10058400" cy="427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'Thin as a rumour' is a ___ because it uses 'as'.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48640" y="3930091"/>
            <a:ext cx="427939" cy="427939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280160" y="3930091"/>
            <a:ext cx="10332720" cy="427939"/>
          </a:xfrm>
          <a:prstGeom prst="roundRect">
            <a:avLst>
              <a:gd name="adj" fmla="val 17094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463040" y="3930091"/>
            <a:ext cx="10058400" cy="427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'The sky is a lid' is a ___ because it says one thing IS another.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48640" y="4458614"/>
            <a:ext cx="427939" cy="427939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1280160" y="4458614"/>
            <a:ext cx="10332720" cy="427939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463040" y="4458614"/>
            <a:ext cx="10058400" cy="427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point where Sunday Kitchen changes from noise to warmth is the ___.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548640" y="4987138"/>
            <a:ext cx="427939" cy="427939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1280160" y="4987138"/>
            <a:ext cx="10332720" cy="427939"/>
          </a:xfrm>
          <a:prstGeom prst="roundRect">
            <a:avLst>
              <a:gd name="adj" fmla="val 17094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463040" y="4987138"/>
            <a:ext cx="10058400" cy="427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___ of Snow Day is wild joy, whereas the ___ of Snow is still and lonely.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548640" y="5515661"/>
            <a:ext cx="427939" cy="427939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Shape 28"/>
          <p:cNvSpPr/>
          <p:nvPr/>
        </p:nvSpPr>
        <p:spPr>
          <a:xfrm>
            <a:off x="1280160" y="5515661"/>
            <a:ext cx="10332720" cy="427939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463040" y="5515661"/>
            <a:ext cx="10058400" cy="427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own gap-fill sentence about a poem we read. Swap and solve.</a:t>
            </a:r>
            <a:endParaRPr lang="en-US" sz="1800" dirty="0"/>
          </a:p>
        </p:txBody>
      </p:sp>
      <p:sp>
        <p:nvSpPr>
          <p:cNvPr id="34" name="Text 30"/>
          <p:cNvSpPr/>
          <p:nvPr/>
        </p:nvSpPr>
        <p:spPr>
          <a:xfrm>
            <a:off x="548640" y="599846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EEF Toolkit · Feedback — +6 months; low-stakes retrieval quizzing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column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families — sort the unit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key word belongs to one job. Which is which? Add two words of your own to each column.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Poetry review and gap fill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828800"/>
            <a:ext cx="3535680" cy="868680"/>
          </a:xfrm>
          <a:prstGeom prst="roundRect">
            <a:avLst>
              <a:gd name="adj" fmla="val 8421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for sound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0080" y="2331720"/>
            <a:ext cx="335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hear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788920"/>
            <a:ext cx="3535680" cy="3291840"/>
          </a:xfrm>
          <a:prstGeom prst="roundRect">
            <a:avLst>
              <a:gd name="adj" fmla="val 1667"/>
            </a:avLst>
          </a:prstGeom>
          <a:solidFill>
            <a:srgbClr val="FBF0D8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2880360"/>
            <a:ext cx="331622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rhyme · rhythm · beat · alliteration · repetition · short line · performance · chant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312920" y="1828800"/>
            <a:ext cx="3535680" cy="868680"/>
          </a:xfrm>
          <a:prstGeom prst="roundRect">
            <a:avLst>
              <a:gd name="adj" fmla="val 8421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04360" y="187452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for pictures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404360" y="2331720"/>
            <a:ext cx="335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see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312920" y="2788920"/>
            <a:ext cx="3535680" cy="3291840"/>
          </a:xfrm>
          <a:prstGeom prst="roundRect">
            <a:avLst>
              <a:gd name="adj" fmla="val 1667"/>
            </a:avLst>
          </a:prstGeom>
          <a:solidFill>
            <a:srgbClr val="E4F3EF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22648" y="2880360"/>
            <a:ext cx="331622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imagery · simile · metaphor · connotation · image · senses · effect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077200" y="1828800"/>
            <a:ext cx="3535680" cy="868680"/>
          </a:xfrm>
          <a:prstGeom prst="roundRect">
            <a:avLst>
              <a:gd name="adj" fmla="val 8421"/>
            </a:avLst>
          </a:prstGeom>
          <a:solidFill>
            <a:srgbClr val="FF5470"/>
          </a:solidFill>
          <a:ln w="12700">
            <a:solidFill>
              <a:srgbClr val="FF547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68640" y="187452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for shape and voice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168640" y="2331720"/>
            <a:ext cx="335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is built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077200" y="2788920"/>
            <a:ext cx="3535680" cy="3291840"/>
          </a:xfrm>
          <a:prstGeom prst="roundRect">
            <a:avLst>
              <a:gd name="adj" fmla="val 1667"/>
            </a:avLst>
          </a:prstGeom>
          <a:solidFill>
            <a:srgbClr val="FBE4E4"/>
          </a:solidFill>
          <a:ln w="12700">
            <a:solidFill>
              <a:srgbClr val="FF547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186928" y="2880360"/>
            <a:ext cx="331622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· stanza · form · structure · turn · tone · perspective · dialect · theme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pic>
        <p:nvPicPr>
          <p:cNvPr id="3" name="Image 0" descr="/home/claude/english/kit/decks/_icons/bar-chart-2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FDE6E9"/>
          </a:solidFill>
          <a:ln>
            <a:solidFill>
              <a:srgbClr val="FDE6E9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Question — climb the ladder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12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a poem make you feel something? One paragraph. At least four key words.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Poetry review and gap fill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834640" y="1783080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17520" y="1783080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one poem we read and the feeling it gave you in one word.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679192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834640" y="2679192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17520" y="2679192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sound tool that helped make that feeling. Quote the words that carry it.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575304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834640" y="3575304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17520" y="3575304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picture tool that helped. What did it make you see, and why did that matter?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4471416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834640" y="4471416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EFE6F0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17520" y="4471416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— how does a poem make you feel something? Your own answer, with the evidence from the two rungs above.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pic>
        <p:nvPicPr>
          <p:cNvPr id="3" name="Image 0" descr="/home/claude/english/kit/decks/_icons/user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FDE6E9"/>
          </a:solidFill>
          <a:ln>
            <a:solidFill>
              <a:srgbClr val="FDE6E9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WALL · keep five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4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words we take into HT4 — and into every poem you read after this.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Poetry review and gap fill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14" name="Image 1" descr="/home/claude/english/kit/decks/_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596" y="188823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31356" y="1783080"/>
            <a:ext cx="304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CLASS · WORD WALL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23774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2377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FOCUS: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697480" y="2377440"/>
            <a:ext cx="873252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five words from this unit will you still be using in Year 11?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48640" y="3401568"/>
            <a:ext cx="566928" cy="566928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280160" y="3401568"/>
            <a:ext cx="10332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463040" y="3401568"/>
            <a:ext cx="10058400" cy="56692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five. Write each on a sticky note with a one-line meaning.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48640" y="4114800"/>
            <a:ext cx="566928" cy="566928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280160" y="4114800"/>
            <a:ext cx="10332720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463040" y="4114800"/>
            <a:ext cx="10058400" cy="56692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 them on the wall under sound, picture, or shape and voice.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48640" y="4828032"/>
            <a:ext cx="566928" cy="566928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1280160" y="4828032"/>
            <a:ext cx="10332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463040" y="4828032"/>
            <a:ext cx="10058400" cy="56692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vote: the five that appear most become the unit's word wall.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548640" y="599846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EEF Toolkit · Oral language interventions — +6 months, very low cost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LEAVE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learning — the come-back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5" name="Image 0" descr="/home/claude/english/kit/decks/_icons/repeat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78308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poetry terms on flashcards: word on one side, meaning and example on the other.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17220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9" name="Image 1" descr="/home/claude/english/kit/decks/_icons/headphone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566928" cy="5669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0664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40664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Read-along edition, the whole story one last time. Count how many key words Jess discovers.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4864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3" name="Image 2" descr="/home/claude/english/kit/decks/_icons/book-open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43400"/>
            <a:ext cx="566928" cy="5669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ahead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178308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HT4 is The Red-Headed League — a detective story. Find out who Sherlock Holmes is and who tells his stories.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17220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7" name="Image 3" descr="/home/claude/english/kit/decks/_icons/edit-3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343400"/>
            <a:ext cx="566928" cy="5669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0664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740664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the Big Question in one paragraph at home, using a poem you chose yourself.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Lesson 6 of 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Edu.Ai SV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British Poetry · L6 Poetry review and gap fill</dc:title>
  <dc:subject>PptxGenJS Presentation</dc:subject>
  <dc:creator>Harlington English</dc:creator>
  <cp:lastModifiedBy>Harlington English</cp:lastModifiedBy>
  <cp:revision>1</cp:revision>
  <dcterms:created xsi:type="dcterms:W3CDTF">2026-09-04T20:58:56Z</dcterms:created>
  <dcterms:modified xsi:type="dcterms:W3CDTF">2026-09-04T20:58:56Z</dcterms:modified>
</cp:coreProperties>
</file>