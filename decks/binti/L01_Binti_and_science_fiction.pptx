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MODERN NOVEL: BINTI · LESSON 1 of 7</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Binti and science fiction</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one story, film or game set in space or in the future.</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genre? Finish: A genre is a kind of story that…</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From HT5: name one thing travel writing always tells you about a place.</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a planet? One sentence.</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Finish the sentence: A story asks 'what if…' when it…</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Binti and science fiction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Modern Novel: Binti</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stories set in other worlds</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the hero's journey</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HT4: The Red-Headed League — clues</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HT5: travel writing — a real journey</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12294D"/>
          </a:solidFill>
          <a:ln w="12700">
            <a:solidFill>
              <a:srgbClr val="12294D"/>
            </a:solidFill>
            <a:prstDash val="solid"/>
          </a:ln>
        </p:spPr>
      </p:sp>
      <p:sp>
        <p:nvSpPr>
          <p:cNvPr id="20" name="Text 17"/>
          <p:cNvSpPr/>
          <p:nvPr/>
        </p:nvSpPr>
        <p:spPr>
          <a:xfrm>
            <a:off x="4242816" y="2249424"/>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Binti and science fiction</a:t>
            </a:r>
            <a:endParaRPr lang="en-US" sz="1400" dirty="0"/>
          </a:p>
        </p:txBody>
      </p:sp>
      <p:sp>
        <p:nvSpPr>
          <p:cNvPr id="22" name="Shape 19"/>
          <p:cNvSpPr/>
          <p:nvPr/>
        </p:nvSpPr>
        <p:spPr>
          <a:xfrm>
            <a:off x="4114800" y="2761488"/>
            <a:ext cx="3931920" cy="420624"/>
          </a:xfrm>
          <a:prstGeom prst="roundRect">
            <a:avLst>
              <a:gd name="adj" fmla="val 26087"/>
            </a:avLst>
          </a:prstGeom>
          <a:solidFill>
            <a:srgbClr val="FFFFFF"/>
          </a:solidFill>
          <a:ln w="12700">
            <a:solidFill>
              <a:srgbClr val="D9E2EE"/>
            </a:solidFill>
            <a:prstDash val="solid"/>
          </a:ln>
        </p:spPr>
      </p:sp>
      <p:sp>
        <p:nvSpPr>
          <p:cNvPr id="23" name="Text 20"/>
          <p:cNvSpPr/>
          <p:nvPr/>
        </p:nvSpPr>
        <p:spPr>
          <a:xfrm>
            <a:off x="4242816" y="281635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Character, heritage, identity</a:t>
            </a:r>
            <a:endParaRPr lang="en-US" sz="1400" dirty="0"/>
          </a:p>
        </p:txBody>
      </p:sp>
      <p:sp>
        <p:nvSpPr>
          <p:cNvPr id="25" name="Shape 22"/>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6" name="Text 23"/>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Themes: journey and belonging</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End-of-year assessment</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EOY review and Year 8 preview</a:t>
            </a:r>
            <a:endParaRPr lang="en-US" sz="1400" dirty="0"/>
          </a:p>
        </p:txBody>
      </p:sp>
      <p:sp>
        <p:nvSpPr>
          <p:cNvPr id="34" name="Shape 31"/>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5" name="Text 32"/>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6" name="Text 33"/>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Scholarship reading response</a:t>
            </a:r>
            <a:endParaRPr lang="en-US" sz="1400" dirty="0"/>
          </a:p>
        </p:txBody>
      </p:sp>
      <p:sp>
        <p:nvSpPr>
          <p:cNvPr id="37" name="Shape 34"/>
          <p:cNvSpPr/>
          <p:nvPr/>
        </p:nvSpPr>
        <p:spPr>
          <a:xfrm>
            <a:off x="4114800" y="5596128"/>
            <a:ext cx="3931920" cy="420624"/>
          </a:xfrm>
          <a:prstGeom prst="roundRect">
            <a:avLst>
              <a:gd name="adj" fmla="val 26087"/>
            </a:avLst>
          </a:prstGeom>
          <a:solidFill>
            <a:srgbClr val="FFFFFF"/>
          </a:solidFill>
          <a:ln w="12700">
            <a:solidFill>
              <a:srgbClr val="D9E2EE"/>
            </a:solidFill>
            <a:prstDash val="solid"/>
          </a:ln>
        </p:spPr>
      </p:sp>
      <p:sp>
        <p:nvSpPr>
          <p:cNvPr id="38" name="Text 35"/>
          <p:cNvSpPr/>
          <p:nvPr/>
        </p:nvSpPr>
        <p:spPr>
          <a:xfrm>
            <a:off x="4242816" y="565099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7</a:t>
            </a:r>
            <a:endParaRPr lang="en-US" sz="1100" dirty="0"/>
          </a:p>
        </p:txBody>
      </p:sp>
      <p:sp>
        <p:nvSpPr>
          <p:cNvPr id="39" name="Text 36"/>
          <p:cNvSpPr/>
          <p:nvPr/>
        </p:nvSpPr>
        <p:spPr>
          <a:xfrm>
            <a:off x="4736592" y="559612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Transition to Year 8</a:t>
            </a:r>
            <a:endParaRPr lang="en-US" sz="1400" dirty="0"/>
          </a:p>
        </p:txBody>
      </p:sp>
      <p:sp>
        <p:nvSpPr>
          <p:cNvPr id="40" name="Shape 37"/>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41"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42" name="Text 38"/>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43" name="Shape 39"/>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44" name="Text 40"/>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the big idea is Diversity</a:t>
            </a:r>
            <a:endParaRPr lang="en-US" sz="1400" dirty="0"/>
          </a:p>
        </p:txBody>
      </p:sp>
      <p:sp>
        <p:nvSpPr>
          <p:cNvPr id="45" name="Shape 41"/>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6" name="Text 42"/>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whole novels, longer answers</a:t>
            </a:r>
            <a:endParaRPr lang="en-US" sz="1400" dirty="0"/>
          </a:p>
        </p:txBody>
      </p:sp>
      <p:sp>
        <p:nvSpPr>
          <p:cNvPr id="47" name="Shape 43"/>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8" name="Text 44"/>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GCSE: AO1 evidence · AO2 method</a:t>
            </a:r>
            <a:endParaRPr lang="en-US" sz="1400" dirty="0"/>
          </a:p>
        </p:txBody>
      </p:sp>
      <p:sp>
        <p:nvSpPr>
          <p:cNvPr id="49" name="Shape 45"/>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50" name="Text 46"/>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51" name="Text 47"/>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Modern Novel: Binti  ·  Binti and science fiction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1 · BINTI AND SCIENCE FICTION</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Explain what science fiction is and name five conventions of the genre.</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Spot how a sci-fi opening uses setting and technology to make a strange world feel real.</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Decide what science fiction can do that a story set in today's world cannot.</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Binti and science fiction</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Name one story, film or game set in space or in the future.</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Any named one — Star Wars, Doctor Who, The Martian, Wall-E, Minecraft all count.</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What is a genre? Finish: A genre is a kind of story that…</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…shares features readers expect: the same kinds of settings, characters and events.</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From HT5: name one thing travel writing always tells you about a place.</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it looks, sounds and smells like — sense details; or how the traveller feels there.</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What is a planet? One sentence.</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huge world in space that goes round a star; Earth is one.</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Finish the sentence: A story asks 'what if…' when it…</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…imagines something that has not happened and follows it through: what if aliens landed?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Binti and science fiction</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science fiction</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stories about space or the future that ask 'what if?'</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genre</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kind of story with features readers expect</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convention</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feature a genre nearly always has, like spaceships</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planet</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huge world in space that goes round a star, like Earth</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setting</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where and when a story happens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What is science fiction?</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things the genre does. Watch for all three in Binti.</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Binti and science fiction</a:t>
            </a:r>
            <a:endParaRPr lang="en-US" sz="900" dirty="0"/>
          </a:p>
        </p:txBody>
      </p:sp>
      <p:sp>
        <p:nvSpPr>
          <p:cNvPr id="13" name="Shape 10"/>
          <p:cNvSpPr/>
          <p:nvPr/>
        </p:nvSpPr>
        <p:spPr>
          <a:xfrm>
            <a:off x="548640" y="4754880"/>
            <a:ext cx="11064240" cy="1371600"/>
          </a:xfrm>
          <a:prstGeom prst="roundRect">
            <a:avLst>
              <a:gd name="adj" fmla="val 4000"/>
            </a:avLst>
          </a:prstGeom>
          <a:solidFill>
            <a:srgbClr val="12294D"/>
          </a:solidFill>
          <a:ln w="12700">
            <a:solidFill>
              <a:srgbClr val="12294D"/>
            </a:solidFill>
            <a:prstDash val="solid"/>
          </a:ln>
        </p:spPr>
      </p:sp>
      <p:pic>
        <p:nvPicPr>
          <p:cNvPr id="14" name="Image 1" descr="/home/claude/english/kit/decks/_icons/message-circle-FFFFFF.png">    </p:cNvPr>
          <p:cNvPicPr>
            <a:picLocks noChangeAspect="1"/>
          </p:cNvPicPr>
          <p:nvPr/>
        </p:nvPicPr>
        <p:blipFill>
          <a:blip r:embed="rId2"/>
          <a:stretch>
            <a:fillRect/>
          </a:stretch>
        </p:blipFill>
        <p:spPr>
          <a:xfrm>
            <a:off x="777240" y="4956048"/>
            <a:ext cx="566928" cy="566928"/>
          </a:xfrm>
          <a:prstGeom prst="rect">
            <a:avLst/>
          </a:prstGeom>
        </p:spPr>
      </p:pic>
      <p:sp>
        <p:nvSpPr>
          <p:cNvPr id="15" name="Text 11"/>
          <p:cNvSpPr/>
          <p:nvPr/>
        </p:nvSpPr>
        <p:spPr>
          <a:xfrm>
            <a:off x="1417320" y="4919472"/>
            <a:ext cx="3200400" cy="457200"/>
          </a:xfrm>
          <a:prstGeom prst="rect">
            <a:avLst/>
          </a:prstGeom>
          <a:noFill/>
          <a:ln/>
        </p:spPr>
        <p:txBody>
          <a:bodyPr wrap="square" lIns="0" tIns="0" rIns="0" bIns="0" rtlCol="0" anchor="ctr"/>
          <a:lstStyle/>
          <a:p>
            <a:pPr indent="0" marL="0">
              <a:buNone/>
            </a:pPr>
            <a:r>
              <a:rPr lang="en-US" sz="1600" b="1" dirty="0">
                <a:solidFill>
                  <a:srgbClr val="FFC93C"/>
                </a:solidFill>
                <a:latin typeface="Arial" pitchFamily="34" charset="0"/>
                <a:ea typeface="Arial" pitchFamily="34" charset="-122"/>
                <a:cs typeface="Arial" pitchFamily="34" charset="-120"/>
              </a:rPr>
              <a:t>DISCUSS · 3 MIN</a:t>
            </a:r>
            <a:endParaRPr lang="en-US" sz="1600" dirty="0"/>
          </a:p>
        </p:txBody>
      </p:sp>
      <p:sp>
        <p:nvSpPr>
          <p:cNvPr id="16" name="Text 12"/>
          <p:cNvSpPr/>
          <p:nvPr/>
        </p:nvSpPr>
        <p:spPr>
          <a:xfrm>
            <a:off x="777240" y="5394960"/>
            <a:ext cx="10607040" cy="658368"/>
          </a:xfrm>
          <a:prstGeom prst="rect">
            <a:avLst/>
          </a:prstGeom>
          <a:noFill/>
          <a:ln/>
        </p:spPr>
        <p:txBody>
          <a:bodyPr wrap="square" lIns="0" tIns="0" rIns="0" bIns="0" rtlCol="0" anchor="ctr"/>
          <a:lstStyle/>
          <a:p>
            <a:pPr algn="l" indent="0" marL="0">
              <a:buNone/>
            </a:pPr>
            <a:r>
              <a:rPr lang="en-US" sz="1800" i="1" dirty="0">
                <a:solidFill>
                  <a:srgbClr val="CFE0F2"/>
                </a:solidFill>
                <a:latin typeface="Arial" pitchFamily="34" charset="0"/>
                <a:ea typeface="Arial" pitchFamily="34" charset="-122"/>
                <a:cs typeface="Arial" pitchFamily="34" charset="-120"/>
              </a:rPr>
              <a:t>Why do writers put a story on another planet instead of on Earth?</a:t>
            </a:r>
            <a:endParaRPr lang="en-US" sz="1800" dirty="0"/>
          </a:p>
        </p:txBody>
      </p:sp>
      <p:sp>
        <p:nvSpPr>
          <p:cNvPr id="17" name="Text 13"/>
          <p:cNvSpPr/>
          <p:nvPr/>
        </p:nvSpPr>
        <p:spPr>
          <a:xfrm>
            <a:off x="548640" y="1783080"/>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WHAT IF?</a:t>
            </a:r>
            <a:endParaRPr lang="en-US" sz="1600" dirty="0"/>
          </a:p>
        </p:txBody>
      </p:sp>
      <p:sp>
        <p:nvSpPr>
          <p:cNvPr id="18" name="Shape 14"/>
          <p:cNvSpPr/>
          <p:nvPr/>
        </p:nvSpPr>
        <p:spPr>
          <a:xfrm>
            <a:off x="3291840" y="1783080"/>
            <a:ext cx="8321040" cy="719328"/>
          </a:xfrm>
          <a:prstGeom prst="roundRect">
            <a:avLst>
              <a:gd name="adj" fmla="val 10169"/>
            </a:avLst>
          </a:prstGeom>
          <a:solidFill>
            <a:srgbClr val="FEF7E4"/>
          </a:solidFill>
          <a:ln w="12700">
            <a:solidFill>
              <a:srgbClr val="E5D9B0"/>
            </a:solidFill>
            <a:prstDash val="solid"/>
          </a:ln>
        </p:spPr>
      </p:sp>
      <p:sp>
        <p:nvSpPr>
          <p:cNvPr id="19" name="Text 15"/>
          <p:cNvSpPr/>
          <p:nvPr/>
        </p:nvSpPr>
        <p:spPr>
          <a:xfrm>
            <a:off x="3456432" y="1783080"/>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Sci-fi starts with a question the world cannot answer yet. What if a girl could study on another planet? Then it follows the answer.</a:t>
            </a:r>
            <a:endParaRPr lang="en-US" sz="1800" dirty="0"/>
          </a:p>
        </p:txBody>
      </p:sp>
      <p:sp>
        <p:nvSpPr>
          <p:cNvPr id="20" name="Text 16"/>
          <p:cNvSpPr/>
          <p:nvPr/>
        </p:nvSpPr>
        <p:spPr>
          <a:xfrm>
            <a:off x="548640" y="2612136"/>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SCIENCE AND SPACE</a:t>
            </a:r>
            <a:endParaRPr lang="en-US" sz="1600" dirty="0"/>
          </a:p>
        </p:txBody>
      </p:sp>
      <p:sp>
        <p:nvSpPr>
          <p:cNvPr id="21" name="Shape 17"/>
          <p:cNvSpPr/>
          <p:nvPr/>
        </p:nvSpPr>
        <p:spPr>
          <a:xfrm>
            <a:off x="3291840" y="2612136"/>
            <a:ext cx="8321040" cy="719328"/>
          </a:xfrm>
          <a:prstGeom prst="roundRect">
            <a:avLst>
              <a:gd name="adj" fmla="val 10169"/>
            </a:avLst>
          </a:prstGeom>
          <a:solidFill>
            <a:srgbClr val="FEF7E4"/>
          </a:solidFill>
          <a:ln w="12700">
            <a:solidFill>
              <a:srgbClr val="E5D9B0"/>
            </a:solidFill>
            <a:prstDash val="solid"/>
          </a:ln>
        </p:spPr>
      </p:sp>
      <p:sp>
        <p:nvSpPr>
          <p:cNvPr id="22" name="Text 18"/>
          <p:cNvSpPr/>
          <p:nvPr/>
        </p:nvSpPr>
        <p:spPr>
          <a:xfrm>
            <a:off x="3456432" y="2612136"/>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strange things in the story have a reason — machines, ships, maths — not magic. That is the line between sci-fi and fantasy.</a:t>
            </a:r>
            <a:endParaRPr lang="en-US" sz="1800" dirty="0"/>
          </a:p>
        </p:txBody>
      </p:sp>
      <p:sp>
        <p:nvSpPr>
          <p:cNvPr id="23" name="Text 19"/>
          <p:cNvSpPr/>
          <p:nvPr/>
        </p:nvSpPr>
        <p:spPr>
          <a:xfrm>
            <a:off x="548640" y="3441192"/>
            <a:ext cx="2606040" cy="719328"/>
          </a:xfrm>
          <a:prstGeom prst="roundRect">
            <a:avLst>
              <a:gd name="adj" fmla="val 12712"/>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STRANGE MADE REAL</a:t>
            </a:r>
            <a:endParaRPr lang="en-US" sz="1600" dirty="0"/>
          </a:p>
        </p:txBody>
      </p:sp>
      <p:sp>
        <p:nvSpPr>
          <p:cNvPr id="24" name="Shape 20"/>
          <p:cNvSpPr/>
          <p:nvPr/>
        </p:nvSpPr>
        <p:spPr>
          <a:xfrm>
            <a:off x="3291840" y="3441192"/>
            <a:ext cx="8321040" cy="719328"/>
          </a:xfrm>
          <a:prstGeom prst="roundRect">
            <a:avLst>
              <a:gd name="adj" fmla="val 10169"/>
            </a:avLst>
          </a:prstGeom>
          <a:solidFill>
            <a:srgbClr val="FEF7E4"/>
          </a:solidFill>
          <a:ln w="12700">
            <a:solidFill>
              <a:srgbClr val="E5D9B0"/>
            </a:solidFill>
            <a:prstDash val="solid"/>
          </a:ln>
        </p:spPr>
      </p:sp>
      <p:sp>
        <p:nvSpPr>
          <p:cNvPr id="25" name="Text 21"/>
          <p:cNvSpPr/>
          <p:nvPr/>
        </p:nvSpPr>
        <p:spPr>
          <a:xfrm>
            <a:off x="3456432" y="3441192"/>
            <a:ext cx="8001000" cy="71932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best sci-fi makes an impossible world feel ordinary: someone eats breakfast on a living spaceship.</a:t>
            </a:r>
            <a:endParaRPr lang="en-US" sz="1800" dirty="0"/>
          </a:p>
        </p:txBody>
      </p:sp>
      <p:sp>
        <p:nvSpPr>
          <p:cNvPr id="26" name="Text 22"/>
          <p:cNvSpPr/>
          <p:nvPr/>
        </p:nvSpPr>
        <p:spPr>
          <a:xfrm>
            <a:off x="548640" y="420624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Science fiction = a 'what if?' answered with science, told as if it were real.</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Five conventions of science fiction</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 convention is what readers EXPECT from a genre. Tick each one you find in Binti.</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Binti and science fiction</a:t>
            </a:r>
            <a:endParaRPr lang="en-US" sz="900" dirty="0"/>
          </a:p>
        </p:txBody>
      </p:sp>
      <p:sp>
        <p:nvSpPr>
          <p:cNvPr id="13" name="Text 10"/>
          <p:cNvSpPr/>
          <p:nvPr/>
        </p:nvSpPr>
        <p:spPr>
          <a:xfrm>
            <a:off x="548640" y="1783080"/>
            <a:ext cx="2606040" cy="780898"/>
          </a:xfrm>
          <a:prstGeom prst="roundRect">
            <a:avLst>
              <a:gd name="adj" fmla="val 1171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SPACE TRAVEL</a:t>
            </a:r>
            <a:endParaRPr lang="en-US" sz="1600" dirty="0"/>
          </a:p>
        </p:txBody>
      </p:sp>
      <p:sp>
        <p:nvSpPr>
          <p:cNvPr id="14" name="Shape 11"/>
          <p:cNvSpPr/>
          <p:nvPr/>
        </p:nvSpPr>
        <p:spPr>
          <a:xfrm>
            <a:off x="3291840" y="1783080"/>
            <a:ext cx="8321040" cy="780898"/>
          </a:xfrm>
          <a:prstGeom prst="roundRect">
            <a:avLst>
              <a:gd name="adj" fmla="val 9368"/>
            </a:avLst>
          </a:prstGeom>
          <a:solidFill>
            <a:srgbClr val="FEF7E4"/>
          </a:solidFill>
          <a:ln w="12700">
            <a:solidFill>
              <a:srgbClr val="E5D9B0"/>
            </a:solidFill>
            <a:prstDash val="solid"/>
          </a:ln>
        </p:spPr>
      </p:sp>
      <p:sp>
        <p:nvSpPr>
          <p:cNvPr id="15" name="Text 12"/>
          <p:cNvSpPr/>
          <p:nvPr/>
        </p:nvSpPr>
        <p:spPr>
          <a:xfrm>
            <a:off x="3456432" y="1783080"/>
            <a:ext cx="8001000" cy="78089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journey between worlds — a ship, a launch, a long trip in the dark.</a:t>
            </a:r>
            <a:endParaRPr lang="en-US" sz="1800" dirty="0"/>
          </a:p>
        </p:txBody>
      </p:sp>
      <p:sp>
        <p:nvSpPr>
          <p:cNvPr id="16" name="Text 13"/>
          <p:cNvSpPr/>
          <p:nvPr/>
        </p:nvSpPr>
        <p:spPr>
          <a:xfrm>
            <a:off x="548640" y="2673706"/>
            <a:ext cx="2606040" cy="780898"/>
          </a:xfrm>
          <a:prstGeom prst="roundRect">
            <a:avLst>
              <a:gd name="adj" fmla="val 1171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ALIENS</a:t>
            </a:r>
            <a:endParaRPr lang="en-US" sz="1600" dirty="0"/>
          </a:p>
        </p:txBody>
      </p:sp>
      <p:sp>
        <p:nvSpPr>
          <p:cNvPr id="17" name="Shape 14"/>
          <p:cNvSpPr/>
          <p:nvPr/>
        </p:nvSpPr>
        <p:spPr>
          <a:xfrm>
            <a:off x="3291840" y="2673706"/>
            <a:ext cx="8321040" cy="780898"/>
          </a:xfrm>
          <a:prstGeom prst="roundRect">
            <a:avLst>
              <a:gd name="adj" fmla="val 9368"/>
            </a:avLst>
          </a:prstGeom>
          <a:solidFill>
            <a:srgbClr val="FEF7E4"/>
          </a:solidFill>
          <a:ln w="12700">
            <a:solidFill>
              <a:srgbClr val="E5D9B0"/>
            </a:solidFill>
            <a:prstDash val="solid"/>
          </a:ln>
        </p:spPr>
      </p:sp>
      <p:sp>
        <p:nvSpPr>
          <p:cNvPr id="18" name="Text 15"/>
          <p:cNvSpPr/>
          <p:nvPr/>
        </p:nvSpPr>
        <p:spPr>
          <a:xfrm>
            <a:off x="3456432" y="2673706"/>
            <a:ext cx="8001000" cy="78089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Beings who are not human. They are often a mirror: they show us what humans are like.</a:t>
            </a:r>
            <a:endParaRPr lang="en-US" sz="1800" dirty="0"/>
          </a:p>
        </p:txBody>
      </p:sp>
      <p:sp>
        <p:nvSpPr>
          <p:cNvPr id="19" name="Text 16"/>
          <p:cNvSpPr/>
          <p:nvPr/>
        </p:nvSpPr>
        <p:spPr>
          <a:xfrm>
            <a:off x="548640" y="3564331"/>
            <a:ext cx="2606040" cy="780898"/>
          </a:xfrm>
          <a:prstGeom prst="roundRect">
            <a:avLst>
              <a:gd name="adj" fmla="val 1171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NEW TECHNOLOGY</a:t>
            </a:r>
            <a:endParaRPr lang="en-US" sz="1600" dirty="0"/>
          </a:p>
        </p:txBody>
      </p:sp>
      <p:sp>
        <p:nvSpPr>
          <p:cNvPr id="20" name="Shape 17"/>
          <p:cNvSpPr/>
          <p:nvPr/>
        </p:nvSpPr>
        <p:spPr>
          <a:xfrm>
            <a:off x="3291840" y="3564331"/>
            <a:ext cx="8321040" cy="780898"/>
          </a:xfrm>
          <a:prstGeom prst="roundRect">
            <a:avLst>
              <a:gd name="adj" fmla="val 9368"/>
            </a:avLst>
          </a:prstGeom>
          <a:solidFill>
            <a:srgbClr val="FEF7E4"/>
          </a:solidFill>
          <a:ln w="12700">
            <a:solidFill>
              <a:srgbClr val="E5D9B0"/>
            </a:solidFill>
            <a:prstDash val="solid"/>
          </a:ln>
        </p:spPr>
      </p:sp>
      <p:sp>
        <p:nvSpPr>
          <p:cNvPr id="21" name="Text 18"/>
          <p:cNvSpPr/>
          <p:nvPr/>
        </p:nvSpPr>
        <p:spPr>
          <a:xfrm>
            <a:off x="3456432" y="3564331"/>
            <a:ext cx="8001000" cy="78089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Machines we do not have yet — and what they do to the people who use them.</a:t>
            </a:r>
            <a:endParaRPr lang="en-US" sz="1800" dirty="0"/>
          </a:p>
        </p:txBody>
      </p:sp>
      <p:sp>
        <p:nvSpPr>
          <p:cNvPr id="22" name="Text 19"/>
          <p:cNvSpPr/>
          <p:nvPr/>
        </p:nvSpPr>
        <p:spPr>
          <a:xfrm>
            <a:off x="548640" y="4454957"/>
            <a:ext cx="2606040" cy="780898"/>
          </a:xfrm>
          <a:prstGeom prst="roundRect">
            <a:avLst>
              <a:gd name="adj" fmla="val 1171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FUTURE</a:t>
            </a:r>
            <a:endParaRPr lang="en-US" sz="1600" dirty="0"/>
          </a:p>
        </p:txBody>
      </p:sp>
      <p:sp>
        <p:nvSpPr>
          <p:cNvPr id="23" name="Shape 20"/>
          <p:cNvSpPr/>
          <p:nvPr/>
        </p:nvSpPr>
        <p:spPr>
          <a:xfrm>
            <a:off x="3291840" y="4454957"/>
            <a:ext cx="8321040" cy="780898"/>
          </a:xfrm>
          <a:prstGeom prst="roundRect">
            <a:avLst>
              <a:gd name="adj" fmla="val 9368"/>
            </a:avLst>
          </a:prstGeom>
          <a:solidFill>
            <a:srgbClr val="FEF7E4"/>
          </a:solidFill>
          <a:ln w="12700">
            <a:solidFill>
              <a:srgbClr val="E5D9B0"/>
            </a:solidFill>
            <a:prstDash val="solid"/>
          </a:ln>
        </p:spPr>
      </p:sp>
      <p:sp>
        <p:nvSpPr>
          <p:cNvPr id="24" name="Text 21"/>
          <p:cNvSpPr/>
          <p:nvPr/>
        </p:nvSpPr>
        <p:spPr>
          <a:xfrm>
            <a:off x="3456432" y="4454957"/>
            <a:ext cx="8001000" cy="78089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time after now. The writer imagines what has changed — and what has not.</a:t>
            </a:r>
            <a:endParaRPr lang="en-US" sz="1800" dirty="0"/>
          </a:p>
        </p:txBody>
      </p:sp>
      <p:sp>
        <p:nvSpPr>
          <p:cNvPr id="25" name="Text 22"/>
          <p:cNvSpPr/>
          <p:nvPr/>
        </p:nvSpPr>
        <p:spPr>
          <a:xfrm>
            <a:off x="548640" y="5345582"/>
            <a:ext cx="2606040" cy="780898"/>
          </a:xfrm>
          <a:prstGeom prst="roundRect">
            <a:avLst>
              <a:gd name="adj" fmla="val 1171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A BIG QUESTION</a:t>
            </a:r>
            <a:endParaRPr lang="en-US" sz="1600" dirty="0"/>
          </a:p>
        </p:txBody>
      </p:sp>
      <p:sp>
        <p:nvSpPr>
          <p:cNvPr id="26" name="Shape 23"/>
          <p:cNvSpPr/>
          <p:nvPr/>
        </p:nvSpPr>
        <p:spPr>
          <a:xfrm>
            <a:off x="3291840" y="5345582"/>
            <a:ext cx="8321040" cy="780898"/>
          </a:xfrm>
          <a:prstGeom prst="roundRect">
            <a:avLst>
              <a:gd name="adj" fmla="val 9368"/>
            </a:avLst>
          </a:prstGeom>
          <a:solidFill>
            <a:srgbClr val="FEF7E4"/>
          </a:solidFill>
          <a:ln w="12700">
            <a:solidFill>
              <a:srgbClr val="E5D9B0"/>
            </a:solidFill>
            <a:prstDash val="solid"/>
          </a:ln>
        </p:spPr>
      </p:sp>
      <p:sp>
        <p:nvSpPr>
          <p:cNvPr id="27" name="Text 24"/>
          <p:cNvSpPr/>
          <p:nvPr/>
        </p:nvSpPr>
        <p:spPr>
          <a:xfrm>
            <a:off x="3456432" y="5345582"/>
            <a:ext cx="8001000" cy="78089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Under the ships and aliens, a question about us: who belongs? who decides? what is home?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Meet Binti</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About the novel we will read this half term — and the writer behind it.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Binti and science fiction</a:t>
            </a:r>
            <a:endParaRPr lang="en-US" sz="900" dirty="0"/>
          </a:p>
        </p:txBody>
      </p:sp>
      <p:sp>
        <p:nvSpPr>
          <p:cNvPr id="13" name="Text 10"/>
          <p:cNvSpPr/>
          <p:nvPr/>
        </p:nvSpPr>
        <p:spPr>
          <a:xfrm>
            <a:off x="548640" y="1783080"/>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WRITER</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Nnedi Okorafor is a Nigerian-American writer. Binti came out in 2015 and won the two biggest prizes in science fiction.</a:t>
            </a:r>
            <a:endParaRPr lang="en-US" sz="1800" dirty="0"/>
          </a:p>
        </p:txBody>
      </p:sp>
      <p:sp>
        <p:nvSpPr>
          <p:cNvPr id="16" name="Text 13"/>
          <p:cNvSpPr/>
          <p:nvPr/>
        </p:nvSpPr>
        <p:spPr>
          <a:xfrm>
            <a:off x="548640" y="2843784"/>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GIRL</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Binti is a Himba girl from a desert town on Earth. She is brilliant at maths and wears red otjize clay on her skin and hair.</a:t>
            </a:r>
            <a:endParaRPr lang="en-US" sz="1800" dirty="0"/>
          </a:p>
        </p:txBody>
      </p:sp>
      <p:sp>
        <p:nvSpPr>
          <p:cNvPr id="19" name="Text 16"/>
          <p:cNvSpPr/>
          <p:nvPr/>
        </p:nvSpPr>
        <p:spPr>
          <a:xfrm>
            <a:off x="548640" y="3904488"/>
            <a:ext cx="2606040" cy="914400"/>
          </a:xfrm>
          <a:prstGeom prst="roundRect">
            <a:avLst>
              <a:gd name="adj" fmla="val 10000"/>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JOURNEY</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She is the first of her people offered a place at a university on another planet. Her family say no. She goes anyway.</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Every convention on the last slide is in this story. So is a girl who misses home.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An original sci-fi opening written for this lesson. Read it twice: once for the story, once hunting for conventions.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Binti and science fiction</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PROSE WRITTEN FOR THIS LESSON — NOT FROM THE NOVEL</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The launch tower stood at the edge of the desert like a needle someone had left in the sand. Amara had seen it every day of her life and never once believed it was for her. Now her ticket glowed on the back of her hand, a small blue square that said her name and a planet she could not pronounce. Behind her, the town was asleep. Ahead, the ship breathed: a slow rise and fall of its long grey side, the way a sleeping animal breathes. She touched the clay in her hair. Still there. Still hers. Then she walked towards the needle.</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three conventions of science fiction in this extract.</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strange here — and what is completely ordinary?</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Why does the writer say the ship 'breathed'?</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the clay in her hair tell us about Amara?</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TALK · the genre features table</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In pairs. One table, five rows, two texts. Everyone writes; everyone speaks.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Binti and science fiction</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2759678" y="1888236"/>
            <a:ext cx="246888" cy="246888"/>
          </a:xfrm>
          <a:prstGeom prst="rect">
            <a:avLst/>
          </a:prstGeom>
        </p:spPr>
      </p:pic>
      <p:sp>
        <p:nvSpPr>
          <p:cNvPr id="15" name="Text 11"/>
          <p:cNvSpPr/>
          <p:nvPr/>
        </p:nvSpPr>
        <p:spPr>
          <a:xfrm>
            <a:off x="3125438" y="1783080"/>
            <a:ext cx="3258883"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PAIR WORK · FEATURES TABLE</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Which sci-fi conventions does the extract use — and what does each one DO for the reader?</a:t>
            </a:r>
            <a:endParaRPr lang="en-US" sz="1800" dirty="0"/>
          </a:p>
        </p:txBody>
      </p:sp>
      <p:sp>
        <p:nvSpPr>
          <p:cNvPr id="19" name="Text 15"/>
          <p:cNvSpPr/>
          <p:nvPr/>
        </p:nvSpPr>
        <p:spPr>
          <a:xfrm>
            <a:off x="548640" y="3401568"/>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427939"/>
          </a:xfrm>
          <a:prstGeom prst="roundRect">
            <a:avLst>
              <a:gd name="adj" fmla="val 17094"/>
            </a:avLst>
          </a:prstGeom>
          <a:solidFill>
            <a:srgbClr val="FFFFFF"/>
          </a:solidFill>
          <a:ln w="12700">
            <a:solidFill>
              <a:srgbClr val="80ADC4"/>
            </a:solidFill>
            <a:prstDash val="solid"/>
          </a:ln>
        </p:spPr>
      </p:sp>
      <p:sp>
        <p:nvSpPr>
          <p:cNvPr id="21" name="Text 17"/>
          <p:cNvSpPr/>
          <p:nvPr/>
        </p:nvSpPr>
        <p:spPr>
          <a:xfrm>
            <a:off x="1463040" y="3401568"/>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Draw a table: convention · where it is in the extract · what it does.</a:t>
            </a:r>
            <a:endParaRPr lang="en-US" sz="1800" dirty="0"/>
          </a:p>
        </p:txBody>
      </p:sp>
      <p:sp>
        <p:nvSpPr>
          <p:cNvPr id="22" name="Text 18"/>
          <p:cNvSpPr/>
          <p:nvPr/>
        </p:nvSpPr>
        <p:spPr>
          <a:xfrm>
            <a:off x="548640" y="3930091"/>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3930091"/>
            <a:ext cx="10332720" cy="427939"/>
          </a:xfrm>
          <a:prstGeom prst="roundRect">
            <a:avLst>
              <a:gd name="adj" fmla="val 17094"/>
            </a:avLst>
          </a:prstGeom>
          <a:solidFill>
            <a:srgbClr val="F4F6FA"/>
          </a:solidFill>
          <a:ln w="12700">
            <a:solidFill>
              <a:srgbClr val="80ADC4"/>
            </a:solidFill>
            <a:prstDash val="solid"/>
          </a:ln>
        </p:spPr>
      </p:sp>
      <p:sp>
        <p:nvSpPr>
          <p:cNvPr id="24" name="Text 20"/>
          <p:cNvSpPr/>
          <p:nvPr/>
        </p:nvSpPr>
        <p:spPr>
          <a:xfrm>
            <a:off x="1463040" y="3930091"/>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Fill the five rows from the conventions slide. Two minutes, in silence.</a:t>
            </a:r>
            <a:endParaRPr lang="en-US" sz="1800" dirty="0"/>
          </a:p>
        </p:txBody>
      </p:sp>
      <p:sp>
        <p:nvSpPr>
          <p:cNvPr id="25" name="Text 21"/>
          <p:cNvSpPr/>
          <p:nvPr/>
        </p:nvSpPr>
        <p:spPr>
          <a:xfrm>
            <a:off x="548640" y="4458614"/>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458614"/>
            <a:ext cx="10332720" cy="427939"/>
          </a:xfrm>
          <a:prstGeom prst="roundRect">
            <a:avLst>
              <a:gd name="adj" fmla="val 17094"/>
            </a:avLst>
          </a:prstGeom>
          <a:solidFill>
            <a:srgbClr val="FFFFFF"/>
          </a:solidFill>
          <a:ln w="12700">
            <a:solidFill>
              <a:srgbClr val="80ADC4"/>
            </a:solidFill>
            <a:prstDash val="solid"/>
          </a:ln>
        </p:spPr>
      </p:sp>
      <p:sp>
        <p:nvSpPr>
          <p:cNvPr id="27" name="Text 23"/>
          <p:cNvSpPr/>
          <p:nvPr/>
        </p:nvSpPr>
        <p:spPr>
          <a:xfrm>
            <a:off x="1463040" y="4458614"/>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Swap with your partner. Add one thing they found that you missed.</a:t>
            </a:r>
            <a:endParaRPr lang="en-US" sz="1800" dirty="0"/>
          </a:p>
        </p:txBody>
      </p:sp>
      <p:sp>
        <p:nvSpPr>
          <p:cNvPr id="28" name="Text 24"/>
          <p:cNvSpPr/>
          <p:nvPr/>
        </p:nvSpPr>
        <p:spPr>
          <a:xfrm>
            <a:off x="548640" y="4987138"/>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4987138"/>
            <a:ext cx="10332720" cy="427939"/>
          </a:xfrm>
          <a:prstGeom prst="roundRect">
            <a:avLst>
              <a:gd name="adj" fmla="val 17094"/>
            </a:avLst>
          </a:prstGeom>
          <a:solidFill>
            <a:srgbClr val="F4F6FA"/>
          </a:solidFill>
          <a:ln w="12700">
            <a:solidFill>
              <a:srgbClr val="80ADC4"/>
            </a:solidFill>
            <a:prstDash val="solid"/>
          </a:ln>
        </p:spPr>
      </p:sp>
      <p:sp>
        <p:nvSpPr>
          <p:cNvPr id="30" name="Text 26"/>
          <p:cNvSpPr/>
          <p:nvPr/>
        </p:nvSpPr>
        <p:spPr>
          <a:xfrm>
            <a:off x="1463040" y="4987138"/>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Together, decide: which convention matters MOST here? Why?</a:t>
            </a:r>
            <a:endParaRPr lang="en-US" sz="1800" dirty="0"/>
          </a:p>
        </p:txBody>
      </p:sp>
      <p:sp>
        <p:nvSpPr>
          <p:cNvPr id="31" name="Text 27"/>
          <p:cNvSpPr/>
          <p:nvPr/>
        </p:nvSpPr>
        <p:spPr>
          <a:xfrm>
            <a:off x="548640" y="5515661"/>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5</a:t>
            </a:r>
            <a:endParaRPr lang="en-US" sz="1800" dirty="0"/>
          </a:p>
        </p:txBody>
      </p:sp>
      <p:sp>
        <p:nvSpPr>
          <p:cNvPr id="32" name="Shape 28"/>
          <p:cNvSpPr/>
          <p:nvPr/>
        </p:nvSpPr>
        <p:spPr>
          <a:xfrm>
            <a:off x="1280160" y="5515661"/>
            <a:ext cx="10332720" cy="427939"/>
          </a:xfrm>
          <a:prstGeom prst="roundRect">
            <a:avLst>
              <a:gd name="adj" fmla="val 17094"/>
            </a:avLst>
          </a:prstGeom>
          <a:solidFill>
            <a:srgbClr val="FFFFFF"/>
          </a:solidFill>
          <a:ln w="12700">
            <a:solidFill>
              <a:srgbClr val="80ADC4"/>
            </a:solidFill>
            <a:prstDash val="solid"/>
          </a:ln>
        </p:spPr>
      </p:sp>
      <p:sp>
        <p:nvSpPr>
          <p:cNvPr id="33" name="Text 29"/>
          <p:cNvSpPr/>
          <p:nvPr/>
        </p:nvSpPr>
        <p:spPr>
          <a:xfrm>
            <a:off x="1463040" y="5515661"/>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One pair reports. The class votes: could this story work without space travel?</a:t>
            </a:r>
            <a:endParaRPr lang="en-US" sz="1800" dirty="0"/>
          </a:p>
        </p:txBody>
      </p:sp>
      <p:sp>
        <p:nvSpPr>
          <p:cNvPr id="34" name="Text 30"/>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Collaborative learning — +5 months; structured pair talk with a shared product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Exit ticket — what a strong answer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Three sentences on your slip. Did you make these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Binti and science fiction</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Define</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Say what science fiction is in your own words: a 'what if?' answered with science.</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Name a convention</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Use the word convention correctly, with one example from the extract.</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Decide</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Answer the Big Question: what can sci-fi do that a story set today cannot?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Open the read-along edition and listen to pages 1 to 3. Tap any sentence you are not sure of.</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book-open-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Read</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 the extract again. Circle every word that could ONLY be in science fiction.</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Five key sci-fi conventions, one sentence each, with an example from any story you know.</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This lesson's bell questions come back next week. Can you beat your score of /5?</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Modern Novel: Binti · Lesson 1 of 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Novel: Binti · L1 Binti and science fiction</dc:title>
  <dc:subject>PptxGenJS Presentation</dc:subject>
  <dc:creator>Harlington English</dc:creator>
  <cp:lastModifiedBy>Harlington English</cp:lastModifiedBy>
  <cp:revision>1</cp:revision>
  <dcterms:created xsi:type="dcterms:W3CDTF">2026-09-04T20:58:54Z</dcterms:created>
  <dcterms:modified xsi:type="dcterms:W3CDTF">2026-09-04T20:58:54Z</dcterms:modified>
</cp:coreProperties>
</file>