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65760"/>
            <a:ext cx="8595360" cy="960120"/>
          </a:xfrm>
          <a:prstGeom prst="roundRect">
            <a:avLst>
              <a:gd name="adj" fmla="val 7619"/>
            </a:avLst>
          </a:prstGeom>
          <a:solidFill>
            <a:srgbClr val="12294D"/>
          </a:solidFill>
          <a:ln w="12700">
            <a:solidFill>
              <a:srgbClr val="12294D"/>
            </a:solidFill>
            <a:prstDash val="solid"/>
          </a:ln>
        </p:spPr>
      </p:sp>
      <p:sp>
        <p:nvSpPr>
          <p:cNvPr id="3" name="Text 1"/>
          <p:cNvSpPr/>
          <p:nvPr/>
        </p:nvSpPr>
        <p:spPr>
          <a:xfrm>
            <a:off x="777240" y="457200"/>
            <a:ext cx="8046720" cy="292608"/>
          </a:xfrm>
          <a:prstGeom prst="rect">
            <a:avLst/>
          </a:prstGeom>
          <a:noFill/>
          <a:ln/>
        </p:spPr>
        <p:txBody>
          <a:bodyPr wrap="square" lIns="0" tIns="0" rIns="0" bIns="0" rtlCol="0" anchor="ctr"/>
          <a:lstStyle/>
          <a:p>
            <a:pPr indent="0" marL="0">
              <a:buNone/>
            </a:pPr>
            <a:r>
              <a:rPr lang="en-US" sz="1100" b="1" dirty="0">
                <a:solidFill>
                  <a:srgbClr val="FFC93C"/>
                </a:solidFill>
                <a:latin typeface="Arial" pitchFamily="34" charset="0"/>
                <a:ea typeface="Arial" pitchFamily="34" charset="-122"/>
                <a:cs typeface="Arial" pitchFamily="34" charset="-120"/>
              </a:rPr>
              <a:t>HARLINGTON ENGLISH · YEAR 7 · MODERN NOVEL: BINTI · LESSON 3 of 7</a:t>
            </a:r>
            <a:endParaRPr lang="en-US" sz="1100" dirty="0"/>
          </a:p>
        </p:txBody>
      </p:sp>
      <p:sp>
        <p:nvSpPr>
          <p:cNvPr id="4" name="Text 2"/>
          <p:cNvSpPr/>
          <p:nvPr/>
        </p:nvSpPr>
        <p:spPr>
          <a:xfrm>
            <a:off x="777240" y="731520"/>
            <a:ext cx="813816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Themes: journey and belonging</a:t>
            </a:r>
            <a:endParaRPr lang="en-US" sz="2600" dirty="0"/>
          </a:p>
        </p:txBody>
      </p:sp>
      <p:sp>
        <p:nvSpPr>
          <p:cNvPr id="5" name="Shape 3"/>
          <p:cNvSpPr/>
          <p:nvPr/>
        </p:nvSpPr>
        <p:spPr>
          <a:xfrm>
            <a:off x="9235440" y="365760"/>
            <a:ext cx="2468880" cy="960120"/>
          </a:xfrm>
          <a:prstGeom prst="roundRect">
            <a:avLst>
              <a:gd name="adj" fmla="val 9524"/>
            </a:avLst>
          </a:prstGeom>
          <a:solidFill>
            <a:srgbClr val="FFC93C"/>
          </a:solidFill>
          <a:ln w="12700">
            <a:solidFill>
              <a:srgbClr val="FFC93C"/>
            </a:solidFill>
            <a:prstDash val="solid"/>
          </a:ln>
        </p:spPr>
      </p:sp>
      <p:pic>
        <p:nvPicPr>
          <p:cNvPr id="6" name="Image 0" descr="/home/claude/english/kit/decks/_icons/bell-12294D.png">    </p:cNvPr>
          <p:cNvPicPr>
            <a:picLocks noChangeAspect="1"/>
          </p:cNvPicPr>
          <p:nvPr/>
        </p:nvPicPr>
        <p:blipFill>
          <a:blip r:embed="rId1"/>
          <a:stretch>
            <a:fillRect/>
          </a:stretch>
        </p:blipFill>
        <p:spPr>
          <a:xfrm>
            <a:off x="9418320" y="566928"/>
            <a:ext cx="548640" cy="548640"/>
          </a:xfrm>
          <a:prstGeom prst="rect">
            <a:avLst/>
          </a:prstGeom>
        </p:spPr>
      </p:pic>
      <p:sp>
        <p:nvSpPr>
          <p:cNvPr id="7" name="Text 4"/>
          <p:cNvSpPr/>
          <p:nvPr/>
        </p:nvSpPr>
        <p:spPr>
          <a:xfrm>
            <a:off x="10012680" y="502920"/>
            <a:ext cx="1600200" cy="320040"/>
          </a:xfrm>
          <a:prstGeom prst="rect">
            <a:avLst/>
          </a:prstGeom>
          <a:noFill/>
          <a:ln/>
        </p:spPr>
        <p:txBody>
          <a:bodyPr wrap="square" lIns="0" tIns="0" rIns="0" bIns="0" rtlCol="0" anchor="ctr"/>
          <a:lstStyle/>
          <a:p>
            <a:pPr indent="0" marL="0">
              <a:buNone/>
            </a:pPr>
            <a:r>
              <a:rPr lang="en-US" sz="1500" b="1" dirty="0">
                <a:solidFill>
                  <a:srgbClr val="12294D"/>
                </a:solidFill>
                <a:latin typeface="Arial" pitchFamily="34" charset="0"/>
                <a:ea typeface="Arial" pitchFamily="34" charset="-122"/>
                <a:cs typeface="Arial" pitchFamily="34" charset="-120"/>
              </a:rPr>
              <a:t>BELL WORK</a:t>
            </a:r>
            <a:endParaRPr lang="en-US" sz="1500" dirty="0"/>
          </a:p>
        </p:txBody>
      </p:sp>
      <p:sp>
        <p:nvSpPr>
          <p:cNvPr id="8" name="Text 5"/>
          <p:cNvSpPr/>
          <p:nvPr/>
        </p:nvSpPr>
        <p:spPr>
          <a:xfrm>
            <a:off x="10012680" y="841248"/>
            <a:ext cx="1600200" cy="320040"/>
          </a:xfrm>
          <a:prstGeom prst="rect">
            <a:avLst/>
          </a:prstGeom>
          <a:noFill/>
          <a:ln/>
        </p:spPr>
        <p:txBody>
          <a:bodyPr wrap="square" lIns="0" tIns="0" rIns="0" bIns="0" rtlCol="0" anchor="ctr"/>
          <a:lstStyle/>
          <a:p>
            <a:pPr indent="0" marL="0">
              <a:buNone/>
            </a:pPr>
            <a:r>
              <a:rPr lang="en-US" sz="1300" b="1" dirty="0">
                <a:solidFill>
                  <a:srgbClr val="12294D"/>
                </a:solidFill>
                <a:latin typeface="Arial" pitchFamily="34" charset="0"/>
                <a:ea typeface="Arial" pitchFamily="34" charset="-122"/>
                <a:cs typeface="Arial" pitchFamily="34" charset="-120"/>
              </a:rPr>
              <a:t>⏱ 7 minutes</a:t>
            </a:r>
            <a:endParaRPr lang="en-US" sz="1300" dirty="0"/>
          </a:p>
        </p:txBody>
      </p:sp>
      <p:sp>
        <p:nvSpPr>
          <p:cNvPr id="9" name="Text 6"/>
          <p:cNvSpPr/>
          <p:nvPr/>
        </p:nvSpPr>
        <p:spPr>
          <a:xfrm>
            <a:off x="457200" y="1463040"/>
            <a:ext cx="11247120" cy="365760"/>
          </a:xfrm>
          <a:prstGeom prst="rect">
            <a:avLst/>
          </a:prstGeom>
          <a:noFill/>
          <a:ln/>
        </p:spPr>
        <p:txBody>
          <a:bodyPr wrap="square" lIns="0" tIns="0" rIns="0" bIns="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Retrieval — no notes. Answer all five, then say one in a full sentence. Score yourself /5.</a:t>
            </a:r>
            <a:endParaRPr lang="en-US" sz="1500" dirty="0"/>
          </a:p>
        </p:txBody>
      </p:sp>
      <p:sp>
        <p:nvSpPr>
          <p:cNvPr id="10" name="Text 7"/>
          <p:cNvSpPr/>
          <p:nvPr/>
        </p:nvSpPr>
        <p:spPr>
          <a:xfrm>
            <a:off x="548640" y="1965960"/>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1</a:t>
            </a:r>
            <a:endParaRPr lang="en-US" sz="1800" dirty="0"/>
          </a:p>
        </p:txBody>
      </p:sp>
      <p:sp>
        <p:nvSpPr>
          <p:cNvPr id="11" name="Text 8"/>
          <p:cNvSpPr/>
          <p:nvPr/>
        </p:nvSpPr>
        <p:spPr>
          <a:xfrm>
            <a:off x="1234440" y="1965960"/>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What is a symbol? Give the example from Binti.</a:t>
            </a:r>
            <a:endParaRPr lang="en-US" sz="1800" dirty="0"/>
          </a:p>
        </p:txBody>
      </p:sp>
      <p:sp>
        <p:nvSpPr>
          <p:cNvPr id="12" name="Text 9"/>
          <p:cNvSpPr/>
          <p:nvPr/>
        </p:nvSpPr>
        <p:spPr>
          <a:xfrm>
            <a:off x="548640" y="2770632"/>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2</a:t>
            </a:r>
            <a:endParaRPr lang="en-US" sz="1800" dirty="0"/>
          </a:p>
        </p:txBody>
      </p:sp>
      <p:sp>
        <p:nvSpPr>
          <p:cNvPr id="13" name="Text 10"/>
          <p:cNvSpPr/>
          <p:nvPr/>
        </p:nvSpPr>
        <p:spPr>
          <a:xfrm>
            <a:off x="1234440" y="2770632"/>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What is a protagonist?</a:t>
            </a:r>
            <a:endParaRPr lang="en-US" sz="1800" dirty="0"/>
          </a:p>
        </p:txBody>
      </p:sp>
      <p:sp>
        <p:nvSpPr>
          <p:cNvPr id="14" name="Text 11"/>
          <p:cNvSpPr/>
          <p:nvPr/>
        </p:nvSpPr>
        <p:spPr>
          <a:xfrm>
            <a:off x="548640" y="3575304"/>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3</a:t>
            </a:r>
            <a:endParaRPr lang="en-US" sz="1800" dirty="0"/>
          </a:p>
        </p:txBody>
      </p:sp>
      <p:sp>
        <p:nvSpPr>
          <p:cNvPr id="15" name="Text 12"/>
          <p:cNvSpPr/>
          <p:nvPr/>
        </p:nvSpPr>
        <p:spPr>
          <a:xfrm>
            <a:off x="1234440" y="3575304"/>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Name two details the writer uses to show Binti's heritage.</a:t>
            </a:r>
            <a:endParaRPr lang="en-US" sz="1800" dirty="0"/>
          </a:p>
        </p:txBody>
      </p:sp>
      <p:sp>
        <p:nvSpPr>
          <p:cNvPr id="16" name="Text 13"/>
          <p:cNvSpPr/>
          <p:nvPr/>
        </p:nvSpPr>
        <p:spPr>
          <a:xfrm>
            <a:off x="548640" y="4379976"/>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4</a:t>
            </a:r>
            <a:endParaRPr lang="en-US" sz="1800" dirty="0"/>
          </a:p>
        </p:txBody>
      </p:sp>
      <p:sp>
        <p:nvSpPr>
          <p:cNvPr id="17" name="Text 14"/>
          <p:cNvSpPr/>
          <p:nvPr/>
        </p:nvSpPr>
        <p:spPr>
          <a:xfrm>
            <a:off x="1234440" y="4379976"/>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Finish: Diversity means…</a:t>
            </a:r>
            <a:endParaRPr lang="en-US" sz="1800" dirty="0"/>
          </a:p>
        </p:txBody>
      </p:sp>
      <p:sp>
        <p:nvSpPr>
          <p:cNvPr id="18" name="Text 15"/>
          <p:cNvSpPr/>
          <p:nvPr/>
        </p:nvSpPr>
        <p:spPr>
          <a:xfrm>
            <a:off x="548640" y="5184648"/>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5</a:t>
            </a:r>
            <a:endParaRPr lang="en-US" sz="1800" dirty="0"/>
          </a:p>
        </p:txBody>
      </p:sp>
      <p:sp>
        <p:nvSpPr>
          <p:cNvPr id="19" name="Text 16"/>
          <p:cNvSpPr/>
          <p:nvPr/>
        </p:nvSpPr>
        <p:spPr>
          <a:xfrm>
            <a:off x="1234440" y="5184648"/>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Name the four places to look when you analyse a character.</a:t>
            </a:r>
            <a:endParaRPr lang="en-US" sz="1800" dirty="0"/>
          </a:p>
        </p:txBody>
      </p:sp>
      <p:sp>
        <p:nvSpPr>
          <p:cNvPr id="20" name="Text 17"/>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21" name="Text 18"/>
          <p:cNvSpPr/>
          <p:nvPr/>
        </p:nvSpPr>
        <p:spPr>
          <a:xfrm>
            <a:off x="1325880" y="6291072"/>
            <a:ext cx="2514600" cy="365760"/>
          </a:xfrm>
          <a:prstGeom prst="roundRect">
            <a:avLst>
              <a:gd name="adj" fmla="val 22500"/>
            </a:avLst>
          </a:prstGeom>
          <a:solidFill>
            <a:srgbClr val="80ADC4"/>
          </a:solidFill>
          <a:ln>
            <a:solidFill>
              <a:srgbClr val="80ADC4"/>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REMEMBER</a:t>
            </a:r>
            <a:endParaRPr lang="en-US" sz="1200" dirty="0"/>
          </a:p>
        </p:txBody>
      </p:sp>
      <p:sp>
        <p:nvSpPr>
          <p:cNvPr id="22" name="Text 19"/>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23" name="Text 20"/>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24" name="Text 21"/>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25" name="Text 22"/>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Modern Novel: Binti · Themes: journey and belonging</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8595360" cy="777240"/>
          </a:xfrm>
          <a:prstGeom prst="roundRect">
            <a:avLst>
              <a:gd name="adj" fmla="val 8235"/>
            </a:avLst>
          </a:prstGeom>
          <a:solidFill>
            <a:srgbClr val="12294D"/>
          </a:solidFill>
          <a:ln w="12700">
            <a:solidFill>
              <a:srgbClr val="12294D"/>
            </a:solidFill>
            <a:prstDash val="solid"/>
          </a:ln>
        </p:spPr>
      </p:sp>
      <p:sp>
        <p:nvSpPr>
          <p:cNvPr id="3" name="Text 1"/>
          <p:cNvSpPr/>
          <p:nvPr/>
        </p:nvSpPr>
        <p:spPr>
          <a:xfrm>
            <a:off x="777240" y="320040"/>
            <a:ext cx="8229600" cy="777240"/>
          </a:xfrm>
          <a:prstGeom prst="rect">
            <a:avLst/>
          </a:prstGeom>
          <a:noFill/>
          <a:ln/>
        </p:spPr>
        <p:txBody>
          <a:bodyPr wrap="square" lIns="0" tIns="0" rIns="0" bIns="0" rtlCol="0" anchor="ctr"/>
          <a:lstStyle/>
          <a:p>
            <a:pPr algn="l" indent="0" marL="0">
              <a:buNone/>
            </a:pPr>
            <a:r>
              <a:rPr lang="en-US" sz="3000" b="1" dirty="0">
                <a:solidFill>
                  <a:srgbClr val="FFFFFF"/>
                </a:solidFill>
                <a:latin typeface="Arial" pitchFamily="34" charset="0"/>
                <a:ea typeface="Arial" pitchFamily="34" charset="-122"/>
                <a:cs typeface="Arial" pitchFamily="34" charset="-120"/>
              </a:rPr>
              <a:t>Modern Novel: Binti</a:t>
            </a:r>
            <a:endParaRPr lang="en-US" sz="3000" dirty="0"/>
          </a:p>
        </p:txBody>
      </p:sp>
      <p:sp>
        <p:nvSpPr>
          <p:cNvPr id="4" name="Text 2"/>
          <p:cNvSpPr/>
          <p:nvPr/>
        </p:nvSpPr>
        <p:spPr>
          <a:xfrm>
            <a:off x="9326880" y="402336"/>
            <a:ext cx="2377440" cy="310896"/>
          </a:xfrm>
          <a:prstGeom prst="rect">
            <a:avLst/>
          </a:prstGeom>
          <a:noFill/>
          <a:ln/>
        </p:spPr>
        <p:txBody>
          <a:bodyPr wrap="square" lIns="0" tIns="0" rIns="0" bIns="0" rtlCol="0" anchor="ctr"/>
          <a:lstStyle/>
          <a:p>
            <a:pPr algn="r" indent="0" marL="0">
              <a:buNone/>
            </a:pPr>
            <a:r>
              <a:rPr lang="en-US" sz="1600" b="1" dirty="0">
                <a:solidFill>
                  <a:srgbClr val="12294D"/>
                </a:solidFill>
                <a:latin typeface="Arial" pitchFamily="34" charset="0"/>
                <a:ea typeface="Arial" pitchFamily="34" charset="-122"/>
                <a:cs typeface="Arial" pitchFamily="34" charset="-120"/>
              </a:rPr>
              <a:t>HARLINGTON</a:t>
            </a:r>
            <a:endParaRPr lang="en-US" sz="1600" dirty="0"/>
          </a:p>
        </p:txBody>
      </p:sp>
      <p:sp>
        <p:nvSpPr>
          <p:cNvPr id="5" name="Text 3"/>
          <p:cNvSpPr/>
          <p:nvPr/>
        </p:nvSpPr>
        <p:spPr>
          <a:xfrm>
            <a:off x="9326880" y="713232"/>
            <a:ext cx="2377440" cy="274320"/>
          </a:xfrm>
          <a:prstGeom prst="rect">
            <a:avLst/>
          </a:prstGeom>
          <a:noFill/>
          <a:ln/>
        </p:spPr>
        <p:txBody>
          <a:bodyPr wrap="square" lIns="0" tIns="0" rIns="0" bIns="0" rtlCol="0" anchor="ctr"/>
          <a:lstStyle/>
          <a:p>
            <a:pPr algn="r" indent="0" marL="0">
              <a:buNone/>
            </a:pPr>
            <a:r>
              <a:rPr lang="en-US" sz="1300" b="1" dirty="0">
                <a:solidFill>
                  <a:srgbClr val="80ADC4"/>
                </a:solidFill>
                <a:latin typeface="Arial" pitchFamily="34" charset="0"/>
                <a:ea typeface="Arial" pitchFamily="34" charset="-122"/>
                <a:cs typeface="Arial" pitchFamily="34" charset="-120"/>
              </a:rPr>
              <a:t>SCHOOL</a:t>
            </a:r>
            <a:endParaRPr lang="en-US" sz="1300" dirty="0"/>
          </a:p>
        </p:txBody>
      </p:sp>
      <p:sp>
        <p:nvSpPr>
          <p:cNvPr id="6" name="Text 4"/>
          <p:cNvSpPr/>
          <p:nvPr/>
        </p:nvSpPr>
        <p:spPr>
          <a:xfrm>
            <a:off x="502920" y="1170432"/>
            <a:ext cx="7315200" cy="365760"/>
          </a:xfrm>
          <a:prstGeom prst="rect">
            <a:avLst/>
          </a:prstGeom>
          <a:noFill/>
          <a:ln/>
        </p:spPr>
        <p:txBody>
          <a:bodyPr wrap="square" lIns="0" tIns="0" rIns="0" bIns="0" rtlCol="0" anchor="ctr"/>
          <a:lstStyle/>
          <a:p>
            <a:pPr indent="0" marL="0">
              <a:buNone/>
            </a:pPr>
            <a:r>
              <a:rPr lang="en-US" sz="1500" b="1" i="1" dirty="0">
                <a:solidFill>
                  <a:srgbClr val="80ADC4"/>
                </a:solidFill>
                <a:latin typeface="Arial" pitchFamily="34" charset="0"/>
                <a:ea typeface="Arial" pitchFamily="34" charset="-122"/>
                <a:cs typeface="Arial" pitchFamily="34" charset="-120"/>
              </a:rPr>
              <a:t>Progress is the Curriculum</a:t>
            </a:r>
            <a:endParaRPr lang="en-US" sz="1500" dirty="0"/>
          </a:p>
        </p:txBody>
      </p:sp>
      <p:sp>
        <p:nvSpPr>
          <p:cNvPr id="7" name="Shape 5"/>
          <p:cNvSpPr/>
          <p:nvPr/>
        </p:nvSpPr>
        <p:spPr>
          <a:xfrm>
            <a:off x="457200" y="1600200"/>
            <a:ext cx="3383280" cy="4617720"/>
          </a:xfrm>
          <a:prstGeom prst="roundRect">
            <a:avLst>
              <a:gd name="adj" fmla="val 2162"/>
            </a:avLst>
          </a:prstGeom>
          <a:solidFill>
            <a:srgbClr val="F4F6FA"/>
          </a:solidFill>
          <a:ln w="12700">
            <a:solidFill>
              <a:srgbClr val="F4F6FA"/>
            </a:solidFill>
            <a:prstDash val="solid"/>
          </a:ln>
        </p:spPr>
      </p:sp>
      <p:pic>
        <p:nvPicPr>
          <p:cNvPr id="8" name="Image 0" descr="/home/claude/english/kit/decks/_icons/layers-12294D.png">    </p:cNvPr>
          <p:cNvPicPr>
            <a:picLocks noChangeAspect="1"/>
          </p:cNvPicPr>
          <p:nvPr/>
        </p:nvPicPr>
        <p:blipFill>
          <a:blip r:embed="rId1"/>
          <a:stretch>
            <a:fillRect/>
          </a:stretch>
        </p:blipFill>
        <p:spPr>
          <a:xfrm>
            <a:off x="685800" y="1792224"/>
            <a:ext cx="365760" cy="365760"/>
          </a:xfrm>
          <a:prstGeom prst="rect">
            <a:avLst/>
          </a:prstGeom>
        </p:spPr>
      </p:pic>
      <p:sp>
        <p:nvSpPr>
          <p:cNvPr id="9" name="Text 6"/>
          <p:cNvSpPr/>
          <p:nvPr/>
        </p:nvSpPr>
        <p:spPr>
          <a:xfrm>
            <a:off x="1143000" y="1792224"/>
            <a:ext cx="2651760" cy="365760"/>
          </a:xfrm>
          <a:prstGeom prst="rect">
            <a:avLst/>
          </a:prstGeom>
          <a:noFill/>
          <a:ln/>
        </p:spPr>
        <p:txBody>
          <a:bodyPr wrap="square" lIns="0" tIns="0" rIns="0" bIns="0" rtlCol="0" anchor="ctr"/>
          <a:lstStyle/>
          <a:p>
            <a:pPr indent="0" marL="0">
              <a:buNone/>
            </a:pPr>
            <a:r>
              <a:rPr lang="en-US" sz="1400" b="1" dirty="0">
                <a:solidFill>
                  <a:srgbClr val="12294D"/>
                </a:solidFill>
                <a:latin typeface="Arial" pitchFamily="34" charset="0"/>
                <a:ea typeface="Arial" pitchFamily="34" charset="-122"/>
                <a:cs typeface="Arial" pitchFamily="34" charset="-120"/>
              </a:rPr>
              <a:t>WHERE WE'VE BEEN</a:t>
            </a:r>
            <a:endParaRPr lang="en-US" sz="1400" dirty="0"/>
          </a:p>
        </p:txBody>
      </p:sp>
      <p:sp>
        <p:nvSpPr>
          <p:cNvPr id="10" name="Shape 7"/>
          <p:cNvSpPr/>
          <p:nvPr/>
        </p:nvSpPr>
        <p:spPr>
          <a:xfrm>
            <a:off x="685800" y="2340864"/>
            <a:ext cx="2926080" cy="640080"/>
          </a:xfrm>
          <a:prstGeom prst="roundRect">
            <a:avLst>
              <a:gd name="adj" fmla="val 10000"/>
            </a:avLst>
          </a:prstGeom>
          <a:solidFill>
            <a:srgbClr val="FFFFFF"/>
          </a:solidFill>
          <a:ln w="12700">
            <a:solidFill>
              <a:srgbClr val="D9E2EE"/>
            </a:solidFill>
            <a:prstDash val="solid"/>
          </a:ln>
        </p:spPr>
      </p:sp>
      <p:sp>
        <p:nvSpPr>
          <p:cNvPr id="11" name="Text 8"/>
          <p:cNvSpPr/>
          <p:nvPr/>
        </p:nvSpPr>
        <p:spPr>
          <a:xfrm>
            <a:off x="822960" y="2340864"/>
            <a:ext cx="2651760" cy="640080"/>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KS2: stories set in other worlds</a:t>
            </a:r>
            <a:endParaRPr lang="en-US" sz="1400" dirty="0"/>
          </a:p>
        </p:txBody>
      </p:sp>
      <p:sp>
        <p:nvSpPr>
          <p:cNvPr id="12" name="Shape 9"/>
          <p:cNvSpPr/>
          <p:nvPr/>
        </p:nvSpPr>
        <p:spPr>
          <a:xfrm>
            <a:off x="685800" y="3127248"/>
            <a:ext cx="2926080" cy="640080"/>
          </a:xfrm>
          <a:prstGeom prst="roundRect">
            <a:avLst>
              <a:gd name="adj" fmla="val 10000"/>
            </a:avLst>
          </a:prstGeom>
          <a:solidFill>
            <a:srgbClr val="FFFFFF"/>
          </a:solidFill>
          <a:ln w="12700">
            <a:solidFill>
              <a:srgbClr val="D9E2EE"/>
            </a:solidFill>
            <a:prstDash val="solid"/>
          </a:ln>
        </p:spPr>
      </p:sp>
      <p:sp>
        <p:nvSpPr>
          <p:cNvPr id="13" name="Text 10"/>
          <p:cNvSpPr/>
          <p:nvPr/>
        </p:nvSpPr>
        <p:spPr>
          <a:xfrm>
            <a:off x="822960" y="3127248"/>
            <a:ext cx="2651760" cy="640080"/>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HT2: The Odyssey — the hero's journey</a:t>
            </a:r>
            <a:endParaRPr lang="en-US" sz="1400" dirty="0"/>
          </a:p>
        </p:txBody>
      </p:sp>
      <p:sp>
        <p:nvSpPr>
          <p:cNvPr id="14" name="Shape 11"/>
          <p:cNvSpPr/>
          <p:nvPr/>
        </p:nvSpPr>
        <p:spPr>
          <a:xfrm>
            <a:off x="685800" y="3913632"/>
            <a:ext cx="2926080" cy="640080"/>
          </a:xfrm>
          <a:prstGeom prst="roundRect">
            <a:avLst>
              <a:gd name="adj" fmla="val 10000"/>
            </a:avLst>
          </a:prstGeom>
          <a:solidFill>
            <a:srgbClr val="FFFFFF"/>
          </a:solidFill>
          <a:ln w="12700">
            <a:solidFill>
              <a:srgbClr val="D9E2EE"/>
            </a:solidFill>
            <a:prstDash val="solid"/>
          </a:ln>
        </p:spPr>
      </p:sp>
      <p:sp>
        <p:nvSpPr>
          <p:cNvPr id="15" name="Text 12"/>
          <p:cNvSpPr/>
          <p:nvPr/>
        </p:nvSpPr>
        <p:spPr>
          <a:xfrm>
            <a:off x="822960" y="3913632"/>
            <a:ext cx="2651760" cy="640080"/>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HT4: The Red-Headed League — clues</a:t>
            </a:r>
            <a:endParaRPr lang="en-US" sz="1400" dirty="0"/>
          </a:p>
        </p:txBody>
      </p:sp>
      <p:sp>
        <p:nvSpPr>
          <p:cNvPr id="16" name="Shape 13"/>
          <p:cNvSpPr/>
          <p:nvPr/>
        </p:nvSpPr>
        <p:spPr>
          <a:xfrm>
            <a:off x="685800" y="4700016"/>
            <a:ext cx="2926080" cy="640080"/>
          </a:xfrm>
          <a:prstGeom prst="roundRect">
            <a:avLst>
              <a:gd name="adj" fmla="val 10000"/>
            </a:avLst>
          </a:prstGeom>
          <a:solidFill>
            <a:srgbClr val="FFFFFF"/>
          </a:solidFill>
          <a:ln w="12700">
            <a:solidFill>
              <a:srgbClr val="D9E2EE"/>
            </a:solidFill>
            <a:prstDash val="solid"/>
          </a:ln>
        </p:spPr>
      </p:sp>
      <p:sp>
        <p:nvSpPr>
          <p:cNvPr id="17" name="Text 14"/>
          <p:cNvSpPr/>
          <p:nvPr/>
        </p:nvSpPr>
        <p:spPr>
          <a:xfrm>
            <a:off x="822960" y="4700016"/>
            <a:ext cx="2651760" cy="640080"/>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HT5: travel writing — a real journey</a:t>
            </a:r>
            <a:endParaRPr lang="en-US" sz="1400" dirty="0"/>
          </a:p>
        </p:txBody>
      </p:sp>
      <p:sp>
        <p:nvSpPr>
          <p:cNvPr id="18" name="Text 15"/>
          <p:cNvSpPr/>
          <p:nvPr/>
        </p:nvSpPr>
        <p:spPr>
          <a:xfrm>
            <a:off x="4114800" y="1737360"/>
            <a:ext cx="3931920" cy="365760"/>
          </a:xfrm>
          <a:prstGeom prst="rect">
            <a:avLst/>
          </a:prstGeom>
          <a:noFill/>
          <a:ln/>
        </p:spPr>
        <p:txBody>
          <a:bodyPr wrap="square" lIns="0" tIns="0" rIns="0" bIns="0" rtlCol="0" anchor="ctr"/>
          <a:lstStyle/>
          <a:p>
            <a:pPr indent="0" marL="0">
              <a:buNone/>
            </a:pPr>
            <a:r>
              <a:rPr lang="en-US" sz="1400" b="1" dirty="0">
                <a:solidFill>
                  <a:srgbClr val="80ADC4"/>
                </a:solidFill>
                <a:latin typeface="Arial" pitchFamily="34" charset="0"/>
                <a:ea typeface="Arial" pitchFamily="34" charset="-122"/>
                <a:cs typeface="Arial" pitchFamily="34" charset="-120"/>
              </a:rPr>
              <a:t>THIS UNIT, LESSON BY LESSON</a:t>
            </a:r>
            <a:endParaRPr lang="en-US" sz="1400" dirty="0"/>
          </a:p>
        </p:txBody>
      </p:sp>
      <p:sp>
        <p:nvSpPr>
          <p:cNvPr id="19" name="Shape 16"/>
          <p:cNvSpPr/>
          <p:nvPr/>
        </p:nvSpPr>
        <p:spPr>
          <a:xfrm>
            <a:off x="4114800" y="2194560"/>
            <a:ext cx="3931920" cy="420624"/>
          </a:xfrm>
          <a:prstGeom prst="roundRect">
            <a:avLst>
              <a:gd name="adj" fmla="val 26087"/>
            </a:avLst>
          </a:prstGeom>
          <a:solidFill>
            <a:srgbClr val="FFFFFF"/>
          </a:solidFill>
          <a:ln w="12700">
            <a:solidFill>
              <a:srgbClr val="D9E2EE"/>
            </a:solidFill>
            <a:prstDash val="solid"/>
          </a:ln>
        </p:spPr>
      </p:sp>
      <p:sp>
        <p:nvSpPr>
          <p:cNvPr id="20" name="Text 17"/>
          <p:cNvSpPr/>
          <p:nvPr/>
        </p:nvSpPr>
        <p:spPr>
          <a:xfrm>
            <a:off x="4242816" y="2249424"/>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1</a:t>
            </a:r>
            <a:endParaRPr lang="en-US" sz="1100" dirty="0"/>
          </a:p>
        </p:txBody>
      </p:sp>
      <p:sp>
        <p:nvSpPr>
          <p:cNvPr id="21" name="Text 18"/>
          <p:cNvSpPr/>
          <p:nvPr/>
        </p:nvSpPr>
        <p:spPr>
          <a:xfrm>
            <a:off x="4736592" y="2194560"/>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Binti and science fiction</a:t>
            </a:r>
            <a:endParaRPr lang="en-US" sz="1400" dirty="0"/>
          </a:p>
        </p:txBody>
      </p:sp>
      <p:sp>
        <p:nvSpPr>
          <p:cNvPr id="22" name="Shape 19"/>
          <p:cNvSpPr/>
          <p:nvPr/>
        </p:nvSpPr>
        <p:spPr>
          <a:xfrm>
            <a:off x="4114800" y="2761488"/>
            <a:ext cx="3931920" cy="420624"/>
          </a:xfrm>
          <a:prstGeom prst="roundRect">
            <a:avLst>
              <a:gd name="adj" fmla="val 26087"/>
            </a:avLst>
          </a:prstGeom>
          <a:solidFill>
            <a:srgbClr val="FFFFFF"/>
          </a:solidFill>
          <a:ln w="12700">
            <a:solidFill>
              <a:srgbClr val="D9E2EE"/>
            </a:solidFill>
            <a:prstDash val="solid"/>
          </a:ln>
        </p:spPr>
      </p:sp>
      <p:sp>
        <p:nvSpPr>
          <p:cNvPr id="23" name="Text 20"/>
          <p:cNvSpPr/>
          <p:nvPr/>
        </p:nvSpPr>
        <p:spPr>
          <a:xfrm>
            <a:off x="4242816" y="2816352"/>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2</a:t>
            </a:r>
            <a:endParaRPr lang="en-US" sz="1100" dirty="0"/>
          </a:p>
        </p:txBody>
      </p:sp>
      <p:sp>
        <p:nvSpPr>
          <p:cNvPr id="24" name="Text 21"/>
          <p:cNvSpPr/>
          <p:nvPr/>
        </p:nvSpPr>
        <p:spPr>
          <a:xfrm>
            <a:off x="4736592" y="2761488"/>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Character, heritage, identity</a:t>
            </a:r>
            <a:endParaRPr lang="en-US" sz="1400" dirty="0"/>
          </a:p>
        </p:txBody>
      </p:sp>
      <p:sp>
        <p:nvSpPr>
          <p:cNvPr id="25" name="Shape 22"/>
          <p:cNvSpPr/>
          <p:nvPr/>
        </p:nvSpPr>
        <p:spPr>
          <a:xfrm>
            <a:off x="4114800" y="3328416"/>
            <a:ext cx="3931920" cy="420624"/>
          </a:xfrm>
          <a:prstGeom prst="roundRect">
            <a:avLst>
              <a:gd name="adj" fmla="val 26087"/>
            </a:avLst>
          </a:prstGeom>
          <a:solidFill>
            <a:srgbClr val="12294D"/>
          </a:solidFill>
          <a:ln w="12700">
            <a:solidFill>
              <a:srgbClr val="12294D"/>
            </a:solidFill>
            <a:prstDash val="solid"/>
          </a:ln>
        </p:spPr>
      </p:sp>
      <p:sp>
        <p:nvSpPr>
          <p:cNvPr id="26" name="Text 23"/>
          <p:cNvSpPr/>
          <p:nvPr/>
        </p:nvSpPr>
        <p:spPr>
          <a:xfrm>
            <a:off x="4242816" y="3383280"/>
            <a:ext cx="310896" cy="310896"/>
          </a:xfrm>
          <a:prstGeom prst="ellipse">
            <a:avLst/>
          </a:prstGeom>
          <a:solidFill>
            <a:srgbClr val="FFC93C"/>
          </a:solidFill>
          <a:ln>
            <a:solidFill>
              <a:srgbClr val="FFC93C"/>
            </a:solidFill>
          </a:ln>
        </p:spPr>
        <p:txBody>
          <a:bodyPr wrap="square" lIns="0" tIns="0" rIns="0" bIns="0" rtlCol="0" anchor="ctr"/>
          <a:lstStyle/>
          <a:p>
            <a:pPr algn="ctr" indent="0" marL="0">
              <a:buNone/>
            </a:pPr>
            <a:r>
              <a:rPr lang="en-US" sz="1100" b="1" dirty="0">
                <a:solidFill>
                  <a:srgbClr val="12294D"/>
                </a:solidFill>
                <a:latin typeface="Arial" pitchFamily="34" charset="0"/>
                <a:ea typeface="Arial" pitchFamily="34" charset="-122"/>
                <a:cs typeface="Arial" pitchFamily="34" charset="-120"/>
              </a:rPr>
              <a:t>3</a:t>
            </a:r>
            <a:endParaRPr lang="en-US" sz="1100" dirty="0"/>
          </a:p>
        </p:txBody>
      </p:sp>
      <p:sp>
        <p:nvSpPr>
          <p:cNvPr id="27" name="Text 24"/>
          <p:cNvSpPr/>
          <p:nvPr/>
        </p:nvSpPr>
        <p:spPr>
          <a:xfrm>
            <a:off x="4736592" y="3328416"/>
            <a:ext cx="3200400" cy="420624"/>
          </a:xfrm>
          <a:prstGeom prst="rect">
            <a:avLst/>
          </a:prstGeom>
          <a:noFill/>
          <a:ln/>
        </p:spPr>
        <p:txBody>
          <a:bodyPr wrap="square" lIns="12700" tIns="45720" rIns="45720" bIns="12700" rtlCol="0" anchor="ctr"/>
          <a:lstStyle/>
          <a:p>
            <a:pPr algn="l" indent="0" marL="0">
              <a:buNone/>
            </a:pPr>
            <a:r>
              <a:rPr lang="en-US" sz="1400" b="1" dirty="0">
                <a:solidFill>
                  <a:srgbClr val="FFFFFF"/>
                </a:solidFill>
                <a:latin typeface="Arial" pitchFamily="34" charset="0"/>
                <a:ea typeface="Arial" pitchFamily="34" charset="-122"/>
                <a:cs typeface="Arial" pitchFamily="34" charset="-120"/>
              </a:rPr>
              <a:t>Themes: journey and belonging</a:t>
            </a:r>
            <a:endParaRPr lang="en-US" sz="1400" dirty="0"/>
          </a:p>
        </p:txBody>
      </p:sp>
      <p:sp>
        <p:nvSpPr>
          <p:cNvPr id="28" name="Shape 25"/>
          <p:cNvSpPr/>
          <p:nvPr/>
        </p:nvSpPr>
        <p:spPr>
          <a:xfrm>
            <a:off x="4114800" y="3895344"/>
            <a:ext cx="3931920" cy="420624"/>
          </a:xfrm>
          <a:prstGeom prst="roundRect">
            <a:avLst>
              <a:gd name="adj" fmla="val 26087"/>
            </a:avLst>
          </a:prstGeom>
          <a:solidFill>
            <a:srgbClr val="FFFFFF"/>
          </a:solidFill>
          <a:ln w="12700">
            <a:solidFill>
              <a:srgbClr val="D9E2EE"/>
            </a:solidFill>
            <a:prstDash val="solid"/>
          </a:ln>
        </p:spPr>
      </p:sp>
      <p:sp>
        <p:nvSpPr>
          <p:cNvPr id="29" name="Text 26"/>
          <p:cNvSpPr/>
          <p:nvPr/>
        </p:nvSpPr>
        <p:spPr>
          <a:xfrm>
            <a:off x="4242816" y="3950208"/>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4</a:t>
            </a:r>
            <a:endParaRPr lang="en-US" sz="1100" dirty="0"/>
          </a:p>
        </p:txBody>
      </p:sp>
      <p:sp>
        <p:nvSpPr>
          <p:cNvPr id="30" name="Text 27"/>
          <p:cNvSpPr/>
          <p:nvPr/>
        </p:nvSpPr>
        <p:spPr>
          <a:xfrm>
            <a:off x="4736592" y="3895344"/>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End-of-year assessment</a:t>
            </a:r>
            <a:endParaRPr lang="en-US" sz="1400" dirty="0"/>
          </a:p>
        </p:txBody>
      </p:sp>
      <p:sp>
        <p:nvSpPr>
          <p:cNvPr id="31" name="Shape 28"/>
          <p:cNvSpPr/>
          <p:nvPr/>
        </p:nvSpPr>
        <p:spPr>
          <a:xfrm>
            <a:off x="4114800" y="4462272"/>
            <a:ext cx="3931920" cy="420624"/>
          </a:xfrm>
          <a:prstGeom prst="roundRect">
            <a:avLst>
              <a:gd name="adj" fmla="val 26087"/>
            </a:avLst>
          </a:prstGeom>
          <a:solidFill>
            <a:srgbClr val="FFFFFF"/>
          </a:solidFill>
          <a:ln w="12700">
            <a:solidFill>
              <a:srgbClr val="D9E2EE"/>
            </a:solidFill>
            <a:prstDash val="solid"/>
          </a:ln>
        </p:spPr>
      </p:sp>
      <p:sp>
        <p:nvSpPr>
          <p:cNvPr id="32" name="Text 29"/>
          <p:cNvSpPr/>
          <p:nvPr/>
        </p:nvSpPr>
        <p:spPr>
          <a:xfrm>
            <a:off x="4242816" y="4517136"/>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5</a:t>
            </a:r>
            <a:endParaRPr lang="en-US" sz="1100" dirty="0"/>
          </a:p>
        </p:txBody>
      </p:sp>
      <p:sp>
        <p:nvSpPr>
          <p:cNvPr id="33" name="Text 30"/>
          <p:cNvSpPr/>
          <p:nvPr/>
        </p:nvSpPr>
        <p:spPr>
          <a:xfrm>
            <a:off x="4736592" y="4462272"/>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EOY review and Year 8 preview</a:t>
            </a:r>
            <a:endParaRPr lang="en-US" sz="1400" dirty="0"/>
          </a:p>
        </p:txBody>
      </p:sp>
      <p:sp>
        <p:nvSpPr>
          <p:cNvPr id="34" name="Shape 31"/>
          <p:cNvSpPr/>
          <p:nvPr/>
        </p:nvSpPr>
        <p:spPr>
          <a:xfrm>
            <a:off x="4114800" y="5029200"/>
            <a:ext cx="3931920" cy="420624"/>
          </a:xfrm>
          <a:prstGeom prst="roundRect">
            <a:avLst>
              <a:gd name="adj" fmla="val 26087"/>
            </a:avLst>
          </a:prstGeom>
          <a:solidFill>
            <a:srgbClr val="FFFFFF"/>
          </a:solidFill>
          <a:ln w="12700">
            <a:solidFill>
              <a:srgbClr val="D9E2EE"/>
            </a:solidFill>
            <a:prstDash val="solid"/>
          </a:ln>
        </p:spPr>
      </p:sp>
      <p:sp>
        <p:nvSpPr>
          <p:cNvPr id="35" name="Text 32"/>
          <p:cNvSpPr/>
          <p:nvPr/>
        </p:nvSpPr>
        <p:spPr>
          <a:xfrm>
            <a:off x="4242816" y="5084064"/>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6</a:t>
            </a:r>
            <a:endParaRPr lang="en-US" sz="1100" dirty="0"/>
          </a:p>
        </p:txBody>
      </p:sp>
      <p:sp>
        <p:nvSpPr>
          <p:cNvPr id="36" name="Text 33"/>
          <p:cNvSpPr/>
          <p:nvPr/>
        </p:nvSpPr>
        <p:spPr>
          <a:xfrm>
            <a:off x="4736592" y="5029200"/>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Scholarship reading response</a:t>
            </a:r>
            <a:endParaRPr lang="en-US" sz="1400" dirty="0"/>
          </a:p>
        </p:txBody>
      </p:sp>
      <p:sp>
        <p:nvSpPr>
          <p:cNvPr id="37" name="Shape 34"/>
          <p:cNvSpPr/>
          <p:nvPr/>
        </p:nvSpPr>
        <p:spPr>
          <a:xfrm>
            <a:off x="4114800" y="5596128"/>
            <a:ext cx="3931920" cy="420624"/>
          </a:xfrm>
          <a:prstGeom prst="roundRect">
            <a:avLst>
              <a:gd name="adj" fmla="val 26087"/>
            </a:avLst>
          </a:prstGeom>
          <a:solidFill>
            <a:srgbClr val="FFFFFF"/>
          </a:solidFill>
          <a:ln w="12700">
            <a:solidFill>
              <a:srgbClr val="D9E2EE"/>
            </a:solidFill>
            <a:prstDash val="solid"/>
          </a:ln>
        </p:spPr>
      </p:sp>
      <p:sp>
        <p:nvSpPr>
          <p:cNvPr id="38" name="Text 35"/>
          <p:cNvSpPr/>
          <p:nvPr/>
        </p:nvSpPr>
        <p:spPr>
          <a:xfrm>
            <a:off x="4242816" y="5650992"/>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7</a:t>
            </a:r>
            <a:endParaRPr lang="en-US" sz="1100" dirty="0"/>
          </a:p>
        </p:txBody>
      </p:sp>
      <p:sp>
        <p:nvSpPr>
          <p:cNvPr id="39" name="Text 36"/>
          <p:cNvSpPr/>
          <p:nvPr/>
        </p:nvSpPr>
        <p:spPr>
          <a:xfrm>
            <a:off x="4736592" y="5596128"/>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Transition to Year 8</a:t>
            </a:r>
            <a:endParaRPr lang="en-US" sz="1400" dirty="0"/>
          </a:p>
        </p:txBody>
      </p:sp>
      <p:sp>
        <p:nvSpPr>
          <p:cNvPr id="40" name="Shape 37"/>
          <p:cNvSpPr/>
          <p:nvPr/>
        </p:nvSpPr>
        <p:spPr>
          <a:xfrm>
            <a:off x="8321040" y="1600200"/>
            <a:ext cx="3383280" cy="4617720"/>
          </a:xfrm>
          <a:prstGeom prst="roundRect">
            <a:avLst>
              <a:gd name="adj" fmla="val 2162"/>
            </a:avLst>
          </a:prstGeom>
          <a:solidFill>
            <a:srgbClr val="F4F6FA"/>
          </a:solidFill>
          <a:ln w="12700">
            <a:solidFill>
              <a:srgbClr val="F4F6FA"/>
            </a:solidFill>
            <a:prstDash val="solid"/>
          </a:ln>
        </p:spPr>
      </p:sp>
      <p:pic>
        <p:nvPicPr>
          <p:cNvPr id="41" name="Image 1" descr="/home/claude/english/kit/decks/_icons/flag-12294D.png">    </p:cNvPr>
          <p:cNvPicPr>
            <a:picLocks noChangeAspect="1"/>
          </p:cNvPicPr>
          <p:nvPr/>
        </p:nvPicPr>
        <p:blipFill>
          <a:blip r:embed="rId2"/>
          <a:stretch>
            <a:fillRect/>
          </a:stretch>
        </p:blipFill>
        <p:spPr>
          <a:xfrm>
            <a:off x="8549640" y="1792224"/>
            <a:ext cx="365760" cy="365760"/>
          </a:xfrm>
          <a:prstGeom prst="rect">
            <a:avLst/>
          </a:prstGeom>
        </p:spPr>
      </p:pic>
      <p:sp>
        <p:nvSpPr>
          <p:cNvPr id="42" name="Text 38"/>
          <p:cNvSpPr/>
          <p:nvPr/>
        </p:nvSpPr>
        <p:spPr>
          <a:xfrm>
            <a:off x="9006840" y="1792224"/>
            <a:ext cx="2651760" cy="365760"/>
          </a:xfrm>
          <a:prstGeom prst="rect">
            <a:avLst/>
          </a:prstGeom>
          <a:noFill/>
          <a:ln/>
        </p:spPr>
        <p:txBody>
          <a:bodyPr wrap="square" lIns="0" tIns="0" rIns="0" bIns="0" rtlCol="0" anchor="ctr"/>
          <a:lstStyle/>
          <a:p>
            <a:pPr indent="0" marL="0">
              <a:buNone/>
            </a:pPr>
            <a:r>
              <a:rPr lang="en-US" sz="1400" b="1" dirty="0">
                <a:solidFill>
                  <a:srgbClr val="12294D"/>
                </a:solidFill>
                <a:latin typeface="Arial" pitchFamily="34" charset="0"/>
                <a:ea typeface="Arial" pitchFamily="34" charset="-122"/>
                <a:cs typeface="Arial" pitchFamily="34" charset="-120"/>
              </a:rPr>
              <a:t>WHERE WE'RE GOING</a:t>
            </a:r>
            <a:endParaRPr lang="en-US" sz="1400" dirty="0"/>
          </a:p>
        </p:txBody>
      </p:sp>
      <p:sp>
        <p:nvSpPr>
          <p:cNvPr id="43" name="Shape 39"/>
          <p:cNvSpPr/>
          <p:nvPr/>
        </p:nvSpPr>
        <p:spPr>
          <a:xfrm>
            <a:off x="8549640" y="2340864"/>
            <a:ext cx="2926080" cy="749808"/>
          </a:xfrm>
          <a:prstGeom prst="roundRect">
            <a:avLst>
              <a:gd name="adj" fmla="val 7317"/>
            </a:avLst>
          </a:prstGeom>
          <a:solidFill>
            <a:srgbClr val="FFFFFF"/>
          </a:solidFill>
          <a:ln w="12700">
            <a:solidFill>
              <a:srgbClr val="D9E2EE"/>
            </a:solidFill>
            <a:prstDash val="solid"/>
          </a:ln>
        </p:spPr>
      </p:sp>
      <p:sp>
        <p:nvSpPr>
          <p:cNvPr id="44" name="Text 40"/>
          <p:cNvSpPr/>
          <p:nvPr/>
        </p:nvSpPr>
        <p:spPr>
          <a:xfrm>
            <a:off x="8686800" y="2340864"/>
            <a:ext cx="2651760" cy="749808"/>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Year 8: the big idea is Diversity</a:t>
            </a:r>
            <a:endParaRPr lang="en-US" sz="1400" dirty="0"/>
          </a:p>
        </p:txBody>
      </p:sp>
      <p:sp>
        <p:nvSpPr>
          <p:cNvPr id="45" name="Shape 41"/>
          <p:cNvSpPr/>
          <p:nvPr/>
        </p:nvSpPr>
        <p:spPr>
          <a:xfrm>
            <a:off x="8549640" y="3236976"/>
            <a:ext cx="2926080" cy="749808"/>
          </a:xfrm>
          <a:prstGeom prst="roundRect">
            <a:avLst>
              <a:gd name="adj" fmla="val 7317"/>
            </a:avLst>
          </a:prstGeom>
          <a:solidFill>
            <a:srgbClr val="FFFFFF"/>
          </a:solidFill>
          <a:ln w="12700">
            <a:solidFill>
              <a:srgbClr val="D9E2EE"/>
            </a:solidFill>
            <a:prstDash val="solid"/>
          </a:ln>
        </p:spPr>
      </p:sp>
      <p:sp>
        <p:nvSpPr>
          <p:cNvPr id="46" name="Text 42"/>
          <p:cNvSpPr/>
          <p:nvPr/>
        </p:nvSpPr>
        <p:spPr>
          <a:xfrm>
            <a:off x="8686800" y="3236976"/>
            <a:ext cx="2651760" cy="749808"/>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Year 8: whole novels, longer answers</a:t>
            </a:r>
            <a:endParaRPr lang="en-US" sz="1400" dirty="0"/>
          </a:p>
        </p:txBody>
      </p:sp>
      <p:sp>
        <p:nvSpPr>
          <p:cNvPr id="47" name="Shape 43"/>
          <p:cNvSpPr/>
          <p:nvPr/>
        </p:nvSpPr>
        <p:spPr>
          <a:xfrm>
            <a:off x="8549640" y="4133088"/>
            <a:ext cx="2926080" cy="749808"/>
          </a:xfrm>
          <a:prstGeom prst="roundRect">
            <a:avLst>
              <a:gd name="adj" fmla="val 7317"/>
            </a:avLst>
          </a:prstGeom>
          <a:solidFill>
            <a:srgbClr val="FFFFFF"/>
          </a:solidFill>
          <a:ln w="12700">
            <a:solidFill>
              <a:srgbClr val="D9E2EE"/>
            </a:solidFill>
            <a:prstDash val="solid"/>
          </a:ln>
        </p:spPr>
      </p:sp>
      <p:sp>
        <p:nvSpPr>
          <p:cNvPr id="48" name="Text 44"/>
          <p:cNvSpPr/>
          <p:nvPr/>
        </p:nvSpPr>
        <p:spPr>
          <a:xfrm>
            <a:off x="8686800" y="4133088"/>
            <a:ext cx="2651760" cy="749808"/>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GCSE: AO1 evidence · AO2 method</a:t>
            </a:r>
            <a:endParaRPr lang="en-US" sz="1400" dirty="0"/>
          </a:p>
        </p:txBody>
      </p:sp>
      <p:sp>
        <p:nvSpPr>
          <p:cNvPr id="49" name="Shape 45"/>
          <p:cNvSpPr/>
          <p:nvPr/>
        </p:nvSpPr>
        <p:spPr>
          <a:xfrm>
            <a:off x="8549640" y="5120640"/>
            <a:ext cx="2926080" cy="960120"/>
          </a:xfrm>
          <a:prstGeom prst="roundRect">
            <a:avLst>
              <a:gd name="adj" fmla="val 5714"/>
            </a:avLst>
          </a:prstGeom>
          <a:solidFill>
            <a:srgbClr val="12294D"/>
          </a:solidFill>
          <a:ln w="12700">
            <a:solidFill>
              <a:srgbClr val="12294D"/>
            </a:solidFill>
            <a:prstDash val="solid"/>
          </a:ln>
        </p:spPr>
      </p:sp>
      <p:sp>
        <p:nvSpPr>
          <p:cNvPr id="50" name="Text 46"/>
          <p:cNvSpPr/>
          <p:nvPr/>
        </p:nvSpPr>
        <p:spPr>
          <a:xfrm>
            <a:off x="8732520" y="5120640"/>
            <a:ext cx="2606040" cy="960120"/>
          </a:xfrm>
          <a:prstGeom prst="rect">
            <a:avLst/>
          </a:prstGeom>
          <a:noFill/>
          <a:ln/>
        </p:spPr>
        <p:txBody>
          <a:bodyPr wrap="square" lIns="45720" tIns="91440" rIns="91440" bIns="45720" rtlCol="0" anchor="ctr"/>
          <a:lstStyle/>
          <a:p>
            <a:pPr algn="l" indent="0" marL="0">
              <a:buNone/>
            </a:pPr>
            <a:r>
              <a:rPr lang="en-US" sz="1400" b="1" dirty="0">
                <a:solidFill>
                  <a:srgbClr val="FFFFFF"/>
                </a:solidFill>
                <a:latin typeface="Arial" pitchFamily="34" charset="0"/>
                <a:ea typeface="Arial" pitchFamily="34" charset="-122"/>
                <a:cs typeface="Arial" pitchFamily="34" charset="-120"/>
              </a:rPr>
              <a:t>Every lesson answers one BIG QUESTION. Every question builds the next.</a:t>
            </a:r>
            <a:endParaRPr lang="en-US" sz="1400" dirty="0"/>
          </a:p>
        </p:txBody>
      </p:sp>
      <p:sp>
        <p:nvSpPr>
          <p:cNvPr id="51" name="Text 47"/>
          <p:cNvSpPr/>
          <p:nvPr/>
        </p:nvSpPr>
        <p:spPr>
          <a:xfrm>
            <a:off x="457200" y="6446520"/>
            <a:ext cx="8229600" cy="274320"/>
          </a:xfrm>
          <a:prstGeom prst="rect">
            <a:avLst/>
          </a:prstGeom>
          <a:noFill/>
          <a:ln/>
        </p:spPr>
        <p:txBody>
          <a:bodyPr wrap="square" lIns="0" tIns="0" rIns="0" bIns="0" rtlCol="0" anchor="ctr"/>
          <a:lstStyle/>
          <a:p>
            <a:pPr indent="0" marL="0">
              <a:buNone/>
            </a:pPr>
            <a:r>
              <a:rPr lang="en-US" sz="1000" dirty="0">
                <a:solidFill>
                  <a:srgbClr val="9AA6B5"/>
                </a:solidFill>
                <a:latin typeface="Arial" pitchFamily="34" charset="0"/>
                <a:ea typeface="Arial" pitchFamily="34" charset="-122"/>
                <a:cs typeface="Arial" pitchFamily="34" charset="-120"/>
              </a:rPr>
              <a:t>Harlington School  ·  Modern Novel: Binti  ·  Themes: journey and belonging</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294D"/>
        </a:solidFill>
      </p:bgPr>
    </p:bg>
    <p:spTree>
      <p:nvGrpSpPr>
        <p:cNvPr id="1" name=""/>
        <p:cNvGrpSpPr/>
        <p:nvPr/>
      </p:nvGrpSpPr>
      <p:grpSpPr>
        <a:xfrm>
          <a:off x="0" y="0"/>
          <a:ext cx="0" cy="0"/>
          <a:chOff x="0" y="0"/>
          <a:chExt cx="0" cy="0"/>
        </a:xfrm>
      </p:grpSpPr>
      <p:sp>
        <p:nvSpPr>
          <p:cNvPr id="2" name="Text 0"/>
          <p:cNvSpPr/>
          <p:nvPr/>
        </p:nvSpPr>
        <p:spPr>
          <a:xfrm>
            <a:off x="548640" y="502920"/>
            <a:ext cx="10972800" cy="365760"/>
          </a:xfrm>
          <a:prstGeom prst="rect">
            <a:avLst/>
          </a:prstGeom>
          <a:noFill/>
          <a:ln/>
        </p:spPr>
        <p:txBody>
          <a:bodyPr wrap="square" lIns="0" tIns="0" rIns="0" bIns="0" rtlCol="0" anchor="ctr"/>
          <a:lstStyle/>
          <a:p>
            <a:pPr indent="0" marL="0">
              <a:buNone/>
            </a:pPr>
            <a:r>
              <a:rPr lang="en-US" sz="1400" b="1" dirty="0">
                <a:solidFill>
                  <a:srgbClr val="FFC93C"/>
                </a:solidFill>
                <a:latin typeface="Arial" pitchFamily="34" charset="0"/>
                <a:ea typeface="Arial" pitchFamily="34" charset="-122"/>
                <a:cs typeface="Arial" pitchFamily="34" charset="-120"/>
              </a:rPr>
              <a:t>LESSON 3 · THEMES: JOURNEY AND BELONGING</a:t>
            </a:r>
            <a:endParaRPr lang="en-US" sz="1400" dirty="0"/>
          </a:p>
        </p:txBody>
      </p:sp>
      <p:sp>
        <p:nvSpPr>
          <p:cNvPr id="3" name="Text 1"/>
          <p:cNvSpPr/>
          <p:nvPr/>
        </p:nvSpPr>
        <p:spPr>
          <a:xfrm>
            <a:off x="548640" y="1005840"/>
            <a:ext cx="10515600" cy="82296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Today you will…</a:t>
            </a:r>
            <a:endParaRPr lang="en-US" sz="3800" dirty="0"/>
          </a:p>
        </p:txBody>
      </p:sp>
      <p:sp>
        <p:nvSpPr>
          <p:cNvPr id="4" name="Text 2"/>
          <p:cNvSpPr/>
          <p:nvPr/>
        </p:nvSpPr>
        <p:spPr>
          <a:xfrm>
            <a:off x="548640" y="1874520"/>
            <a:ext cx="10607040" cy="457200"/>
          </a:xfrm>
          <a:prstGeom prst="rect">
            <a:avLst/>
          </a:prstGeom>
          <a:noFill/>
          <a:ln/>
        </p:spPr>
        <p:txBody>
          <a:bodyPr wrap="square" lIns="0" tIns="0" rIns="0" bIns="0" rtlCol="0" anchor="ctr"/>
          <a:lstStyle/>
          <a:p>
            <a:pPr algn="l" indent="0" marL="0">
              <a:buNone/>
            </a:pPr>
            <a:r>
              <a:rPr lang="en-US" sz="1600" i="1" dirty="0">
                <a:solidFill>
                  <a:srgbClr val="8FA6C4"/>
                </a:solidFill>
                <a:latin typeface="Arial" pitchFamily="34" charset="0"/>
                <a:ea typeface="Arial" pitchFamily="34" charset="-122"/>
                <a:cs typeface="Arial" pitchFamily="34" charset="-120"/>
              </a:rPr>
              <a:t>Our aims climb Bloom's taxonomy — and you will see which step every task is on, all lesson.</a:t>
            </a:r>
            <a:endParaRPr lang="en-US" sz="1600" dirty="0"/>
          </a:p>
        </p:txBody>
      </p:sp>
      <p:sp>
        <p:nvSpPr>
          <p:cNvPr id="5" name="Text 3"/>
          <p:cNvSpPr/>
          <p:nvPr/>
        </p:nvSpPr>
        <p:spPr>
          <a:xfrm>
            <a:off x="548640" y="2606040"/>
            <a:ext cx="2377440" cy="868680"/>
          </a:xfrm>
          <a:prstGeom prst="roundRect">
            <a:avLst>
              <a:gd name="adj" fmla="val 10526"/>
            </a:avLst>
          </a:prstGeom>
          <a:solidFill>
            <a:srgbClr val="00A08A"/>
          </a:solidFill>
          <a:ln>
            <a:solidFill>
              <a:srgbClr val="00A08A"/>
            </a:solid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UNDERSTAND</a:t>
            </a:r>
            <a:endParaRPr lang="en-US" sz="1800" dirty="0"/>
          </a:p>
        </p:txBody>
      </p:sp>
      <p:sp>
        <p:nvSpPr>
          <p:cNvPr id="6" name="Shape 4"/>
          <p:cNvSpPr/>
          <p:nvPr/>
        </p:nvSpPr>
        <p:spPr>
          <a:xfrm>
            <a:off x="3108960" y="2606040"/>
            <a:ext cx="8503920" cy="868680"/>
          </a:xfrm>
          <a:prstGeom prst="roundRect">
            <a:avLst>
              <a:gd name="adj" fmla="val 7368"/>
            </a:avLst>
          </a:prstGeom>
          <a:solidFill>
            <a:srgbClr val="1B315C"/>
          </a:solidFill>
          <a:ln w="19050">
            <a:solidFill>
              <a:srgbClr val="00A08A"/>
            </a:solidFill>
            <a:prstDash val="solid"/>
          </a:ln>
        </p:spPr>
      </p:sp>
      <p:sp>
        <p:nvSpPr>
          <p:cNvPr id="7" name="Text 5"/>
          <p:cNvSpPr/>
          <p:nvPr/>
        </p:nvSpPr>
        <p:spPr>
          <a:xfrm>
            <a:off x="3337560" y="2606040"/>
            <a:ext cx="8092440" cy="868680"/>
          </a:xfrm>
          <a:prstGeom prst="rect">
            <a:avLst/>
          </a:prstGeom>
          <a:noFill/>
          <a:ln/>
        </p:spPr>
        <p:txBody>
          <a:bodyPr wrap="square" lIns="45720" tIns="91440" rIns="91440" bIns="45720" rtlCol="0" anchor="ctr"/>
          <a:lstStyle/>
          <a:p>
            <a:pPr algn="l" indent="0" marL="0">
              <a:buNone/>
            </a:pPr>
            <a:r>
              <a:rPr lang="en-US" sz="1800" dirty="0">
                <a:solidFill>
                  <a:srgbClr val="EAF1FB"/>
                </a:solidFill>
                <a:latin typeface="Arial" pitchFamily="34" charset="0"/>
                <a:ea typeface="Arial" pitchFamily="34" charset="-122"/>
                <a:cs typeface="Arial" pitchFamily="34" charset="-120"/>
              </a:rPr>
              <a:t>Name the four themes — journey, belonging, conflict, reconciliation — and say where each appears.</a:t>
            </a:r>
            <a:endParaRPr lang="en-US" sz="1800" dirty="0"/>
          </a:p>
        </p:txBody>
      </p:sp>
      <p:sp>
        <p:nvSpPr>
          <p:cNvPr id="8" name="Text 6"/>
          <p:cNvSpPr/>
          <p:nvPr/>
        </p:nvSpPr>
        <p:spPr>
          <a:xfrm>
            <a:off x="548640" y="3621024"/>
            <a:ext cx="2377440" cy="868680"/>
          </a:xfrm>
          <a:prstGeom prst="roundRect">
            <a:avLst>
              <a:gd name="adj" fmla="val 10526"/>
            </a:avLst>
          </a:prstGeom>
          <a:solidFill>
            <a:srgbClr val="6C3A6E"/>
          </a:solidFill>
          <a:ln>
            <a:solidFill>
              <a:srgbClr val="6C3A6E"/>
            </a:solid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ANALYSE</a:t>
            </a:r>
            <a:endParaRPr lang="en-US" sz="1800" dirty="0"/>
          </a:p>
        </p:txBody>
      </p:sp>
      <p:sp>
        <p:nvSpPr>
          <p:cNvPr id="9" name="Shape 7"/>
          <p:cNvSpPr/>
          <p:nvPr/>
        </p:nvSpPr>
        <p:spPr>
          <a:xfrm>
            <a:off x="3108960" y="3621024"/>
            <a:ext cx="8503920" cy="868680"/>
          </a:xfrm>
          <a:prstGeom prst="roundRect">
            <a:avLst>
              <a:gd name="adj" fmla="val 7368"/>
            </a:avLst>
          </a:prstGeom>
          <a:solidFill>
            <a:srgbClr val="1B315C"/>
          </a:solidFill>
          <a:ln w="19050">
            <a:solidFill>
              <a:srgbClr val="6C3A6E"/>
            </a:solidFill>
            <a:prstDash val="solid"/>
          </a:ln>
        </p:spPr>
      </p:sp>
      <p:sp>
        <p:nvSpPr>
          <p:cNvPr id="10" name="Text 8"/>
          <p:cNvSpPr/>
          <p:nvPr/>
        </p:nvSpPr>
        <p:spPr>
          <a:xfrm>
            <a:off x="3337560" y="3621024"/>
            <a:ext cx="8092440" cy="868680"/>
          </a:xfrm>
          <a:prstGeom prst="rect">
            <a:avLst/>
          </a:prstGeom>
          <a:noFill/>
          <a:ln/>
        </p:spPr>
        <p:txBody>
          <a:bodyPr wrap="square" lIns="45720" tIns="91440" rIns="91440" bIns="45720" rtlCol="0" anchor="ctr"/>
          <a:lstStyle/>
          <a:p>
            <a:pPr algn="l" indent="0" marL="0">
              <a:buNone/>
            </a:pPr>
            <a:r>
              <a:rPr lang="en-US" sz="1800" dirty="0">
                <a:solidFill>
                  <a:srgbClr val="EAF1FB"/>
                </a:solidFill>
                <a:latin typeface="Arial" pitchFamily="34" charset="0"/>
                <a:ea typeface="Arial" pitchFamily="34" charset="-122"/>
                <a:cs typeface="Arial" pitchFamily="34" charset="-120"/>
              </a:rPr>
              <a:t>Explain how the alien attack turns a story about leaving into a story about making peace.</a:t>
            </a:r>
            <a:endParaRPr lang="en-US" sz="1800" dirty="0"/>
          </a:p>
        </p:txBody>
      </p:sp>
      <p:sp>
        <p:nvSpPr>
          <p:cNvPr id="11" name="Text 9"/>
          <p:cNvSpPr/>
          <p:nvPr/>
        </p:nvSpPr>
        <p:spPr>
          <a:xfrm>
            <a:off x="548640" y="4636008"/>
            <a:ext cx="2377440" cy="868680"/>
          </a:xfrm>
          <a:prstGeom prst="roundRect">
            <a:avLst>
              <a:gd name="adj" fmla="val 10526"/>
            </a:avLst>
          </a:prstGeom>
          <a:solidFill>
            <a:srgbClr val="D0021B"/>
          </a:solidFill>
          <a:ln>
            <a:solidFill>
              <a:srgbClr val="D0021B"/>
            </a:solid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EVALUATE</a:t>
            </a:r>
            <a:endParaRPr lang="en-US" sz="1800" dirty="0"/>
          </a:p>
        </p:txBody>
      </p:sp>
      <p:sp>
        <p:nvSpPr>
          <p:cNvPr id="12" name="Shape 10"/>
          <p:cNvSpPr/>
          <p:nvPr/>
        </p:nvSpPr>
        <p:spPr>
          <a:xfrm>
            <a:off x="3108960" y="4636008"/>
            <a:ext cx="8503920" cy="868680"/>
          </a:xfrm>
          <a:prstGeom prst="roundRect">
            <a:avLst>
              <a:gd name="adj" fmla="val 7368"/>
            </a:avLst>
          </a:prstGeom>
          <a:solidFill>
            <a:srgbClr val="1B315C"/>
          </a:solidFill>
          <a:ln w="19050">
            <a:solidFill>
              <a:srgbClr val="D0021B"/>
            </a:solidFill>
            <a:prstDash val="solid"/>
          </a:ln>
        </p:spPr>
      </p:sp>
      <p:sp>
        <p:nvSpPr>
          <p:cNvPr id="13" name="Text 11"/>
          <p:cNvSpPr/>
          <p:nvPr/>
        </p:nvSpPr>
        <p:spPr>
          <a:xfrm>
            <a:off x="3337560" y="4636008"/>
            <a:ext cx="8092440" cy="868680"/>
          </a:xfrm>
          <a:prstGeom prst="rect">
            <a:avLst/>
          </a:prstGeom>
          <a:noFill/>
          <a:ln/>
        </p:spPr>
        <p:txBody>
          <a:bodyPr wrap="square" lIns="45720" tIns="91440" rIns="91440" bIns="45720" rtlCol="0" anchor="ctr"/>
          <a:lstStyle/>
          <a:p>
            <a:pPr algn="l" indent="0" marL="0">
              <a:buNone/>
            </a:pPr>
            <a:r>
              <a:rPr lang="en-US" sz="1800" dirty="0">
                <a:solidFill>
                  <a:srgbClr val="EAF1FB"/>
                </a:solidFill>
                <a:latin typeface="Arial" pitchFamily="34" charset="0"/>
                <a:ea typeface="Arial" pitchFamily="34" charset="-122"/>
                <a:cs typeface="Arial" pitchFamily="34" charset="-120"/>
              </a:rPr>
              <a:t>Decide whether a person can belong to two worlds at once — with evidence from the story.</a:t>
            </a:r>
            <a:endParaRPr lang="en-US" sz="1800" dirty="0"/>
          </a:p>
        </p:txBody>
      </p:sp>
      <p:sp>
        <p:nvSpPr>
          <p:cNvPr id="14" name="Text 12"/>
          <p:cNvSpPr/>
          <p:nvPr/>
        </p:nvSpPr>
        <p:spPr>
          <a:xfrm>
            <a:off x="548640" y="5943600"/>
            <a:ext cx="10972800" cy="457200"/>
          </a:xfrm>
          <a:prstGeom prst="rect">
            <a:avLst/>
          </a:prstGeom>
          <a:noFill/>
          <a:ln/>
        </p:spPr>
        <p:txBody>
          <a:bodyPr wrap="square" lIns="0" tIns="0" rIns="0" bIns="0" rtlCol="0" anchor="ctr"/>
          <a:lstStyle/>
          <a:p>
            <a:pPr algn="l" indent="0" marL="0">
              <a:buNone/>
            </a:pPr>
            <a:r>
              <a:rPr lang="en-US" sz="1500" b="1" i="1" dirty="0">
                <a:solidFill>
                  <a:srgbClr val="FFC93C"/>
                </a:solidFill>
                <a:latin typeface="Arial" pitchFamily="34" charset="0"/>
                <a:ea typeface="Arial" pitchFamily="34" charset="-122"/>
                <a:cs typeface="Arial" pitchFamily="34" charset="-120"/>
              </a:rPr>
              <a:t>Success = a full answer to the Big Question by the end. Everything today builds to it.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check-circle-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Bell work — mark it</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Mark honestly. Under 3? Re-read tonight.</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80ADC4"/>
          </a:solidFill>
          <a:ln>
            <a:solidFill>
              <a:srgbClr val="80ADC4"/>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Modern Novel: Binti · Themes: journey and belonging</a:t>
            </a:r>
            <a:endParaRPr lang="en-US" sz="900" dirty="0"/>
          </a:p>
        </p:txBody>
      </p:sp>
      <p:sp>
        <p:nvSpPr>
          <p:cNvPr id="13" name="Text 10"/>
          <p:cNvSpPr/>
          <p:nvPr/>
        </p:nvSpPr>
        <p:spPr>
          <a:xfrm>
            <a:off x="8961120" y="6702552"/>
            <a:ext cx="2743200" cy="155448"/>
          </a:xfrm>
          <a:prstGeom prst="rect">
            <a:avLst/>
          </a:prstGeom>
          <a:noFill/>
          <a:ln/>
        </p:spPr>
        <p:txBody>
          <a:bodyPr wrap="square" lIns="0" tIns="0" rIns="0" bIns="0" rtlCol="0" anchor="t"/>
          <a:lstStyle/>
          <a:p>
            <a:pPr algn="r" indent="0" marL="0">
              <a:buNone/>
            </a:pPr>
            <a:r>
              <a:rPr lang="en-US" sz="900" dirty="0">
                <a:solidFill>
                  <a:srgbClr val="AAB4C2"/>
                </a:solidFill>
                <a:latin typeface="Arial" pitchFamily="34" charset="0"/>
                <a:ea typeface="Arial" pitchFamily="34" charset="-122"/>
                <a:cs typeface="Arial" pitchFamily="34" charset="-120"/>
              </a:rPr>
              <a:t>ANSWERS</a:t>
            </a:r>
            <a:endParaRPr lang="en-US" sz="900" dirty="0"/>
          </a:p>
        </p:txBody>
      </p:sp>
      <p:sp>
        <p:nvSpPr>
          <p:cNvPr id="14" name="Shape 11"/>
          <p:cNvSpPr/>
          <p:nvPr/>
        </p:nvSpPr>
        <p:spPr>
          <a:xfrm>
            <a:off x="548640" y="1737360"/>
            <a:ext cx="11064240" cy="749808"/>
          </a:xfrm>
          <a:prstGeom prst="roundRect">
            <a:avLst>
              <a:gd name="adj" fmla="val 8537"/>
            </a:avLst>
          </a:prstGeom>
          <a:solidFill>
            <a:srgbClr val="FEF7E4"/>
          </a:solidFill>
          <a:ln w="12700">
            <a:solidFill>
              <a:srgbClr val="E5D9B0"/>
            </a:solidFill>
            <a:prstDash val="solid"/>
          </a:ln>
        </p:spPr>
      </p:sp>
      <p:sp>
        <p:nvSpPr>
          <p:cNvPr id="15" name="Text 12"/>
          <p:cNvSpPr/>
          <p:nvPr/>
        </p:nvSpPr>
        <p:spPr>
          <a:xfrm>
            <a:off x="731520" y="1764792"/>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1.  What is a symbol? Give the example from Binti.</a:t>
            </a:r>
            <a:endParaRPr lang="en-US" sz="1800" dirty="0"/>
          </a:p>
        </p:txBody>
      </p:sp>
      <p:sp>
        <p:nvSpPr>
          <p:cNvPr id="16" name="Text 13"/>
          <p:cNvSpPr/>
          <p:nvPr/>
        </p:nvSpPr>
        <p:spPr>
          <a:xfrm>
            <a:off x="6309360" y="1764792"/>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An object that stands for a bigger idea — the otjize clay stands for home and heritage.</a:t>
            </a:r>
            <a:endParaRPr lang="en-US" sz="1800" dirty="0"/>
          </a:p>
        </p:txBody>
      </p:sp>
      <p:sp>
        <p:nvSpPr>
          <p:cNvPr id="17" name="Shape 14"/>
          <p:cNvSpPr/>
          <p:nvPr/>
        </p:nvSpPr>
        <p:spPr>
          <a:xfrm>
            <a:off x="548640" y="2633472"/>
            <a:ext cx="11064240" cy="749808"/>
          </a:xfrm>
          <a:prstGeom prst="roundRect">
            <a:avLst>
              <a:gd name="adj" fmla="val 8537"/>
            </a:avLst>
          </a:prstGeom>
          <a:solidFill>
            <a:srgbClr val="FFFFFF"/>
          </a:solidFill>
          <a:ln w="12700">
            <a:solidFill>
              <a:srgbClr val="E5D9B0"/>
            </a:solidFill>
            <a:prstDash val="solid"/>
          </a:ln>
        </p:spPr>
      </p:sp>
      <p:sp>
        <p:nvSpPr>
          <p:cNvPr id="18" name="Text 15"/>
          <p:cNvSpPr/>
          <p:nvPr/>
        </p:nvSpPr>
        <p:spPr>
          <a:xfrm>
            <a:off x="731520" y="2660904"/>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2.  What is a protagonist?</a:t>
            </a:r>
            <a:endParaRPr lang="en-US" sz="1800" dirty="0"/>
          </a:p>
        </p:txBody>
      </p:sp>
      <p:sp>
        <p:nvSpPr>
          <p:cNvPr id="19" name="Text 16"/>
          <p:cNvSpPr/>
          <p:nvPr/>
        </p:nvSpPr>
        <p:spPr>
          <a:xfrm>
            <a:off x="6309360" y="2660904"/>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The main character a story follows — Binti.</a:t>
            </a:r>
            <a:endParaRPr lang="en-US" sz="1800" dirty="0"/>
          </a:p>
        </p:txBody>
      </p:sp>
      <p:sp>
        <p:nvSpPr>
          <p:cNvPr id="20" name="Shape 17"/>
          <p:cNvSpPr/>
          <p:nvPr/>
        </p:nvSpPr>
        <p:spPr>
          <a:xfrm>
            <a:off x="548640" y="3529584"/>
            <a:ext cx="11064240" cy="749808"/>
          </a:xfrm>
          <a:prstGeom prst="roundRect">
            <a:avLst>
              <a:gd name="adj" fmla="val 8537"/>
            </a:avLst>
          </a:prstGeom>
          <a:solidFill>
            <a:srgbClr val="FEF7E4"/>
          </a:solidFill>
          <a:ln w="12700">
            <a:solidFill>
              <a:srgbClr val="E5D9B0"/>
            </a:solidFill>
            <a:prstDash val="solid"/>
          </a:ln>
        </p:spPr>
      </p:sp>
      <p:sp>
        <p:nvSpPr>
          <p:cNvPr id="21" name="Text 18"/>
          <p:cNvSpPr/>
          <p:nvPr/>
        </p:nvSpPr>
        <p:spPr>
          <a:xfrm>
            <a:off x="731520" y="3557016"/>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3.  Name two details the writer uses to show Binti's heritage.</a:t>
            </a:r>
            <a:endParaRPr lang="en-US" sz="1800" dirty="0"/>
          </a:p>
        </p:txBody>
      </p:sp>
      <p:sp>
        <p:nvSpPr>
          <p:cNvPr id="22" name="Text 19"/>
          <p:cNvSpPr/>
          <p:nvPr/>
        </p:nvSpPr>
        <p:spPr>
          <a:xfrm>
            <a:off x="6309360" y="3557016"/>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Any two: the otjize clay, her braided hair, the edan, her maths, her family's machines.</a:t>
            </a:r>
            <a:endParaRPr lang="en-US" sz="1800" dirty="0"/>
          </a:p>
        </p:txBody>
      </p:sp>
      <p:sp>
        <p:nvSpPr>
          <p:cNvPr id="23" name="Shape 20"/>
          <p:cNvSpPr/>
          <p:nvPr/>
        </p:nvSpPr>
        <p:spPr>
          <a:xfrm>
            <a:off x="548640" y="4425696"/>
            <a:ext cx="11064240" cy="749808"/>
          </a:xfrm>
          <a:prstGeom prst="roundRect">
            <a:avLst>
              <a:gd name="adj" fmla="val 8537"/>
            </a:avLst>
          </a:prstGeom>
          <a:solidFill>
            <a:srgbClr val="FFFFFF"/>
          </a:solidFill>
          <a:ln w="12700">
            <a:solidFill>
              <a:srgbClr val="E5D9B0"/>
            </a:solidFill>
            <a:prstDash val="solid"/>
          </a:ln>
        </p:spPr>
      </p:sp>
      <p:sp>
        <p:nvSpPr>
          <p:cNvPr id="24" name="Text 21"/>
          <p:cNvSpPr/>
          <p:nvPr/>
        </p:nvSpPr>
        <p:spPr>
          <a:xfrm>
            <a:off x="731520" y="4453128"/>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4.  Finish: Diversity means…</a:t>
            </a:r>
            <a:endParaRPr lang="en-US" sz="1800" dirty="0"/>
          </a:p>
        </p:txBody>
      </p:sp>
      <p:sp>
        <p:nvSpPr>
          <p:cNvPr id="25" name="Text 22"/>
          <p:cNvSpPr/>
          <p:nvPr/>
        </p:nvSpPr>
        <p:spPr>
          <a:xfrm>
            <a:off x="6309360" y="4453128"/>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…many different peoples, cultures and ways of living together.</a:t>
            </a:r>
            <a:endParaRPr lang="en-US" sz="1800" dirty="0"/>
          </a:p>
        </p:txBody>
      </p:sp>
      <p:sp>
        <p:nvSpPr>
          <p:cNvPr id="26" name="Shape 23"/>
          <p:cNvSpPr/>
          <p:nvPr/>
        </p:nvSpPr>
        <p:spPr>
          <a:xfrm>
            <a:off x="548640" y="5321808"/>
            <a:ext cx="11064240" cy="749808"/>
          </a:xfrm>
          <a:prstGeom prst="roundRect">
            <a:avLst>
              <a:gd name="adj" fmla="val 8537"/>
            </a:avLst>
          </a:prstGeom>
          <a:solidFill>
            <a:srgbClr val="FEF7E4"/>
          </a:solidFill>
          <a:ln w="12700">
            <a:solidFill>
              <a:srgbClr val="E5D9B0"/>
            </a:solidFill>
            <a:prstDash val="solid"/>
          </a:ln>
        </p:spPr>
      </p:sp>
      <p:sp>
        <p:nvSpPr>
          <p:cNvPr id="27" name="Text 24"/>
          <p:cNvSpPr/>
          <p:nvPr/>
        </p:nvSpPr>
        <p:spPr>
          <a:xfrm>
            <a:off x="731520" y="5349240"/>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5.  Name the four places to look when you analyse a character.</a:t>
            </a:r>
            <a:endParaRPr lang="en-US" sz="1800" dirty="0"/>
          </a:p>
        </p:txBody>
      </p:sp>
      <p:sp>
        <p:nvSpPr>
          <p:cNvPr id="28" name="Text 25"/>
          <p:cNvSpPr/>
          <p:nvPr/>
        </p:nvSpPr>
        <p:spPr>
          <a:xfrm>
            <a:off x="6309360" y="5349240"/>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What she does · what she carries · how others see her · what she wants.</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key-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Key words — go deeper</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8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Not just the meaning — the DEEP explanation. Take each key word from meaning to mastery.</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00A08A"/>
          </a:solidFill>
          <a:ln>
            <a:solidFill>
              <a:srgbClr val="00A08A"/>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Modern Novel: Binti · Themes: journey and belonging</a:t>
            </a:r>
            <a:endParaRPr lang="en-US" sz="900" dirty="0"/>
          </a:p>
        </p:txBody>
      </p:sp>
      <p:sp>
        <p:nvSpPr>
          <p:cNvPr id="13" name="Shape 10"/>
          <p:cNvSpPr/>
          <p:nvPr/>
        </p:nvSpPr>
        <p:spPr>
          <a:xfrm>
            <a:off x="548640" y="1783080"/>
            <a:ext cx="2651760" cy="914400"/>
          </a:xfrm>
          <a:prstGeom prst="roundRect">
            <a:avLst>
              <a:gd name="adj" fmla="val 8000"/>
            </a:avLst>
          </a:prstGeom>
          <a:solidFill>
            <a:srgbClr val="00A08A"/>
          </a:solidFill>
          <a:ln w="12700">
            <a:solidFill>
              <a:srgbClr val="00A08A"/>
            </a:solidFill>
            <a:prstDash val="solid"/>
          </a:ln>
        </p:spPr>
      </p:sp>
      <p:sp>
        <p:nvSpPr>
          <p:cNvPr id="14" name="Text 11"/>
          <p:cNvSpPr/>
          <p:nvPr/>
        </p:nvSpPr>
        <p:spPr>
          <a:xfrm>
            <a:off x="640080" y="1874520"/>
            <a:ext cx="246888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1 MEAN</a:t>
            </a:r>
            <a:endParaRPr lang="en-US" sz="1600" dirty="0"/>
          </a:p>
        </p:txBody>
      </p:sp>
      <p:sp>
        <p:nvSpPr>
          <p:cNvPr id="15" name="Text 12"/>
          <p:cNvSpPr/>
          <p:nvPr/>
        </p:nvSpPr>
        <p:spPr>
          <a:xfrm>
            <a:off x="658368" y="2212848"/>
            <a:ext cx="2432304"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say what it means in your own words</a:t>
            </a:r>
            <a:endParaRPr lang="en-US" sz="1200" dirty="0"/>
          </a:p>
        </p:txBody>
      </p:sp>
      <p:sp>
        <p:nvSpPr>
          <p:cNvPr id="16" name="Shape 13"/>
          <p:cNvSpPr/>
          <p:nvPr/>
        </p:nvSpPr>
        <p:spPr>
          <a:xfrm>
            <a:off x="3346704" y="1783080"/>
            <a:ext cx="2651760" cy="914400"/>
          </a:xfrm>
          <a:prstGeom prst="roundRect">
            <a:avLst>
              <a:gd name="adj" fmla="val 8000"/>
            </a:avLst>
          </a:prstGeom>
          <a:solidFill>
            <a:srgbClr val="80ADC4"/>
          </a:solidFill>
          <a:ln w="12700">
            <a:solidFill>
              <a:srgbClr val="80ADC4"/>
            </a:solidFill>
            <a:prstDash val="solid"/>
          </a:ln>
        </p:spPr>
      </p:sp>
      <p:sp>
        <p:nvSpPr>
          <p:cNvPr id="17" name="Text 14"/>
          <p:cNvSpPr/>
          <p:nvPr/>
        </p:nvSpPr>
        <p:spPr>
          <a:xfrm>
            <a:off x="3438144" y="1874520"/>
            <a:ext cx="246888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2 USE</a:t>
            </a:r>
            <a:endParaRPr lang="en-US" sz="1600" dirty="0"/>
          </a:p>
        </p:txBody>
      </p:sp>
      <p:sp>
        <p:nvSpPr>
          <p:cNvPr id="18" name="Text 15"/>
          <p:cNvSpPr/>
          <p:nvPr/>
        </p:nvSpPr>
        <p:spPr>
          <a:xfrm>
            <a:off x="3456432" y="2212848"/>
            <a:ext cx="2432304"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put it in a sentence of your own</a:t>
            </a:r>
            <a:endParaRPr lang="en-US" sz="1200" dirty="0"/>
          </a:p>
        </p:txBody>
      </p:sp>
      <p:sp>
        <p:nvSpPr>
          <p:cNvPr id="19" name="Shape 16"/>
          <p:cNvSpPr/>
          <p:nvPr/>
        </p:nvSpPr>
        <p:spPr>
          <a:xfrm>
            <a:off x="6144768" y="1783080"/>
            <a:ext cx="2651760" cy="914400"/>
          </a:xfrm>
          <a:prstGeom prst="roundRect">
            <a:avLst>
              <a:gd name="adj" fmla="val 8000"/>
            </a:avLst>
          </a:prstGeom>
          <a:solidFill>
            <a:srgbClr val="6C3A6E"/>
          </a:solidFill>
          <a:ln w="12700">
            <a:solidFill>
              <a:srgbClr val="6C3A6E"/>
            </a:solidFill>
            <a:prstDash val="solid"/>
          </a:ln>
        </p:spPr>
      </p:sp>
      <p:sp>
        <p:nvSpPr>
          <p:cNvPr id="20" name="Text 17"/>
          <p:cNvSpPr/>
          <p:nvPr/>
        </p:nvSpPr>
        <p:spPr>
          <a:xfrm>
            <a:off x="6236208" y="1874520"/>
            <a:ext cx="246888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3 SPOT</a:t>
            </a:r>
            <a:endParaRPr lang="en-US" sz="1600" dirty="0"/>
          </a:p>
        </p:txBody>
      </p:sp>
      <p:sp>
        <p:nvSpPr>
          <p:cNvPr id="21" name="Text 18"/>
          <p:cNvSpPr/>
          <p:nvPr/>
        </p:nvSpPr>
        <p:spPr>
          <a:xfrm>
            <a:off x="6254496" y="2212848"/>
            <a:ext cx="2432304"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find it in today's text</a:t>
            </a:r>
            <a:endParaRPr lang="en-US" sz="1200" dirty="0"/>
          </a:p>
        </p:txBody>
      </p:sp>
      <p:sp>
        <p:nvSpPr>
          <p:cNvPr id="22" name="Shape 19"/>
          <p:cNvSpPr/>
          <p:nvPr/>
        </p:nvSpPr>
        <p:spPr>
          <a:xfrm>
            <a:off x="8942832" y="1783080"/>
            <a:ext cx="2651760" cy="914400"/>
          </a:xfrm>
          <a:prstGeom prst="roundRect">
            <a:avLst>
              <a:gd name="adj" fmla="val 8000"/>
            </a:avLst>
          </a:prstGeom>
          <a:solidFill>
            <a:srgbClr val="D0021B"/>
          </a:solidFill>
          <a:ln w="12700">
            <a:solidFill>
              <a:srgbClr val="D0021B"/>
            </a:solidFill>
            <a:prstDash val="solid"/>
          </a:ln>
        </p:spPr>
      </p:sp>
      <p:sp>
        <p:nvSpPr>
          <p:cNvPr id="23" name="Text 20"/>
          <p:cNvSpPr/>
          <p:nvPr/>
        </p:nvSpPr>
        <p:spPr>
          <a:xfrm>
            <a:off x="9034272" y="1874520"/>
            <a:ext cx="246888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4 LINK</a:t>
            </a:r>
            <a:endParaRPr lang="en-US" sz="1600" dirty="0"/>
          </a:p>
        </p:txBody>
      </p:sp>
      <p:sp>
        <p:nvSpPr>
          <p:cNvPr id="24" name="Text 21"/>
          <p:cNvSpPr/>
          <p:nvPr/>
        </p:nvSpPr>
        <p:spPr>
          <a:xfrm>
            <a:off x="9052560" y="2212848"/>
            <a:ext cx="2432304"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link it to the Big Question</a:t>
            </a:r>
            <a:endParaRPr lang="en-US" sz="1200" dirty="0"/>
          </a:p>
        </p:txBody>
      </p:sp>
      <p:sp>
        <p:nvSpPr>
          <p:cNvPr id="25" name="Text 22"/>
          <p:cNvSpPr/>
          <p:nvPr/>
        </p:nvSpPr>
        <p:spPr>
          <a:xfrm>
            <a:off x="548640" y="2926080"/>
            <a:ext cx="10972800" cy="365760"/>
          </a:xfrm>
          <a:prstGeom prst="rect">
            <a:avLst/>
          </a:prstGeom>
          <a:noFill/>
          <a:ln/>
        </p:spPr>
        <p:txBody>
          <a:bodyPr wrap="square" lIns="0" tIns="0" rIns="0" bIns="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Do the four steps for EACH key word:</a:t>
            </a:r>
            <a:endParaRPr lang="en-US" sz="1800" dirty="0"/>
          </a:p>
        </p:txBody>
      </p:sp>
      <p:sp>
        <p:nvSpPr>
          <p:cNvPr id="26" name="Text 23"/>
          <p:cNvSpPr/>
          <p:nvPr/>
        </p:nvSpPr>
        <p:spPr>
          <a:xfrm>
            <a:off x="548640" y="3401568"/>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theme</a:t>
            </a:r>
            <a:endParaRPr lang="en-US" sz="1800" dirty="0"/>
          </a:p>
        </p:txBody>
      </p:sp>
      <p:sp>
        <p:nvSpPr>
          <p:cNvPr id="27" name="Text 24"/>
          <p:cNvSpPr/>
          <p:nvPr/>
        </p:nvSpPr>
        <p:spPr>
          <a:xfrm>
            <a:off x="3566160" y="3401568"/>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a big idea a story keeps coming back to</a:t>
            </a:r>
            <a:endParaRPr lang="en-US" sz="1800" dirty="0"/>
          </a:p>
        </p:txBody>
      </p:sp>
      <p:sp>
        <p:nvSpPr>
          <p:cNvPr id="28" name="Text 25"/>
          <p:cNvSpPr/>
          <p:nvPr/>
        </p:nvSpPr>
        <p:spPr>
          <a:xfrm>
            <a:off x="548640" y="3972154"/>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journey</a:t>
            </a:r>
            <a:endParaRPr lang="en-US" sz="1800" dirty="0"/>
          </a:p>
        </p:txBody>
      </p:sp>
      <p:sp>
        <p:nvSpPr>
          <p:cNvPr id="29" name="Text 26"/>
          <p:cNvSpPr/>
          <p:nvPr/>
        </p:nvSpPr>
        <p:spPr>
          <a:xfrm>
            <a:off x="3566160" y="3972154"/>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a long trip; in stories, the traveller is changed by it</a:t>
            </a:r>
            <a:endParaRPr lang="en-US" sz="1800" dirty="0"/>
          </a:p>
        </p:txBody>
      </p:sp>
      <p:sp>
        <p:nvSpPr>
          <p:cNvPr id="30" name="Text 27"/>
          <p:cNvSpPr/>
          <p:nvPr/>
        </p:nvSpPr>
        <p:spPr>
          <a:xfrm>
            <a:off x="548640" y="4542739"/>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belonging</a:t>
            </a:r>
            <a:endParaRPr lang="en-US" sz="1800" dirty="0"/>
          </a:p>
        </p:txBody>
      </p:sp>
      <p:sp>
        <p:nvSpPr>
          <p:cNvPr id="31" name="Text 28"/>
          <p:cNvSpPr/>
          <p:nvPr/>
        </p:nvSpPr>
        <p:spPr>
          <a:xfrm>
            <a:off x="3566160" y="4542739"/>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the feeling of being at home with a group of people</a:t>
            </a:r>
            <a:endParaRPr lang="en-US" sz="1800" dirty="0"/>
          </a:p>
        </p:txBody>
      </p:sp>
      <p:sp>
        <p:nvSpPr>
          <p:cNvPr id="32" name="Text 29"/>
          <p:cNvSpPr/>
          <p:nvPr/>
        </p:nvSpPr>
        <p:spPr>
          <a:xfrm>
            <a:off x="548640" y="5113325"/>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conflict</a:t>
            </a:r>
            <a:endParaRPr lang="en-US" sz="1800" dirty="0"/>
          </a:p>
        </p:txBody>
      </p:sp>
      <p:sp>
        <p:nvSpPr>
          <p:cNvPr id="33" name="Text 30"/>
          <p:cNvSpPr/>
          <p:nvPr/>
        </p:nvSpPr>
        <p:spPr>
          <a:xfrm>
            <a:off x="3566160" y="5113325"/>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a fight or clash between people, peoples or ideas</a:t>
            </a:r>
            <a:endParaRPr lang="en-US" sz="1800" dirty="0"/>
          </a:p>
        </p:txBody>
      </p:sp>
      <p:sp>
        <p:nvSpPr>
          <p:cNvPr id="34" name="Text 31"/>
          <p:cNvSpPr/>
          <p:nvPr/>
        </p:nvSpPr>
        <p:spPr>
          <a:xfrm>
            <a:off x="548640" y="5683910"/>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reconciliation</a:t>
            </a:r>
            <a:endParaRPr lang="en-US" sz="1800" dirty="0"/>
          </a:p>
        </p:txBody>
      </p:sp>
      <p:sp>
        <p:nvSpPr>
          <p:cNvPr id="35" name="Text 32"/>
          <p:cNvSpPr/>
          <p:nvPr/>
        </p:nvSpPr>
        <p:spPr>
          <a:xfrm>
            <a:off x="3566160" y="5683910"/>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making peace after a conflict</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book-open-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What a theme is — and is not</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8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A theme is not the plot. It is the idea the plot keeps testing.</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00A08A"/>
          </a:solidFill>
          <a:ln>
            <a:solidFill>
              <a:srgbClr val="00A08A"/>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Modern Novel: Binti · Themes: journey and belonging</a:t>
            </a:r>
            <a:endParaRPr lang="en-US" sz="900" dirty="0"/>
          </a:p>
        </p:txBody>
      </p:sp>
      <p:sp>
        <p:nvSpPr>
          <p:cNvPr id="13" name="Text 10"/>
          <p:cNvSpPr/>
          <p:nvPr/>
        </p:nvSpPr>
        <p:spPr>
          <a:xfrm>
            <a:off x="548640" y="1783080"/>
            <a:ext cx="2606040" cy="914400"/>
          </a:xfrm>
          <a:prstGeom prst="roundRect">
            <a:avLst>
              <a:gd name="adj" fmla="val 10000"/>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A THEME IS…</a:t>
            </a:r>
            <a:endParaRPr lang="en-US" sz="1600" dirty="0"/>
          </a:p>
        </p:txBody>
      </p:sp>
      <p:sp>
        <p:nvSpPr>
          <p:cNvPr id="14" name="Shape 11"/>
          <p:cNvSpPr/>
          <p:nvPr/>
        </p:nvSpPr>
        <p:spPr>
          <a:xfrm>
            <a:off x="3291840" y="1783080"/>
            <a:ext cx="8321040" cy="914400"/>
          </a:xfrm>
          <a:prstGeom prst="roundRect">
            <a:avLst>
              <a:gd name="adj" fmla="val 8000"/>
            </a:avLst>
          </a:prstGeom>
          <a:solidFill>
            <a:srgbClr val="FEF7E4"/>
          </a:solidFill>
          <a:ln w="12700">
            <a:solidFill>
              <a:srgbClr val="E5D9B0"/>
            </a:solidFill>
            <a:prstDash val="solid"/>
          </a:ln>
        </p:spPr>
      </p:sp>
      <p:sp>
        <p:nvSpPr>
          <p:cNvPr id="15" name="Text 12"/>
          <p:cNvSpPr/>
          <p:nvPr/>
        </p:nvSpPr>
        <p:spPr>
          <a:xfrm>
            <a:off x="3456432" y="1783080"/>
            <a:ext cx="800100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A big idea the story returns to: home, fear, trust. You can say it in one word — and then in a full sentence.</a:t>
            </a:r>
            <a:endParaRPr lang="en-US" sz="1800" dirty="0"/>
          </a:p>
        </p:txBody>
      </p:sp>
      <p:sp>
        <p:nvSpPr>
          <p:cNvPr id="16" name="Text 13"/>
          <p:cNvSpPr/>
          <p:nvPr/>
        </p:nvSpPr>
        <p:spPr>
          <a:xfrm>
            <a:off x="548640" y="2843784"/>
            <a:ext cx="2606040" cy="914400"/>
          </a:xfrm>
          <a:prstGeom prst="roundRect">
            <a:avLst>
              <a:gd name="adj" fmla="val 10000"/>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HOW TO SPOT ONE</a:t>
            </a:r>
            <a:endParaRPr lang="en-US" sz="1600" dirty="0"/>
          </a:p>
        </p:txBody>
      </p:sp>
      <p:sp>
        <p:nvSpPr>
          <p:cNvPr id="17" name="Shape 14"/>
          <p:cNvSpPr/>
          <p:nvPr/>
        </p:nvSpPr>
        <p:spPr>
          <a:xfrm>
            <a:off x="3291840" y="2843784"/>
            <a:ext cx="8321040" cy="914400"/>
          </a:xfrm>
          <a:prstGeom prst="roundRect">
            <a:avLst>
              <a:gd name="adj" fmla="val 8000"/>
            </a:avLst>
          </a:prstGeom>
          <a:solidFill>
            <a:srgbClr val="FEF7E4"/>
          </a:solidFill>
          <a:ln w="12700">
            <a:solidFill>
              <a:srgbClr val="E5D9B0"/>
            </a:solidFill>
            <a:prstDash val="solid"/>
          </a:ln>
        </p:spPr>
      </p:sp>
      <p:sp>
        <p:nvSpPr>
          <p:cNvPr id="18" name="Text 15"/>
          <p:cNvSpPr/>
          <p:nvPr/>
        </p:nvSpPr>
        <p:spPr>
          <a:xfrm>
            <a:off x="3456432" y="2843784"/>
            <a:ext cx="800100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Ask: what keeps coming back? What do the characters argue about? What does the ending settle?</a:t>
            </a:r>
            <a:endParaRPr lang="en-US" sz="1800" dirty="0"/>
          </a:p>
        </p:txBody>
      </p:sp>
      <p:sp>
        <p:nvSpPr>
          <p:cNvPr id="19" name="Text 16"/>
          <p:cNvSpPr/>
          <p:nvPr/>
        </p:nvSpPr>
        <p:spPr>
          <a:xfrm>
            <a:off x="548640" y="3904488"/>
            <a:ext cx="2606040" cy="914400"/>
          </a:xfrm>
          <a:prstGeom prst="roundRect">
            <a:avLst>
              <a:gd name="adj" fmla="val 10000"/>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HOW TO WRITE ABOUT ONE</a:t>
            </a:r>
            <a:endParaRPr lang="en-US" sz="1600" dirty="0"/>
          </a:p>
        </p:txBody>
      </p:sp>
      <p:sp>
        <p:nvSpPr>
          <p:cNvPr id="20" name="Shape 17"/>
          <p:cNvSpPr/>
          <p:nvPr/>
        </p:nvSpPr>
        <p:spPr>
          <a:xfrm>
            <a:off x="3291840" y="3904488"/>
            <a:ext cx="8321040" cy="914400"/>
          </a:xfrm>
          <a:prstGeom prst="roundRect">
            <a:avLst>
              <a:gd name="adj" fmla="val 8000"/>
            </a:avLst>
          </a:prstGeom>
          <a:solidFill>
            <a:srgbClr val="FEF7E4"/>
          </a:solidFill>
          <a:ln w="12700">
            <a:solidFill>
              <a:srgbClr val="E5D9B0"/>
            </a:solidFill>
            <a:prstDash val="solid"/>
          </a:ln>
        </p:spPr>
      </p:sp>
      <p:sp>
        <p:nvSpPr>
          <p:cNvPr id="21" name="Text 18"/>
          <p:cNvSpPr/>
          <p:nvPr/>
        </p:nvSpPr>
        <p:spPr>
          <a:xfrm>
            <a:off x="3456432" y="3904488"/>
            <a:ext cx="800100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Never 'the theme is journey'. Instead: 'The writer shows that a journey costs…' — a claim, then evidence.</a:t>
            </a:r>
            <a:endParaRPr lang="en-US" sz="1800" dirty="0"/>
          </a:p>
        </p:txBody>
      </p:sp>
      <p:sp>
        <p:nvSpPr>
          <p:cNvPr id="22" name="Text 19"/>
          <p:cNvSpPr/>
          <p:nvPr/>
        </p:nvSpPr>
        <p:spPr>
          <a:xfrm>
            <a:off x="548640" y="5715000"/>
            <a:ext cx="11064240" cy="365760"/>
          </a:xfrm>
          <a:prstGeom prst="rect">
            <a:avLst/>
          </a:prstGeom>
          <a:noFill/>
          <a:ln/>
        </p:spPr>
        <p:txBody>
          <a:bodyPr wrap="square" lIns="0" tIns="0" rIns="0" bIns="0" rtlCol="0" anchor="ctr"/>
          <a:lstStyle/>
          <a:p>
            <a:pPr algn="l" indent="0" marL="0">
              <a:buNone/>
            </a:pPr>
            <a:r>
              <a:rPr lang="en-US" sz="1500" b="1" i="1" dirty="0">
                <a:solidFill>
                  <a:srgbClr val="12294D"/>
                </a:solidFill>
                <a:latin typeface="Arial" pitchFamily="34" charset="0"/>
                <a:ea typeface="Arial" pitchFamily="34" charset="-122"/>
                <a:cs typeface="Arial" pitchFamily="34" charset="-120"/>
              </a:rPr>
              <a:t>➜  Theme = a big idea + what the writer SAYS about it.</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6C3A6E"/>
          </a:solidFill>
          <a:ln w="12700">
            <a:solidFill>
              <a:srgbClr val="6C3A6E"/>
            </a:solidFill>
            <a:prstDash val="solid"/>
          </a:ln>
        </p:spPr>
      </p:sp>
      <p:pic>
        <p:nvPicPr>
          <p:cNvPr id="3" name="Image 0" descr="/home/claude/english/kit/decks/_icons/columns-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FE6F0"/>
          </a:solidFill>
          <a:ln>
            <a:solidFill>
              <a:srgbClr val="EFE6F0"/>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Four themes, side by side</a:t>
            </a:r>
            <a:endParaRPr lang="en-US" sz="2400" dirty="0"/>
          </a:p>
        </p:txBody>
      </p:sp>
      <p:sp>
        <p:nvSpPr>
          <p:cNvPr id="5" name="Text 2"/>
          <p:cNvSpPr/>
          <p:nvPr/>
        </p:nvSpPr>
        <p:spPr>
          <a:xfrm>
            <a:off x="9784080" y="457200"/>
            <a:ext cx="1874520" cy="566928"/>
          </a:xfrm>
          <a:prstGeom prst="roundRect">
            <a:avLst>
              <a:gd name="adj" fmla="val 16129"/>
            </a:avLst>
          </a:prstGeom>
          <a:solidFill>
            <a:srgbClr val="6C3A6E"/>
          </a:solidFill>
          <a:ln>
            <a:solidFill>
              <a:srgbClr val="6C3A6E"/>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8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Where each theme lives in the story. Add one more moment to each column from the read-along.</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6C3A6E"/>
          </a:solidFill>
          <a:ln>
            <a:solidFill>
              <a:srgbClr val="6C3A6E"/>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Modern Novel: Binti · Themes: journey and belonging</a:t>
            </a:r>
            <a:endParaRPr lang="en-US" sz="900" dirty="0"/>
          </a:p>
        </p:txBody>
      </p:sp>
      <p:sp>
        <p:nvSpPr>
          <p:cNvPr id="13" name="Shape 10"/>
          <p:cNvSpPr/>
          <p:nvPr/>
        </p:nvSpPr>
        <p:spPr>
          <a:xfrm>
            <a:off x="548640" y="1828800"/>
            <a:ext cx="2594610" cy="868680"/>
          </a:xfrm>
          <a:prstGeom prst="roundRect">
            <a:avLst>
              <a:gd name="adj" fmla="val 8421"/>
            </a:avLst>
          </a:prstGeom>
          <a:solidFill>
            <a:srgbClr val="12294D"/>
          </a:solidFill>
          <a:ln w="12700">
            <a:solidFill>
              <a:srgbClr val="12294D"/>
            </a:solidFill>
            <a:prstDash val="solid"/>
          </a:ln>
        </p:spPr>
      </p:sp>
      <p:sp>
        <p:nvSpPr>
          <p:cNvPr id="14" name="Text 11"/>
          <p:cNvSpPr/>
          <p:nvPr/>
        </p:nvSpPr>
        <p:spPr>
          <a:xfrm>
            <a:off x="640080" y="1874520"/>
            <a:ext cx="2411730" cy="50292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Journey</a:t>
            </a:r>
            <a:endParaRPr lang="en-US" sz="1600" dirty="0"/>
          </a:p>
        </p:txBody>
      </p:sp>
      <p:sp>
        <p:nvSpPr>
          <p:cNvPr id="15" name="Text 12"/>
          <p:cNvSpPr/>
          <p:nvPr/>
        </p:nvSpPr>
        <p:spPr>
          <a:xfrm>
            <a:off x="640080" y="2331720"/>
            <a:ext cx="2411730" cy="320040"/>
          </a:xfrm>
          <a:prstGeom prst="rect">
            <a:avLst/>
          </a:prstGeom>
          <a:noFill/>
          <a:ln/>
        </p:spPr>
        <p:txBody>
          <a:bodyPr wrap="square" lIns="0" tIns="0" rIns="0" bIns="0" rtlCol="0" anchor="ctr"/>
          <a:lstStyle/>
          <a:p>
            <a:pPr algn="l" indent="0" marL="0">
              <a:buNone/>
            </a:pPr>
            <a:r>
              <a:rPr lang="en-US" sz="1400" i="1" dirty="0">
                <a:solidFill>
                  <a:srgbClr val="F4F6FA"/>
                </a:solidFill>
                <a:latin typeface="Arial" pitchFamily="34" charset="0"/>
                <a:ea typeface="Arial" pitchFamily="34" charset="-122"/>
                <a:cs typeface="Arial" pitchFamily="34" charset="-120"/>
              </a:rPr>
              <a:t>leaving</a:t>
            </a:r>
            <a:endParaRPr lang="en-US" sz="1400" dirty="0"/>
          </a:p>
        </p:txBody>
      </p:sp>
      <p:sp>
        <p:nvSpPr>
          <p:cNvPr id="16" name="Shape 13"/>
          <p:cNvSpPr/>
          <p:nvPr/>
        </p:nvSpPr>
        <p:spPr>
          <a:xfrm>
            <a:off x="548640" y="2788920"/>
            <a:ext cx="2594610" cy="3291840"/>
          </a:xfrm>
          <a:prstGeom prst="roundRect">
            <a:avLst>
              <a:gd name="adj" fmla="val 2115"/>
            </a:avLst>
          </a:prstGeom>
          <a:solidFill>
            <a:srgbClr val="FBF0D8"/>
          </a:solidFill>
          <a:ln w="12700">
            <a:solidFill>
              <a:srgbClr val="12294D"/>
            </a:solidFill>
            <a:prstDash val="solid"/>
          </a:ln>
        </p:spPr>
      </p:sp>
      <p:sp>
        <p:nvSpPr>
          <p:cNvPr id="17" name="Text 14"/>
          <p:cNvSpPr/>
          <p:nvPr/>
        </p:nvSpPr>
        <p:spPr>
          <a:xfrm>
            <a:off x="658368" y="2880360"/>
            <a:ext cx="2375154" cy="3108960"/>
          </a:xfrm>
          <a:prstGeom prst="rect">
            <a:avLst/>
          </a:prstGeom>
          <a:noFill/>
          <a:ln/>
        </p:spPr>
        <p:txBody>
          <a:bodyPr wrap="square" lIns="45720" tIns="91440" rIns="91440" bIns="45720" rtlCol="0" anchor="t"/>
          <a:lstStyle/>
          <a:p>
            <a:pPr algn="l" indent="0" marL="0">
              <a:buNone/>
            </a:pPr>
            <a:r>
              <a:rPr lang="en-US" sz="1800" dirty="0">
                <a:solidFill>
                  <a:srgbClr val="16171F"/>
                </a:solidFill>
                <a:latin typeface="Arial" pitchFamily="34" charset="0"/>
                <a:ea typeface="Arial" pitchFamily="34" charset="-122"/>
                <a:cs typeface="Arial" pitchFamily="34" charset="-120"/>
              </a:rPr>
              <a:t>Walking away in the dark. Weeks on a living ship. Arriving changed — the traveller who lands is not the one who left.</a:t>
            </a:r>
            <a:endParaRPr lang="en-US" sz="1800" dirty="0"/>
          </a:p>
        </p:txBody>
      </p:sp>
      <p:sp>
        <p:nvSpPr>
          <p:cNvPr id="18" name="Shape 15"/>
          <p:cNvSpPr/>
          <p:nvPr/>
        </p:nvSpPr>
        <p:spPr>
          <a:xfrm>
            <a:off x="3371850" y="1828800"/>
            <a:ext cx="2594610" cy="868680"/>
          </a:xfrm>
          <a:prstGeom prst="roundRect">
            <a:avLst>
              <a:gd name="adj" fmla="val 8421"/>
            </a:avLst>
          </a:prstGeom>
          <a:solidFill>
            <a:srgbClr val="00A08A"/>
          </a:solidFill>
          <a:ln w="12700">
            <a:solidFill>
              <a:srgbClr val="00A08A"/>
            </a:solidFill>
            <a:prstDash val="solid"/>
          </a:ln>
        </p:spPr>
      </p:sp>
      <p:sp>
        <p:nvSpPr>
          <p:cNvPr id="19" name="Text 16"/>
          <p:cNvSpPr/>
          <p:nvPr/>
        </p:nvSpPr>
        <p:spPr>
          <a:xfrm>
            <a:off x="3463290" y="1874520"/>
            <a:ext cx="2411730" cy="50292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Belonging</a:t>
            </a:r>
            <a:endParaRPr lang="en-US" sz="1600" dirty="0"/>
          </a:p>
        </p:txBody>
      </p:sp>
      <p:sp>
        <p:nvSpPr>
          <p:cNvPr id="20" name="Text 17"/>
          <p:cNvSpPr/>
          <p:nvPr/>
        </p:nvSpPr>
        <p:spPr>
          <a:xfrm>
            <a:off x="3463290" y="2331720"/>
            <a:ext cx="2411730" cy="320040"/>
          </a:xfrm>
          <a:prstGeom prst="rect">
            <a:avLst/>
          </a:prstGeom>
          <a:noFill/>
          <a:ln/>
        </p:spPr>
        <p:txBody>
          <a:bodyPr wrap="square" lIns="0" tIns="0" rIns="0" bIns="0" rtlCol="0" anchor="ctr"/>
          <a:lstStyle/>
          <a:p>
            <a:pPr algn="l" indent="0" marL="0">
              <a:buNone/>
            </a:pPr>
            <a:r>
              <a:rPr lang="en-US" sz="1400" i="1" dirty="0">
                <a:solidFill>
                  <a:srgbClr val="F4F6FA"/>
                </a:solidFill>
                <a:latin typeface="Arial" pitchFamily="34" charset="0"/>
                <a:ea typeface="Arial" pitchFamily="34" charset="-122"/>
                <a:cs typeface="Arial" pitchFamily="34" charset="-120"/>
              </a:rPr>
              <a:t>fitting in</a:t>
            </a:r>
            <a:endParaRPr lang="en-US" sz="1400" dirty="0"/>
          </a:p>
        </p:txBody>
      </p:sp>
      <p:sp>
        <p:nvSpPr>
          <p:cNvPr id="21" name="Shape 18"/>
          <p:cNvSpPr/>
          <p:nvPr/>
        </p:nvSpPr>
        <p:spPr>
          <a:xfrm>
            <a:off x="3371850" y="2788920"/>
            <a:ext cx="2594610" cy="3291840"/>
          </a:xfrm>
          <a:prstGeom prst="roundRect">
            <a:avLst>
              <a:gd name="adj" fmla="val 2115"/>
            </a:avLst>
          </a:prstGeom>
          <a:solidFill>
            <a:srgbClr val="E4F3EF"/>
          </a:solidFill>
          <a:ln w="12700">
            <a:solidFill>
              <a:srgbClr val="00A08A"/>
            </a:solidFill>
            <a:prstDash val="solid"/>
          </a:ln>
        </p:spPr>
      </p:sp>
      <p:sp>
        <p:nvSpPr>
          <p:cNvPr id="22" name="Text 19"/>
          <p:cNvSpPr/>
          <p:nvPr/>
        </p:nvSpPr>
        <p:spPr>
          <a:xfrm>
            <a:off x="3481578" y="2880360"/>
            <a:ext cx="2375154" cy="3108960"/>
          </a:xfrm>
          <a:prstGeom prst="rect">
            <a:avLst/>
          </a:prstGeom>
          <a:noFill/>
          <a:ln/>
        </p:spPr>
        <p:txBody>
          <a:bodyPr wrap="square" lIns="45720" tIns="91440" rIns="91440" bIns="45720" rtlCol="0" anchor="t"/>
          <a:lstStyle/>
          <a:p>
            <a:pPr algn="l" indent="0" marL="0">
              <a:buNone/>
            </a:pPr>
            <a:r>
              <a:rPr lang="en-US" sz="1800" dirty="0">
                <a:solidFill>
                  <a:srgbClr val="16171F"/>
                </a:solidFill>
                <a:latin typeface="Arial" pitchFamily="34" charset="0"/>
                <a:ea typeface="Arial" pitchFamily="34" charset="-122"/>
                <a:cs typeface="Arial" pitchFamily="34" charset="-120"/>
              </a:rPr>
              <a:t>Stared at for her clay, then asked about it. New friends. Then, at the end, a new kind of hair — and both worlds hers.</a:t>
            </a:r>
            <a:endParaRPr lang="en-US" sz="1800" dirty="0"/>
          </a:p>
        </p:txBody>
      </p:sp>
      <p:sp>
        <p:nvSpPr>
          <p:cNvPr id="23" name="Shape 20"/>
          <p:cNvSpPr/>
          <p:nvPr/>
        </p:nvSpPr>
        <p:spPr>
          <a:xfrm>
            <a:off x="6195060" y="1828800"/>
            <a:ext cx="2594610" cy="868680"/>
          </a:xfrm>
          <a:prstGeom prst="roundRect">
            <a:avLst>
              <a:gd name="adj" fmla="val 8421"/>
            </a:avLst>
          </a:prstGeom>
          <a:solidFill>
            <a:srgbClr val="FF5470"/>
          </a:solidFill>
          <a:ln w="12700">
            <a:solidFill>
              <a:srgbClr val="FF5470"/>
            </a:solidFill>
            <a:prstDash val="solid"/>
          </a:ln>
        </p:spPr>
      </p:sp>
      <p:sp>
        <p:nvSpPr>
          <p:cNvPr id="24" name="Text 21"/>
          <p:cNvSpPr/>
          <p:nvPr/>
        </p:nvSpPr>
        <p:spPr>
          <a:xfrm>
            <a:off x="6286500" y="1874520"/>
            <a:ext cx="2411730" cy="50292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Conflict</a:t>
            </a:r>
            <a:endParaRPr lang="en-US" sz="1600" dirty="0"/>
          </a:p>
        </p:txBody>
      </p:sp>
      <p:sp>
        <p:nvSpPr>
          <p:cNvPr id="25" name="Text 22"/>
          <p:cNvSpPr/>
          <p:nvPr/>
        </p:nvSpPr>
        <p:spPr>
          <a:xfrm>
            <a:off x="6286500" y="2331720"/>
            <a:ext cx="2411730" cy="320040"/>
          </a:xfrm>
          <a:prstGeom prst="rect">
            <a:avLst/>
          </a:prstGeom>
          <a:noFill/>
          <a:ln/>
        </p:spPr>
        <p:txBody>
          <a:bodyPr wrap="square" lIns="0" tIns="0" rIns="0" bIns="0" rtlCol="0" anchor="ctr"/>
          <a:lstStyle/>
          <a:p>
            <a:pPr algn="l" indent="0" marL="0">
              <a:buNone/>
            </a:pPr>
            <a:r>
              <a:rPr lang="en-US" sz="1400" i="1" dirty="0">
                <a:solidFill>
                  <a:srgbClr val="F4F6FA"/>
                </a:solidFill>
                <a:latin typeface="Arial" pitchFamily="34" charset="0"/>
                <a:ea typeface="Arial" pitchFamily="34" charset="-122"/>
                <a:cs typeface="Arial" pitchFamily="34" charset="-120"/>
              </a:rPr>
              <a:t>the attack</a:t>
            </a:r>
            <a:endParaRPr lang="en-US" sz="1400" dirty="0"/>
          </a:p>
        </p:txBody>
      </p:sp>
      <p:sp>
        <p:nvSpPr>
          <p:cNvPr id="26" name="Shape 23"/>
          <p:cNvSpPr/>
          <p:nvPr/>
        </p:nvSpPr>
        <p:spPr>
          <a:xfrm>
            <a:off x="6195060" y="2788920"/>
            <a:ext cx="2594610" cy="3291840"/>
          </a:xfrm>
          <a:prstGeom prst="roundRect">
            <a:avLst>
              <a:gd name="adj" fmla="val 2115"/>
            </a:avLst>
          </a:prstGeom>
          <a:solidFill>
            <a:srgbClr val="FBE4E4"/>
          </a:solidFill>
          <a:ln w="12700">
            <a:solidFill>
              <a:srgbClr val="FF5470"/>
            </a:solidFill>
            <a:prstDash val="solid"/>
          </a:ln>
        </p:spPr>
      </p:sp>
      <p:sp>
        <p:nvSpPr>
          <p:cNvPr id="27" name="Text 24"/>
          <p:cNvSpPr/>
          <p:nvPr/>
        </p:nvSpPr>
        <p:spPr>
          <a:xfrm>
            <a:off x="6304788" y="2880360"/>
            <a:ext cx="2375154" cy="3108960"/>
          </a:xfrm>
          <a:prstGeom prst="rect">
            <a:avLst/>
          </a:prstGeom>
          <a:noFill/>
          <a:ln/>
        </p:spPr>
        <p:txBody>
          <a:bodyPr wrap="square" lIns="45720" tIns="91440" rIns="91440" bIns="45720" rtlCol="0" anchor="t"/>
          <a:lstStyle/>
          <a:p>
            <a:pPr algn="l" indent="0" marL="0">
              <a:buNone/>
            </a:pPr>
            <a:r>
              <a:rPr lang="en-US" sz="1800" dirty="0">
                <a:solidFill>
                  <a:srgbClr val="16171F"/>
                </a:solidFill>
                <a:latin typeface="Arial" pitchFamily="34" charset="0"/>
                <a:ea typeface="Arial" pitchFamily="34" charset="-122"/>
                <a:cs typeface="Arial" pitchFamily="34" charset="-120"/>
              </a:rPr>
              <a:t>The Meduse board the ship. Their chief's stinger was stolen and shown in a museum. Anger that has a reason.</a:t>
            </a:r>
            <a:endParaRPr lang="en-US" sz="1800" dirty="0"/>
          </a:p>
        </p:txBody>
      </p:sp>
      <p:sp>
        <p:nvSpPr>
          <p:cNvPr id="28" name="Shape 25"/>
          <p:cNvSpPr/>
          <p:nvPr/>
        </p:nvSpPr>
        <p:spPr>
          <a:xfrm>
            <a:off x="9018270" y="1828800"/>
            <a:ext cx="2594610" cy="868680"/>
          </a:xfrm>
          <a:prstGeom prst="roundRect">
            <a:avLst>
              <a:gd name="adj" fmla="val 8421"/>
            </a:avLst>
          </a:prstGeom>
          <a:solidFill>
            <a:srgbClr val="6C3A6E"/>
          </a:solidFill>
          <a:ln w="12700">
            <a:solidFill>
              <a:srgbClr val="6C3A6E"/>
            </a:solidFill>
            <a:prstDash val="solid"/>
          </a:ln>
        </p:spPr>
      </p:sp>
      <p:sp>
        <p:nvSpPr>
          <p:cNvPr id="29" name="Text 26"/>
          <p:cNvSpPr/>
          <p:nvPr/>
        </p:nvSpPr>
        <p:spPr>
          <a:xfrm>
            <a:off x="9109710" y="1874520"/>
            <a:ext cx="2411730" cy="50292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Reconciliation</a:t>
            </a:r>
            <a:endParaRPr lang="en-US" sz="1600" dirty="0"/>
          </a:p>
        </p:txBody>
      </p:sp>
      <p:sp>
        <p:nvSpPr>
          <p:cNvPr id="30" name="Text 27"/>
          <p:cNvSpPr/>
          <p:nvPr/>
        </p:nvSpPr>
        <p:spPr>
          <a:xfrm>
            <a:off x="9109710" y="2331720"/>
            <a:ext cx="2411730" cy="320040"/>
          </a:xfrm>
          <a:prstGeom prst="rect">
            <a:avLst/>
          </a:prstGeom>
          <a:noFill/>
          <a:ln/>
        </p:spPr>
        <p:txBody>
          <a:bodyPr wrap="square" lIns="0" tIns="0" rIns="0" bIns="0" rtlCol="0" anchor="ctr"/>
          <a:lstStyle/>
          <a:p>
            <a:pPr algn="l" indent="0" marL="0">
              <a:buNone/>
            </a:pPr>
            <a:r>
              <a:rPr lang="en-US" sz="1400" i="1" dirty="0">
                <a:solidFill>
                  <a:srgbClr val="F4F6FA"/>
                </a:solidFill>
                <a:latin typeface="Arial" pitchFamily="34" charset="0"/>
                <a:ea typeface="Arial" pitchFamily="34" charset="-122"/>
                <a:cs typeface="Arial" pitchFamily="34" charset="-120"/>
              </a:rPr>
              <a:t>peace</a:t>
            </a:r>
            <a:endParaRPr lang="en-US" sz="1400" dirty="0"/>
          </a:p>
        </p:txBody>
      </p:sp>
      <p:sp>
        <p:nvSpPr>
          <p:cNvPr id="31" name="Shape 28"/>
          <p:cNvSpPr/>
          <p:nvPr/>
        </p:nvSpPr>
        <p:spPr>
          <a:xfrm>
            <a:off x="9018270" y="2788920"/>
            <a:ext cx="2594610" cy="3291840"/>
          </a:xfrm>
          <a:prstGeom prst="roundRect">
            <a:avLst>
              <a:gd name="adj" fmla="val 2115"/>
            </a:avLst>
          </a:prstGeom>
          <a:solidFill>
            <a:srgbClr val="EFE6F0"/>
          </a:solidFill>
          <a:ln w="12700">
            <a:solidFill>
              <a:srgbClr val="6C3A6E"/>
            </a:solidFill>
            <a:prstDash val="solid"/>
          </a:ln>
        </p:spPr>
      </p:sp>
      <p:sp>
        <p:nvSpPr>
          <p:cNvPr id="32" name="Text 29"/>
          <p:cNvSpPr/>
          <p:nvPr/>
        </p:nvSpPr>
        <p:spPr>
          <a:xfrm>
            <a:off x="9127998" y="2880360"/>
            <a:ext cx="2375154" cy="3108960"/>
          </a:xfrm>
          <a:prstGeom prst="rect">
            <a:avLst/>
          </a:prstGeom>
          <a:noFill/>
          <a:ln/>
        </p:spPr>
        <p:txBody>
          <a:bodyPr wrap="square" lIns="45720" tIns="91440" rIns="91440" bIns="45720" rtlCol="0" anchor="t"/>
          <a:lstStyle/>
          <a:p>
            <a:pPr algn="l" indent="0" marL="0">
              <a:buNone/>
            </a:pPr>
            <a:r>
              <a:rPr lang="en-US" sz="1800" dirty="0">
                <a:solidFill>
                  <a:srgbClr val="16171F"/>
                </a:solidFill>
                <a:latin typeface="Arial" pitchFamily="34" charset="0"/>
                <a:ea typeface="Arial" pitchFamily="34" charset="-122"/>
                <a:cs typeface="Arial" pitchFamily="34" charset="-120"/>
              </a:rPr>
              <a:t>The edan lets two peoples hear each other. Binti speaks for the Meduse; the stinger goes back. A bridge, not a wall.</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6C3A6E"/>
          </a:solidFill>
          <a:ln w="12700">
            <a:solidFill>
              <a:srgbClr val="6C3A6E"/>
            </a:solidFill>
            <a:prstDash val="solid"/>
          </a:ln>
        </p:spPr>
      </p:sp>
      <p:pic>
        <p:nvPicPr>
          <p:cNvPr id="3" name="Image 0" descr="/home/claude/english/kit/decks/_icons/file-text-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FE6F0"/>
          </a:solidFill>
          <a:ln>
            <a:solidFill>
              <a:srgbClr val="EFE6F0"/>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Read the extract</a:t>
            </a:r>
            <a:endParaRPr lang="en-US" sz="2400" dirty="0"/>
          </a:p>
        </p:txBody>
      </p:sp>
      <p:sp>
        <p:nvSpPr>
          <p:cNvPr id="5" name="Text 2"/>
          <p:cNvSpPr/>
          <p:nvPr/>
        </p:nvSpPr>
        <p:spPr>
          <a:xfrm>
            <a:off x="9784080" y="457200"/>
            <a:ext cx="1874520" cy="566928"/>
          </a:xfrm>
          <a:prstGeom prst="roundRect">
            <a:avLst>
              <a:gd name="adj" fmla="val 16129"/>
            </a:avLst>
          </a:prstGeom>
          <a:solidFill>
            <a:srgbClr val="6C3A6E"/>
          </a:solidFill>
          <a:ln>
            <a:solidFill>
              <a:srgbClr val="6C3A6E"/>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7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Original prose written for this lesson: two enemies, one small room. Which themes are in play?</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6C3A6E"/>
          </a:solidFill>
          <a:ln>
            <a:solidFill>
              <a:srgbClr val="6C3A6E"/>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Modern Novel: Binti · Themes: journey and belonging</a:t>
            </a:r>
            <a:endParaRPr lang="en-US" sz="900" dirty="0"/>
          </a:p>
        </p:txBody>
      </p:sp>
      <p:sp>
        <p:nvSpPr>
          <p:cNvPr id="13" name="Shape 10"/>
          <p:cNvSpPr/>
          <p:nvPr/>
        </p:nvSpPr>
        <p:spPr>
          <a:xfrm>
            <a:off x="548640" y="1783080"/>
            <a:ext cx="6949440" cy="4343400"/>
          </a:xfrm>
          <a:prstGeom prst="roundRect">
            <a:avLst>
              <a:gd name="adj" fmla="val 1263"/>
            </a:avLst>
          </a:prstGeom>
          <a:solidFill>
            <a:srgbClr val="FEF7E4"/>
          </a:solidFill>
          <a:ln w="12700">
            <a:solidFill>
              <a:srgbClr val="E5D9B0"/>
            </a:solidFill>
            <a:prstDash val="solid"/>
          </a:ln>
        </p:spPr>
      </p:sp>
      <p:sp>
        <p:nvSpPr>
          <p:cNvPr id="14" name="Text 11"/>
          <p:cNvSpPr/>
          <p:nvPr/>
        </p:nvSpPr>
        <p:spPr>
          <a:xfrm>
            <a:off x="731520" y="1874520"/>
            <a:ext cx="6583680" cy="274320"/>
          </a:xfrm>
          <a:prstGeom prst="rect">
            <a:avLst/>
          </a:prstGeom>
          <a:noFill/>
          <a:ln/>
        </p:spPr>
        <p:txBody>
          <a:bodyPr wrap="square" lIns="0" tIns="0" rIns="0" bIns="0" rtlCol="0" anchor="ctr"/>
          <a:lstStyle/>
          <a:p>
            <a:pPr indent="0" marL="0">
              <a:buNone/>
            </a:pPr>
            <a:r>
              <a:rPr lang="en-US" sz="1100" b="1" spc="100" kern="0" dirty="0">
                <a:solidFill>
                  <a:srgbClr val="8A6D00"/>
                </a:solidFill>
                <a:latin typeface="Arial" pitchFamily="34" charset="0"/>
                <a:ea typeface="Arial" pitchFamily="34" charset="-122"/>
                <a:cs typeface="Arial" pitchFamily="34" charset="-120"/>
              </a:rPr>
              <a:t>ORIGINAL PROSE WRITTEN FOR THIS LESSON — NOT FROM THE NOVEL</a:t>
            </a:r>
            <a:endParaRPr lang="en-US" sz="1100" dirty="0"/>
          </a:p>
        </p:txBody>
      </p:sp>
      <p:sp>
        <p:nvSpPr>
          <p:cNvPr id="15" name="Text 12"/>
          <p:cNvSpPr/>
          <p:nvPr/>
        </p:nvSpPr>
        <p:spPr>
          <a:xfrm>
            <a:off x="685800" y="2176272"/>
            <a:ext cx="6675120" cy="3840480"/>
          </a:xfrm>
          <a:prstGeom prst="rect">
            <a:avLst/>
          </a:prstGeom>
          <a:noFill/>
          <a:ln/>
        </p:spPr>
        <p:txBody>
          <a:bodyPr wrap="square" lIns="91440" tIns="137160" rIns="137160" bIns="91440" rtlCol="0" anchor="t"/>
          <a:lstStyle/>
          <a:p>
            <a:pPr algn="l" indent="0" marL="0">
              <a:buNone/>
            </a:pPr>
            <a:r>
              <a:rPr lang="en-US" sz="1800" dirty="0">
                <a:solidFill>
                  <a:srgbClr val="16171F"/>
                </a:solidFill>
                <a:latin typeface="Arial" pitchFamily="34" charset="0"/>
                <a:ea typeface="Arial" pitchFamily="34" charset="-122"/>
                <a:cs typeface="Arial" pitchFamily="34" charset="-120"/>
              </a:rPr>
              <a:t>The creature filled the doorway, blue and trembling, its long arms lifting and falling like weed in a tide. Amara held the stone in both hands and it grew warm. Then, inside her head, a voice that was not a voice: Why do you not run? She did not know she could answer until she had. Because you would follow. A long pause. The arms settled. We did not come for you, it said. We came for what was taken. Amara lowered the stone an inch. Then tell me, she said, and I will tell them.</a:t>
            </a:r>
            <a:endParaRPr lang="en-US" sz="1800" dirty="0"/>
          </a:p>
        </p:txBody>
      </p:sp>
      <p:sp>
        <p:nvSpPr>
          <p:cNvPr id="16" name="Text 13"/>
          <p:cNvSpPr/>
          <p:nvPr/>
        </p:nvSpPr>
        <p:spPr>
          <a:xfrm>
            <a:off x="7726680" y="1783080"/>
            <a:ext cx="502920" cy="548640"/>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1</a:t>
            </a:r>
            <a:endParaRPr lang="en-US" sz="1800" dirty="0"/>
          </a:p>
        </p:txBody>
      </p:sp>
      <p:sp>
        <p:nvSpPr>
          <p:cNvPr id="17" name="Shape 14"/>
          <p:cNvSpPr/>
          <p:nvPr/>
        </p:nvSpPr>
        <p:spPr>
          <a:xfrm>
            <a:off x="8321040" y="1783080"/>
            <a:ext cx="3291840" cy="960120"/>
          </a:xfrm>
          <a:prstGeom prst="roundRect">
            <a:avLst>
              <a:gd name="adj" fmla="val 6667"/>
            </a:avLst>
          </a:prstGeom>
          <a:solidFill>
            <a:srgbClr val="FFFFFF"/>
          </a:solidFill>
          <a:ln w="12700">
            <a:solidFill>
              <a:srgbClr val="80ADC4"/>
            </a:solidFill>
            <a:prstDash val="solid"/>
          </a:ln>
        </p:spPr>
      </p:sp>
      <p:sp>
        <p:nvSpPr>
          <p:cNvPr id="18" name="Text 15"/>
          <p:cNvSpPr/>
          <p:nvPr/>
        </p:nvSpPr>
        <p:spPr>
          <a:xfrm>
            <a:off x="8366760" y="1783080"/>
            <a:ext cx="3200400" cy="96012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Which of the four themes is strongest here? Prove it.</a:t>
            </a:r>
            <a:endParaRPr lang="en-US" sz="1800" dirty="0"/>
          </a:p>
        </p:txBody>
      </p:sp>
      <p:sp>
        <p:nvSpPr>
          <p:cNvPr id="19" name="Text 16"/>
          <p:cNvSpPr/>
          <p:nvPr/>
        </p:nvSpPr>
        <p:spPr>
          <a:xfrm>
            <a:off x="7726680" y="2889504"/>
            <a:ext cx="502920" cy="548640"/>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2</a:t>
            </a:r>
            <a:endParaRPr lang="en-US" sz="1800" dirty="0"/>
          </a:p>
        </p:txBody>
      </p:sp>
      <p:sp>
        <p:nvSpPr>
          <p:cNvPr id="20" name="Shape 17"/>
          <p:cNvSpPr/>
          <p:nvPr/>
        </p:nvSpPr>
        <p:spPr>
          <a:xfrm>
            <a:off x="8321040" y="2889504"/>
            <a:ext cx="3291840" cy="960120"/>
          </a:xfrm>
          <a:prstGeom prst="roundRect">
            <a:avLst>
              <a:gd name="adj" fmla="val 6667"/>
            </a:avLst>
          </a:prstGeom>
          <a:solidFill>
            <a:srgbClr val="FFFFFF"/>
          </a:solidFill>
          <a:ln w="12700">
            <a:solidFill>
              <a:srgbClr val="80ADC4"/>
            </a:solidFill>
            <a:prstDash val="solid"/>
          </a:ln>
        </p:spPr>
      </p:sp>
      <p:sp>
        <p:nvSpPr>
          <p:cNvPr id="21" name="Text 18"/>
          <p:cNvSpPr/>
          <p:nvPr/>
        </p:nvSpPr>
        <p:spPr>
          <a:xfrm>
            <a:off x="8366760" y="2889504"/>
            <a:ext cx="3200400" cy="96012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Find the moment the conflict starts to turn. What changes?</a:t>
            </a:r>
            <a:endParaRPr lang="en-US" sz="1800" dirty="0"/>
          </a:p>
        </p:txBody>
      </p:sp>
      <p:sp>
        <p:nvSpPr>
          <p:cNvPr id="22" name="Text 19"/>
          <p:cNvSpPr/>
          <p:nvPr/>
        </p:nvSpPr>
        <p:spPr>
          <a:xfrm>
            <a:off x="7726680" y="3995928"/>
            <a:ext cx="502920" cy="548640"/>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3</a:t>
            </a:r>
            <a:endParaRPr lang="en-US" sz="1800" dirty="0"/>
          </a:p>
        </p:txBody>
      </p:sp>
      <p:sp>
        <p:nvSpPr>
          <p:cNvPr id="23" name="Shape 20"/>
          <p:cNvSpPr/>
          <p:nvPr/>
        </p:nvSpPr>
        <p:spPr>
          <a:xfrm>
            <a:off x="8321040" y="3995928"/>
            <a:ext cx="3291840" cy="960120"/>
          </a:xfrm>
          <a:prstGeom prst="roundRect">
            <a:avLst>
              <a:gd name="adj" fmla="val 6667"/>
            </a:avLst>
          </a:prstGeom>
          <a:solidFill>
            <a:srgbClr val="FFFFFF"/>
          </a:solidFill>
          <a:ln w="12700">
            <a:solidFill>
              <a:srgbClr val="80ADC4"/>
            </a:solidFill>
            <a:prstDash val="solid"/>
          </a:ln>
        </p:spPr>
      </p:sp>
      <p:sp>
        <p:nvSpPr>
          <p:cNvPr id="24" name="Text 21"/>
          <p:cNvSpPr/>
          <p:nvPr/>
        </p:nvSpPr>
        <p:spPr>
          <a:xfrm>
            <a:off x="8366760" y="3995928"/>
            <a:ext cx="3200400" cy="96012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Why does the writer make the alien's reason a THEFT?</a:t>
            </a:r>
            <a:endParaRPr lang="en-US" sz="1800" dirty="0"/>
          </a:p>
        </p:txBody>
      </p:sp>
      <p:sp>
        <p:nvSpPr>
          <p:cNvPr id="25" name="Text 22"/>
          <p:cNvSpPr/>
          <p:nvPr/>
        </p:nvSpPr>
        <p:spPr>
          <a:xfrm>
            <a:off x="7726680" y="5102352"/>
            <a:ext cx="502920" cy="548640"/>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4</a:t>
            </a:r>
            <a:endParaRPr lang="en-US" sz="1800" dirty="0"/>
          </a:p>
        </p:txBody>
      </p:sp>
      <p:sp>
        <p:nvSpPr>
          <p:cNvPr id="26" name="Shape 23"/>
          <p:cNvSpPr/>
          <p:nvPr/>
        </p:nvSpPr>
        <p:spPr>
          <a:xfrm>
            <a:off x="8321040" y="5102352"/>
            <a:ext cx="3291840" cy="960120"/>
          </a:xfrm>
          <a:prstGeom prst="roundRect">
            <a:avLst>
              <a:gd name="adj" fmla="val 6667"/>
            </a:avLst>
          </a:prstGeom>
          <a:solidFill>
            <a:srgbClr val="FFFFFF"/>
          </a:solidFill>
          <a:ln w="12700">
            <a:solidFill>
              <a:srgbClr val="80ADC4"/>
            </a:solidFill>
            <a:prstDash val="solid"/>
          </a:ln>
        </p:spPr>
      </p:sp>
      <p:sp>
        <p:nvSpPr>
          <p:cNvPr id="27" name="Text 24"/>
          <p:cNvSpPr/>
          <p:nvPr/>
        </p:nvSpPr>
        <p:spPr>
          <a:xfrm>
            <a:off x="8366760" y="5102352"/>
            <a:ext cx="3200400" cy="96012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What does 'I will tell them' promise about Amara's future?</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D0021B"/>
          </a:solidFill>
          <a:ln w="12700">
            <a:solidFill>
              <a:srgbClr val="D0021B"/>
            </a:solidFill>
            <a:prstDash val="solid"/>
          </a:ln>
        </p:spPr>
      </p:sp>
      <p:pic>
        <p:nvPicPr>
          <p:cNvPr id="3" name="Image 0" descr="/home/claude/english/kit/decks/_icons/bar-chart-2-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FDE6E9"/>
          </a:solidFill>
          <a:ln>
            <a:solidFill>
              <a:srgbClr val="FDE6E9"/>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Climb the ladder — the thematic paragraph</a:t>
            </a:r>
            <a:endParaRPr lang="en-US" sz="2400" dirty="0"/>
          </a:p>
        </p:txBody>
      </p:sp>
      <p:sp>
        <p:nvSpPr>
          <p:cNvPr id="5" name="Text 2"/>
          <p:cNvSpPr/>
          <p:nvPr/>
        </p:nvSpPr>
        <p:spPr>
          <a:xfrm>
            <a:off x="9784080" y="457200"/>
            <a:ext cx="1874520" cy="566928"/>
          </a:xfrm>
          <a:prstGeom prst="roundRect">
            <a:avLst>
              <a:gd name="adj" fmla="val 16129"/>
            </a:avLst>
          </a:prstGeom>
          <a:solidFill>
            <a:srgbClr val="D0021B"/>
          </a:solidFill>
          <a:ln>
            <a:solidFill>
              <a:srgbClr val="D0021B"/>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12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Each rung is harder. Full sentences. The top rung is your paragraph.</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D0021B"/>
          </a:solidFill>
          <a:ln>
            <a:solidFill>
              <a:srgbClr val="D0021B"/>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Modern Novel: Binti · Themes: journey and belonging</a:t>
            </a:r>
            <a:endParaRPr lang="en-US" sz="900" dirty="0"/>
          </a:p>
        </p:txBody>
      </p:sp>
      <p:sp>
        <p:nvSpPr>
          <p:cNvPr id="13" name="Text 10"/>
          <p:cNvSpPr/>
          <p:nvPr/>
        </p:nvSpPr>
        <p:spPr>
          <a:xfrm>
            <a:off x="548640" y="1783080"/>
            <a:ext cx="2148840" cy="749808"/>
          </a:xfrm>
          <a:prstGeom prst="roundRect">
            <a:avLst>
              <a:gd name="adj" fmla="val 12195"/>
            </a:avLst>
          </a:prstGeom>
          <a:solidFill>
            <a:srgbClr val="00A08A"/>
          </a:solidFill>
          <a:ln>
            <a:solidFill>
              <a:srgbClr val="00A08A"/>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UNDERSTAND</a:t>
            </a:r>
            <a:endParaRPr lang="en-US" sz="1400" dirty="0"/>
          </a:p>
        </p:txBody>
      </p:sp>
      <p:sp>
        <p:nvSpPr>
          <p:cNvPr id="14" name="Shape 11"/>
          <p:cNvSpPr/>
          <p:nvPr/>
        </p:nvSpPr>
        <p:spPr>
          <a:xfrm>
            <a:off x="2834640" y="1783080"/>
            <a:ext cx="8778240" cy="749808"/>
          </a:xfrm>
          <a:prstGeom prst="roundRect">
            <a:avLst>
              <a:gd name="adj" fmla="val 9756"/>
            </a:avLst>
          </a:prstGeom>
          <a:solidFill>
            <a:srgbClr val="F4F6FA"/>
          </a:solidFill>
          <a:ln w="12700">
            <a:solidFill>
              <a:srgbClr val="80ADC4"/>
            </a:solidFill>
            <a:prstDash val="solid"/>
          </a:ln>
        </p:spPr>
      </p:sp>
      <p:sp>
        <p:nvSpPr>
          <p:cNvPr id="15" name="Text 12"/>
          <p:cNvSpPr/>
          <p:nvPr/>
        </p:nvSpPr>
        <p:spPr>
          <a:xfrm>
            <a:off x="3017520" y="1783080"/>
            <a:ext cx="8412480" cy="74980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In three sentences: what happens in the extract, and which theme is it mostly about?</a:t>
            </a:r>
            <a:endParaRPr lang="en-US" sz="1800" dirty="0"/>
          </a:p>
        </p:txBody>
      </p:sp>
      <p:sp>
        <p:nvSpPr>
          <p:cNvPr id="16" name="Text 13"/>
          <p:cNvSpPr/>
          <p:nvPr/>
        </p:nvSpPr>
        <p:spPr>
          <a:xfrm>
            <a:off x="548640" y="2679192"/>
            <a:ext cx="2148840" cy="749808"/>
          </a:xfrm>
          <a:prstGeom prst="roundRect">
            <a:avLst>
              <a:gd name="adj" fmla="val 12195"/>
            </a:avLst>
          </a:prstGeom>
          <a:solidFill>
            <a:srgbClr val="6C3A6E"/>
          </a:solidFill>
          <a:ln>
            <a:solidFill>
              <a:srgbClr val="6C3A6E"/>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ANALYSE</a:t>
            </a:r>
            <a:endParaRPr lang="en-US" sz="1400" dirty="0"/>
          </a:p>
        </p:txBody>
      </p:sp>
      <p:sp>
        <p:nvSpPr>
          <p:cNvPr id="17" name="Shape 14"/>
          <p:cNvSpPr/>
          <p:nvPr/>
        </p:nvSpPr>
        <p:spPr>
          <a:xfrm>
            <a:off x="2834640" y="2679192"/>
            <a:ext cx="8778240" cy="749808"/>
          </a:xfrm>
          <a:prstGeom prst="roundRect">
            <a:avLst>
              <a:gd name="adj" fmla="val 9756"/>
            </a:avLst>
          </a:prstGeom>
          <a:solidFill>
            <a:srgbClr val="F4F6FA"/>
          </a:solidFill>
          <a:ln w="12700">
            <a:solidFill>
              <a:srgbClr val="80ADC4"/>
            </a:solidFill>
            <a:prstDash val="solid"/>
          </a:ln>
        </p:spPr>
      </p:sp>
      <p:sp>
        <p:nvSpPr>
          <p:cNvPr id="18" name="Text 15"/>
          <p:cNvSpPr/>
          <p:nvPr/>
        </p:nvSpPr>
        <p:spPr>
          <a:xfrm>
            <a:off x="3017520" y="2679192"/>
            <a:ext cx="8412480" cy="74980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Pick 'lowered the stone an inch'. What does that small action show about trust?</a:t>
            </a:r>
            <a:endParaRPr lang="en-US" sz="1800" dirty="0"/>
          </a:p>
        </p:txBody>
      </p:sp>
      <p:sp>
        <p:nvSpPr>
          <p:cNvPr id="19" name="Text 16"/>
          <p:cNvSpPr/>
          <p:nvPr/>
        </p:nvSpPr>
        <p:spPr>
          <a:xfrm>
            <a:off x="548640" y="3575304"/>
            <a:ext cx="2148840" cy="749808"/>
          </a:xfrm>
          <a:prstGeom prst="roundRect">
            <a:avLst>
              <a:gd name="adj" fmla="val 12195"/>
            </a:avLst>
          </a:prstGeom>
          <a:solidFill>
            <a:srgbClr val="6C3A6E"/>
          </a:solidFill>
          <a:ln>
            <a:solidFill>
              <a:srgbClr val="6C3A6E"/>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ANALYSE</a:t>
            </a:r>
            <a:endParaRPr lang="en-US" sz="1400" dirty="0"/>
          </a:p>
        </p:txBody>
      </p:sp>
      <p:sp>
        <p:nvSpPr>
          <p:cNvPr id="20" name="Shape 17"/>
          <p:cNvSpPr/>
          <p:nvPr/>
        </p:nvSpPr>
        <p:spPr>
          <a:xfrm>
            <a:off x="2834640" y="3575304"/>
            <a:ext cx="8778240" cy="749808"/>
          </a:xfrm>
          <a:prstGeom prst="roundRect">
            <a:avLst>
              <a:gd name="adj" fmla="val 9756"/>
            </a:avLst>
          </a:prstGeom>
          <a:solidFill>
            <a:srgbClr val="F4F6FA"/>
          </a:solidFill>
          <a:ln w="12700">
            <a:solidFill>
              <a:srgbClr val="80ADC4"/>
            </a:solidFill>
            <a:prstDash val="solid"/>
          </a:ln>
        </p:spPr>
      </p:sp>
      <p:sp>
        <p:nvSpPr>
          <p:cNvPr id="21" name="Text 18"/>
          <p:cNvSpPr/>
          <p:nvPr/>
        </p:nvSpPr>
        <p:spPr>
          <a:xfrm>
            <a:off x="3017520" y="3575304"/>
            <a:ext cx="8412480" cy="74980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How does the writer move the reader from fear to hope in under a hundred words?</a:t>
            </a:r>
            <a:endParaRPr lang="en-US" sz="1800" dirty="0"/>
          </a:p>
        </p:txBody>
      </p:sp>
      <p:sp>
        <p:nvSpPr>
          <p:cNvPr id="22" name="Text 19"/>
          <p:cNvSpPr/>
          <p:nvPr/>
        </p:nvSpPr>
        <p:spPr>
          <a:xfrm>
            <a:off x="548640" y="4471416"/>
            <a:ext cx="2148840" cy="749808"/>
          </a:xfrm>
          <a:prstGeom prst="roundRect">
            <a:avLst>
              <a:gd name="adj" fmla="val 12195"/>
            </a:avLst>
          </a:prstGeom>
          <a:solidFill>
            <a:srgbClr val="D0021B"/>
          </a:solidFill>
          <a:ln>
            <a:solidFill>
              <a:srgbClr val="D0021B"/>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EVALUATE</a:t>
            </a:r>
            <a:endParaRPr lang="en-US" sz="1400" dirty="0"/>
          </a:p>
        </p:txBody>
      </p:sp>
      <p:sp>
        <p:nvSpPr>
          <p:cNvPr id="23" name="Shape 20"/>
          <p:cNvSpPr/>
          <p:nvPr/>
        </p:nvSpPr>
        <p:spPr>
          <a:xfrm>
            <a:off x="2834640" y="4471416"/>
            <a:ext cx="8778240" cy="749808"/>
          </a:xfrm>
          <a:prstGeom prst="roundRect">
            <a:avLst>
              <a:gd name="adj" fmla="val 9756"/>
            </a:avLst>
          </a:prstGeom>
          <a:solidFill>
            <a:srgbClr val="EFE6F0"/>
          </a:solidFill>
          <a:ln w="12700">
            <a:solidFill>
              <a:srgbClr val="80ADC4"/>
            </a:solidFill>
            <a:prstDash val="solid"/>
          </a:ln>
        </p:spPr>
      </p:sp>
      <p:sp>
        <p:nvSpPr>
          <p:cNvPr id="24" name="Text 21"/>
          <p:cNvSpPr/>
          <p:nvPr/>
        </p:nvSpPr>
        <p:spPr>
          <a:xfrm>
            <a:off x="3017520" y="4471416"/>
            <a:ext cx="8412480" cy="74980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Write one paragraph: how does the writer show that reconciliation begins with listening? Claim, evidence, method, effect.</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D0021B"/>
          </a:solidFill>
          <a:ln w="12700">
            <a:solidFill>
              <a:srgbClr val="D0021B"/>
            </a:solidFill>
            <a:prstDash val="solid"/>
          </a:ln>
        </p:spPr>
      </p:sp>
      <p:pic>
        <p:nvPicPr>
          <p:cNvPr id="3" name="Image 0" descr="/home/claude/english/kit/decks/_icons/users-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FDE6E9"/>
          </a:solidFill>
          <a:ln>
            <a:solidFill>
              <a:srgbClr val="FDE6E9"/>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TALK · think-pair-share</a:t>
            </a:r>
            <a:endParaRPr lang="en-US" sz="2400" dirty="0"/>
          </a:p>
        </p:txBody>
      </p:sp>
      <p:sp>
        <p:nvSpPr>
          <p:cNvPr id="5" name="Text 2"/>
          <p:cNvSpPr/>
          <p:nvPr/>
        </p:nvSpPr>
        <p:spPr>
          <a:xfrm>
            <a:off x="9784080" y="457200"/>
            <a:ext cx="1874520" cy="566928"/>
          </a:xfrm>
          <a:prstGeom prst="roundRect">
            <a:avLst>
              <a:gd name="adj" fmla="val 16129"/>
            </a:avLst>
          </a:prstGeom>
          <a:solidFill>
            <a:srgbClr val="D0021B"/>
          </a:solidFill>
          <a:ln>
            <a:solidFill>
              <a:srgbClr val="D0021B"/>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10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Everyone speaks; nobody passes. Use the key words.</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D0021B"/>
          </a:solidFill>
          <a:ln>
            <a:solidFill>
              <a:srgbClr val="D0021B"/>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Modern Novel: Binti · Themes: journey and belonging</a:t>
            </a:r>
            <a:endParaRPr lang="en-US" sz="900" dirty="0"/>
          </a:p>
        </p:txBody>
      </p:sp>
      <p:sp>
        <p:nvSpPr>
          <p:cNvPr id="13" name="Shape 10"/>
          <p:cNvSpPr/>
          <p:nvPr/>
        </p:nvSpPr>
        <p:spPr>
          <a:xfrm>
            <a:off x="548640" y="1783080"/>
            <a:ext cx="7772400" cy="457200"/>
          </a:xfrm>
          <a:prstGeom prst="roundRect">
            <a:avLst>
              <a:gd name="adj" fmla="val 20000"/>
            </a:avLst>
          </a:prstGeom>
          <a:solidFill>
            <a:srgbClr val="00A08A"/>
          </a:solidFill>
          <a:ln w="12700">
            <a:solidFill>
              <a:srgbClr val="00A08A"/>
            </a:solidFill>
            <a:prstDash val="solid"/>
          </a:ln>
        </p:spPr>
      </p:sp>
      <p:pic>
        <p:nvPicPr>
          <p:cNvPr id="14" name="Image 1" descr="/home/claude/english/kit/decks/_icons/users-FFFFFF.png">    </p:cNvPr>
          <p:cNvPicPr>
            <a:picLocks noChangeAspect="1"/>
          </p:cNvPicPr>
          <p:nvPr/>
        </p:nvPicPr>
        <p:blipFill>
          <a:blip r:embed="rId2"/>
          <a:stretch>
            <a:fillRect/>
          </a:stretch>
        </p:blipFill>
        <p:spPr>
          <a:xfrm>
            <a:off x="3003233" y="1888236"/>
            <a:ext cx="246888" cy="246888"/>
          </a:xfrm>
          <a:prstGeom prst="rect">
            <a:avLst/>
          </a:prstGeom>
        </p:spPr>
      </p:pic>
      <p:sp>
        <p:nvSpPr>
          <p:cNvPr id="15" name="Text 11"/>
          <p:cNvSpPr/>
          <p:nvPr/>
        </p:nvSpPr>
        <p:spPr>
          <a:xfrm>
            <a:off x="3368993" y="1783080"/>
            <a:ext cx="2771775" cy="457200"/>
          </a:xfrm>
          <a:prstGeom prst="rect">
            <a:avLst/>
          </a:prstGeom>
          <a:noFill/>
          <a:ln/>
        </p:spPr>
        <p:txBody>
          <a:bodyPr wrap="square" lIns="0" tIns="0" rIns="0" bIns="0" rtlCol="0" anchor="ctr"/>
          <a:lstStyle/>
          <a:p>
            <a:pPr algn="l" indent="0" marL="0">
              <a:buNone/>
            </a:pPr>
            <a:r>
              <a:rPr lang="en-US" sz="1500" b="1" dirty="0">
                <a:solidFill>
                  <a:srgbClr val="FFFFFF"/>
                </a:solidFill>
                <a:latin typeface="Arial" pitchFamily="34" charset="0"/>
                <a:ea typeface="Arial" pitchFamily="34" charset="-122"/>
                <a:cs typeface="Arial" pitchFamily="34" charset="-120"/>
              </a:rPr>
              <a:t>TALK · THINK-PAIR-SHARE</a:t>
            </a:r>
            <a:endParaRPr lang="en-US" sz="1500" dirty="0"/>
          </a:p>
        </p:txBody>
      </p:sp>
      <p:sp>
        <p:nvSpPr>
          <p:cNvPr id="16" name="Shape 12"/>
          <p:cNvSpPr/>
          <p:nvPr/>
        </p:nvSpPr>
        <p:spPr>
          <a:xfrm>
            <a:off x="548640" y="2377440"/>
            <a:ext cx="11064240" cy="868680"/>
          </a:xfrm>
          <a:prstGeom prst="roundRect">
            <a:avLst>
              <a:gd name="adj" fmla="val 8421"/>
            </a:avLst>
          </a:prstGeom>
          <a:solidFill>
            <a:srgbClr val="FFC93C"/>
          </a:solidFill>
          <a:ln w="12700">
            <a:solidFill>
              <a:srgbClr val="FFC93C"/>
            </a:solidFill>
            <a:prstDash val="solid"/>
          </a:ln>
        </p:spPr>
      </p:sp>
      <p:sp>
        <p:nvSpPr>
          <p:cNvPr id="17" name="Text 13"/>
          <p:cNvSpPr/>
          <p:nvPr/>
        </p:nvSpPr>
        <p:spPr>
          <a:xfrm>
            <a:off x="777240" y="2377440"/>
            <a:ext cx="1920240" cy="868680"/>
          </a:xfrm>
          <a:prstGeom prst="rect">
            <a:avLst/>
          </a:prstGeom>
          <a:noFill/>
          <a:ln/>
        </p:spPr>
        <p:txBody>
          <a:bodyPr wrap="square" lIns="0" tIns="0" rIns="0" bIns="0" rtlCol="0" anchor="ctr"/>
          <a:lstStyle/>
          <a:p>
            <a:pPr indent="0" marL="0">
              <a:buNone/>
            </a:pPr>
            <a:r>
              <a:rPr lang="en-US" sz="1600" b="1" dirty="0">
                <a:solidFill>
                  <a:srgbClr val="12294D"/>
                </a:solidFill>
                <a:latin typeface="Arial" pitchFamily="34" charset="0"/>
                <a:ea typeface="Arial" pitchFamily="34" charset="-122"/>
                <a:cs typeface="Arial" pitchFamily="34" charset="-120"/>
              </a:rPr>
              <a:t>THE FOCUS:</a:t>
            </a:r>
            <a:endParaRPr lang="en-US" sz="1600" dirty="0"/>
          </a:p>
        </p:txBody>
      </p:sp>
      <p:sp>
        <p:nvSpPr>
          <p:cNvPr id="18" name="Text 14"/>
          <p:cNvSpPr/>
          <p:nvPr/>
        </p:nvSpPr>
        <p:spPr>
          <a:xfrm>
            <a:off x="2697480" y="2377440"/>
            <a:ext cx="8732520" cy="868680"/>
          </a:xfrm>
          <a:prstGeom prst="rect">
            <a:avLst/>
          </a:prstGeom>
          <a:noFill/>
          <a:ln/>
        </p:spPr>
        <p:txBody>
          <a:bodyPr wrap="square" lIns="45720" tIns="91440" rIns="91440" bIns="45720" rtlCol="0" anchor="ctr"/>
          <a:lstStyle/>
          <a:p>
            <a:pPr algn="l" indent="0" marL="0">
              <a:buNone/>
            </a:pPr>
            <a:r>
              <a:rPr lang="en-US" sz="1800" b="1" i="1" dirty="0">
                <a:solidFill>
                  <a:srgbClr val="12294D"/>
                </a:solidFill>
                <a:latin typeface="Arial" pitchFamily="34" charset="0"/>
                <a:ea typeface="Arial" pitchFamily="34" charset="-122"/>
                <a:cs typeface="Arial" pitchFamily="34" charset="-120"/>
              </a:rPr>
              <a:t>Can you belong to two worlds at once?</a:t>
            </a:r>
            <a:endParaRPr lang="en-US" sz="1800" dirty="0"/>
          </a:p>
        </p:txBody>
      </p:sp>
      <p:sp>
        <p:nvSpPr>
          <p:cNvPr id="19" name="Text 15"/>
          <p:cNvSpPr/>
          <p:nvPr/>
        </p:nvSpPr>
        <p:spPr>
          <a:xfrm>
            <a:off x="548640" y="3401568"/>
            <a:ext cx="560070" cy="560070"/>
          </a:xfrm>
          <a:prstGeom prst="ellipse">
            <a:avLst/>
          </a:prstGeom>
          <a:solidFill>
            <a:srgbClr val="12294D"/>
          </a:solidFill>
          <a:ln>
            <a:solidFill>
              <a:srgbClr val="12294D"/>
            </a:solidFill>
          </a:ln>
        </p:spPr>
        <p:txBody>
          <a:bodyPr wrap="square" lIns="0" tIns="0" rIns="0" bIns="0" rtlCol="0" anchor="ctr"/>
          <a:lstStyle/>
          <a:p>
            <a:pPr algn="ctr" indent="0" marL="0">
              <a:buNone/>
            </a:pPr>
            <a:r>
              <a:rPr lang="en-US" sz="1800" b="1" dirty="0">
                <a:solidFill>
                  <a:srgbClr val="FFC93C"/>
                </a:solidFill>
                <a:latin typeface="Arial" pitchFamily="34" charset="0"/>
                <a:ea typeface="Arial" pitchFamily="34" charset="-122"/>
                <a:cs typeface="Arial" pitchFamily="34" charset="-120"/>
              </a:rPr>
              <a:t>1</a:t>
            </a:r>
            <a:endParaRPr lang="en-US" sz="1800" dirty="0"/>
          </a:p>
        </p:txBody>
      </p:sp>
      <p:sp>
        <p:nvSpPr>
          <p:cNvPr id="20" name="Shape 16"/>
          <p:cNvSpPr/>
          <p:nvPr/>
        </p:nvSpPr>
        <p:spPr>
          <a:xfrm>
            <a:off x="1280160" y="3401568"/>
            <a:ext cx="10332720" cy="560070"/>
          </a:xfrm>
          <a:prstGeom prst="roundRect">
            <a:avLst>
              <a:gd name="adj" fmla="val 13061"/>
            </a:avLst>
          </a:prstGeom>
          <a:solidFill>
            <a:srgbClr val="FFFFFF"/>
          </a:solidFill>
          <a:ln w="12700">
            <a:solidFill>
              <a:srgbClr val="80ADC4"/>
            </a:solidFill>
            <a:prstDash val="solid"/>
          </a:ln>
        </p:spPr>
      </p:sp>
      <p:sp>
        <p:nvSpPr>
          <p:cNvPr id="21" name="Text 17"/>
          <p:cNvSpPr/>
          <p:nvPr/>
        </p:nvSpPr>
        <p:spPr>
          <a:xfrm>
            <a:off x="1463040" y="3401568"/>
            <a:ext cx="10058400" cy="56007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THINK — one minute. Write one sentence: You can / cannot belong to two worlds because…</a:t>
            </a:r>
            <a:endParaRPr lang="en-US" sz="1800" dirty="0"/>
          </a:p>
        </p:txBody>
      </p:sp>
      <p:sp>
        <p:nvSpPr>
          <p:cNvPr id="22" name="Text 18"/>
          <p:cNvSpPr/>
          <p:nvPr/>
        </p:nvSpPr>
        <p:spPr>
          <a:xfrm>
            <a:off x="548640" y="4062222"/>
            <a:ext cx="560070" cy="560070"/>
          </a:xfrm>
          <a:prstGeom prst="ellipse">
            <a:avLst/>
          </a:prstGeom>
          <a:solidFill>
            <a:srgbClr val="12294D"/>
          </a:solidFill>
          <a:ln>
            <a:solidFill>
              <a:srgbClr val="12294D"/>
            </a:solidFill>
          </a:ln>
        </p:spPr>
        <p:txBody>
          <a:bodyPr wrap="square" lIns="0" tIns="0" rIns="0" bIns="0" rtlCol="0" anchor="ctr"/>
          <a:lstStyle/>
          <a:p>
            <a:pPr algn="ctr" indent="0" marL="0">
              <a:buNone/>
            </a:pPr>
            <a:r>
              <a:rPr lang="en-US" sz="1800" b="1" dirty="0">
                <a:solidFill>
                  <a:srgbClr val="FFC93C"/>
                </a:solidFill>
                <a:latin typeface="Arial" pitchFamily="34" charset="0"/>
                <a:ea typeface="Arial" pitchFamily="34" charset="-122"/>
                <a:cs typeface="Arial" pitchFamily="34" charset="-120"/>
              </a:rPr>
              <a:t>2</a:t>
            </a:r>
            <a:endParaRPr lang="en-US" sz="1800" dirty="0"/>
          </a:p>
        </p:txBody>
      </p:sp>
      <p:sp>
        <p:nvSpPr>
          <p:cNvPr id="23" name="Shape 19"/>
          <p:cNvSpPr/>
          <p:nvPr/>
        </p:nvSpPr>
        <p:spPr>
          <a:xfrm>
            <a:off x="1280160" y="4062222"/>
            <a:ext cx="10332720" cy="560070"/>
          </a:xfrm>
          <a:prstGeom prst="roundRect">
            <a:avLst>
              <a:gd name="adj" fmla="val 13061"/>
            </a:avLst>
          </a:prstGeom>
          <a:solidFill>
            <a:srgbClr val="F4F6FA"/>
          </a:solidFill>
          <a:ln w="12700">
            <a:solidFill>
              <a:srgbClr val="80ADC4"/>
            </a:solidFill>
            <a:prstDash val="solid"/>
          </a:ln>
        </p:spPr>
      </p:sp>
      <p:sp>
        <p:nvSpPr>
          <p:cNvPr id="24" name="Text 20"/>
          <p:cNvSpPr/>
          <p:nvPr/>
        </p:nvSpPr>
        <p:spPr>
          <a:xfrm>
            <a:off x="1463040" y="4062222"/>
            <a:ext cx="10058400" cy="56007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PAIR — swap. Find one moment in Binti's story that supports each of you.</a:t>
            </a:r>
            <a:endParaRPr lang="en-US" sz="1800" dirty="0"/>
          </a:p>
        </p:txBody>
      </p:sp>
      <p:sp>
        <p:nvSpPr>
          <p:cNvPr id="25" name="Text 21"/>
          <p:cNvSpPr/>
          <p:nvPr/>
        </p:nvSpPr>
        <p:spPr>
          <a:xfrm>
            <a:off x="548640" y="4722876"/>
            <a:ext cx="560070" cy="560070"/>
          </a:xfrm>
          <a:prstGeom prst="ellipse">
            <a:avLst/>
          </a:prstGeom>
          <a:solidFill>
            <a:srgbClr val="12294D"/>
          </a:solidFill>
          <a:ln>
            <a:solidFill>
              <a:srgbClr val="12294D"/>
            </a:solidFill>
          </a:ln>
        </p:spPr>
        <p:txBody>
          <a:bodyPr wrap="square" lIns="0" tIns="0" rIns="0" bIns="0" rtlCol="0" anchor="ctr"/>
          <a:lstStyle/>
          <a:p>
            <a:pPr algn="ctr" indent="0" marL="0">
              <a:buNone/>
            </a:pPr>
            <a:r>
              <a:rPr lang="en-US" sz="1800" b="1" dirty="0">
                <a:solidFill>
                  <a:srgbClr val="FFC93C"/>
                </a:solidFill>
                <a:latin typeface="Arial" pitchFamily="34" charset="0"/>
                <a:ea typeface="Arial" pitchFamily="34" charset="-122"/>
                <a:cs typeface="Arial" pitchFamily="34" charset="-120"/>
              </a:rPr>
              <a:t>3</a:t>
            </a:r>
            <a:endParaRPr lang="en-US" sz="1800" dirty="0"/>
          </a:p>
        </p:txBody>
      </p:sp>
      <p:sp>
        <p:nvSpPr>
          <p:cNvPr id="26" name="Shape 22"/>
          <p:cNvSpPr/>
          <p:nvPr/>
        </p:nvSpPr>
        <p:spPr>
          <a:xfrm>
            <a:off x="1280160" y="4722876"/>
            <a:ext cx="10332720" cy="560070"/>
          </a:xfrm>
          <a:prstGeom prst="roundRect">
            <a:avLst>
              <a:gd name="adj" fmla="val 13061"/>
            </a:avLst>
          </a:prstGeom>
          <a:solidFill>
            <a:srgbClr val="FFFFFF"/>
          </a:solidFill>
          <a:ln w="12700">
            <a:solidFill>
              <a:srgbClr val="80ADC4"/>
            </a:solidFill>
            <a:prstDash val="solid"/>
          </a:ln>
        </p:spPr>
      </p:sp>
      <p:sp>
        <p:nvSpPr>
          <p:cNvPr id="27" name="Text 23"/>
          <p:cNvSpPr/>
          <p:nvPr/>
        </p:nvSpPr>
        <p:spPr>
          <a:xfrm>
            <a:off x="1463040" y="4722876"/>
            <a:ext cx="10058400" cy="56007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SHARE — one pair reads out. The class names the theme: belonging or journey?</a:t>
            </a:r>
            <a:endParaRPr lang="en-US" sz="1800" dirty="0"/>
          </a:p>
        </p:txBody>
      </p:sp>
      <p:sp>
        <p:nvSpPr>
          <p:cNvPr id="28" name="Text 24"/>
          <p:cNvSpPr/>
          <p:nvPr/>
        </p:nvSpPr>
        <p:spPr>
          <a:xfrm>
            <a:off x="548640" y="5383530"/>
            <a:ext cx="560070" cy="560070"/>
          </a:xfrm>
          <a:prstGeom prst="ellipse">
            <a:avLst/>
          </a:prstGeom>
          <a:solidFill>
            <a:srgbClr val="12294D"/>
          </a:solidFill>
          <a:ln>
            <a:solidFill>
              <a:srgbClr val="12294D"/>
            </a:solidFill>
          </a:ln>
        </p:spPr>
        <p:txBody>
          <a:bodyPr wrap="square" lIns="0" tIns="0" rIns="0" bIns="0" rtlCol="0" anchor="ctr"/>
          <a:lstStyle/>
          <a:p>
            <a:pPr algn="ctr" indent="0" marL="0">
              <a:buNone/>
            </a:pPr>
            <a:r>
              <a:rPr lang="en-US" sz="1800" b="1" dirty="0">
                <a:solidFill>
                  <a:srgbClr val="FFC93C"/>
                </a:solidFill>
                <a:latin typeface="Arial" pitchFamily="34" charset="0"/>
                <a:ea typeface="Arial" pitchFamily="34" charset="-122"/>
                <a:cs typeface="Arial" pitchFamily="34" charset="-120"/>
              </a:rPr>
              <a:t>4</a:t>
            </a:r>
            <a:endParaRPr lang="en-US" sz="1800" dirty="0"/>
          </a:p>
        </p:txBody>
      </p:sp>
      <p:sp>
        <p:nvSpPr>
          <p:cNvPr id="29" name="Shape 25"/>
          <p:cNvSpPr/>
          <p:nvPr/>
        </p:nvSpPr>
        <p:spPr>
          <a:xfrm>
            <a:off x="1280160" y="5383530"/>
            <a:ext cx="10332720" cy="560070"/>
          </a:xfrm>
          <a:prstGeom prst="roundRect">
            <a:avLst>
              <a:gd name="adj" fmla="val 13061"/>
            </a:avLst>
          </a:prstGeom>
          <a:solidFill>
            <a:srgbClr val="F4F6FA"/>
          </a:solidFill>
          <a:ln w="12700">
            <a:solidFill>
              <a:srgbClr val="80ADC4"/>
            </a:solidFill>
            <a:prstDash val="solid"/>
          </a:ln>
        </p:spPr>
      </p:sp>
      <p:sp>
        <p:nvSpPr>
          <p:cNvPr id="30" name="Text 26"/>
          <p:cNvSpPr/>
          <p:nvPr/>
        </p:nvSpPr>
        <p:spPr>
          <a:xfrm>
            <a:off x="1463040" y="5383530"/>
            <a:ext cx="10058400" cy="56007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Improve your sentence with one key word you did not use before.</a:t>
            </a:r>
            <a:endParaRPr lang="en-US" sz="1800" dirty="0"/>
          </a:p>
        </p:txBody>
      </p:sp>
      <p:sp>
        <p:nvSpPr>
          <p:cNvPr id="31" name="Text 27"/>
          <p:cNvSpPr/>
          <p:nvPr/>
        </p:nvSpPr>
        <p:spPr>
          <a:xfrm>
            <a:off x="548640" y="5998464"/>
            <a:ext cx="11064240" cy="256032"/>
          </a:xfrm>
          <a:prstGeom prst="rect">
            <a:avLst/>
          </a:prstGeom>
          <a:noFill/>
          <a:ln/>
        </p:spPr>
        <p:txBody>
          <a:bodyPr wrap="square" lIns="0" tIns="0" rIns="0" bIns="0" rtlCol="0" anchor="ctr"/>
          <a:lstStyle/>
          <a:p>
            <a:pPr algn="l" indent="0" marL="0">
              <a:buNone/>
            </a:pPr>
            <a:r>
              <a:rPr lang="en-US" sz="1200" i="1" dirty="0">
                <a:solidFill>
                  <a:srgbClr val="6E6E6E"/>
                </a:solidFill>
                <a:latin typeface="Arial" pitchFamily="34" charset="0"/>
                <a:ea typeface="Arial" pitchFamily="34" charset="-122"/>
                <a:cs typeface="Arial" pitchFamily="34" charset="-120"/>
              </a:rPr>
              <a:t>Evidence: EEF Toolkit · Oral language interventions — +6 months, very low cost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award-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Exit ticket — what a strong answer shows</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Three sentences on your slip. Did you make these moves?</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D0021B"/>
          </a:solidFill>
          <a:ln>
            <a:solidFill>
              <a:srgbClr val="D0021B"/>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Modern Novel: Binti · Themes: journey and belonging</a:t>
            </a:r>
            <a:endParaRPr lang="en-US" sz="900" dirty="0"/>
          </a:p>
        </p:txBody>
      </p:sp>
      <p:sp>
        <p:nvSpPr>
          <p:cNvPr id="13" name="Text 10"/>
          <p:cNvSpPr/>
          <p:nvPr/>
        </p:nvSpPr>
        <p:spPr>
          <a:xfrm>
            <a:off x="8961120" y="6702552"/>
            <a:ext cx="2743200" cy="155448"/>
          </a:xfrm>
          <a:prstGeom prst="rect">
            <a:avLst/>
          </a:prstGeom>
          <a:noFill/>
          <a:ln/>
        </p:spPr>
        <p:txBody>
          <a:bodyPr wrap="square" lIns="0" tIns="0" rIns="0" bIns="0" rtlCol="0" anchor="t"/>
          <a:lstStyle/>
          <a:p>
            <a:pPr algn="r" indent="0" marL="0">
              <a:buNone/>
            </a:pPr>
            <a:r>
              <a:rPr lang="en-US" sz="900" dirty="0">
                <a:solidFill>
                  <a:srgbClr val="AAB4C2"/>
                </a:solidFill>
                <a:latin typeface="Arial" pitchFamily="34" charset="0"/>
                <a:ea typeface="Arial" pitchFamily="34" charset="-122"/>
                <a:cs typeface="Arial" pitchFamily="34" charset="-120"/>
              </a:rPr>
              <a:t>THE MOVES</a:t>
            </a:r>
            <a:endParaRPr lang="en-US" sz="900" dirty="0"/>
          </a:p>
        </p:txBody>
      </p:sp>
      <p:sp>
        <p:nvSpPr>
          <p:cNvPr id="14" name="Text 11"/>
          <p:cNvSpPr/>
          <p:nvPr/>
        </p:nvSpPr>
        <p:spPr>
          <a:xfrm>
            <a:off x="548640" y="1783080"/>
            <a:ext cx="3017520" cy="914400"/>
          </a:xfrm>
          <a:prstGeom prst="roundRect">
            <a:avLst>
              <a:gd name="adj" fmla="val 7000"/>
            </a:avLst>
          </a:prstGeom>
          <a:solidFill>
            <a:srgbClr val="12294D"/>
          </a:solidFill>
          <a:ln>
            <a:solidFill>
              <a:srgbClr val="12294D"/>
            </a:solidFill>
          </a:ln>
        </p:spPr>
        <p:txBody>
          <a:bodyPr wrap="square" lIns="45720" tIns="137160" rIns="91440" bIns="45720" rtlCol="0" anchor="ctr"/>
          <a:lstStyle/>
          <a:p>
            <a:pPr algn="l" indent="0" marL="0">
              <a:buNone/>
            </a:pPr>
            <a:r>
              <a:rPr lang="en-US" sz="1600" b="1" dirty="0">
                <a:solidFill>
                  <a:srgbClr val="FFC93C"/>
                </a:solidFill>
                <a:latin typeface="Arial" pitchFamily="34" charset="0"/>
                <a:ea typeface="Arial" pitchFamily="34" charset="-122"/>
                <a:cs typeface="Arial" pitchFamily="34" charset="-120"/>
              </a:rPr>
              <a:t>Name the theme</a:t>
            </a:r>
            <a:endParaRPr lang="en-US" sz="1600" dirty="0"/>
          </a:p>
        </p:txBody>
      </p:sp>
      <p:sp>
        <p:nvSpPr>
          <p:cNvPr id="15" name="Shape 12"/>
          <p:cNvSpPr/>
          <p:nvPr/>
        </p:nvSpPr>
        <p:spPr>
          <a:xfrm>
            <a:off x="3703320" y="1783080"/>
            <a:ext cx="7909560" cy="914400"/>
          </a:xfrm>
          <a:prstGeom prst="roundRect">
            <a:avLst>
              <a:gd name="adj" fmla="val 6000"/>
            </a:avLst>
          </a:prstGeom>
          <a:solidFill>
            <a:srgbClr val="FEF7E4"/>
          </a:solidFill>
          <a:ln w="12700">
            <a:solidFill>
              <a:srgbClr val="E5D9B0"/>
            </a:solidFill>
            <a:prstDash val="solid"/>
          </a:ln>
        </p:spPr>
      </p:sp>
      <p:sp>
        <p:nvSpPr>
          <p:cNvPr id="16" name="Text 13"/>
          <p:cNvSpPr/>
          <p:nvPr/>
        </p:nvSpPr>
        <p:spPr>
          <a:xfrm>
            <a:off x="3886200" y="1783080"/>
            <a:ext cx="758952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One of the four — and what the writer says about it, in a full sentence.</a:t>
            </a:r>
            <a:endParaRPr lang="en-US" sz="1800" dirty="0"/>
          </a:p>
        </p:txBody>
      </p:sp>
      <p:sp>
        <p:nvSpPr>
          <p:cNvPr id="17" name="Text 14"/>
          <p:cNvSpPr/>
          <p:nvPr/>
        </p:nvSpPr>
        <p:spPr>
          <a:xfrm>
            <a:off x="548640" y="2843784"/>
            <a:ext cx="3017520" cy="914400"/>
          </a:xfrm>
          <a:prstGeom prst="roundRect">
            <a:avLst>
              <a:gd name="adj" fmla="val 7000"/>
            </a:avLst>
          </a:prstGeom>
          <a:solidFill>
            <a:srgbClr val="12294D"/>
          </a:solidFill>
          <a:ln>
            <a:solidFill>
              <a:srgbClr val="12294D"/>
            </a:solidFill>
          </a:ln>
        </p:spPr>
        <p:txBody>
          <a:bodyPr wrap="square" lIns="45720" tIns="137160" rIns="91440" bIns="45720" rtlCol="0" anchor="ctr"/>
          <a:lstStyle/>
          <a:p>
            <a:pPr algn="l" indent="0" marL="0">
              <a:buNone/>
            </a:pPr>
            <a:r>
              <a:rPr lang="en-US" sz="1600" b="1" dirty="0">
                <a:solidFill>
                  <a:srgbClr val="FFC93C"/>
                </a:solidFill>
                <a:latin typeface="Arial" pitchFamily="34" charset="0"/>
                <a:ea typeface="Arial" pitchFamily="34" charset="-122"/>
                <a:cs typeface="Arial" pitchFamily="34" charset="-120"/>
              </a:rPr>
              <a:t>Show it</a:t>
            </a:r>
            <a:endParaRPr lang="en-US" sz="1600" dirty="0"/>
          </a:p>
        </p:txBody>
      </p:sp>
      <p:sp>
        <p:nvSpPr>
          <p:cNvPr id="18" name="Shape 15"/>
          <p:cNvSpPr/>
          <p:nvPr/>
        </p:nvSpPr>
        <p:spPr>
          <a:xfrm>
            <a:off x="3703320" y="2843784"/>
            <a:ext cx="7909560" cy="914400"/>
          </a:xfrm>
          <a:prstGeom prst="roundRect">
            <a:avLst>
              <a:gd name="adj" fmla="val 6000"/>
            </a:avLst>
          </a:prstGeom>
          <a:solidFill>
            <a:srgbClr val="FEF7E4"/>
          </a:solidFill>
          <a:ln w="12700">
            <a:solidFill>
              <a:srgbClr val="E5D9B0"/>
            </a:solidFill>
            <a:prstDash val="solid"/>
          </a:ln>
        </p:spPr>
      </p:sp>
      <p:sp>
        <p:nvSpPr>
          <p:cNvPr id="19" name="Text 16"/>
          <p:cNvSpPr/>
          <p:nvPr/>
        </p:nvSpPr>
        <p:spPr>
          <a:xfrm>
            <a:off x="3886200" y="2843784"/>
            <a:ext cx="758952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One moment from the story or the extract that proves the theme is there.</a:t>
            </a:r>
            <a:endParaRPr lang="en-US" sz="1800" dirty="0"/>
          </a:p>
        </p:txBody>
      </p:sp>
      <p:sp>
        <p:nvSpPr>
          <p:cNvPr id="20" name="Text 17"/>
          <p:cNvSpPr/>
          <p:nvPr/>
        </p:nvSpPr>
        <p:spPr>
          <a:xfrm>
            <a:off x="548640" y="3904488"/>
            <a:ext cx="3017520" cy="914400"/>
          </a:xfrm>
          <a:prstGeom prst="roundRect">
            <a:avLst>
              <a:gd name="adj" fmla="val 7000"/>
            </a:avLst>
          </a:prstGeom>
          <a:solidFill>
            <a:srgbClr val="12294D"/>
          </a:solidFill>
          <a:ln>
            <a:solidFill>
              <a:srgbClr val="12294D"/>
            </a:solidFill>
          </a:ln>
        </p:spPr>
        <p:txBody>
          <a:bodyPr wrap="square" lIns="45720" tIns="137160" rIns="91440" bIns="45720" rtlCol="0" anchor="ctr"/>
          <a:lstStyle/>
          <a:p>
            <a:pPr algn="l" indent="0" marL="0">
              <a:buNone/>
            </a:pPr>
            <a:r>
              <a:rPr lang="en-US" sz="1600" b="1" dirty="0">
                <a:solidFill>
                  <a:srgbClr val="FFC93C"/>
                </a:solidFill>
                <a:latin typeface="Arial" pitchFamily="34" charset="0"/>
                <a:ea typeface="Arial" pitchFamily="34" charset="-122"/>
                <a:cs typeface="Arial" pitchFamily="34" charset="-120"/>
              </a:rPr>
              <a:t>Decide</a:t>
            </a:r>
            <a:endParaRPr lang="en-US" sz="1600" dirty="0"/>
          </a:p>
        </p:txBody>
      </p:sp>
      <p:sp>
        <p:nvSpPr>
          <p:cNvPr id="21" name="Shape 18"/>
          <p:cNvSpPr/>
          <p:nvPr/>
        </p:nvSpPr>
        <p:spPr>
          <a:xfrm>
            <a:off x="3703320" y="3904488"/>
            <a:ext cx="7909560" cy="914400"/>
          </a:xfrm>
          <a:prstGeom prst="roundRect">
            <a:avLst>
              <a:gd name="adj" fmla="val 6000"/>
            </a:avLst>
          </a:prstGeom>
          <a:solidFill>
            <a:srgbClr val="FEF7E4"/>
          </a:solidFill>
          <a:ln w="12700">
            <a:solidFill>
              <a:srgbClr val="E5D9B0"/>
            </a:solidFill>
            <a:prstDash val="solid"/>
          </a:ln>
        </p:spPr>
      </p:sp>
      <p:sp>
        <p:nvSpPr>
          <p:cNvPr id="22" name="Text 19"/>
          <p:cNvSpPr/>
          <p:nvPr/>
        </p:nvSpPr>
        <p:spPr>
          <a:xfrm>
            <a:off x="3886200" y="3904488"/>
            <a:ext cx="758952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Your answer to today's Big Question, with the one reason that would convince a doubter.</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294D"/>
        </a:solidFill>
      </p:bgPr>
    </p:bg>
    <p:spTree>
      <p:nvGrpSpPr>
        <p:cNvPr id="1" name=""/>
        <p:cNvGrpSpPr/>
        <p:nvPr/>
      </p:nvGrpSpPr>
      <p:grpSpPr>
        <a:xfrm>
          <a:off x="0" y="0"/>
          <a:ext cx="0" cy="0"/>
          <a:chOff x="0" y="0"/>
          <a:chExt cx="0" cy="0"/>
        </a:xfrm>
      </p:grpSpPr>
      <p:sp>
        <p:nvSpPr>
          <p:cNvPr id="2" name="Text 0"/>
          <p:cNvSpPr/>
          <p:nvPr/>
        </p:nvSpPr>
        <p:spPr>
          <a:xfrm>
            <a:off x="548640" y="594360"/>
            <a:ext cx="10058400" cy="365760"/>
          </a:xfrm>
          <a:prstGeom prst="rect">
            <a:avLst/>
          </a:prstGeom>
          <a:noFill/>
          <a:ln/>
        </p:spPr>
        <p:txBody>
          <a:bodyPr wrap="square" lIns="0" tIns="0" rIns="0" bIns="0" rtlCol="0" anchor="ctr"/>
          <a:lstStyle/>
          <a:p>
            <a:pPr indent="0" marL="0">
              <a:buNone/>
            </a:pPr>
            <a:r>
              <a:rPr lang="en-US" sz="1500" b="1" dirty="0">
                <a:solidFill>
                  <a:srgbClr val="FFC93C"/>
                </a:solidFill>
                <a:latin typeface="Arial" pitchFamily="34" charset="0"/>
                <a:ea typeface="Arial" pitchFamily="34" charset="-122"/>
                <a:cs typeface="Arial" pitchFamily="34" charset="-120"/>
              </a:rPr>
              <a:t>BEFORE YOU LEAVE</a:t>
            </a:r>
            <a:endParaRPr lang="en-US" sz="1500" dirty="0"/>
          </a:p>
        </p:txBody>
      </p:sp>
      <p:sp>
        <p:nvSpPr>
          <p:cNvPr id="3" name="Text 1"/>
          <p:cNvSpPr/>
          <p:nvPr/>
        </p:nvSpPr>
        <p:spPr>
          <a:xfrm>
            <a:off x="548640" y="1051560"/>
            <a:ext cx="10515600" cy="731520"/>
          </a:xfrm>
          <a:prstGeom prst="rect">
            <a:avLst/>
          </a:prstGeom>
          <a:noFill/>
          <a:ln/>
        </p:spPr>
        <p:txBody>
          <a:bodyPr wrap="square" lIns="0" tIns="0" rIns="0" bIns="0" rtlCol="0" anchor="ctr"/>
          <a:lstStyle/>
          <a:p>
            <a:pPr algn="l" indent="0" marL="0">
              <a:buNone/>
            </a:pPr>
            <a:r>
              <a:rPr lang="en-US" sz="3000" b="1" dirty="0">
                <a:solidFill>
                  <a:srgbClr val="FFFFFF"/>
                </a:solidFill>
                <a:latin typeface="Arial" pitchFamily="34" charset="0"/>
                <a:ea typeface="Arial" pitchFamily="34" charset="-122"/>
                <a:cs typeface="Arial" pitchFamily="34" charset="-120"/>
              </a:rPr>
              <a:t>Home learning — the come-back loop</a:t>
            </a:r>
            <a:endParaRPr lang="en-US" sz="3000" dirty="0"/>
          </a:p>
        </p:txBody>
      </p:sp>
      <p:sp>
        <p:nvSpPr>
          <p:cNvPr id="4" name="Shape 2"/>
          <p:cNvSpPr/>
          <p:nvPr/>
        </p:nvSpPr>
        <p:spPr>
          <a:xfrm>
            <a:off x="548640" y="2011680"/>
            <a:ext cx="5349240" cy="1828800"/>
          </a:xfrm>
          <a:prstGeom prst="roundRect">
            <a:avLst>
              <a:gd name="adj" fmla="val 3000"/>
            </a:avLst>
          </a:prstGeom>
          <a:solidFill>
            <a:srgbClr val="1B315C"/>
          </a:solidFill>
          <a:ln w="12700">
            <a:solidFill>
              <a:srgbClr val="80ADC4"/>
            </a:solidFill>
            <a:prstDash val="solid"/>
          </a:ln>
        </p:spPr>
      </p:sp>
      <p:pic>
        <p:nvPicPr>
          <p:cNvPr id="5" name="Image 0" descr="/home/claude/english/kit/decks/_icons/headphones-FFFFFF.png">    </p:cNvPr>
          <p:cNvPicPr>
            <a:picLocks noChangeAspect="1"/>
          </p:cNvPicPr>
          <p:nvPr/>
        </p:nvPicPr>
        <p:blipFill>
          <a:blip r:embed="rId1"/>
          <a:stretch>
            <a:fillRect/>
          </a:stretch>
        </p:blipFill>
        <p:spPr>
          <a:xfrm>
            <a:off x="822960" y="2331720"/>
            <a:ext cx="566928" cy="566928"/>
          </a:xfrm>
          <a:prstGeom prst="rect">
            <a:avLst/>
          </a:prstGeom>
        </p:spPr>
      </p:pic>
      <p:sp>
        <p:nvSpPr>
          <p:cNvPr id="6" name="Text 3"/>
          <p:cNvSpPr/>
          <p:nvPr/>
        </p:nvSpPr>
        <p:spPr>
          <a:xfrm>
            <a:off x="1783080" y="2194560"/>
            <a:ext cx="3931920" cy="502920"/>
          </a:xfrm>
          <a:prstGeom prst="rect">
            <a:avLst/>
          </a:prstGeom>
          <a:noFill/>
          <a:ln/>
        </p:spPr>
        <p:txBody>
          <a:bodyPr wrap="square" lIns="0" tIns="0" rIns="0" bIns="0" rtlCol="0" anchor="ctr"/>
          <a:lstStyle/>
          <a:p>
            <a:pPr algn="l" indent="0" marL="0">
              <a:buNone/>
            </a:pPr>
            <a:r>
              <a:rPr lang="en-US" sz="1900" b="1" dirty="0">
                <a:solidFill>
                  <a:srgbClr val="FFC93C"/>
                </a:solidFill>
                <a:latin typeface="Arial" pitchFamily="34" charset="0"/>
                <a:ea typeface="Arial" pitchFamily="34" charset="-122"/>
                <a:cs typeface="Arial" pitchFamily="34" charset="-120"/>
              </a:rPr>
              <a:t>Listen</a:t>
            </a:r>
            <a:endParaRPr lang="en-US" sz="1900" dirty="0"/>
          </a:p>
        </p:txBody>
      </p:sp>
      <p:sp>
        <p:nvSpPr>
          <p:cNvPr id="7" name="Text 4"/>
          <p:cNvSpPr/>
          <p:nvPr/>
        </p:nvSpPr>
        <p:spPr>
          <a:xfrm>
            <a:off x="1783080" y="2670048"/>
            <a:ext cx="3931920" cy="1051560"/>
          </a:xfrm>
          <a:prstGeom prst="rect">
            <a:avLst/>
          </a:prstGeom>
          <a:noFill/>
          <a:ln/>
        </p:spPr>
        <p:txBody>
          <a:bodyPr wrap="square" lIns="0" tIns="0" rIns="0" bIns="0" rtlCol="0" anchor="t"/>
          <a:lstStyle/>
          <a:p>
            <a:pPr algn="l" indent="0" marL="0">
              <a:buNone/>
            </a:pPr>
            <a:r>
              <a:rPr lang="en-US" sz="1800" dirty="0">
                <a:solidFill>
                  <a:srgbClr val="CFE0F2"/>
                </a:solidFill>
                <a:latin typeface="Arial" pitchFamily="34" charset="0"/>
                <a:ea typeface="Arial" pitchFamily="34" charset="-122"/>
                <a:cs typeface="Arial" pitchFamily="34" charset="-120"/>
              </a:rPr>
              <a:t>Read-along edition, pages 5 to 9. Do the 'put the story in order' task.</a:t>
            </a:r>
            <a:endParaRPr lang="en-US" sz="1800" dirty="0"/>
          </a:p>
        </p:txBody>
      </p:sp>
      <p:sp>
        <p:nvSpPr>
          <p:cNvPr id="8" name="Shape 5"/>
          <p:cNvSpPr/>
          <p:nvPr/>
        </p:nvSpPr>
        <p:spPr>
          <a:xfrm>
            <a:off x="6172200" y="2011680"/>
            <a:ext cx="5349240" cy="1828800"/>
          </a:xfrm>
          <a:prstGeom prst="roundRect">
            <a:avLst>
              <a:gd name="adj" fmla="val 3000"/>
            </a:avLst>
          </a:prstGeom>
          <a:solidFill>
            <a:srgbClr val="1B315C"/>
          </a:solidFill>
          <a:ln w="12700">
            <a:solidFill>
              <a:srgbClr val="80ADC4"/>
            </a:solidFill>
            <a:prstDash val="solid"/>
          </a:ln>
        </p:spPr>
      </p:sp>
      <p:pic>
        <p:nvPicPr>
          <p:cNvPr id="9" name="Image 1" descr="/home/claude/english/kit/decks/_icons/book-open-FFFFFF.png">    </p:cNvPr>
          <p:cNvPicPr>
            <a:picLocks noChangeAspect="1"/>
          </p:cNvPicPr>
          <p:nvPr/>
        </p:nvPicPr>
        <p:blipFill>
          <a:blip r:embed="rId2"/>
          <a:stretch>
            <a:fillRect/>
          </a:stretch>
        </p:blipFill>
        <p:spPr>
          <a:xfrm>
            <a:off x="6446520" y="2331720"/>
            <a:ext cx="566928" cy="566928"/>
          </a:xfrm>
          <a:prstGeom prst="rect">
            <a:avLst/>
          </a:prstGeom>
        </p:spPr>
      </p:pic>
      <p:sp>
        <p:nvSpPr>
          <p:cNvPr id="10" name="Text 6"/>
          <p:cNvSpPr/>
          <p:nvPr/>
        </p:nvSpPr>
        <p:spPr>
          <a:xfrm>
            <a:off x="7406640" y="2194560"/>
            <a:ext cx="3931920" cy="502920"/>
          </a:xfrm>
          <a:prstGeom prst="rect">
            <a:avLst/>
          </a:prstGeom>
          <a:noFill/>
          <a:ln/>
        </p:spPr>
        <p:txBody>
          <a:bodyPr wrap="square" lIns="0" tIns="0" rIns="0" bIns="0" rtlCol="0" anchor="ctr"/>
          <a:lstStyle/>
          <a:p>
            <a:pPr algn="l" indent="0" marL="0">
              <a:buNone/>
            </a:pPr>
            <a:r>
              <a:rPr lang="en-US" sz="1900" b="1" dirty="0">
                <a:solidFill>
                  <a:srgbClr val="FFC93C"/>
                </a:solidFill>
                <a:latin typeface="Arial" pitchFamily="34" charset="0"/>
                <a:ea typeface="Arial" pitchFamily="34" charset="-122"/>
                <a:cs typeface="Arial" pitchFamily="34" charset="-120"/>
              </a:rPr>
              <a:t>Read</a:t>
            </a:r>
            <a:endParaRPr lang="en-US" sz="1900" dirty="0"/>
          </a:p>
        </p:txBody>
      </p:sp>
      <p:sp>
        <p:nvSpPr>
          <p:cNvPr id="11" name="Text 7"/>
          <p:cNvSpPr/>
          <p:nvPr/>
        </p:nvSpPr>
        <p:spPr>
          <a:xfrm>
            <a:off x="7406640" y="2670048"/>
            <a:ext cx="3931920" cy="1051560"/>
          </a:xfrm>
          <a:prstGeom prst="rect">
            <a:avLst/>
          </a:prstGeom>
          <a:noFill/>
          <a:ln/>
        </p:spPr>
        <p:txBody>
          <a:bodyPr wrap="square" lIns="0" tIns="0" rIns="0" bIns="0" rtlCol="0" anchor="t"/>
          <a:lstStyle/>
          <a:p>
            <a:pPr algn="l" indent="0" marL="0">
              <a:buNone/>
            </a:pPr>
            <a:r>
              <a:rPr lang="en-US" sz="1800" dirty="0">
                <a:solidFill>
                  <a:srgbClr val="CFE0F2"/>
                </a:solidFill>
                <a:latin typeface="Arial" pitchFamily="34" charset="0"/>
                <a:ea typeface="Arial" pitchFamily="34" charset="-122"/>
                <a:cs typeface="Arial" pitchFamily="34" charset="-120"/>
              </a:rPr>
              <a:t>Re-read the extract. Underline every word that belongs to conflict and circle every word that belongs to peace.</a:t>
            </a:r>
            <a:endParaRPr lang="en-US" sz="1800" dirty="0"/>
          </a:p>
        </p:txBody>
      </p:sp>
      <p:sp>
        <p:nvSpPr>
          <p:cNvPr id="12" name="Shape 8"/>
          <p:cNvSpPr/>
          <p:nvPr/>
        </p:nvSpPr>
        <p:spPr>
          <a:xfrm>
            <a:off x="548640" y="4023360"/>
            <a:ext cx="5349240" cy="1828800"/>
          </a:xfrm>
          <a:prstGeom prst="roundRect">
            <a:avLst>
              <a:gd name="adj" fmla="val 3000"/>
            </a:avLst>
          </a:prstGeom>
          <a:solidFill>
            <a:srgbClr val="1B315C"/>
          </a:solidFill>
          <a:ln w="12700">
            <a:solidFill>
              <a:srgbClr val="80ADC4"/>
            </a:solidFill>
            <a:prstDash val="solid"/>
          </a:ln>
        </p:spPr>
      </p:sp>
      <p:pic>
        <p:nvPicPr>
          <p:cNvPr id="13" name="Image 2" descr="/home/claude/english/kit/decks/_icons/edit-3-FFFFFF.png">    </p:cNvPr>
          <p:cNvPicPr>
            <a:picLocks noChangeAspect="1"/>
          </p:cNvPicPr>
          <p:nvPr/>
        </p:nvPicPr>
        <p:blipFill>
          <a:blip r:embed="rId3"/>
          <a:stretch>
            <a:fillRect/>
          </a:stretch>
        </p:blipFill>
        <p:spPr>
          <a:xfrm>
            <a:off x="822960" y="4343400"/>
            <a:ext cx="566928" cy="566928"/>
          </a:xfrm>
          <a:prstGeom prst="rect">
            <a:avLst/>
          </a:prstGeom>
        </p:spPr>
      </p:pic>
      <p:sp>
        <p:nvSpPr>
          <p:cNvPr id="14" name="Text 9"/>
          <p:cNvSpPr/>
          <p:nvPr/>
        </p:nvSpPr>
        <p:spPr>
          <a:xfrm>
            <a:off x="1783080" y="4206240"/>
            <a:ext cx="3931920" cy="502920"/>
          </a:xfrm>
          <a:prstGeom prst="rect">
            <a:avLst/>
          </a:prstGeom>
          <a:noFill/>
          <a:ln/>
        </p:spPr>
        <p:txBody>
          <a:bodyPr wrap="square" lIns="0" tIns="0" rIns="0" bIns="0" rtlCol="0" anchor="ctr"/>
          <a:lstStyle/>
          <a:p>
            <a:pPr algn="l" indent="0" marL="0">
              <a:buNone/>
            </a:pPr>
            <a:r>
              <a:rPr lang="en-US" sz="1900" b="1" dirty="0">
                <a:solidFill>
                  <a:srgbClr val="FFC93C"/>
                </a:solidFill>
                <a:latin typeface="Arial" pitchFamily="34" charset="0"/>
                <a:ea typeface="Arial" pitchFamily="34" charset="-122"/>
                <a:cs typeface="Arial" pitchFamily="34" charset="-120"/>
              </a:rPr>
              <a:t>Write</a:t>
            </a:r>
            <a:endParaRPr lang="en-US" sz="1900" dirty="0"/>
          </a:p>
        </p:txBody>
      </p:sp>
      <p:sp>
        <p:nvSpPr>
          <p:cNvPr id="15" name="Text 10"/>
          <p:cNvSpPr/>
          <p:nvPr/>
        </p:nvSpPr>
        <p:spPr>
          <a:xfrm>
            <a:off x="1783080" y="4681728"/>
            <a:ext cx="3931920" cy="1051560"/>
          </a:xfrm>
          <a:prstGeom prst="rect">
            <a:avLst/>
          </a:prstGeom>
          <a:noFill/>
          <a:ln/>
        </p:spPr>
        <p:txBody>
          <a:bodyPr wrap="square" lIns="0" tIns="0" rIns="0" bIns="0" rtlCol="0" anchor="t"/>
          <a:lstStyle/>
          <a:p>
            <a:pPr algn="l" indent="0" marL="0">
              <a:buNone/>
            </a:pPr>
            <a:r>
              <a:rPr lang="en-US" sz="1800" dirty="0">
                <a:solidFill>
                  <a:srgbClr val="CFE0F2"/>
                </a:solidFill>
                <a:latin typeface="Arial" pitchFamily="34" charset="0"/>
                <a:ea typeface="Arial" pitchFamily="34" charset="-122"/>
                <a:cs typeface="Arial" pitchFamily="34" charset="-120"/>
              </a:rPr>
              <a:t>One thematic paragraph: how does the writer present belonging? Use the ladder's top rung as your model.</a:t>
            </a:r>
            <a:endParaRPr lang="en-US" sz="1800" dirty="0"/>
          </a:p>
        </p:txBody>
      </p:sp>
      <p:sp>
        <p:nvSpPr>
          <p:cNvPr id="16" name="Shape 11"/>
          <p:cNvSpPr/>
          <p:nvPr/>
        </p:nvSpPr>
        <p:spPr>
          <a:xfrm>
            <a:off x="6172200" y="4023360"/>
            <a:ext cx="5349240" cy="1828800"/>
          </a:xfrm>
          <a:prstGeom prst="roundRect">
            <a:avLst>
              <a:gd name="adj" fmla="val 3000"/>
            </a:avLst>
          </a:prstGeom>
          <a:solidFill>
            <a:srgbClr val="1B315C"/>
          </a:solidFill>
          <a:ln w="12700">
            <a:solidFill>
              <a:srgbClr val="80ADC4"/>
            </a:solidFill>
            <a:prstDash val="solid"/>
          </a:ln>
        </p:spPr>
      </p:sp>
      <p:pic>
        <p:nvPicPr>
          <p:cNvPr id="17" name="Image 3" descr="/home/claude/english/kit/decks/_icons/repeat-FFFFFF.png">    </p:cNvPr>
          <p:cNvPicPr>
            <a:picLocks noChangeAspect="1"/>
          </p:cNvPicPr>
          <p:nvPr/>
        </p:nvPicPr>
        <p:blipFill>
          <a:blip r:embed="rId4"/>
          <a:stretch>
            <a:fillRect/>
          </a:stretch>
        </p:blipFill>
        <p:spPr>
          <a:xfrm>
            <a:off x="6446520" y="4343400"/>
            <a:ext cx="566928" cy="566928"/>
          </a:xfrm>
          <a:prstGeom prst="rect">
            <a:avLst/>
          </a:prstGeom>
        </p:spPr>
      </p:pic>
      <p:sp>
        <p:nvSpPr>
          <p:cNvPr id="18" name="Text 12"/>
          <p:cNvSpPr/>
          <p:nvPr/>
        </p:nvSpPr>
        <p:spPr>
          <a:xfrm>
            <a:off x="7406640" y="4206240"/>
            <a:ext cx="3931920" cy="502920"/>
          </a:xfrm>
          <a:prstGeom prst="rect">
            <a:avLst/>
          </a:prstGeom>
          <a:noFill/>
          <a:ln/>
        </p:spPr>
        <p:txBody>
          <a:bodyPr wrap="square" lIns="0" tIns="0" rIns="0" bIns="0" rtlCol="0" anchor="ctr"/>
          <a:lstStyle/>
          <a:p>
            <a:pPr algn="l" indent="0" marL="0">
              <a:buNone/>
            </a:pPr>
            <a:r>
              <a:rPr lang="en-US" sz="1900" b="1" dirty="0">
                <a:solidFill>
                  <a:srgbClr val="FFC93C"/>
                </a:solidFill>
                <a:latin typeface="Arial" pitchFamily="34" charset="0"/>
                <a:ea typeface="Arial" pitchFamily="34" charset="-122"/>
                <a:cs typeface="Arial" pitchFamily="34" charset="-120"/>
              </a:rPr>
              <a:t>Prepare</a:t>
            </a:r>
            <a:endParaRPr lang="en-US" sz="1900" dirty="0"/>
          </a:p>
        </p:txBody>
      </p:sp>
      <p:sp>
        <p:nvSpPr>
          <p:cNvPr id="19" name="Text 13"/>
          <p:cNvSpPr/>
          <p:nvPr/>
        </p:nvSpPr>
        <p:spPr>
          <a:xfrm>
            <a:off x="7406640" y="4681728"/>
            <a:ext cx="3931920" cy="1051560"/>
          </a:xfrm>
          <a:prstGeom prst="rect">
            <a:avLst/>
          </a:prstGeom>
          <a:noFill/>
          <a:ln/>
        </p:spPr>
        <p:txBody>
          <a:bodyPr wrap="square" lIns="0" tIns="0" rIns="0" bIns="0" rtlCol="0" anchor="t"/>
          <a:lstStyle/>
          <a:p>
            <a:pPr algn="l" indent="0" marL="0">
              <a:buNone/>
            </a:pPr>
            <a:r>
              <a:rPr lang="en-US" sz="1800" dirty="0">
                <a:solidFill>
                  <a:srgbClr val="CFE0F2"/>
                </a:solidFill>
                <a:latin typeface="Arial" pitchFamily="34" charset="0"/>
                <a:ea typeface="Arial" pitchFamily="34" charset="-122"/>
                <a:cs typeface="Arial" pitchFamily="34" charset="-120"/>
              </a:rPr>
              <a:t>Next week is the end-of-year assessment. Revise the key words and the four moves.</a:t>
            </a:r>
            <a:endParaRPr lang="en-US" sz="1800" dirty="0"/>
          </a:p>
        </p:txBody>
      </p:sp>
      <p:sp>
        <p:nvSpPr>
          <p:cNvPr id="20" name="Text 14"/>
          <p:cNvSpPr/>
          <p:nvPr/>
        </p:nvSpPr>
        <p:spPr>
          <a:xfrm>
            <a:off x="548640" y="6309360"/>
            <a:ext cx="10058400" cy="365760"/>
          </a:xfrm>
          <a:prstGeom prst="rect">
            <a:avLst/>
          </a:prstGeom>
          <a:noFill/>
          <a:ln/>
        </p:spPr>
        <p:txBody>
          <a:bodyPr wrap="square" lIns="0" tIns="0" rIns="0" bIns="0" rtlCol="0" anchor="ctr"/>
          <a:lstStyle/>
          <a:p>
            <a:pPr indent="0" marL="0">
              <a:buNone/>
            </a:pPr>
            <a:r>
              <a:rPr lang="en-US" sz="1200" i="1" dirty="0">
                <a:solidFill>
                  <a:srgbClr val="8FA6C4"/>
                </a:solidFill>
                <a:latin typeface="Arial" pitchFamily="34" charset="0"/>
                <a:ea typeface="Arial" pitchFamily="34" charset="-122"/>
                <a:cs typeface="Arial" pitchFamily="34" charset="-120"/>
              </a:rPr>
              <a:t>Harlington English · Modern Novel: Binti · Lesson 3 of 7</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Modern Novel: Binti · L3 Themes: journey and belonging</dc:title>
  <dc:subject>PptxGenJS Presentation</dc:subject>
  <dc:creator>Harlington English</dc:creator>
  <cp:lastModifiedBy>Harlington English</cp:lastModifiedBy>
  <cp:revision>1</cp:revision>
  <dcterms:created xsi:type="dcterms:W3CDTF">2026-09-04T20:58:54Z</dcterms:created>
  <dcterms:modified xsi:type="dcterms:W3CDTF">2026-09-04T20:58:54Z</dcterms:modified>
</cp:coreProperties>
</file>