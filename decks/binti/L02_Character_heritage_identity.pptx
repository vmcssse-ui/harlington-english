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2.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65760"/>
            <a:ext cx="8595360" cy="960120"/>
          </a:xfrm>
          <a:prstGeom prst="roundRect">
            <a:avLst>
              <a:gd name="adj" fmla="val 7619"/>
            </a:avLst>
          </a:prstGeom>
          <a:solidFill>
            <a:srgbClr val="12294D"/>
          </a:solidFill>
          <a:ln w="12700">
            <a:solidFill>
              <a:srgbClr val="12294D"/>
            </a:solidFill>
            <a:prstDash val="solid"/>
          </a:ln>
        </p:spPr>
      </p:sp>
      <p:sp>
        <p:nvSpPr>
          <p:cNvPr id="3" name="Text 1"/>
          <p:cNvSpPr/>
          <p:nvPr/>
        </p:nvSpPr>
        <p:spPr>
          <a:xfrm>
            <a:off x="777240" y="457200"/>
            <a:ext cx="8046720" cy="292608"/>
          </a:xfrm>
          <a:prstGeom prst="rect">
            <a:avLst/>
          </a:prstGeom>
          <a:noFill/>
          <a:ln/>
        </p:spPr>
        <p:txBody>
          <a:bodyPr wrap="square" lIns="0" tIns="0" rIns="0" bIns="0" rtlCol="0" anchor="ctr"/>
          <a:lstStyle/>
          <a:p>
            <a:pPr indent="0" marL="0">
              <a:buNone/>
            </a:pPr>
            <a:r>
              <a:rPr lang="en-US" sz="1100" b="1" dirty="0">
                <a:solidFill>
                  <a:srgbClr val="FFC93C"/>
                </a:solidFill>
                <a:latin typeface="Arial" pitchFamily="34" charset="0"/>
                <a:ea typeface="Arial" pitchFamily="34" charset="-122"/>
                <a:cs typeface="Arial" pitchFamily="34" charset="-120"/>
              </a:rPr>
              <a:t>HARLINGTON ENGLISH · YEAR 7 · MODERN NOVEL: BINTI · LESSON 2 of 7</a:t>
            </a:r>
            <a:endParaRPr lang="en-US" sz="1100" dirty="0"/>
          </a:p>
        </p:txBody>
      </p:sp>
      <p:sp>
        <p:nvSpPr>
          <p:cNvPr id="4" name="Text 2"/>
          <p:cNvSpPr/>
          <p:nvPr/>
        </p:nvSpPr>
        <p:spPr>
          <a:xfrm>
            <a:off x="777240" y="731520"/>
            <a:ext cx="8138160" cy="502920"/>
          </a:xfrm>
          <a:prstGeom prst="rect">
            <a:avLst/>
          </a:prstGeom>
          <a:noFill/>
          <a:ln/>
        </p:spPr>
        <p:txBody>
          <a:bodyPr wrap="square" lIns="0" tIns="0" rIns="0" bIns="0" rtlCol="0" anchor="ctr"/>
          <a:lstStyle/>
          <a:p>
            <a:pPr algn="l" indent="0" marL="0">
              <a:buNone/>
            </a:pPr>
            <a:r>
              <a:rPr lang="en-US" sz="2600" b="1" dirty="0">
                <a:solidFill>
                  <a:srgbClr val="FFFFFF"/>
                </a:solidFill>
                <a:latin typeface="Arial" pitchFamily="34" charset="0"/>
                <a:ea typeface="Arial" pitchFamily="34" charset="-122"/>
                <a:cs typeface="Arial" pitchFamily="34" charset="-120"/>
              </a:rPr>
              <a:t>Character, heritage, identity</a:t>
            </a:r>
            <a:endParaRPr lang="en-US" sz="2600" dirty="0"/>
          </a:p>
        </p:txBody>
      </p:sp>
      <p:sp>
        <p:nvSpPr>
          <p:cNvPr id="5" name="Shape 3"/>
          <p:cNvSpPr/>
          <p:nvPr/>
        </p:nvSpPr>
        <p:spPr>
          <a:xfrm>
            <a:off x="9235440" y="365760"/>
            <a:ext cx="2468880" cy="960120"/>
          </a:xfrm>
          <a:prstGeom prst="roundRect">
            <a:avLst>
              <a:gd name="adj" fmla="val 9524"/>
            </a:avLst>
          </a:prstGeom>
          <a:solidFill>
            <a:srgbClr val="FFC93C"/>
          </a:solidFill>
          <a:ln w="12700">
            <a:solidFill>
              <a:srgbClr val="FFC93C"/>
            </a:solidFill>
            <a:prstDash val="solid"/>
          </a:ln>
        </p:spPr>
      </p:sp>
      <p:pic>
        <p:nvPicPr>
          <p:cNvPr id="6" name="Image 0" descr="/home/claude/english/kit/decks/_icons/bell-12294D.png">    </p:cNvPr>
          <p:cNvPicPr>
            <a:picLocks noChangeAspect="1"/>
          </p:cNvPicPr>
          <p:nvPr/>
        </p:nvPicPr>
        <p:blipFill>
          <a:blip r:embed="rId1"/>
          <a:stretch>
            <a:fillRect/>
          </a:stretch>
        </p:blipFill>
        <p:spPr>
          <a:xfrm>
            <a:off x="9418320" y="566928"/>
            <a:ext cx="548640" cy="548640"/>
          </a:xfrm>
          <a:prstGeom prst="rect">
            <a:avLst/>
          </a:prstGeom>
        </p:spPr>
      </p:pic>
      <p:sp>
        <p:nvSpPr>
          <p:cNvPr id="7" name="Text 4"/>
          <p:cNvSpPr/>
          <p:nvPr/>
        </p:nvSpPr>
        <p:spPr>
          <a:xfrm>
            <a:off x="10012680" y="502920"/>
            <a:ext cx="1600200" cy="320040"/>
          </a:xfrm>
          <a:prstGeom prst="rect">
            <a:avLst/>
          </a:prstGeom>
          <a:noFill/>
          <a:ln/>
        </p:spPr>
        <p:txBody>
          <a:bodyPr wrap="square" lIns="0" tIns="0" rIns="0" bIns="0" rtlCol="0" anchor="ctr"/>
          <a:lstStyle/>
          <a:p>
            <a:pPr indent="0" marL="0">
              <a:buNone/>
            </a:pPr>
            <a:r>
              <a:rPr lang="en-US" sz="1500" b="1" dirty="0">
                <a:solidFill>
                  <a:srgbClr val="12294D"/>
                </a:solidFill>
                <a:latin typeface="Arial" pitchFamily="34" charset="0"/>
                <a:ea typeface="Arial" pitchFamily="34" charset="-122"/>
                <a:cs typeface="Arial" pitchFamily="34" charset="-120"/>
              </a:rPr>
              <a:t>BELL WORK</a:t>
            </a:r>
            <a:endParaRPr lang="en-US" sz="1500" dirty="0"/>
          </a:p>
        </p:txBody>
      </p:sp>
      <p:sp>
        <p:nvSpPr>
          <p:cNvPr id="8" name="Text 5"/>
          <p:cNvSpPr/>
          <p:nvPr/>
        </p:nvSpPr>
        <p:spPr>
          <a:xfrm>
            <a:off x="10012680" y="841248"/>
            <a:ext cx="1600200" cy="320040"/>
          </a:xfrm>
          <a:prstGeom prst="rect">
            <a:avLst/>
          </a:prstGeom>
          <a:noFill/>
          <a:ln/>
        </p:spPr>
        <p:txBody>
          <a:bodyPr wrap="square" lIns="0" tIns="0" rIns="0" bIns="0" rtlCol="0" anchor="ctr"/>
          <a:lstStyle/>
          <a:p>
            <a:pPr indent="0" marL="0">
              <a:buNone/>
            </a:pPr>
            <a:r>
              <a:rPr lang="en-US" sz="1300" b="1" dirty="0">
                <a:solidFill>
                  <a:srgbClr val="12294D"/>
                </a:solidFill>
                <a:latin typeface="Arial" pitchFamily="34" charset="0"/>
                <a:ea typeface="Arial" pitchFamily="34" charset="-122"/>
                <a:cs typeface="Arial" pitchFamily="34" charset="-120"/>
              </a:rPr>
              <a:t>⏱ 7 minutes</a:t>
            </a:r>
            <a:endParaRPr lang="en-US" sz="1300" dirty="0"/>
          </a:p>
        </p:txBody>
      </p:sp>
      <p:sp>
        <p:nvSpPr>
          <p:cNvPr id="9" name="Text 6"/>
          <p:cNvSpPr/>
          <p:nvPr/>
        </p:nvSpPr>
        <p:spPr>
          <a:xfrm>
            <a:off x="457200" y="1463040"/>
            <a:ext cx="11247120" cy="365760"/>
          </a:xfrm>
          <a:prstGeom prst="rect">
            <a:avLst/>
          </a:prstGeom>
          <a:noFill/>
          <a:ln/>
        </p:spPr>
        <p:txBody>
          <a:bodyPr wrap="square" lIns="0" tIns="0" rIns="0" bIns="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Retrieval — no notes. Answer all five, then say one in a full sentence. Score yourself /5.</a:t>
            </a:r>
            <a:endParaRPr lang="en-US" sz="1500" dirty="0"/>
          </a:p>
        </p:txBody>
      </p:sp>
      <p:sp>
        <p:nvSpPr>
          <p:cNvPr id="10" name="Text 7"/>
          <p:cNvSpPr/>
          <p:nvPr/>
        </p:nvSpPr>
        <p:spPr>
          <a:xfrm>
            <a:off x="548640" y="1965960"/>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1</a:t>
            </a:r>
            <a:endParaRPr lang="en-US" sz="1800" dirty="0"/>
          </a:p>
        </p:txBody>
      </p:sp>
      <p:sp>
        <p:nvSpPr>
          <p:cNvPr id="11" name="Text 8"/>
          <p:cNvSpPr/>
          <p:nvPr/>
        </p:nvSpPr>
        <p:spPr>
          <a:xfrm>
            <a:off x="1234440" y="1965960"/>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Name three conventions of science fiction.</a:t>
            </a:r>
            <a:endParaRPr lang="en-US" sz="1800" dirty="0"/>
          </a:p>
        </p:txBody>
      </p:sp>
      <p:sp>
        <p:nvSpPr>
          <p:cNvPr id="12" name="Text 9"/>
          <p:cNvSpPr/>
          <p:nvPr/>
        </p:nvSpPr>
        <p:spPr>
          <a:xfrm>
            <a:off x="548640" y="2770632"/>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2</a:t>
            </a:r>
            <a:endParaRPr lang="en-US" sz="1800" dirty="0"/>
          </a:p>
        </p:txBody>
      </p:sp>
      <p:sp>
        <p:nvSpPr>
          <p:cNvPr id="13" name="Text 10"/>
          <p:cNvSpPr/>
          <p:nvPr/>
        </p:nvSpPr>
        <p:spPr>
          <a:xfrm>
            <a:off x="1234440" y="2770632"/>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Who wrote Binti, and when did it come out?</a:t>
            </a:r>
            <a:endParaRPr lang="en-US" sz="1800" dirty="0"/>
          </a:p>
        </p:txBody>
      </p:sp>
      <p:sp>
        <p:nvSpPr>
          <p:cNvPr id="14" name="Text 11"/>
          <p:cNvSpPr/>
          <p:nvPr/>
        </p:nvSpPr>
        <p:spPr>
          <a:xfrm>
            <a:off x="548640" y="3575304"/>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3</a:t>
            </a:r>
            <a:endParaRPr lang="en-US" sz="1800" dirty="0"/>
          </a:p>
        </p:txBody>
      </p:sp>
      <p:sp>
        <p:nvSpPr>
          <p:cNvPr id="15" name="Text 12"/>
          <p:cNvSpPr/>
          <p:nvPr/>
        </p:nvSpPr>
        <p:spPr>
          <a:xfrm>
            <a:off x="1234440" y="3575304"/>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Which people does Binti come from — and where do they live?</a:t>
            </a:r>
            <a:endParaRPr lang="en-US" sz="1800" dirty="0"/>
          </a:p>
        </p:txBody>
      </p:sp>
      <p:sp>
        <p:nvSpPr>
          <p:cNvPr id="16" name="Text 13"/>
          <p:cNvSpPr/>
          <p:nvPr/>
        </p:nvSpPr>
        <p:spPr>
          <a:xfrm>
            <a:off x="548640" y="4379976"/>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4</a:t>
            </a:r>
            <a:endParaRPr lang="en-US" sz="1800" dirty="0"/>
          </a:p>
        </p:txBody>
      </p:sp>
      <p:sp>
        <p:nvSpPr>
          <p:cNvPr id="17" name="Text 14"/>
          <p:cNvSpPr/>
          <p:nvPr/>
        </p:nvSpPr>
        <p:spPr>
          <a:xfrm>
            <a:off x="1234440" y="4379976"/>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What is otjize, and where does Binti wear it?</a:t>
            </a:r>
            <a:endParaRPr lang="en-US" sz="1800" dirty="0"/>
          </a:p>
        </p:txBody>
      </p:sp>
      <p:sp>
        <p:nvSpPr>
          <p:cNvPr id="18" name="Text 15"/>
          <p:cNvSpPr/>
          <p:nvPr/>
        </p:nvSpPr>
        <p:spPr>
          <a:xfrm>
            <a:off x="548640" y="5184648"/>
            <a:ext cx="502920" cy="603504"/>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5</a:t>
            </a:r>
            <a:endParaRPr lang="en-US" sz="1800" dirty="0"/>
          </a:p>
        </p:txBody>
      </p:sp>
      <p:sp>
        <p:nvSpPr>
          <p:cNvPr id="19" name="Text 16"/>
          <p:cNvSpPr/>
          <p:nvPr/>
        </p:nvSpPr>
        <p:spPr>
          <a:xfrm>
            <a:off x="1234440" y="5184648"/>
            <a:ext cx="10332720" cy="60350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Finish: Science fiction asks 'what if?' and answers it with…</a:t>
            </a:r>
            <a:endParaRPr lang="en-US" sz="1800" dirty="0"/>
          </a:p>
        </p:txBody>
      </p:sp>
      <p:sp>
        <p:nvSpPr>
          <p:cNvPr id="20" name="Text 17"/>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21" name="Text 18"/>
          <p:cNvSpPr/>
          <p:nvPr/>
        </p:nvSpPr>
        <p:spPr>
          <a:xfrm>
            <a:off x="1325880" y="6291072"/>
            <a:ext cx="2514600" cy="365760"/>
          </a:xfrm>
          <a:prstGeom prst="roundRect">
            <a:avLst>
              <a:gd name="adj" fmla="val 22500"/>
            </a:avLst>
          </a:prstGeom>
          <a:solidFill>
            <a:srgbClr val="80ADC4"/>
          </a:solidFill>
          <a:ln>
            <a:solidFill>
              <a:srgbClr val="80ADC4"/>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REMEMBER</a:t>
            </a:r>
            <a:endParaRPr lang="en-US" sz="1200" dirty="0"/>
          </a:p>
        </p:txBody>
      </p:sp>
      <p:sp>
        <p:nvSpPr>
          <p:cNvPr id="22" name="Text 19"/>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23" name="Text 20"/>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24" name="Text 21"/>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25" name="Text 22"/>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Modern Novel: Binti · Character, heritage, identity</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8595360" cy="777240"/>
          </a:xfrm>
          <a:prstGeom prst="roundRect">
            <a:avLst>
              <a:gd name="adj" fmla="val 8235"/>
            </a:avLst>
          </a:prstGeom>
          <a:solidFill>
            <a:srgbClr val="12294D"/>
          </a:solidFill>
          <a:ln w="12700">
            <a:solidFill>
              <a:srgbClr val="12294D"/>
            </a:solidFill>
            <a:prstDash val="solid"/>
          </a:ln>
        </p:spPr>
      </p:sp>
      <p:sp>
        <p:nvSpPr>
          <p:cNvPr id="3" name="Text 1"/>
          <p:cNvSpPr/>
          <p:nvPr/>
        </p:nvSpPr>
        <p:spPr>
          <a:xfrm>
            <a:off x="777240" y="320040"/>
            <a:ext cx="8229600" cy="777240"/>
          </a:xfrm>
          <a:prstGeom prst="rect">
            <a:avLst/>
          </a:prstGeom>
          <a:noFill/>
          <a:ln/>
        </p:spPr>
        <p:txBody>
          <a:bodyPr wrap="square" lIns="0" tIns="0" rIns="0" bIns="0" rtlCol="0" anchor="ctr"/>
          <a:lstStyle/>
          <a:p>
            <a:pPr algn="l" indent="0" marL="0">
              <a:buNone/>
            </a:pPr>
            <a:r>
              <a:rPr lang="en-US" sz="3000" b="1" dirty="0">
                <a:solidFill>
                  <a:srgbClr val="FFFFFF"/>
                </a:solidFill>
                <a:latin typeface="Arial" pitchFamily="34" charset="0"/>
                <a:ea typeface="Arial" pitchFamily="34" charset="-122"/>
                <a:cs typeface="Arial" pitchFamily="34" charset="-120"/>
              </a:rPr>
              <a:t>Modern Novel: Binti</a:t>
            </a:r>
            <a:endParaRPr lang="en-US" sz="3000" dirty="0"/>
          </a:p>
        </p:txBody>
      </p:sp>
      <p:sp>
        <p:nvSpPr>
          <p:cNvPr id="4" name="Text 2"/>
          <p:cNvSpPr/>
          <p:nvPr/>
        </p:nvSpPr>
        <p:spPr>
          <a:xfrm>
            <a:off x="9326880" y="402336"/>
            <a:ext cx="2377440" cy="310896"/>
          </a:xfrm>
          <a:prstGeom prst="rect">
            <a:avLst/>
          </a:prstGeom>
          <a:noFill/>
          <a:ln/>
        </p:spPr>
        <p:txBody>
          <a:bodyPr wrap="square" lIns="0" tIns="0" rIns="0" bIns="0" rtlCol="0" anchor="ctr"/>
          <a:lstStyle/>
          <a:p>
            <a:pPr algn="r" indent="0" marL="0">
              <a:buNone/>
            </a:pPr>
            <a:r>
              <a:rPr lang="en-US" sz="1600" b="1" dirty="0">
                <a:solidFill>
                  <a:srgbClr val="12294D"/>
                </a:solidFill>
                <a:latin typeface="Arial" pitchFamily="34" charset="0"/>
                <a:ea typeface="Arial" pitchFamily="34" charset="-122"/>
                <a:cs typeface="Arial" pitchFamily="34" charset="-120"/>
              </a:rPr>
              <a:t>HARLINGTON</a:t>
            </a:r>
            <a:endParaRPr lang="en-US" sz="1600" dirty="0"/>
          </a:p>
        </p:txBody>
      </p:sp>
      <p:sp>
        <p:nvSpPr>
          <p:cNvPr id="5" name="Text 3"/>
          <p:cNvSpPr/>
          <p:nvPr/>
        </p:nvSpPr>
        <p:spPr>
          <a:xfrm>
            <a:off x="9326880" y="713232"/>
            <a:ext cx="2377440" cy="274320"/>
          </a:xfrm>
          <a:prstGeom prst="rect">
            <a:avLst/>
          </a:prstGeom>
          <a:noFill/>
          <a:ln/>
        </p:spPr>
        <p:txBody>
          <a:bodyPr wrap="square" lIns="0" tIns="0" rIns="0" bIns="0" rtlCol="0" anchor="ctr"/>
          <a:lstStyle/>
          <a:p>
            <a:pPr algn="r" indent="0" marL="0">
              <a:buNone/>
            </a:pPr>
            <a:r>
              <a:rPr lang="en-US" sz="1300" b="1" dirty="0">
                <a:solidFill>
                  <a:srgbClr val="80ADC4"/>
                </a:solidFill>
                <a:latin typeface="Arial" pitchFamily="34" charset="0"/>
                <a:ea typeface="Arial" pitchFamily="34" charset="-122"/>
                <a:cs typeface="Arial" pitchFamily="34" charset="-120"/>
              </a:rPr>
              <a:t>SCHOOL</a:t>
            </a:r>
            <a:endParaRPr lang="en-US" sz="1300" dirty="0"/>
          </a:p>
        </p:txBody>
      </p:sp>
      <p:sp>
        <p:nvSpPr>
          <p:cNvPr id="6" name="Text 4"/>
          <p:cNvSpPr/>
          <p:nvPr/>
        </p:nvSpPr>
        <p:spPr>
          <a:xfrm>
            <a:off x="502920" y="1170432"/>
            <a:ext cx="7315200" cy="365760"/>
          </a:xfrm>
          <a:prstGeom prst="rect">
            <a:avLst/>
          </a:prstGeom>
          <a:noFill/>
          <a:ln/>
        </p:spPr>
        <p:txBody>
          <a:bodyPr wrap="square" lIns="0" tIns="0" rIns="0" bIns="0" rtlCol="0" anchor="ctr"/>
          <a:lstStyle/>
          <a:p>
            <a:pPr indent="0" marL="0">
              <a:buNone/>
            </a:pPr>
            <a:r>
              <a:rPr lang="en-US" sz="1500" b="1" i="1" dirty="0">
                <a:solidFill>
                  <a:srgbClr val="80ADC4"/>
                </a:solidFill>
                <a:latin typeface="Arial" pitchFamily="34" charset="0"/>
                <a:ea typeface="Arial" pitchFamily="34" charset="-122"/>
                <a:cs typeface="Arial" pitchFamily="34" charset="-120"/>
              </a:rPr>
              <a:t>Progress is the Curriculum</a:t>
            </a:r>
            <a:endParaRPr lang="en-US" sz="1500" dirty="0"/>
          </a:p>
        </p:txBody>
      </p:sp>
      <p:sp>
        <p:nvSpPr>
          <p:cNvPr id="7" name="Shape 5"/>
          <p:cNvSpPr/>
          <p:nvPr/>
        </p:nvSpPr>
        <p:spPr>
          <a:xfrm>
            <a:off x="457200" y="1600200"/>
            <a:ext cx="3383280" cy="4617720"/>
          </a:xfrm>
          <a:prstGeom prst="roundRect">
            <a:avLst>
              <a:gd name="adj" fmla="val 2162"/>
            </a:avLst>
          </a:prstGeom>
          <a:solidFill>
            <a:srgbClr val="F4F6FA"/>
          </a:solidFill>
          <a:ln w="12700">
            <a:solidFill>
              <a:srgbClr val="F4F6FA"/>
            </a:solidFill>
            <a:prstDash val="solid"/>
          </a:ln>
        </p:spPr>
      </p:sp>
      <p:pic>
        <p:nvPicPr>
          <p:cNvPr id="8" name="Image 0" descr="/home/claude/english/kit/decks/_icons/layers-12294D.png">    </p:cNvPr>
          <p:cNvPicPr>
            <a:picLocks noChangeAspect="1"/>
          </p:cNvPicPr>
          <p:nvPr/>
        </p:nvPicPr>
        <p:blipFill>
          <a:blip r:embed="rId1"/>
          <a:stretch>
            <a:fillRect/>
          </a:stretch>
        </p:blipFill>
        <p:spPr>
          <a:xfrm>
            <a:off x="685800" y="1792224"/>
            <a:ext cx="365760" cy="365760"/>
          </a:xfrm>
          <a:prstGeom prst="rect">
            <a:avLst/>
          </a:prstGeom>
        </p:spPr>
      </p:pic>
      <p:sp>
        <p:nvSpPr>
          <p:cNvPr id="9" name="Text 6"/>
          <p:cNvSpPr/>
          <p:nvPr/>
        </p:nvSpPr>
        <p:spPr>
          <a:xfrm>
            <a:off x="1143000" y="1792224"/>
            <a:ext cx="2651760" cy="365760"/>
          </a:xfrm>
          <a:prstGeom prst="rect">
            <a:avLst/>
          </a:prstGeom>
          <a:noFill/>
          <a:ln/>
        </p:spPr>
        <p:txBody>
          <a:bodyPr wrap="square" lIns="0" tIns="0" rIns="0" bIns="0" rtlCol="0" anchor="ctr"/>
          <a:lstStyle/>
          <a:p>
            <a:pPr indent="0" marL="0">
              <a:buNone/>
            </a:pPr>
            <a:r>
              <a:rPr lang="en-US" sz="1400" b="1" dirty="0">
                <a:solidFill>
                  <a:srgbClr val="12294D"/>
                </a:solidFill>
                <a:latin typeface="Arial" pitchFamily="34" charset="0"/>
                <a:ea typeface="Arial" pitchFamily="34" charset="-122"/>
                <a:cs typeface="Arial" pitchFamily="34" charset="-120"/>
              </a:rPr>
              <a:t>WHERE WE'VE BEEN</a:t>
            </a:r>
            <a:endParaRPr lang="en-US" sz="1400" dirty="0"/>
          </a:p>
        </p:txBody>
      </p:sp>
      <p:sp>
        <p:nvSpPr>
          <p:cNvPr id="10" name="Shape 7"/>
          <p:cNvSpPr/>
          <p:nvPr/>
        </p:nvSpPr>
        <p:spPr>
          <a:xfrm>
            <a:off x="685800" y="2340864"/>
            <a:ext cx="2926080" cy="640080"/>
          </a:xfrm>
          <a:prstGeom prst="roundRect">
            <a:avLst>
              <a:gd name="adj" fmla="val 10000"/>
            </a:avLst>
          </a:prstGeom>
          <a:solidFill>
            <a:srgbClr val="FFFFFF"/>
          </a:solidFill>
          <a:ln w="12700">
            <a:solidFill>
              <a:srgbClr val="D9E2EE"/>
            </a:solidFill>
            <a:prstDash val="solid"/>
          </a:ln>
        </p:spPr>
      </p:sp>
      <p:sp>
        <p:nvSpPr>
          <p:cNvPr id="11" name="Text 8"/>
          <p:cNvSpPr/>
          <p:nvPr/>
        </p:nvSpPr>
        <p:spPr>
          <a:xfrm>
            <a:off x="822960" y="2340864"/>
            <a:ext cx="2651760" cy="640080"/>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KS2: stories set in other worlds</a:t>
            </a:r>
            <a:endParaRPr lang="en-US" sz="1400" dirty="0"/>
          </a:p>
        </p:txBody>
      </p:sp>
      <p:sp>
        <p:nvSpPr>
          <p:cNvPr id="12" name="Shape 9"/>
          <p:cNvSpPr/>
          <p:nvPr/>
        </p:nvSpPr>
        <p:spPr>
          <a:xfrm>
            <a:off x="685800" y="3127248"/>
            <a:ext cx="2926080" cy="640080"/>
          </a:xfrm>
          <a:prstGeom prst="roundRect">
            <a:avLst>
              <a:gd name="adj" fmla="val 10000"/>
            </a:avLst>
          </a:prstGeom>
          <a:solidFill>
            <a:srgbClr val="FFFFFF"/>
          </a:solidFill>
          <a:ln w="12700">
            <a:solidFill>
              <a:srgbClr val="D9E2EE"/>
            </a:solidFill>
            <a:prstDash val="solid"/>
          </a:ln>
        </p:spPr>
      </p:sp>
      <p:sp>
        <p:nvSpPr>
          <p:cNvPr id="13" name="Text 10"/>
          <p:cNvSpPr/>
          <p:nvPr/>
        </p:nvSpPr>
        <p:spPr>
          <a:xfrm>
            <a:off x="822960" y="3127248"/>
            <a:ext cx="2651760" cy="640080"/>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HT2: The Odyssey — the hero's journey</a:t>
            </a:r>
            <a:endParaRPr lang="en-US" sz="1400" dirty="0"/>
          </a:p>
        </p:txBody>
      </p:sp>
      <p:sp>
        <p:nvSpPr>
          <p:cNvPr id="14" name="Shape 11"/>
          <p:cNvSpPr/>
          <p:nvPr/>
        </p:nvSpPr>
        <p:spPr>
          <a:xfrm>
            <a:off x="685800" y="3913632"/>
            <a:ext cx="2926080" cy="640080"/>
          </a:xfrm>
          <a:prstGeom prst="roundRect">
            <a:avLst>
              <a:gd name="adj" fmla="val 10000"/>
            </a:avLst>
          </a:prstGeom>
          <a:solidFill>
            <a:srgbClr val="FFFFFF"/>
          </a:solidFill>
          <a:ln w="12700">
            <a:solidFill>
              <a:srgbClr val="D9E2EE"/>
            </a:solidFill>
            <a:prstDash val="solid"/>
          </a:ln>
        </p:spPr>
      </p:sp>
      <p:sp>
        <p:nvSpPr>
          <p:cNvPr id="15" name="Text 12"/>
          <p:cNvSpPr/>
          <p:nvPr/>
        </p:nvSpPr>
        <p:spPr>
          <a:xfrm>
            <a:off x="822960" y="3913632"/>
            <a:ext cx="2651760" cy="640080"/>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HT4: The Red-Headed League — clues</a:t>
            </a:r>
            <a:endParaRPr lang="en-US" sz="1400" dirty="0"/>
          </a:p>
        </p:txBody>
      </p:sp>
      <p:sp>
        <p:nvSpPr>
          <p:cNvPr id="16" name="Shape 13"/>
          <p:cNvSpPr/>
          <p:nvPr/>
        </p:nvSpPr>
        <p:spPr>
          <a:xfrm>
            <a:off x="685800" y="4700016"/>
            <a:ext cx="2926080" cy="640080"/>
          </a:xfrm>
          <a:prstGeom prst="roundRect">
            <a:avLst>
              <a:gd name="adj" fmla="val 10000"/>
            </a:avLst>
          </a:prstGeom>
          <a:solidFill>
            <a:srgbClr val="FFFFFF"/>
          </a:solidFill>
          <a:ln w="12700">
            <a:solidFill>
              <a:srgbClr val="D9E2EE"/>
            </a:solidFill>
            <a:prstDash val="solid"/>
          </a:ln>
        </p:spPr>
      </p:sp>
      <p:sp>
        <p:nvSpPr>
          <p:cNvPr id="17" name="Text 14"/>
          <p:cNvSpPr/>
          <p:nvPr/>
        </p:nvSpPr>
        <p:spPr>
          <a:xfrm>
            <a:off x="822960" y="4700016"/>
            <a:ext cx="2651760" cy="640080"/>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HT5: travel writing — a real journey</a:t>
            </a:r>
            <a:endParaRPr lang="en-US" sz="1400" dirty="0"/>
          </a:p>
        </p:txBody>
      </p:sp>
      <p:sp>
        <p:nvSpPr>
          <p:cNvPr id="18" name="Text 15"/>
          <p:cNvSpPr/>
          <p:nvPr/>
        </p:nvSpPr>
        <p:spPr>
          <a:xfrm>
            <a:off x="4114800" y="1737360"/>
            <a:ext cx="3931920" cy="365760"/>
          </a:xfrm>
          <a:prstGeom prst="rect">
            <a:avLst/>
          </a:prstGeom>
          <a:noFill/>
          <a:ln/>
        </p:spPr>
        <p:txBody>
          <a:bodyPr wrap="square" lIns="0" tIns="0" rIns="0" bIns="0" rtlCol="0" anchor="ctr"/>
          <a:lstStyle/>
          <a:p>
            <a:pPr indent="0" marL="0">
              <a:buNone/>
            </a:pPr>
            <a:r>
              <a:rPr lang="en-US" sz="1400" b="1" dirty="0">
                <a:solidFill>
                  <a:srgbClr val="80ADC4"/>
                </a:solidFill>
                <a:latin typeface="Arial" pitchFamily="34" charset="0"/>
                <a:ea typeface="Arial" pitchFamily="34" charset="-122"/>
                <a:cs typeface="Arial" pitchFamily="34" charset="-120"/>
              </a:rPr>
              <a:t>THIS UNIT, LESSON BY LESSON</a:t>
            </a:r>
            <a:endParaRPr lang="en-US" sz="1400" dirty="0"/>
          </a:p>
        </p:txBody>
      </p:sp>
      <p:sp>
        <p:nvSpPr>
          <p:cNvPr id="19" name="Shape 16"/>
          <p:cNvSpPr/>
          <p:nvPr/>
        </p:nvSpPr>
        <p:spPr>
          <a:xfrm>
            <a:off x="4114800" y="2194560"/>
            <a:ext cx="3931920" cy="420624"/>
          </a:xfrm>
          <a:prstGeom prst="roundRect">
            <a:avLst>
              <a:gd name="adj" fmla="val 26087"/>
            </a:avLst>
          </a:prstGeom>
          <a:solidFill>
            <a:srgbClr val="FFFFFF"/>
          </a:solidFill>
          <a:ln w="12700">
            <a:solidFill>
              <a:srgbClr val="D9E2EE"/>
            </a:solidFill>
            <a:prstDash val="solid"/>
          </a:ln>
        </p:spPr>
      </p:sp>
      <p:sp>
        <p:nvSpPr>
          <p:cNvPr id="20" name="Text 17"/>
          <p:cNvSpPr/>
          <p:nvPr/>
        </p:nvSpPr>
        <p:spPr>
          <a:xfrm>
            <a:off x="4242816" y="2249424"/>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1</a:t>
            </a:r>
            <a:endParaRPr lang="en-US" sz="1100" dirty="0"/>
          </a:p>
        </p:txBody>
      </p:sp>
      <p:sp>
        <p:nvSpPr>
          <p:cNvPr id="21" name="Text 18"/>
          <p:cNvSpPr/>
          <p:nvPr/>
        </p:nvSpPr>
        <p:spPr>
          <a:xfrm>
            <a:off x="4736592" y="2194560"/>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Binti and science fiction</a:t>
            </a:r>
            <a:endParaRPr lang="en-US" sz="1400" dirty="0"/>
          </a:p>
        </p:txBody>
      </p:sp>
      <p:sp>
        <p:nvSpPr>
          <p:cNvPr id="22" name="Shape 19"/>
          <p:cNvSpPr/>
          <p:nvPr/>
        </p:nvSpPr>
        <p:spPr>
          <a:xfrm>
            <a:off x="4114800" y="2761488"/>
            <a:ext cx="3931920" cy="420624"/>
          </a:xfrm>
          <a:prstGeom prst="roundRect">
            <a:avLst>
              <a:gd name="adj" fmla="val 26087"/>
            </a:avLst>
          </a:prstGeom>
          <a:solidFill>
            <a:srgbClr val="12294D"/>
          </a:solidFill>
          <a:ln w="12700">
            <a:solidFill>
              <a:srgbClr val="12294D"/>
            </a:solidFill>
            <a:prstDash val="solid"/>
          </a:ln>
        </p:spPr>
      </p:sp>
      <p:sp>
        <p:nvSpPr>
          <p:cNvPr id="23" name="Text 20"/>
          <p:cNvSpPr/>
          <p:nvPr/>
        </p:nvSpPr>
        <p:spPr>
          <a:xfrm>
            <a:off x="4242816" y="2816352"/>
            <a:ext cx="310896" cy="310896"/>
          </a:xfrm>
          <a:prstGeom prst="ellipse">
            <a:avLst/>
          </a:prstGeom>
          <a:solidFill>
            <a:srgbClr val="FFC93C"/>
          </a:solidFill>
          <a:ln>
            <a:solidFill>
              <a:srgbClr val="FFC93C"/>
            </a:solidFill>
          </a:ln>
        </p:spPr>
        <p:txBody>
          <a:bodyPr wrap="square" lIns="0" tIns="0" rIns="0" bIns="0" rtlCol="0" anchor="ctr"/>
          <a:lstStyle/>
          <a:p>
            <a:pPr algn="ctr" indent="0" marL="0">
              <a:buNone/>
            </a:pPr>
            <a:r>
              <a:rPr lang="en-US" sz="1100" b="1" dirty="0">
                <a:solidFill>
                  <a:srgbClr val="12294D"/>
                </a:solidFill>
                <a:latin typeface="Arial" pitchFamily="34" charset="0"/>
                <a:ea typeface="Arial" pitchFamily="34" charset="-122"/>
                <a:cs typeface="Arial" pitchFamily="34" charset="-120"/>
              </a:rPr>
              <a:t>2</a:t>
            </a:r>
            <a:endParaRPr lang="en-US" sz="1100" dirty="0"/>
          </a:p>
        </p:txBody>
      </p:sp>
      <p:sp>
        <p:nvSpPr>
          <p:cNvPr id="24" name="Text 21"/>
          <p:cNvSpPr/>
          <p:nvPr/>
        </p:nvSpPr>
        <p:spPr>
          <a:xfrm>
            <a:off x="4736592" y="2761488"/>
            <a:ext cx="3200400" cy="420624"/>
          </a:xfrm>
          <a:prstGeom prst="rect">
            <a:avLst/>
          </a:prstGeom>
          <a:noFill/>
          <a:ln/>
        </p:spPr>
        <p:txBody>
          <a:bodyPr wrap="square" lIns="12700" tIns="45720" rIns="45720" bIns="12700" rtlCol="0" anchor="ctr"/>
          <a:lstStyle/>
          <a:p>
            <a:pPr algn="l" indent="0" marL="0">
              <a:buNone/>
            </a:pPr>
            <a:r>
              <a:rPr lang="en-US" sz="1400" b="1" dirty="0">
                <a:solidFill>
                  <a:srgbClr val="FFFFFF"/>
                </a:solidFill>
                <a:latin typeface="Arial" pitchFamily="34" charset="0"/>
                <a:ea typeface="Arial" pitchFamily="34" charset="-122"/>
                <a:cs typeface="Arial" pitchFamily="34" charset="-120"/>
              </a:rPr>
              <a:t>Character, heritage, identity</a:t>
            </a:r>
            <a:endParaRPr lang="en-US" sz="1400" dirty="0"/>
          </a:p>
        </p:txBody>
      </p:sp>
      <p:sp>
        <p:nvSpPr>
          <p:cNvPr id="25" name="Shape 22"/>
          <p:cNvSpPr/>
          <p:nvPr/>
        </p:nvSpPr>
        <p:spPr>
          <a:xfrm>
            <a:off x="4114800" y="3328416"/>
            <a:ext cx="3931920" cy="420624"/>
          </a:xfrm>
          <a:prstGeom prst="roundRect">
            <a:avLst>
              <a:gd name="adj" fmla="val 26087"/>
            </a:avLst>
          </a:prstGeom>
          <a:solidFill>
            <a:srgbClr val="FFFFFF"/>
          </a:solidFill>
          <a:ln w="12700">
            <a:solidFill>
              <a:srgbClr val="D9E2EE"/>
            </a:solidFill>
            <a:prstDash val="solid"/>
          </a:ln>
        </p:spPr>
      </p:sp>
      <p:sp>
        <p:nvSpPr>
          <p:cNvPr id="26" name="Text 23"/>
          <p:cNvSpPr/>
          <p:nvPr/>
        </p:nvSpPr>
        <p:spPr>
          <a:xfrm>
            <a:off x="4242816" y="3383280"/>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3</a:t>
            </a:r>
            <a:endParaRPr lang="en-US" sz="1100" dirty="0"/>
          </a:p>
        </p:txBody>
      </p:sp>
      <p:sp>
        <p:nvSpPr>
          <p:cNvPr id="27" name="Text 24"/>
          <p:cNvSpPr/>
          <p:nvPr/>
        </p:nvSpPr>
        <p:spPr>
          <a:xfrm>
            <a:off x="4736592" y="3328416"/>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Themes: journey and belonging</a:t>
            </a:r>
            <a:endParaRPr lang="en-US" sz="1400" dirty="0"/>
          </a:p>
        </p:txBody>
      </p:sp>
      <p:sp>
        <p:nvSpPr>
          <p:cNvPr id="28" name="Shape 25"/>
          <p:cNvSpPr/>
          <p:nvPr/>
        </p:nvSpPr>
        <p:spPr>
          <a:xfrm>
            <a:off x="4114800" y="3895344"/>
            <a:ext cx="3931920" cy="420624"/>
          </a:xfrm>
          <a:prstGeom prst="roundRect">
            <a:avLst>
              <a:gd name="adj" fmla="val 26087"/>
            </a:avLst>
          </a:prstGeom>
          <a:solidFill>
            <a:srgbClr val="FFFFFF"/>
          </a:solidFill>
          <a:ln w="12700">
            <a:solidFill>
              <a:srgbClr val="D9E2EE"/>
            </a:solidFill>
            <a:prstDash val="solid"/>
          </a:ln>
        </p:spPr>
      </p:sp>
      <p:sp>
        <p:nvSpPr>
          <p:cNvPr id="29" name="Text 26"/>
          <p:cNvSpPr/>
          <p:nvPr/>
        </p:nvSpPr>
        <p:spPr>
          <a:xfrm>
            <a:off x="4242816" y="3950208"/>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4</a:t>
            </a:r>
            <a:endParaRPr lang="en-US" sz="1100" dirty="0"/>
          </a:p>
        </p:txBody>
      </p:sp>
      <p:sp>
        <p:nvSpPr>
          <p:cNvPr id="30" name="Text 27"/>
          <p:cNvSpPr/>
          <p:nvPr/>
        </p:nvSpPr>
        <p:spPr>
          <a:xfrm>
            <a:off x="4736592" y="3895344"/>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End-of-year assessment</a:t>
            </a:r>
            <a:endParaRPr lang="en-US" sz="1400" dirty="0"/>
          </a:p>
        </p:txBody>
      </p:sp>
      <p:sp>
        <p:nvSpPr>
          <p:cNvPr id="31" name="Shape 28"/>
          <p:cNvSpPr/>
          <p:nvPr/>
        </p:nvSpPr>
        <p:spPr>
          <a:xfrm>
            <a:off x="4114800" y="4462272"/>
            <a:ext cx="3931920" cy="420624"/>
          </a:xfrm>
          <a:prstGeom prst="roundRect">
            <a:avLst>
              <a:gd name="adj" fmla="val 26087"/>
            </a:avLst>
          </a:prstGeom>
          <a:solidFill>
            <a:srgbClr val="FFFFFF"/>
          </a:solidFill>
          <a:ln w="12700">
            <a:solidFill>
              <a:srgbClr val="D9E2EE"/>
            </a:solidFill>
            <a:prstDash val="solid"/>
          </a:ln>
        </p:spPr>
      </p:sp>
      <p:sp>
        <p:nvSpPr>
          <p:cNvPr id="32" name="Text 29"/>
          <p:cNvSpPr/>
          <p:nvPr/>
        </p:nvSpPr>
        <p:spPr>
          <a:xfrm>
            <a:off x="4242816" y="4517136"/>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5</a:t>
            </a:r>
            <a:endParaRPr lang="en-US" sz="1100" dirty="0"/>
          </a:p>
        </p:txBody>
      </p:sp>
      <p:sp>
        <p:nvSpPr>
          <p:cNvPr id="33" name="Text 30"/>
          <p:cNvSpPr/>
          <p:nvPr/>
        </p:nvSpPr>
        <p:spPr>
          <a:xfrm>
            <a:off x="4736592" y="4462272"/>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EOY review and Year 8 preview</a:t>
            </a:r>
            <a:endParaRPr lang="en-US" sz="1400" dirty="0"/>
          </a:p>
        </p:txBody>
      </p:sp>
      <p:sp>
        <p:nvSpPr>
          <p:cNvPr id="34" name="Shape 31"/>
          <p:cNvSpPr/>
          <p:nvPr/>
        </p:nvSpPr>
        <p:spPr>
          <a:xfrm>
            <a:off x="4114800" y="5029200"/>
            <a:ext cx="3931920" cy="420624"/>
          </a:xfrm>
          <a:prstGeom prst="roundRect">
            <a:avLst>
              <a:gd name="adj" fmla="val 26087"/>
            </a:avLst>
          </a:prstGeom>
          <a:solidFill>
            <a:srgbClr val="FFFFFF"/>
          </a:solidFill>
          <a:ln w="12700">
            <a:solidFill>
              <a:srgbClr val="D9E2EE"/>
            </a:solidFill>
            <a:prstDash val="solid"/>
          </a:ln>
        </p:spPr>
      </p:sp>
      <p:sp>
        <p:nvSpPr>
          <p:cNvPr id="35" name="Text 32"/>
          <p:cNvSpPr/>
          <p:nvPr/>
        </p:nvSpPr>
        <p:spPr>
          <a:xfrm>
            <a:off x="4242816" y="5084064"/>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6</a:t>
            </a:r>
            <a:endParaRPr lang="en-US" sz="1100" dirty="0"/>
          </a:p>
        </p:txBody>
      </p:sp>
      <p:sp>
        <p:nvSpPr>
          <p:cNvPr id="36" name="Text 33"/>
          <p:cNvSpPr/>
          <p:nvPr/>
        </p:nvSpPr>
        <p:spPr>
          <a:xfrm>
            <a:off x="4736592" y="5029200"/>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Scholarship reading response</a:t>
            </a:r>
            <a:endParaRPr lang="en-US" sz="1400" dirty="0"/>
          </a:p>
        </p:txBody>
      </p:sp>
      <p:sp>
        <p:nvSpPr>
          <p:cNvPr id="37" name="Shape 34"/>
          <p:cNvSpPr/>
          <p:nvPr/>
        </p:nvSpPr>
        <p:spPr>
          <a:xfrm>
            <a:off x="4114800" y="5596128"/>
            <a:ext cx="3931920" cy="420624"/>
          </a:xfrm>
          <a:prstGeom prst="roundRect">
            <a:avLst>
              <a:gd name="adj" fmla="val 26087"/>
            </a:avLst>
          </a:prstGeom>
          <a:solidFill>
            <a:srgbClr val="FFFFFF"/>
          </a:solidFill>
          <a:ln w="12700">
            <a:solidFill>
              <a:srgbClr val="D9E2EE"/>
            </a:solidFill>
            <a:prstDash val="solid"/>
          </a:ln>
        </p:spPr>
      </p:sp>
      <p:sp>
        <p:nvSpPr>
          <p:cNvPr id="38" name="Text 35"/>
          <p:cNvSpPr/>
          <p:nvPr/>
        </p:nvSpPr>
        <p:spPr>
          <a:xfrm>
            <a:off x="4242816" y="5650992"/>
            <a:ext cx="310896" cy="310896"/>
          </a:xfrm>
          <a:prstGeom prst="ellipse">
            <a:avLst/>
          </a:prstGeom>
          <a:solidFill>
            <a:srgbClr val="E7ECF3"/>
          </a:solidFill>
          <a:ln>
            <a:solidFill>
              <a:srgbClr val="E7ECF3"/>
            </a:solidFill>
          </a:ln>
        </p:spPr>
        <p:txBody>
          <a:bodyPr wrap="square" lIns="0" tIns="0" rIns="0" bIns="0" rtlCol="0" anchor="ctr"/>
          <a:lstStyle/>
          <a:p>
            <a:pPr algn="ctr" indent="0" marL="0">
              <a:buNone/>
            </a:pPr>
            <a:r>
              <a:rPr lang="en-US" sz="1100" b="1" dirty="0">
                <a:solidFill>
                  <a:srgbClr val="6E6E6E"/>
                </a:solidFill>
                <a:latin typeface="Arial" pitchFamily="34" charset="0"/>
                <a:ea typeface="Arial" pitchFamily="34" charset="-122"/>
                <a:cs typeface="Arial" pitchFamily="34" charset="-120"/>
              </a:rPr>
              <a:t>7</a:t>
            </a:r>
            <a:endParaRPr lang="en-US" sz="1100" dirty="0"/>
          </a:p>
        </p:txBody>
      </p:sp>
      <p:sp>
        <p:nvSpPr>
          <p:cNvPr id="39" name="Text 36"/>
          <p:cNvSpPr/>
          <p:nvPr/>
        </p:nvSpPr>
        <p:spPr>
          <a:xfrm>
            <a:off x="4736592" y="5596128"/>
            <a:ext cx="3200400" cy="420624"/>
          </a:xfrm>
          <a:prstGeom prst="rect">
            <a:avLst/>
          </a:prstGeom>
          <a:noFill/>
          <a:ln/>
        </p:spPr>
        <p:txBody>
          <a:bodyPr wrap="square" lIns="12700" tIns="45720" rIns="45720" bIns="1270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Transition to Year 8</a:t>
            </a:r>
            <a:endParaRPr lang="en-US" sz="1400" dirty="0"/>
          </a:p>
        </p:txBody>
      </p:sp>
      <p:sp>
        <p:nvSpPr>
          <p:cNvPr id="40" name="Shape 37"/>
          <p:cNvSpPr/>
          <p:nvPr/>
        </p:nvSpPr>
        <p:spPr>
          <a:xfrm>
            <a:off x="8321040" y="1600200"/>
            <a:ext cx="3383280" cy="4617720"/>
          </a:xfrm>
          <a:prstGeom prst="roundRect">
            <a:avLst>
              <a:gd name="adj" fmla="val 2162"/>
            </a:avLst>
          </a:prstGeom>
          <a:solidFill>
            <a:srgbClr val="F4F6FA"/>
          </a:solidFill>
          <a:ln w="12700">
            <a:solidFill>
              <a:srgbClr val="F4F6FA"/>
            </a:solidFill>
            <a:prstDash val="solid"/>
          </a:ln>
        </p:spPr>
      </p:sp>
      <p:pic>
        <p:nvPicPr>
          <p:cNvPr id="41" name="Image 1" descr="/home/claude/english/kit/decks/_icons/flag-12294D.png">    </p:cNvPr>
          <p:cNvPicPr>
            <a:picLocks noChangeAspect="1"/>
          </p:cNvPicPr>
          <p:nvPr/>
        </p:nvPicPr>
        <p:blipFill>
          <a:blip r:embed="rId2"/>
          <a:stretch>
            <a:fillRect/>
          </a:stretch>
        </p:blipFill>
        <p:spPr>
          <a:xfrm>
            <a:off x="8549640" y="1792224"/>
            <a:ext cx="365760" cy="365760"/>
          </a:xfrm>
          <a:prstGeom prst="rect">
            <a:avLst/>
          </a:prstGeom>
        </p:spPr>
      </p:pic>
      <p:sp>
        <p:nvSpPr>
          <p:cNvPr id="42" name="Text 38"/>
          <p:cNvSpPr/>
          <p:nvPr/>
        </p:nvSpPr>
        <p:spPr>
          <a:xfrm>
            <a:off x="9006840" y="1792224"/>
            <a:ext cx="2651760" cy="365760"/>
          </a:xfrm>
          <a:prstGeom prst="rect">
            <a:avLst/>
          </a:prstGeom>
          <a:noFill/>
          <a:ln/>
        </p:spPr>
        <p:txBody>
          <a:bodyPr wrap="square" lIns="0" tIns="0" rIns="0" bIns="0" rtlCol="0" anchor="ctr"/>
          <a:lstStyle/>
          <a:p>
            <a:pPr indent="0" marL="0">
              <a:buNone/>
            </a:pPr>
            <a:r>
              <a:rPr lang="en-US" sz="1400" b="1" dirty="0">
                <a:solidFill>
                  <a:srgbClr val="12294D"/>
                </a:solidFill>
                <a:latin typeface="Arial" pitchFamily="34" charset="0"/>
                <a:ea typeface="Arial" pitchFamily="34" charset="-122"/>
                <a:cs typeface="Arial" pitchFamily="34" charset="-120"/>
              </a:rPr>
              <a:t>WHERE WE'RE GOING</a:t>
            </a:r>
            <a:endParaRPr lang="en-US" sz="1400" dirty="0"/>
          </a:p>
        </p:txBody>
      </p:sp>
      <p:sp>
        <p:nvSpPr>
          <p:cNvPr id="43" name="Shape 39"/>
          <p:cNvSpPr/>
          <p:nvPr/>
        </p:nvSpPr>
        <p:spPr>
          <a:xfrm>
            <a:off x="8549640" y="2340864"/>
            <a:ext cx="2926080" cy="749808"/>
          </a:xfrm>
          <a:prstGeom prst="roundRect">
            <a:avLst>
              <a:gd name="adj" fmla="val 7317"/>
            </a:avLst>
          </a:prstGeom>
          <a:solidFill>
            <a:srgbClr val="FFFFFF"/>
          </a:solidFill>
          <a:ln w="12700">
            <a:solidFill>
              <a:srgbClr val="D9E2EE"/>
            </a:solidFill>
            <a:prstDash val="solid"/>
          </a:ln>
        </p:spPr>
      </p:sp>
      <p:sp>
        <p:nvSpPr>
          <p:cNvPr id="44" name="Text 40"/>
          <p:cNvSpPr/>
          <p:nvPr/>
        </p:nvSpPr>
        <p:spPr>
          <a:xfrm>
            <a:off x="8686800" y="2340864"/>
            <a:ext cx="2651760" cy="749808"/>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Year 8: the big idea is Diversity</a:t>
            </a:r>
            <a:endParaRPr lang="en-US" sz="1400" dirty="0"/>
          </a:p>
        </p:txBody>
      </p:sp>
      <p:sp>
        <p:nvSpPr>
          <p:cNvPr id="45" name="Shape 41"/>
          <p:cNvSpPr/>
          <p:nvPr/>
        </p:nvSpPr>
        <p:spPr>
          <a:xfrm>
            <a:off x="8549640" y="3236976"/>
            <a:ext cx="2926080" cy="749808"/>
          </a:xfrm>
          <a:prstGeom prst="roundRect">
            <a:avLst>
              <a:gd name="adj" fmla="val 7317"/>
            </a:avLst>
          </a:prstGeom>
          <a:solidFill>
            <a:srgbClr val="FFFFFF"/>
          </a:solidFill>
          <a:ln w="12700">
            <a:solidFill>
              <a:srgbClr val="D9E2EE"/>
            </a:solidFill>
            <a:prstDash val="solid"/>
          </a:ln>
        </p:spPr>
      </p:sp>
      <p:sp>
        <p:nvSpPr>
          <p:cNvPr id="46" name="Text 42"/>
          <p:cNvSpPr/>
          <p:nvPr/>
        </p:nvSpPr>
        <p:spPr>
          <a:xfrm>
            <a:off x="8686800" y="3236976"/>
            <a:ext cx="2651760" cy="749808"/>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Year 8: whole novels, longer answers</a:t>
            </a:r>
            <a:endParaRPr lang="en-US" sz="1400" dirty="0"/>
          </a:p>
        </p:txBody>
      </p:sp>
      <p:sp>
        <p:nvSpPr>
          <p:cNvPr id="47" name="Shape 43"/>
          <p:cNvSpPr/>
          <p:nvPr/>
        </p:nvSpPr>
        <p:spPr>
          <a:xfrm>
            <a:off x="8549640" y="4133088"/>
            <a:ext cx="2926080" cy="749808"/>
          </a:xfrm>
          <a:prstGeom prst="roundRect">
            <a:avLst>
              <a:gd name="adj" fmla="val 7317"/>
            </a:avLst>
          </a:prstGeom>
          <a:solidFill>
            <a:srgbClr val="FFFFFF"/>
          </a:solidFill>
          <a:ln w="12700">
            <a:solidFill>
              <a:srgbClr val="D9E2EE"/>
            </a:solidFill>
            <a:prstDash val="solid"/>
          </a:ln>
        </p:spPr>
      </p:sp>
      <p:sp>
        <p:nvSpPr>
          <p:cNvPr id="48" name="Text 44"/>
          <p:cNvSpPr/>
          <p:nvPr/>
        </p:nvSpPr>
        <p:spPr>
          <a:xfrm>
            <a:off x="8686800" y="4133088"/>
            <a:ext cx="2651760" cy="749808"/>
          </a:xfrm>
          <a:prstGeom prst="rect">
            <a:avLst/>
          </a:prstGeom>
          <a:noFill/>
          <a:ln/>
        </p:spPr>
        <p:txBody>
          <a:bodyPr wrap="square" lIns="45720" tIns="91440" rIns="91440" bIns="45720" rtlCol="0" anchor="ctr"/>
          <a:lstStyle/>
          <a:p>
            <a:pPr algn="l" indent="0" marL="0">
              <a:buNone/>
            </a:pPr>
            <a:r>
              <a:rPr lang="en-US" sz="1400" dirty="0">
                <a:solidFill>
                  <a:srgbClr val="16171F"/>
                </a:solidFill>
                <a:latin typeface="Arial" pitchFamily="34" charset="0"/>
                <a:ea typeface="Arial" pitchFamily="34" charset="-122"/>
                <a:cs typeface="Arial" pitchFamily="34" charset="-120"/>
              </a:rPr>
              <a:t>GCSE: AO1 evidence · AO2 method</a:t>
            </a:r>
            <a:endParaRPr lang="en-US" sz="1400" dirty="0"/>
          </a:p>
        </p:txBody>
      </p:sp>
      <p:sp>
        <p:nvSpPr>
          <p:cNvPr id="49" name="Shape 45"/>
          <p:cNvSpPr/>
          <p:nvPr/>
        </p:nvSpPr>
        <p:spPr>
          <a:xfrm>
            <a:off x="8549640" y="5120640"/>
            <a:ext cx="2926080" cy="960120"/>
          </a:xfrm>
          <a:prstGeom prst="roundRect">
            <a:avLst>
              <a:gd name="adj" fmla="val 5714"/>
            </a:avLst>
          </a:prstGeom>
          <a:solidFill>
            <a:srgbClr val="12294D"/>
          </a:solidFill>
          <a:ln w="12700">
            <a:solidFill>
              <a:srgbClr val="12294D"/>
            </a:solidFill>
            <a:prstDash val="solid"/>
          </a:ln>
        </p:spPr>
      </p:sp>
      <p:sp>
        <p:nvSpPr>
          <p:cNvPr id="50" name="Text 46"/>
          <p:cNvSpPr/>
          <p:nvPr/>
        </p:nvSpPr>
        <p:spPr>
          <a:xfrm>
            <a:off x="8732520" y="5120640"/>
            <a:ext cx="2606040" cy="960120"/>
          </a:xfrm>
          <a:prstGeom prst="rect">
            <a:avLst/>
          </a:prstGeom>
          <a:noFill/>
          <a:ln/>
        </p:spPr>
        <p:txBody>
          <a:bodyPr wrap="square" lIns="45720" tIns="91440" rIns="91440" bIns="45720" rtlCol="0" anchor="ctr"/>
          <a:lstStyle/>
          <a:p>
            <a:pPr algn="l" indent="0" marL="0">
              <a:buNone/>
            </a:pPr>
            <a:r>
              <a:rPr lang="en-US" sz="1400" b="1" dirty="0">
                <a:solidFill>
                  <a:srgbClr val="FFFFFF"/>
                </a:solidFill>
                <a:latin typeface="Arial" pitchFamily="34" charset="0"/>
                <a:ea typeface="Arial" pitchFamily="34" charset="-122"/>
                <a:cs typeface="Arial" pitchFamily="34" charset="-120"/>
              </a:rPr>
              <a:t>Every lesson answers one BIG QUESTION. Every question builds the next.</a:t>
            </a:r>
            <a:endParaRPr lang="en-US" sz="1400" dirty="0"/>
          </a:p>
        </p:txBody>
      </p:sp>
      <p:sp>
        <p:nvSpPr>
          <p:cNvPr id="51" name="Text 47"/>
          <p:cNvSpPr/>
          <p:nvPr/>
        </p:nvSpPr>
        <p:spPr>
          <a:xfrm>
            <a:off x="457200" y="6446520"/>
            <a:ext cx="8229600" cy="274320"/>
          </a:xfrm>
          <a:prstGeom prst="rect">
            <a:avLst/>
          </a:prstGeom>
          <a:noFill/>
          <a:ln/>
        </p:spPr>
        <p:txBody>
          <a:bodyPr wrap="square" lIns="0" tIns="0" rIns="0" bIns="0" rtlCol="0" anchor="ctr"/>
          <a:lstStyle/>
          <a:p>
            <a:pPr indent="0" marL="0">
              <a:buNone/>
            </a:pPr>
            <a:r>
              <a:rPr lang="en-US" sz="1000" dirty="0">
                <a:solidFill>
                  <a:srgbClr val="9AA6B5"/>
                </a:solidFill>
                <a:latin typeface="Arial" pitchFamily="34" charset="0"/>
                <a:ea typeface="Arial" pitchFamily="34" charset="-122"/>
                <a:cs typeface="Arial" pitchFamily="34" charset="-120"/>
              </a:rPr>
              <a:t>Harlington School  ·  Modern Novel: Binti  ·  Character, heritage, identity</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294D"/>
        </a:solidFill>
      </p:bgPr>
    </p:bg>
    <p:spTree>
      <p:nvGrpSpPr>
        <p:cNvPr id="1" name=""/>
        <p:cNvGrpSpPr/>
        <p:nvPr/>
      </p:nvGrpSpPr>
      <p:grpSpPr>
        <a:xfrm>
          <a:off x="0" y="0"/>
          <a:ext cx="0" cy="0"/>
          <a:chOff x="0" y="0"/>
          <a:chExt cx="0" cy="0"/>
        </a:xfrm>
      </p:grpSpPr>
      <p:sp>
        <p:nvSpPr>
          <p:cNvPr id="2" name="Text 0"/>
          <p:cNvSpPr/>
          <p:nvPr/>
        </p:nvSpPr>
        <p:spPr>
          <a:xfrm>
            <a:off x="548640" y="502920"/>
            <a:ext cx="10972800" cy="365760"/>
          </a:xfrm>
          <a:prstGeom prst="rect">
            <a:avLst/>
          </a:prstGeom>
          <a:noFill/>
          <a:ln/>
        </p:spPr>
        <p:txBody>
          <a:bodyPr wrap="square" lIns="0" tIns="0" rIns="0" bIns="0" rtlCol="0" anchor="ctr"/>
          <a:lstStyle/>
          <a:p>
            <a:pPr indent="0" marL="0">
              <a:buNone/>
            </a:pPr>
            <a:r>
              <a:rPr lang="en-US" sz="1400" b="1" dirty="0">
                <a:solidFill>
                  <a:srgbClr val="FFC93C"/>
                </a:solidFill>
                <a:latin typeface="Arial" pitchFamily="34" charset="0"/>
                <a:ea typeface="Arial" pitchFamily="34" charset="-122"/>
                <a:cs typeface="Arial" pitchFamily="34" charset="-120"/>
              </a:rPr>
              <a:t>LESSON 2 · CHARACTER, HERITAGE, IDENTITY</a:t>
            </a:r>
            <a:endParaRPr lang="en-US" sz="1400" dirty="0"/>
          </a:p>
        </p:txBody>
      </p:sp>
      <p:sp>
        <p:nvSpPr>
          <p:cNvPr id="3" name="Text 1"/>
          <p:cNvSpPr/>
          <p:nvPr/>
        </p:nvSpPr>
        <p:spPr>
          <a:xfrm>
            <a:off x="548640" y="1005840"/>
            <a:ext cx="10515600" cy="82296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Today you will…</a:t>
            </a:r>
            <a:endParaRPr lang="en-US" sz="3800" dirty="0"/>
          </a:p>
        </p:txBody>
      </p:sp>
      <p:sp>
        <p:nvSpPr>
          <p:cNvPr id="4" name="Text 2"/>
          <p:cNvSpPr/>
          <p:nvPr/>
        </p:nvSpPr>
        <p:spPr>
          <a:xfrm>
            <a:off x="548640" y="1874520"/>
            <a:ext cx="10607040" cy="457200"/>
          </a:xfrm>
          <a:prstGeom prst="rect">
            <a:avLst/>
          </a:prstGeom>
          <a:noFill/>
          <a:ln/>
        </p:spPr>
        <p:txBody>
          <a:bodyPr wrap="square" lIns="0" tIns="0" rIns="0" bIns="0" rtlCol="0" anchor="ctr"/>
          <a:lstStyle/>
          <a:p>
            <a:pPr algn="l" indent="0" marL="0">
              <a:buNone/>
            </a:pPr>
            <a:r>
              <a:rPr lang="en-US" sz="1600" i="1" dirty="0">
                <a:solidFill>
                  <a:srgbClr val="8FA6C4"/>
                </a:solidFill>
                <a:latin typeface="Arial" pitchFamily="34" charset="0"/>
                <a:ea typeface="Arial" pitchFamily="34" charset="-122"/>
                <a:cs typeface="Arial" pitchFamily="34" charset="-120"/>
              </a:rPr>
              <a:t>Our aims climb Bloom's taxonomy — and you will see which step every task is on, all lesson.</a:t>
            </a:r>
            <a:endParaRPr lang="en-US" sz="1600" dirty="0"/>
          </a:p>
        </p:txBody>
      </p:sp>
      <p:sp>
        <p:nvSpPr>
          <p:cNvPr id="5" name="Text 3"/>
          <p:cNvSpPr/>
          <p:nvPr/>
        </p:nvSpPr>
        <p:spPr>
          <a:xfrm>
            <a:off x="548640" y="2606040"/>
            <a:ext cx="2377440" cy="868680"/>
          </a:xfrm>
          <a:prstGeom prst="roundRect">
            <a:avLst>
              <a:gd name="adj" fmla="val 10526"/>
            </a:avLst>
          </a:prstGeom>
          <a:solidFill>
            <a:srgbClr val="00A08A"/>
          </a:solidFill>
          <a:ln>
            <a:solidFill>
              <a:srgbClr val="00A08A"/>
            </a:solid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UNDERSTAND</a:t>
            </a:r>
            <a:endParaRPr lang="en-US" sz="1800" dirty="0"/>
          </a:p>
        </p:txBody>
      </p:sp>
      <p:sp>
        <p:nvSpPr>
          <p:cNvPr id="6" name="Shape 4"/>
          <p:cNvSpPr/>
          <p:nvPr/>
        </p:nvSpPr>
        <p:spPr>
          <a:xfrm>
            <a:off x="3108960" y="2606040"/>
            <a:ext cx="8503920" cy="868680"/>
          </a:xfrm>
          <a:prstGeom prst="roundRect">
            <a:avLst>
              <a:gd name="adj" fmla="val 7368"/>
            </a:avLst>
          </a:prstGeom>
          <a:solidFill>
            <a:srgbClr val="1B315C"/>
          </a:solidFill>
          <a:ln w="19050">
            <a:solidFill>
              <a:srgbClr val="00A08A"/>
            </a:solidFill>
            <a:prstDash val="solid"/>
          </a:ln>
        </p:spPr>
      </p:sp>
      <p:sp>
        <p:nvSpPr>
          <p:cNvPr id="7" name="Text 5"/>
          <p:cNvSpPr/>
          <p:nvPr/>
        </p:nvSpPr>
        <p:spPr>
          <a:xfrm>
            <a:off x="3337560" y="2606040"/>
            <a:ext cx="8092440" cy="868680"/>
          </a:xfrm>
          <a:prstGeom prst="rect">
            <a:avLst/>
          </a:prstGeom>
          <a:noFill/>
          <a:ln/>
        </p:spPr>
        <p:txBody>
          <a:bodyPr wrap="square" lIns="45720" tIns="91440" rIns="91440" bIns="45720" rtlCol="0" anchor="ctr"/>
          <a:lstStyle/>
          <a:p>
            <a:pPr algn="l" indent="0" marL="0">
              <a:buNone/>
            </a:pPr>
            <a:r>
              <a:rPr lang="en-US" sz="1800" dirty="0">
                <a:solidFill>
                  <a:srgbClr val="EAF1FB"/>
                </a:solidFill>
                <a:latin typeface="Arial" pitchFamily="34" charset="0"/>
                <a:ea typeface="Arial" pitchFamily="34" charset="-122"/>
                <a:cs typeface="Arial" pitchFamily="34" charset="-120"/>
              </a:rPr>
              <a:t>Describe Binti: where she comes from, what she carries and what she wants.</a:t>
            </a:r>
            <a:endParaRPr lang="en-US" sz="1800" dirty="0"/>
          </a:p>
        </p:txBody>
      </p:sp>
      <p:sp>
        <p:nvSpPr>
          <p:cNvPr id="8" name="Text 6"/>
          <p:cNvSpPr/>
          <p:nvPr/>
        </p:nvSpPr>
        <p:spPr>
          <a:xfrm>
            <a:off x="548640" y="3621024"/>
            <a:ext cx="2377440" cy="868680"/>
          </a:xfrm>
          <a:prstGeom prst="roundRect">
            <a:avLst>
              <a:gd name="adj" fmla="val 10526"/>
            </a:avLst>
          </a:prstGeom>
          <a:solidFill>
            <a:srgbClr val="6C3A6E"/>
          </a:solidFill>
          <a:ln>
            <a:solidFill>
              <a:srgbClr val="6C3A6E"/>
            </a:solid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ANALYSE</a:t>
            </a:r>
            <a:endParaRPr lang="en-US" sz="1800" dirty="0"/>
          </a:p>
        </p:txBody>
      </p:sp>
      <p:sp>
        <p:nvSpPr>
          <p:cNvPr id="9" name="Shape 7"/>
          <p:cNvSpPr/>
          <p:nvPr/>
        </p:nvSpPr>
        <p:spPr>
          <a:xfrm>
            <a:off x="3108960" y="3621024"/>
            <a:ext cx="8503920" cy="868680"/>
          </a:xfrm>
          <a:prstGeom prst="roundRect">
            <a:avLst>
              <a:gd name="adj" fmla="val 7368"/>
            </a:avLst>
          </a:prstGeom>
          <a:solidFill>
            <a:srgbClr val="1B315C"/>
          </a:solidFill>
          <a:ln w="19050">
            <a:solidFill>
              <a:srgbClr val="6C3A6E"/>
            </a:solidFill>
            <a:prstDash val="solid"/>
          </a:ln>
        </p:spPr>
      </p:sp>
      <p:sp>
        <p:nvSpPr>
          <p:cNvPr id="10" name="Text 8"/>
          <p:cNvSpPr/>
          <p:nvPr/>
        </p:nvSpPr>
        <p:spPr>
          <a:xfrm>
            <a:off x="3337560" y="3621024"/>
            <a:ext cx="8092440" cy="868680"/>
          </a:xfrm>
          <a:prstGeom prst="rect">
            <a:avLst/>
          </a:prstGeom>
          <a:noFill/>
          <a:ln/>
        </p:spPr>
        <p:txBody>
          <a:bodyPr wrap="square" lIns="45720" tIns="91440" rIns="91440" bIns="45720" rtlCol="0" anchor="ctr"/>
          <a:lstStyle/>
          <a:p>
            <a:pPr algn="l" indent="0" marL="0">
              <a:buNone/>
            </a:pPr>
            <a:r>
              <a:rPr lang="en-US" sz="1800" dirty="0">
                <a:solidFill>
                  <a:srgbClr val="EAF1FB"/>
                </a:solidFill>
                <a:latin typeface="Arial" pitchFamily="34" charset="0"/>
                <a:ea typeface="Arial" pitchFamily="34" charset="-122"/>
                <a:cs typeface="Arial" pitchFamily="34" charset="-120"/>
              </a:rPr>
              <a:t>Explain how a writer uses small details — clay, hair, a gift — to show heritage and identity.</a:t>
            </a:r>
            <a:endParaRPr lang="en-US" sz="1800" dirty="0"/>
          </a:p>
        </p:txBody>
      </p:sp>
      <p:sp>
        <p:nvSpPr>
          <p:cNvPr id="11" name="Text 9"/>
          <p:cNvSpPr/>
          <p:nvPr/>
        </p:nvSpPr>
        <p:spPr>
          <a:xfrm>
            <a:off x="548640" y="4636008"/>
            <a:ext cx="2377440" cy="868680"/>
          </a:xfrm>
          <a:prstGeom prst="roundRect">
            <a:avLst>
              <a:gd name="adj" fmla="val 10526"/>
            </a:avLst>
          </a:prstGeom>
          <a:solidFill>
            <a:srgbClr val="D0021B"/>
          </a:solidFill>
          <a:ln>
            <a:solidFill>
              <a:srgbClr val="D0021B"/>
            </a:solid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EVALUATE</a:t>
            </a:r>
            <a:endParaRPr lang="en-US" sz="1800" dirty="0"/>
          </a:p>
        </p:txBody>
      </p:sp>
      <p:sp>
        <p:nvSpPr>
          <p:cNvPr id="12" name="Shape 10"/>
          <p:cNvSpPr/>
          <p:nvPr/>
        </p:nvSpPr>
        <p:spPr>
          <a:xfrm>
            <a:off x="3108960" y="4636008"/>
            <a:ext cx="8503920" cy="868680"/>
          </a:xfrm>
          <a:prstGeom prst="roundRect">
            <a:avLst>
              <a:gd name="adj" fmla="val 7368"/>
            </a:avLst>
          </a:prstGeom>
          <a:solidFill>
            <a:srgbClr val="1B315C"/>
          </a:solidFill>
          <a:ln w="19050">
            <a:solidFill>
              <a:srgbClr val="D0021B"/>
            </a:solidFill>
            <a:prstDash val="solid"/>
          </a:ln>
        </p:spPr>
      </p:sp>
      <p:sp>
        <p:nvSpPr>
          <p:cNvPr id="13" name="Text 11"/>
          <p:cNvSpPr/>
          <p:nvPr/>
        </p:nvSpPr>
        <p:spPr>
          <a:xfrm>
            <a:off x="3337560" y="4636008"/>
            <a:ext cx="8092440" cy="868680"/>
          </a:xfrm>
          <a:prstGeom prst="rect">
            <a:avLst/>
          </a:prstGeom>
          <a:noFill/>
          <a:ln/>
        </p:spPr>
        <p:txBody>
          <a:bodyPr wrap="square" lIns="45720" tIns="91440" rIns="91440" bIns="45720" rtlCol="0" anchor="ctr"/>
          <a:lstStyle/>
          <a:p>
            <a:pPr algn="l" indent="0" marL="0">
              <a:buNone/>
            </a:pPr>
            <a:r>
              <a:rPr lang="en-US" sz="1800" dirty="0">
                <a:solidFill>
                  <a:srgbClr val="EAF1FB"/>
                </a:solidFill>
                <a:latin typeface="Arial" pitchFamily="34" charset="0"/>
                <a:ea typeface="Arial" pitchFamily="34" charset="-122"/>
                <a:cs typeface="Arial" pitchFamily="34" charset="-120"/>
              </a:rPr>
              <a:t>Judge whether Binti keeps her identity when she leaves — or whether leaving changes it.</a:t>
            </a:r>
            <a:endParaRPr lang="en-US" sz="1800" dirty="0"/>
          </a:p>
        </p:txBody>
      </p:sp>
      <p:sp>
        <p:nvSpPr>
          <p:cNvPr id="14" name="Text 12"/>
          <p:cNvSpPr/>
          <p:nvPr/>
        </p:nvSpPr>
        <p:spPr>
          <a:xfrm>
            <a:off x="548640" y="5943600"/>
            <a:ext cx="10972800" cy="457200"/>
          </a:xfrm>
          <a:prstGeom prst="rect">
            <a:avLst/>
          </a:prstGeom>
          <a:noFill/>
          <a:ln/>
        </p:spPr>
        <p:txBody>
          <a:bodyPr wrap="square" lIns="0" tIns="0" rIns="0" bIns="0" rtlCol="0" anchor="ctr"/>
          <a:lstStyle/>
          <a:p>
            <a:pPr algn="l" indent="0" marL="0">
              <a:buNone/>
            </a:pPr>
            <a:r>
              <a:rPr lang="en-US" sz="1500" b="1" i="1" dirty="0">
                <a:solidFill>
                  <a:srgbClr val="FFC93C"/>
                </a:solidFill>
                <a:latin typeface="Arial" pitchFamily="34" charset="0"/>
                <a:ea typeface="Arial" pitchFamily="34" charset="-122"/>
                <a:cs typeface="Arial" pitchFamily="34" charset="-120"/>
              </a:rPr>
              <a:t>Success = a full answer to the Big Question by the end. Everything today builds to it.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check-circle-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Bell work — mark it</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Mark honestly. Under 3? Re-read tonight.</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80ADC4"/>
          </a:solidFill>
          <a:ln>
            <a:solidFill>
              <a:srgbClr val="80ADC4"/>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Modern Novel: Binti · Character, heritage, identity</a:t>
            </a:r>
            <a:endParaRPr lang="en-US" sz="900" dirty="0"/>
          </a:p>
        </p:txBody>
      </p:sp>
      <p:sp>
        <p:nvSpPr>
          <p:cNvPr id="13" name="Text 10"/>
          <p:cNvSpPr/>
          <p:nvPr/>
        </p:nvSpPr>
        <p:spPr>
          <a:xfrm>
            <a:off x="8961120" y="6702552"/>
            <a:ext cx="2743200" cy="155448"/>
          </a:xfrm>
          <a:prstGeom prst="rect">
            <a:avLst/>
          </a:prstGeom>
          <a:noFill/>
          <a:ln/>
        </p:spPr>
        <p:txBody>
          <a:bodyPr wrap="square" lIns="0" tIns="0" rIns="0" bIns="0" rtlCol="0" anchor="t"/>
          <a:lstStyle/>
          <a:p>
            <a:pPr algn="r" indent="0" marL="0">
              <a:buNone/>
            </a:pPr>
            <a:r>
              <a:rPr lang="en-US" sz="900" dirty="0">
                <a:solidFill>
                  <a:srgbClr val="AAB4C2"/>
                </a:solidFill>
                <a:latin typeface="Arial" pitchFamily="34" charset="0"/>
                <a:ea typeface="Arial" pitchFamily="34" charset="-122"/>
                <a:cs typeface="Arial" pitchFamily="34" charset="-120"/>
              </a:rPr>
              <a:t>ANSWERS</a:t>
            </a:r>
            <a:endParaRPr lang="en-US" sz="900" dirty="0"/>
          </a:p>
        </p:txBody>
      </p:sp>
      <p:sp>
        <p:nvSpPr>
          <p:cNvPr id="14" name="Shape 11"/>
          <p:cNvSpPr/>
          <p:nvPr/>
        </p:nvSpPr>
        <p:spPr>
          <a:xfrm>
            <a:off x="548640" y="1737360"/>
            <a:ext cx="11064240" cy="749808"/>
          </a:xfrm>
          <a:prstGeom prst="roundRect">
            <a:avLst>
              <a:gd name="adj" fmla="val 8537"/>
            </a:avLst>
          </a:prstGeom>
          <a:solidFill>
            <a:srgbClr val="FEF7E4"/>
          </a:solidFill>
          <a:ln w="12700">
            <a:solidFill>
              <a:srgbClr val="E5D9B0"/>
            </a:solidFill>
            <a:prstDash val="solid"/>
          </a:ln>
        </p:spPr>
      </p:sp>
      <p:sp>
        <p:nvSpPr>
          <p:cNvPr id="15" name="Text 12"/>
          <p:cNvSpPr/>
          <p:nvPr/>
        </p:nvSpPr>
        <p:spPr>
          <a:xfrm>
            <a:off x="731520" y="1764792"/>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1.  Name three conventions of science fiction.</a:t>
            </a:r>
            <a:endParaRPr lang="en-US" sz="1800" dirty="0"/>
          </a:p>
        </p:txBody>
      </p:sp>
      <p:sp>
        <p:nvSpPr>
          <p:cNvPr id="16" name="Text 13"/>
          <p:cNvSpPr/>
          <p:nvPr/>
        </p:nvSpPr>
        <p:spPr>
          <a:xfrm>
            <a:off x="6309360" y="1764792"/>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Any three of: space travel, aliens, new technology, the future, a big question.</a:t>
            </a:r>
            <a:endParaRPr lang="en-US" sz="1800" dirty="0"/>
          </a:p>
        </p:txBody>
      </p:sp>
      <p:sp>
        <p:nvSpPr>
          <p:cNvPr id="17" name="Shape 14"/>
          <p:cNvSpPr/>
          <p:nvPr/>
        </p:nvSpPr>
        <p:spPr>
          <a:xfrm>
            <a:off x="548640" y="2633472"/>
            <a:ext cx="11064240" cy="749808"/>
          </a:xfrm>
          <a:prstGeom prst="roundRect">
            <a:avLst>
              <a:gd name="adj" fmla="val 8537"/>
            </a:avLst>
          </a:prstGeom>
          <a:solidFill>
            <a:srgbClr val="FFFFFF"/>
          </a:solidFill>
          <a:ln w="12700">
            <a:solidFill>
              <a:srgbClr val="E5D9B0"/>
            </a:solidFill>
            <a:prstDash val="solid"/>
          </a:ln>
        </p:spPr>
      </p:sp>
      <p:sp>
        <p:nvSpPr>
          <p:cNvPr id="18" name="Text 15"/>
          <p:cNvSpPr/>
          <p:nvPr/>
        </p:nvSpPr>
        <p:spPr>
          <a:xfrm>
            <a:off x="731520" y="2660904"/>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2.  Who wrote Binti, and when did it come out?</a:t>
            </a:r>
            <a:endParaRPr lang="en-US" sz="1800" dirty="0"/>
          </a:p>
        </p:txBody>
      </p:sp>
      <p:sp>
        <p:nvSpPr>
          <p:cNvPr id="19" name="Text 16"/>
          <p:cNvSpPr/>
          <p:nvPr/>
        </p:nvSpPr>
        <p:spPr>
          <a:xfrm>
            <a:off x="6309360" y="2660904"/>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Nnedi Okorafor, 2015.</a:t>
            </a:r>
            <a:endParaRPr lang="en-US" sz="1800" dirty="0"/>
          </a:p>
        </p:txBody>
      </p:sp>
      <p:sp>
        <p:nvSpPr>
          <p:cNvPr id="20" name="Shape 17"/>
          <p:cNvSpPr/>
          <p:nvPr/>
        </p:nvSpPr>
        <p:spPr>
          <a:xfrm>
            <a:off x="548640" y="3529584"/>
            <a:ext cx="11064240" cy="749808"/>
          </a:xfrm>
          <a:prstGeom prst="roundRect">
            <a:avLst>
              <a:gd name="adj" fmla="val 8537"/>
            </a:avLst>
          </a:prstGeom>
          <a:solidFill>
            <a:srgbClr val="FEF7E4"/>
          </a:solidFill>
          <a:ln w="12700">
            <a:solidFill>
              <a:srgbClr val="E5D9B0"/>
            </a:solidFill>
            <a:prstDash val="solid"/>
          </a:ln>
        </p:spPr>
      </p:sp>
      <p:sp>
        <p:nvSpPr>
          <p:cNvPr id="21" name="Text 18"/>
          <p:cNvSpPr/>
          <p:nvPr/>
        </p:nvSpPr>
        <p:spPr>
          <a:xfrm>
            <a:off x="731520" y="3557016"/>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3.  Which people does Binti come from — and where do they live?</a:t>
            </a:r>
            <a:endParaRPr lang="en-US" sz="1800" dirty="0"/>
          </a:p>
        </p:txBody>
      </p:sp>
      <p:sp>
        <p:nvSpPr>
          <p:cNvPr id="22" name="Text 19"/>
          <p:cNvSpPr/>
          <p:nvPr/>
        </p:nvSpPr>
        <p:spPr>
          <a:xfrm>
            <a:off x="6309360" y="3557016"/>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The Himba — a real people of Namibia; in the story she lives at the edge of a desert.</a:t>
            </a:r>
            <a:endParaRPr lang="en-US" sz="1800" dirty="0"/>
          </a:p>
        </p:txBody>
      </p:sp>
      <p:sp>
        <p:nvSpPr>
          <p:cNvPr id="23" name="Shape 20"/>
          <p:cNvSpPr/>
          <p:nvPr/>
        </p:nvSpPr>
        <p:spPr>
          <a:xfrm>
            <a:off x="548640" y="4425696"/>
            <a:ext cx="11064240" cy="749808"/>
          </a:xfrm>
          <a:prstGeom prst="roundRect">
            <a:avLst>
              <a:gd name="adj" fmla="val 8537"/>
            </a:avLst>
          </a:prstGeom>
          <a:solidFill>
            <a:srgbClr val="FFFFFF"/>
          </a:solidFill>
          <a:ln w="12700">
            <a:solidFill>
              <a:srgbClr val="E5D9B0"/>
            </a:solidFill>
            <a:prstDash val="solid"/>
          </a:ln>
        </p:spPr>
      </p:sp>
      <p:sp>
        <p:nvSpPr>
          <p:cNvPr id="24" name="Text 21"/>
          <p:cNvSpPr/>
          <p:nvPr/>
        </p:nvSpPr>
        <p:spPr>
          <a:xfrm>
            <a:off x="731520" y="4453128"/>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4.  What is otjize, and where does Binti wear it?</a:t>
            </a:r>
            <a:endParaRPr lang="en-US" sz="1800" dirty="0"/>
          </a:p>
        </p:txBody>
      </p:sp>
      <p:sp>
        <p:nvSpPr>
          <p:cNvPr id="25" name="Text 22"/>
          <p:cNvSpPr/>
          <p:nvPr/>
        </p:nvSpPr>
        <p:spPr>
          <a:xfrm>
            <a:off x="6309360" y="4453128"/>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Red clay mixed with sweet-smelling oil, worn on her skin and hair.</a:t>
            </a:r>
            <a:endParaRPr lang="en-US" sz="1800" dirty="0"/>
          </a:p>
        </p:txBody>
      </p:sp>
      <p:sp>
        <p:nvSpPr>
          <p:cNvPr id="26" name="Shape 23"/>
          <p:cNvSpPr/>
          <p:nvPr/>
        </p:nvSpPr>
        <p:spPr>
          <a:xfrm>
            <a:off x="548640" y="5321808"/>
            <a:ext cx="11064240" cy="749808"/>
          </a:xfrm>
          <a:prstGeom prst="roundRect">
            <a:avLst>
              <a:gd name="adj" fmla="val 8537"/>
            </a:avLst>
          </a:prstGeom>
          <a:solidFill>
            <a:srgbClr val="FEF7E4"/>
          </a:solidFill>
          <a:ln w="12700">
            <a:solidFill>
              <a:srgbClr val="E5D9B0"/>
            </a:solidFill>
            <a:prstDash val="solid"/>
          </a:ln>
        </p:spPr>
      </p:sp>
      <p:sp>
        <p:nvSpPr>
          <p:cNvPr id="27" name="Text 24"/>
          <p:cNvSpPr/>
          <p:nvPr/>
        </p:nvSpPr>
        <p:spPr>
          <a:xfrm>
            <a:off x="731520" y="5349240"/>
            <a:ext cx="5486400" cy="694944"/>
          </a:xfrm>
          <a:prstGeom prst="rect">
            <a:avLst/>
          </a:prstGeom>
          <a:noFill/>
          <a:ln/>
        </p:spPr>
        <p:txBody>
          <a:bodyPr wrap="square" lIns="45720" tIns="9144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5.  Finish: Science fiction asks 'what if?' and answers it with…</a:t>
            </a:r>
            <a:endParaRPr lang="en-US" sz="1800" dirty="0"/>
          </a:p>
        </p:txBody>
      </p:sp>
      <p:sp>
        <p:nvSpPr>
          <p:cNvPr id="28" name="Text 25"/>
          <p:cNvSpPr/>
          <p:nvPr/>
        </p:nvSpPr>
        <p:spPr>
          <a:xfrm>
            <a:off x="6309360" y="5349240"/>
            <a:ext cx="5120640" cy="69494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…science — machines, ships, maths — not magic.</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key-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Key words — go deeper</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8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Not just the meaning — the DEEP explanation. Take each key word from meaning to mastery.</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00A08A"/>
          </a:solidFill>
          <a:ln>
            <a:solidFill>
              <a:srgbClr val="00A08A"/>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Modern Novel: Binti · Character, heritage, identity</a:t>
            </a:r>
            <a:endParaRPr lang="en-US" sz="900" dirty="0"/>
          </a:p>
        </p:txBody>
      </p:sp>
      <p:sp>
        <p:nvSpPr>
          <p:cNvPr id="13" name="Shape 10"/>
          <p:cNvSpPr/>
          <p:nvPr/>
        </p:nvSpPr>
        <p:spPr>
          <a:xfrm>
            <a:off x="548640" y="1783080"/>
            <a:ext cx="2651760" cy="914400"/>
          </a:xfrm>
          <a:prstGeom prst="roundRect">
            <a:avLst>
              <a:gd name="adj" fmla="val 8000"/>
            </a:avLst>
          </a:prstGeom>
          <a:solidFill>
            <a:srgbClr val="00A08A"/>
          </a:solidFill>
          <a:ln w="12700">
            <a:solidFill>
              <a:srgbClr val="00A08A"/>
            </a:solidFill>
            <a:prstDash val="solid"/>
          </a:ln>
        </p:spPr>
      </p:sp>
      <p:sp>
        <p:nvSpPr>
          <p:cNvPr id="14" name="Text 11"/>
          <p:cNvSpPr/>
          <p:nvPr/>
        </p:nvSpPr>
        <p:spPr>
          <a:xfrm>
            <a:off x="640080" y="1874520"/>
            <a:ext cx="246888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1 MEAN</a:t>
            </a:r>
            <a:endParaRPr lang="en-US" sz="1600" dirty="0"/>
          </a:p>
        </p:txBody>
      </p:sp>
      <p:sp>
        <p:nvSpPr>
          <p:cNvPr id="15" name="Text 12"/>
          <p:cNvSpPr/>
          <p:nvPr/>
        </p:nvSpPr>
        <p:spPr>
          <a:xfrm>
            <a:off x="658368" y="2212848"/>
            <a:ext cx="2432304"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say what it means in your own words</a:t>
            </a:r>
            <a:endParaRPr lang="en-US" sz="1200" dirty="0"/>
          </a:p>
        </p:txBody>
      </p:sp>
      <p:sp>
        <p:nvSpPr>
          <p:cNvPr id="16" name="Shape 13"/>
          <p:cNvSpPr/>
          <p:nvPr/>
        </p:nvSpPr>
        <p:spPr>
          <a:xfrm>
            <a:off x="3346704" y="1783080"/>
            <a:ext cx="2651760" cy="914400"/>
          </a:xfrm>
          <a:prstGeom prst="roundRect">
            <a:avLst>
              <a:gd name="adj" fmla="val 8000"/>
            </a:avLst>
          </a:prstGeom>
          <a:solidFill>
            <a:srgbClr val="80ADC4"/>
          </a:solidFill>
          <a:ln w="12700">
            <a:solidFill>
              <a:srgbClr val="80ADC4"/>
            </a:solidFill>
            <a:prstDash val="solid"/>
          </a:ln>
        </p:spPr>
      </p:sp>
      <p:sp>
        <p:nvSpPr>
          <p:cNvPr id="17" name="Text 14"/>
          <p:cNvSpPr/>
          <p:nvPr/>
        </p:nvSpPr>
        <p:spPr>
          <a:xfrm>
            <a:off x="3438144" y="1874520"/>
            <a:ext cx="246888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2 USE</a:t>
            </a:r>
            <a:endParaRPr lang="en-US" sz="1600" dirty="0"/>
          </a:p>
        </p:txBody>
      </p:sp>
      <p:sp>
        <p:nvSpPr>
          <p:cNvPr id="18" name="Text 15"/>
          <p:cNvSpPr/>
          <p:nvPr/>
        </p:nvSpPr>
        <p:spPr>
          <a:xfrm>
            <a:off x="3456432" y="2212848"/>
            <a:ext cx="2432304"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put it in a sentence of your own</a:t>
            </a:r>
            <a:endParaRPr lang="en-US" sz="1200" dirty="0"/>
          </a:p>
        </p:txBody>
      </p:sp>
      <p:sp>
        <p:nvSpPr>
          <p:cNvPr id="19" name="Shape 16"/>
          <p:cNvSpPr/>
          <p:nvPr/>
        </p:nvSpPr>
        <p:spPr>
          <a:xfrm>
            <a:off x="6144768" y="1783080"/>
            <a:ext cx="2651760" cy="914400"/>
          </a:xfrm>
          <a:prstGeom prst="roundRect">
            <a:avLst>
              <a:gd name="adj" fmla="val 8000"/>
            </a:avLst>
          </a:prstGeom>
          <a:solidFill>
            <a:srgbClr val="6C3A6E"/>
          </a:solidFill>
          <a:ln w="12700">
            <a:solidFill>
              <a:srgbClr val="6C3A6E"/>
            </a:solidFill>
            <a:prstDash val="solid"/>
          </a:ln>
        </p:spPr>
      </p:sp>
      <p:sp>
        <p:nvSpPr>
          <p:cNvPr id="20" name="Text 17"/>
          <p:cNvSpPr/>
          <p:nvPr/>
        </p:nvSpPr>
        <p:spPr>
          <a:xfrm>
            <a:off x="6236208" y="1874520"/>
            <a:ext cx="246888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3 SPOT</a:t>
            </a:r>
            <a:endParaRPr lang="en-US" sz="1600" dirty="0"/>
          </a:p>
        </p:txBody>
      </p:sp>
      <p:sp>
        <p:nvSpPr>
          <p:cNvPr id="21" name="Text 18"/>
          <p:cNvSpPr/>
          <p:nvPr/>
        </p:nvSpPr>
        <p:spPr>
          <a:xfrm>
            <a:off x="6254496" y="2212848"/>
            <a:ext cx="2432304"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find it in today's text</a:t>
            </a:r>
            <a:endParaRPr lang="en-US" sz="1200" dirty="0"/>
          </a:p>
        </p:txBody>
      </p:sp>
      <p:sp>
        <p:nvSpPr>
          <p:cNvPr id="22" name="Shape 19"/>
          <p:cNvSpPr/>
          <p:nvPr/>
        </p:nvSpPr>
        <p:spPr>
          <a:xfrm>
            <a:off x="8942832" y="1783080"/>
            <a:ext cx="2651760" cy="914400"/>
          </a:xfrm>
          <a:prstGeom prst="roundRect">
            <a:avLst>
              <a:gd name="adj" fmla="val 8000"/>
            </a:avLst>
          </a:prstGeom>
          <a:solidFill>
            <a:srgbClr val="D0021B"/>
          </a:solidFill>
          <a:ln w="12700">
            <a:solidFill>
              <a:srgbClr val="D0021B"/>
            </a:solidFill>
            <a:prstDash val="solid"/>
          </a:ln>
        </p:spPr>
      </p:sp>
      <p:sp>
        <p:nvSpPr>
          <p:cNvPr id="23" name="Text 20"/>
          <p:cNvSpPr/>
          <p:nvPr/>
        </p:nvSpPr>
        <p:spPr>
          <a:xfrm>
            <a:off x="9034272" y="1874520"/>
            <a:ext cx="246888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4 LINK</a:t>
            </a:r>
            <a:endParaRPr lang="en-US" sz="1600" dirty="0"/>
          </a:p>
        </p:txBody>
      </p:sp>
      <p:sp>
        <p:nvSpPr>
          <p:cNvPr id="24" name="Text 21"/>
          <p:cNvSpPr/>
          <p:nvPr/>
        </p:nvSpPr>
        <p:spPr>
          <a:xfrm>
            <a:off x="9052560" y="2212848"/>
            <a:ext cx="2432304" cy="457200"/>
          </a:xfrm>
          <a:prstGeom prst="rect">
            <a:avLst/>
          </a:prstGeom>
          <a:noFill/>
          <a:ln/>
        </p:spPr>
        <p:txBody>
          <a:bodyPr wrap="square" lIns="0" tIns="0" rIns="0" bIns="0" rtlCol="0" anchor="t"/>
          <a:lstStyle/>
          <a:p>
            <a:pPr indent="0" marL="0">
              <a:buNone/>
            </a:pPr>
            <a:r>
              <a:rPr lang="en-US" sz="1200" dirty="0">
                <a:solidFill>
                  <a:srgbClr val="FFFFFF"/>
                </a:solidFill>
                <a:latin typeface="Arial" pitchFamily="34" charset="0"/>
                <a:ea typeface="Arial" pitchFamily="34" charset="-122"/>
                <a:cs typeface="Arial" pitchFamily="34" charset="-120"/>
              </a:rPr>
              <a:t>link it to the Big Question</a:t>
            </a:r>
            <a:endParaRPr lang="en-US" sz="1200" dirty="0"/>
          </a:p>
        </p:txBody>
      </p:sp>
      <p:sp>
        <p:nvSpPr>
          <p:cNvPr id="25" name="Text 22"/>
          <p:cNvSpPr/>
          <p:nvPr/>
        </p:nvSpPr>
        <p:spPr>
          <a:xfrm>
            <a:off x="548640" y="2926080"/>
            <a:ext cx="10972800" cy="365760"/>
          </a:xfrm>
          <a:prstGeom prst="rect">
            <a:avLst/>
          </a:prstGeom>
          <a:noFill/>
          <a:ln/>
        </p:spPr>
        <p:txBody>
          <a:bodyPr wrap="square" lIns="0" tIns="0" rIns="0" bIns="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Do the four steps for EACH key word:</a:t>
            </a:r>
            <a:endParaRPr lang="en-US" sz="1800" dirty="0"/>
          </a:p>
        </p:txBody>
      </p:sp>
      <p:sp>
        <p:nvSpPr>
          <p:cNvPr id="26" name="Text 23"/>
          <p:cNvSpPr/>
          <p:nvPr/>
        </p:nvSpPr>
        <p:spPr>
          <a:xfrm>
            <a:off x="548640" y="3401568"/>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heritage</a:t>
            </a:r>
            <a:endParaRPr lang="en-US" sz="1800" dirty="0"/>
          </a:p>
        </p:txBody>
      </p:sp>
      <p:sp>
        <p:nvSpPr>
          <p:cNvPr id="27" name="Text 24"/>
          <p:cNvSpPr/>
          <p:nvPr/>
        </p:nvSpPr>
        <p:spPr>
          <a:xfrm>
            <a:off x="3566160" y="3401568"/>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the customs, skills and stories passed down by your people</a:t>
            </a:r>
            <a:endParaRPr lang="en-US" sz="1800" dirty="0"/>
          </a:p>
        </p:txBody>
      </p:sp>
      <p:sp>
        <p:nvSpPr>
          <p:cNvPr id="28" name="Text 25"/>
          <p:cNvSpPr/>
          <p:nvPr/>
        </p:nvSpPr>
        <p:spPr>
          <a:xfrm>
            <a:off x="548640" y="3972154"/>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identity</a:t>
            </a:r>
            <a:endParaRPr lang="en-US" sz="1800" dirty="0"/>
          </a:p>
        </p:txBody>
      </p:sp>
      <p:sp>
        <p:nvSpPr>
          <p:cNvPr id="29" name="Text 26"/>
          <p:cNvSpPr/>
          <p:nvPr/>
        </p:nvSpPr>
        <p:spPr>
          <a:xfrm>
            <a:off x="3566160" y="3972154"/>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who you are — the things that make you you</a:t>
            </a:r>
            <a:endParaRPr lang="en-US" sz="1800" dirty="0"/>
          </a:p>
        </p:txBody>
      </p:sp>
      <p:sp>
        <p:nvSpPr>
          <p:cNvPr id="30" name="Text 27"/>
          <p:cNvSpPr/>
          <p:nvPr/>
        </p:nvSpPr>
        <p:spPr>
          <a:xfrm>
            <a:off x="548640" y="4542739"/>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protagonist</a:t>
            </a:r>
            <a:endParaRPr lang="en-US" sz="1800" dirty="0"/>
          </a:p>
        </p:txBody>
      </p:sp>
      <p:sp>
        <p:nvSpPr>
          <p:cNvPr id="31" name="Text 28"/>
          <p:cNvSpPr/>
          <p:nvPr/>
        </p:nvSpPr>
        <p:spPr>
          <a:xfrm>
            <a:off x="3566160" y="4542739"/>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the main character a story follows</a:t>
            </a:r>
            <a:endParaRPr lang="en-US" sz="1800" dirty="0"/>
          </a:p>
        </p:txBody>
      </p:sp>
      <p:sp>
        <p:nvSpPr>
          <p:cNvPr id="32" name="Text 29"/>
          <p:cNvSpPr/>
          <p:nvPr/>
        </p:nvSpPr>
        <p:spPr>
          <a:xfrm>
            <a:off x="548640" y="5113325"/>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symbol</a:t>
            </a:r>
            <a:endParaRPr lang="en-US" sz="1800" dirty="0"/>
          </a:p>
        </p:txBody>
      </p:sp>
      <p:sp>
        <p:nvSpPr>
          <p:cNvPr id="33" name="Text 30"/>
          <p:cNvSpPr/>
          <p:nvPr/>
        </p:nvSpPr>
        <p:spPr>
          <a:xfrm>
            <a:off x="3566160" y="5113325"/>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an object that stands for a bigger idea, like clay for home</a:t>
            </a:r>
            <a:endParaRPr lang="en-US" sz="1800" dirty="0"/>
          </a:p>
        </p:txBody>
      </p:sp>
      <p:sp>
        <p:nvSpPr>
          <p:cNvPr id="34" name="Text 31"/>
          <p:cNvSpPr/>
          <p:nvPr/>
        </p:nvSpPr>
        <p:spPr>
          <a:xfrm>
            <a:off x="548640" y="5683910"/>
            <a:ext cx="2834640" cy="460858"/>
          </a:xfrm>
          <a:prstGeom prst="roundRect">
            <a:avLst>
              <a:gd name="adj" fmla="val 17857"/>
            </a:avLst>
          </a:prstGeom>
          <a:solidFill>
            <a:srgbClr val="FEF7E4"/>
          </a:solidFill>
          <a:ln w="12700">
            <a:solidFill>
              <a:srgbClr val="E5D9B0"/>
            </a:solidFill>
          </a:ln>
        </p:spPr>
        <p:txBody>
          <a:bodyPr wrap="square" lIns="45720" tIns="137160" rIns="91440" bIns="45720" rtlCol="0" anchor="ctr"/>
          <a:lstStyle/>
          <a:p>
            <a:pPr algn="l" indent="0" marL="0">
              <a:buNone/>
            </a:pPr>
            <a:r>
              <a:rPr lang="en-US" sz="1800" b="1" dirty="0">
                <a:solidFill>
                  <a:srgbClr val="12294D"/>
                </a:solidFill>
                <a:latin typeface="Arial" pitchFamily="34" charset="0"/>
                <a:ea typeface="Arial" pitchFamily="34" charset="-122"/>
                <a:cs typeface="Arial" pitchFamily="34" charset="-120"/>
              </a:rPr>
              <a:t>diversity</a:t>
            </a:r>
            <a:endParaRPr lang="en-US" sz="1800" dirty="0"/>
          </a:p>
        </p:txBody>
      </p:sp>
      <p:sp>
        <p:nvSpPr>
          <p:cNvPr id="35" name="Text 32"/>
          <p:cNvSpPr/>
          <p:nvPr/>
        </p:nvSpPr>
        <p:spPr>
          <a:xfrm>
            <a:off x="3566160" y="5683910"/>
            <a:ext cx="8046720" cy="460858"/>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many different peoples, cultures and ways of living together</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book-open-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How a writer builds a character</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8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Four places to look. A strong answer looks in all four.</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00A08A"/>
          </a:solidFill>
          <a:ln>
            <a:solidFill>
              <a:srgbClr val="00A08A"/>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Modern Novel: Binti · Character, heritage, identity</a:t>
            </a:r>
            <a:endParaRPr lang="en-US" sz="900" dirty="0"/>
          </a:p>
        </p:txBody>
      </p:sp>
      <p:sp>
        <p:nvSpPr>
          <p:cNvPr id="13" name="Text 10"/>
          <p:cNvSpPr/>
          <p:nvPr/>
        </p:nvSpPr>
        <p:spPr>
          <a:xfrm>
            <a:off x="548640" y="1783080"/>
            <a:ext cx="2606040" cy="889254"/>
          </a:xfrm>
          <a:prstGeom prst="roundRect">
            <a:avLst>
              <a:gd name="adj" fmla="val 10283"/>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WHAT SHE DOES</a:t>
            </a:r>
            <a:endParaRPr lang="en-US" sz="1600" dirty="0"/>
          </a:p>
        </p:txBody>
      </p:sp>
      <p:sp>
        <p:nvSpPr>
          <p:cNvPr id="14" name="Shape 11"/>
          <p:cNvSpPr/>
          <p:nvPr/>
        </p:nvSpPr>
        <p:spPr>
          <a:xfrm>
            <a:off x="3291840" y="1783080"/>
            <a:ext cx="8321040" cy="889254"/>
          </a:xfrm>
          <a:prstGeom prst="roundRect">
            <a:avLst>
              <a:gd name="adj" fmla="val 8226"/>
            </a:avLst>
          </a:prstGeom>
          <a:solidFill>
            <a:srgbClr val="FEF7E4"/>
          </a:solidFill>
          <a:ln w="12700">
            <a:solidFill>
              <a:srgbClr val="E5D9B0"/>
            </a:solidFill>
            <a:prstDash val="solid"/>
          </a:ln>
        </p:spPr>
      </p:sp>
      <p:sp>
        <p:nvSpPr>
          <p:cNvPr id="15" name="Text 12"/>
          <p:cNvSpPr/>
          <p:nvPr/>
        </p:nvSpPr>
        <p:spPr>
          <a:xfrm>
            <a:off x="3456432" y="1783080"/>
            <a:ext cx="8001000" cy="88925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Actions first. Binti leaves in the dark without saying goodbye. That one act tells us she is brave and that she knows the cost.</a:t>
            </a:r>
            <a:endParaRPr lang="en-US" sz="1800" dirty="0"/>
          </a:p>
        </p:txBody>
      </p:sp>
      <p:sp>
        <p:nvSpPr>
          <p:cNvPr id="16" name="Text 13"/>
          <p:cNvSpPr/>
          <p:nvPr/>
        </p:nvSpPr>
        <p:spPr>
          <a:xfrm>
            <a:off x="548640" y="2782062"/>
            <a:ext cx="2606040" cy="889254"/>
          </a:xfrm>
          <a:prstGeom prst="roundRect">
            <a:avLst>
              <a:gd name="adj" fmla="val 10283"/>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WHAT SHE CARRIES</a:t>
            </a:r>
            <a:endParaRPr lang="en-US" sz="1600" dirty="0"/>
          </a:p>
        </p:txBody>
      </p:sp>
      <p:sp>
        <p:nvSpPr>
          <p:cNvPr id="17" name="Shape 14"/>
          <p:cNvSpPr/>
          <p:nvPr/>
        </p:nvSpPr>
        <p:spPr>
          <a:xfrm>
            <a:off x="3291840" y="2782062"/>
            <a:ext cx="8321040" cy="889254"/>
          </a:xfrm>
          <a:prstGeom prst="roundRect">
            <a:avLst>
              <a:gd name="adj" fmla="val 8226"/>
            </a:avLst>
          </a:prstGeom>
          <a:solidFill>
            <a:srgbClr val="FEF7E4"/>
          </a:solidFill>
          <a:ln w="12700">
            <a:solidFill>
              <a:srgbClr val="E5D9B0"/>
            </a:solidFill>
            <a:prstDash val="solid"/>
          </a:ln>
        </p:spPr>
      </p:sp>
      <p:sp>
        <p:nvSpPr>
          <p:cNvPr id="18" name="Text 15"/>
          <p:cNvSpPr/>
          <p:nvPr/>
        </p:nvSpPr>
        <p:spPr>
          <a:xfrm>
            <a:off x="3456432" y="2782062"/>
            <a:ext cx="8001000" cy="88925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Objects are clues. A pot of clay, an old metal edan, a maths mind. Each is a piece of who she is.</a:t>
            </a:r>
            <a:endParaRPr lang="en-US" sz="1800" dirty="0"/>
          </a:p>
        </p:txBody>
      </p:sp>
      <p:sp>
        <p:nvSpPr>
          <p:cNvPr id="19" name="Text 16"/>
          <p:cNvSpPr/>
          <p:nvPr/>
        </p:nvSpPr>
        <p:spPr>
          <a:xfrm>
            <a:off x="548640" y="3781044"/>
            <a:ext cx="2606040" cy="889254"/>
          </a:xfrm>
          <a:prstGeom prst="roundRect">
            <a:avLst>
              <a:gd name="adj" fmla="val 10283"/>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HOW OTHERS SEE HER</a:t>
            </a:r>
            <a:endParaRPr lang="en-US" sz="1600" dirty="0"/>
          </a:p>
        </p:txBody>
      </p:sp>
      <p:sp>
        <p:nvSpPr>
          <p:cNvPr id="20" name="Shape 17"/>
          <p:cNvSpPr/>
          <p:nvPr/>
        </p:nvSpPr>
        <p:spPr>
          <a:xfrm>
            <a:off x="3291840" y="3781044"/>
            <a:ext cx="8321040" cy="889254"/>
          </a:xfrm>
          <a:prstGeom prst="roundRect">
            <a:avLst>
              <a:gd name="adj" fmla="val 8226"/>
            </a:avLst>
          </a:prstGeom>
          <a:solidFill>
            <a:srgbClr val="FEF7E4"/>
          </a:solidFill>
          <a:ln w="12700">
            <a:solidFill>
              <a:srgbClr val="E5D9B0"/>
            </a:solidFill>
            <a:prstDash val="solid"/>
          </a:ln>
        </p:spPr>
      </p:sp>
      <p:sp>
        <p:nvSpPr>
          <p:cNvPr id="21" name="Text 18"/>
          <p:cNvSpPr/>
          <p:nvPr/>
        </p:nvSpPr>
        <p:spPr>
          <a:xfrm>
            <a:off x="3456432" y="3781044"/>
            <a:ext cx="8001000" cy="88925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Strangers stare at her clay. Her family call her a traitor. The reader sees both and decides.</a:t>
            </a:r>
            <a:endParaRPr lang="en-US" sz="1800" dirty="0"/>
          </a:p>
        </p:txBody>
      </p:sp>
      <p:sp>
        <p:nvSpPr>
          <p:cNvPr id="22" name="Text 19"/>
          <p:cNvSpPr/>
          <p:nvPr/>
        </p:nvSpPr>
        <p:spPr>
          <a:xfrm>
            <a:off x="548640" y="4780026"/>
            <a:ext cx="2606040" cy="889254"/>
          </a:xfrm>
          <a:prstGeom prst="roundRect">
            <a:avLst>
              <a:gd name="adj" fmla="val 10283"/>
            </a:avLst>
          </a:prstGeom>
          <a:solidFill>
            <a:srgbClr val="00A08A"/>
          </a:solidFill>
          <a:ln>
            <a:solidFill>
              <a:srgbClr val="00A08A"/>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WHAT SHE WANTS</a:t>
            </a:r>
            <a:endParaRPr lang="en-US" sz="1600" dirty="0"/>
          </a:p>
        </p:txBody>
      </p:sp>
      <p:sp>
        <p:nvSpPr>
          <p:cNvPr id="23" name="Shape 20"/>
          <p:cNvSpPr/>
          <p:nvPr/>
        </p:nvSpPr>
        <p:spPr>
          <a:xfrm>
            <a:off x="3291840" y="4780026"/>
            <a:ext cx="8321040" cy="889254"/>
          </a:xfrm>
          <a:prstGeom prst="roundRect">
            <a:avLst>
              <a:gd name="adj" fmla="val 8226"/>
            </a:avLst>
          </a:prstGeom>
          <a:solidFill>
            <a:srgbClr val="FEF7E4"/>
          </a:solidFill>
          <a:ln w="12700">
            <a:solidFill>
              <a:srgbClr val="E5D9B0"/>
            </a:solidFill>
            <a:prstDash val="solid"/>
          </a:ln>
        </p:spPr>
      </p:sp>
      <p:sp>
        <p:nvSpPr>
          <p:cNvPr id="24" name="Text 21"/>
          <p:cNvSpPr/>
          <p:nvPr/>
        </p:nvSpPr>
        <p:spPr>
          <a:xfrm>
            <a:off x="3456432" y="4780026"/>
            <a:ext cx="8001000" cy="889254"/>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 place at the best university in the galaxy — and, underneath, to be herself somewhere new.</a:t>
            </a:r>
            <a:endParaRPr lang="en-US" sz="1800" dirty="0"/>
          </a:p>
        </p:txBody>
      </p:sp>
      <p:sp>
        <p:nvSpPr>
          <p:cNvPr id="25" name="Text 22"/>
          <p:cNvSpPr/>
          <p:nvPr/>
        </p:nvSpPr>
        <p:spPr>
          <a:xfrm>
            <a:off x="548640" y="5715000"/>
            <a:ext cx="11064240" cy="365760"/>
          </a:xfrm>
          <a:prstGeom prst="rect">
            <a:avLst/>
          </a:prstGeom>
          <a:noFill/>
          <a:ln/>
        </p:spPr>
        <p:txBody>
          <a:bodyPr wrap="square" lIns="0" tIns="0" rIns="0" bIns="0" rtlCol="0" anchor="ctr"/>
          <a:lstStyle/>
          <a:p>
            <a:pPr algn="l" indent="0" marL="0">
              <a:buNone/>
            </a:pPr>
            <a:r>
              <a:rPr lang="en-US" sz="1500" b="1" i="1" dirty="0">
                <a:solidFill>
                  <a:srgbClr val="12294D"/>
                </a:solidFill>
                <a:latin typeface="Arial" pitchFamily="34" charset="0"/>
                <a:ea typeface="Arial" pitchFamily="34" charset="-122"/>
                <a:cs typeface="Arial" pitchFamily="34" charset="-120"/>
              </a:rPr>
              <a:t>➜  Actions · objects · other eyes · wants. Look in all four before you write.</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6C3A6E"/>
          </a:solidFill>
          <a:ln w="12700">
            <a:solidFill>
              <a:srgbClr val="6C3A6E"/>
            </a:solidFill>
            <a:prstDash val="solid"/>
          </a:ln>
        </p:spPr>
      </p:sp>
      <p:pic>
        <p:nvPicPr>
          <p:cNvPr id="3" name="Image 0" descr="/home/claude/english/kit/decks/_icons/book-open-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FE6F0"/>
          </a:solidFill>
          <a:ln>
            <a:solidFill>
              <a:srgbClr val="EFE6F0"/>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Binti's heritage</a:t>
            </a:r>
            <a:endParaRPr lang="en-US" sz="2400" dirty="0"/>
          </a:p>
        </p:txBody>
      </p:sp>
      <p:sp>
        <p:nvSpPr>
          <p:cNvPr id="5" name="Text 2"/>
          <p:cNvSpPr/>
          <p:nvPr/>
        </p:nvSpPr>
        <p:spPr>
          <a:xfrm>
            <a:off x="9784080" y="457200"/>
            <a:ext cx="1874520" cy="566928"/>
          </a:xfrm>
          <a:prstGeom prst="roundRect">
            <a:avLst>
              <a:gd name="adj" fmla="val 16129"/>
            </a:avLst>
          </a:prstGeom>
          <a:solidFill>
            <a:srgbClr val="6C3A6E"/>
          </a:solidFill>
          <a:ln>
            <a:solidFill>
              <a:srgbClr val="6C3A6E"/>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8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Heritage is what your people hand down to you. The writer puts it on Binti's skin.</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6C3A6E"/>
          </a:solidFill>
          <a:ln>
            <a:solidFill>
              <a:srgbClr val="6C3A6E"/>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Modern Novel: Binti · Character, heritage, identity</a:t>
            </a:r>
            <a:endParaRPr lang="en-US" sz="900" dirty="0"/>
          </a:p>
        </p:txBody>
      </p:sp>
      <p:sp>
        <p:nvSpPr>
          <p:cNvPr id="13" name="Text 10"/>
          <p:cNvSpPr/>
          <p:nvPr/>
        </p:nvSpPr>
        <p:spPr>
          <a:xfrm>
            <a:off x="548640" y="1783080"/>
            <a:ext cx="2606040" cy="914400"/>
          </a:xfrm>
          <a:prstGeom prst="roundRect">
            <a:avLst>
              <a:gd name="adj" fmla="val 10000"/>
            </a:avLst>
          </a:prstGeom>
          <a:solidFill>
            <a:srgbClr val="6C3A6E"/>
          </a:solidFill>
          <a:ln>
            <a:solidFill>
              <a:srgbClr val="6C3A6E"/>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THE HIMBA</a:t>
            </a:r>
            <a:endParaRPr lang="en-US" sz="1600" dirty="0"/>
          </a:p>
        </p:txBody>
      </p:sp>
      <p:sp>
        <p:nvSpPr>
          <p:cNvPr id="14" name="Shape 11"/>
          <p:cNvSpPr/>
          <p:nvPr/>
        </p:nvSpPr>
        <p:spPr>
          <a:xfrm>
            <a:off x="3291840" y="1783080"/>
            <a:ext cx="8321040" cy="914400"/>
          </a:xfrm>
          <a:prstGeom prst="roundRect">
            <a:avLst>
              <a:gd name="adj" fmla="val 8000"/>
            </a:avLst>
          </a:prstGeom>
          <a:solidFill>
            <a:srgbClr val="FEF7E4"/>
          </a:solidFill>
          <a:ln w="12700">
            <a:solidFill>
              <a:srgbClr val="E5D9B0"/>
            </a:solidFill>
            <a:prstDash val="solid"/>
          </a:ln>
        </p:spPr>
      </p:sp>
      <p:sp>
        <p:nvSpPr>
          <p:cNvPr id="15" name="Text 12"/>
          <p:cNvSpPr/>
          <p:nvPr/>
        </p:nvSpPr>
        <p:spPr>
          <a:xfrm>
            <a:off x="3456432" y="1783080"/>
            <a:ext cx="800100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 real people of Namibia. Otjize — red clay and oil — on skin and braided hair is a real tradition. The writer builds on it, not out of thin air.</a:t>
            </a:r>
            <a:endParaRPr lang="en-US" sz="1800" dirty="0"/>
          </a:p>
        </p:txBody>
      </p:sp>
      <p:sp>
        <p:nvSpPr>
          <p:cNvPr id="16" name="Text 13"/>
          <p:cNvSpPr/>
          <p:nvPr/>
        </p:nvSpPr>
        <p:spPr>
          <a:xfrm>
            <a:off x="548640" y="2843784"/>
            <a:ext cx="2606040" cy="914400"/>
          </a:xfrm>
          <a:prstGeom prst="roundRect">
            <a:avLst>
              <a:gd name="adj" fmla="val 10000"/>
            </a:avLst>
          </a:prstGeom>
          <a:solidFill>
            <a:srgbClr val="6C3A6E"/>
          </a:solidFill>
          <a:ln>
            <a:solidFill>
              <a:srgbClr val="6C3A6E"/>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THE FAMILY</a:t>
            </a:r>
            <a:endParaRPr lang="en-US" sz="1600" dirty="0"/>
          </a:p>
        </p:txBody>
      </p:sp>
      <p:sp>
        <p:nvSpPr>
          <p:cNvPr id="17" name="Shape 14"/>
          <p:cNvSpPr/>
          <p:nvPr/>
        </p:nvSpPr>
        <p:spPr>
          <a:xfrm>
            <a:off x="3291840" y="2843784"/>
            <a:ext cx="8321040" cy="914400"/>
          </a:xfrm>
          <a:prstGeom prst="roundRect">
            <a:avLst>
              <a:gd name="adj" fmla="val 8000"/>
            </a:avLst>
          </a:prstGeom>
          <a:solidFill>
            <a:srgbClr val="FEF7E4"/>
          </a:solidFill>
          <a:ln w="12700">
            <a:solidFill>
              <a:srgbClr val="E5D9B0"/>
            </a:solidFill>
            <a:prstDash val="solid"/>
          </a:ln>
        </p:spPr>
      </p:sp>
      <p:sp>
        <p:nvSpPr>
          <p:cNvPr id="18" name="Text 15"/>
          <p:cNvSpPr/>
          <p:nvPr/>
        </p:nvSpPr>
        <p:spPr>
          <a:xfrm>
            <a:off x="3456432" y="2843784"/>
            <a:ext cx="800100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Master makers of small thinking machines. They expect Binti to stay, make, marry. Leaving means letting them down.</a:t>
            </a:r>
            <a:endParaRPr lang="en-US" sz="1800" dirty="0"/>
          </a:p>
        </p:txBody>
      </p:sp>
      <p:sp>
        <p:nvSpPr>
          <p:cNvPr id="19" name="Text 16"/>
          <p:cNvSpPr/>
          <p:nvPr/>
        </p:nvSpPr>
        <p:spPr>
          <a:xfrm>
            <a:off x="548640" y="3904488"/>
            <a:ext cx="2606040" cy="914400"/>
          </a:xfrm>
          <a:prstGeom prst="roundRect">
            <a:avLst>
              <a:gd name="adj" fmla="val 10000"/>
            </a:avLst>
          </a:prstGeom>
          <a:solidFill>
            <a:srgbClr val="6C3A6E"/>
          </a:solidFill>
          <a:ln>
            <a:solidFill>
              <a:srgbClr val="6C3A6E"/>
            </a:solidFill>
          </a:ln>
        </p:spPr>
        <p:txBody>
          <a:bodyPr wrap="square" lIns="45720" tIns="137160" rIns="91440" bIns="4572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THE FIRST</a:t>
            </a:r>
            <a:endParaRPr lang="en-US" sz="1600" dirty="0"/>
          </a:p>
        </p:txBody>
      </p:sp>
      <p:sp>
        <p:nvSpPr>
          <p:cNvPr id="20" name="Shape 17"/>
          <p:cNvSpPr/>
          <p:nvPr/>
        </p:nvSpPr>
        <p:spPr>
          <a:xfrm>
            <a:off x="3291840" y="3904488"/>
            <a:ext cx="8321040" cy="914400"/>
          </a:xfrm>
          <a:prstGeom prst="roundRect">
            <a:avLst>
              <a:gd name="adj" fmla="val 8000"/>
            </a:avLst>
          </a:prstGeom>
          <a:solidFill>
            <a:srgbClr val="FEF7E4"/>
          </a:solidFill>
          <a:ln w="12700">
            <a:solidFill>
              <a:srgbClr val="E5D9B0"/>
            </a:solidFill>
            <a:prstDash val="solid"/>
          </a:ln>
        </p:spPr>
      </p:sp>
      <p:sp>
        <p:nvSpPr>
          <p:cNvPr id="21" name="Text 18"/>
          <p:cNvSpPr/>
          <p:nvPr/>
        </p:nvSpPr>
        <p:spPr>
          <a:xfrm>
            <a:off x="3456432" y="3904488"/>
            <a:ext cx="800100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Nobody Himba has left Earth. Being first is an honour and a loneliness at the same time — the story lives in that gap.</a:t>
            </a:r>
            <a:endParaRPr lang="en-US" sz="1800" dirty="0"/>
          </a:p>
        </p:txBody>
      </p:sp>
      <p:sp>
        <p:nvSpPr>
          <p:cNvPr id="22" name="Text 19"/>
          <p:cNvSpPr/>
          <p:nvPr/>
        </p:nvSpPr>
        <p:spPr>
          <a:xfrm>
            <a:off x="548640" y="5715000"/>
            <a:ext cx="11064240" cy="365760"/>
          </a:xfrm>
          <a:prstGeom prst="rect">
            <a:avLst/>
          </a:prstGeom>
          <a:noFill/>
          <a:ln/>
        </p:spPr>
        <p:txBody>
          <a:bodyPr wrap="square" lIns="0" tIns="0" rIns="0" bIns="0" rtlCol="0" anchor="ctr"/>
          <a:lstStyle/>
          <a:p>
            <a:pPr algn="l" indent="0" marL="0">
              <a:buNone/>
            </a:pPr>
            <a:r>
              <a:rPr lang="en-US" sz="1500" b="1" i="1" dirty="0">
                <a:solidFill>
                  <a:srgbClr val="12294D"/>
                </a:solidFill>
                <a:latin typeface="Arial" pitchFamily="34" charset="0"/>
                <a:ea typeface="Arial" pitchFamily="34" charset="-122"/>
                <a:cs typeface="Arial" pitchFamily="34" charset="-120"/>
              </a:rPr>
              <a:t>➜  The clay is a SYMBOL: an object that carries an idea. Here, the idea is home.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6C3A6E"/>
          </a:solidFill>
          <a:ln w="12700">
            <a:solidFill>
              <a:srgbClr val="6C3A6E"/>
            </a:solidFill>
            <a:prstDash val="solid"/>
          </a:ln>
        </p:spPr>
      </p:sp>
      <p:pic>
        <p:nvPicPr>
          <p:cNvPr id="3" name="Image 0" descr="/home/claude/english/kit/decks/_icons/file-text-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FE6F0"/>
          </a:solidFill>
          <a:ln>
            <a:solidFill>
              <a:srgbClr val="EFE6F0"/>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Read the extract</a:t>
            </a:r>
            <a:endParaRPr lang="en-US" sz="2400" dirty="0"/>
          </a:p>
        </p:txBody>
      </p:sp>
      <p:sp>
        <p:nvSpPr>
          <p:cNvPr id="5" name="Text 2"/>
          <p:cNvSpPr/>
          <p:nvPr/>
        </p:nvSpPr>
        <p:spPr>
          <a:xfrm>
            <a:off x="9784080" y="457200"/>
            <a:ext cx="1874520" cy="566928"/>
          </a:xfrm>
          <a:prstGeom prst="roundRect">
            <a:avLst>
              <a:gd name="adj" fmla="val 16129"/>
            </a:avLst>
          </a:prstGeom>
          <a:solidFill>
            <a:srgbClr val="6C3A6E"/>
          </a:solidFill>
          <a:ln>
            <a:solidFill>
              <a:srgbClr val="6C3A6E"/>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8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Original prose written for this lesson: a girl on her first night aboard a ship. Look in all four places.</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6C3A6E"/>
          </a:solidFill>
          <a:ln>
            <a:solidFill>
              <a:srgbClr val="6C3A6E"/>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Modern Novel: Binti · Character, heritage, identity</a:t>
            </a:r>
            <a:endParaRPr lang="en-US" sz="900" dirty="0"/>
          </a:p>
        </p:txBody>
      </p:sp>
      <p:sp>
        <p:nvSpPr>
          <p:cNvPr id="13" name="Shape 10"/>
          <p:cNvSpPr/>
          <p:nvPr/>
        </p:nvSpPr>
        <p:spPr>
          <a:xfrm>
            <a:off x="548640" y="1783080"/>
            <a:ext cx="6949440" cy="4343400"/>
          </a:xfrm>
          <a:prstGeom prst="roundRect">
            <a:avLst>
              <a:gd name="adj" fmla="val 1263"/>
            </a:avLst>
          </a:prstGeom>
          <a:solidFill>
            <a:srgbClr val="FEF7E4"/>
          </a:solidFill>
          <a:ln w="12700">
            <a:solidFill>
              <a:srgbClr val="E5D9B0"/>
            </a:solidFill>
            <a:prstDash val="solid"/>
          </a:ln>
        </p:spPr>
      </p:sp>
      <p:sp>
        <p:nvSpPr>
          <p:cNvPr id="14" name="Text 11"/>
          <p:cNvSpPr/>
          <p:nvPr/>
        </p:nvSpPr>
        <p:spPr>
          <a:xfrm>
            <a:off x="731520" y="1874520"/>
            <a:ext cx="6583680" cy="274320"/>
          </a:xfrm>
          <a:prstGeom prst="rect">
            <a:avLst/>
          </a:prstGeom>
          <a:noFill/>
          <a:ln/>
        </p:spPr>
        <p:txBody>
          <a:bodyPr wrap="square" lIns="0" tIns="0" rIns="0" bIns="0" rtlCol="0" anchor="ctr"/>
          <a:lstStyle/>
          <a:p>
            <a:pPr indent="0" marL="0">
              <a:buNone/>
            </a:pPr>
            <a:r>
              <a:rPr lang="en-US" sz="1100" b="1" spc="100" kern="0" dirty="0">
                <a:solidFill>
                  <a:srgbClr val="8A6D00"/>
                </a:solidFill>
                <a:latin typeface="Arial" pitchFamily="34" charset="0"/>
                <a:ea typeface="Arial" pitchFamily="34" charset="-122"/>
                <a:cs typeface="Arial" pitchFamily="34" charset="-120"/>
              </a:rPr>
              <a:t>ORIGINAL PROSE WRITTEN FOR THIS LESSON — NOT FROM THE NOVEL</a:t>
            </a:r>
            <a:endParaRPr lang="en-US" sz="1100" dirty="0"/>
          </a:p>
        </p:txBody>
      </p:sp>
      <p:sp>
        <p:nvSpPr>
          <p:cNvPr id="15" name="Text 12"/>
          <p:cNvSpPr/>
          <p:nvPr/>
        </p:nvSpPr>
        <p:spPr>
          <a:xfrm>
            <a:off x="685800" y="2176272"/>
            <a:ext cx="6675120" cy="3840480"/>
          </a:xfrm>
          <a:prstGeom prst="rect">
            <a:avLst/>
          </a:prstGeom>
          <a:noFill/>
          <a:ln/>
        </p:spPr>
        <p:txBody>
          <a:bodyPr wrap="square" lIns="91440" tIns="137160" rIns="137160" bIns="91440" rtlCol="0" anchor="t"/>
          <a:lstStyle/>
          <a:p>
            <a:pPr algn="l" indent="0" marL="0">
              <a:buNone/>
            </a:pPr>
            <a:r>
              <a:rPr lang="en-US" sz="1800" dirty="0">
                <a:solidFill>
                  <a:srgbClr val="16171F"/>
                </a:solidFill>
                <a:latin typeface="Arial" pitchFamily="34" charset="0"/>
                <a:ea typeface="Arial" pitchFamily="34" charset="-122"/>
                <a:cs typeface="Arial" pitchFamily="34" charset="-120"/>
              </a:rPr>
              <a:t>In the dining hall the other students went quiet when Amara sat down. She felt their eyes on her hair, on the red clay that caught the ship's cold light. One boy asked if it was paint. She almost said yes; it would have been easier. Instead she opened the small pot, took a little on two fingers and rubbed it into the back of her hand, slowly, the way her mother did. 'It is earth,' she said. 'From home.' The boy looked at it for a long moment. Then he held out his own hand.</a:t>
            </a:r>
            <a:endParaRPr lang="en-US" sz="1800" dirty="0"/>
          </a:p>
        </p:txBody>
      </p:sp>
      <p:sp>
        <p:nvSpPr>
          <p:cNvPr id="16" name="Text 13"/>
          <p:cNvSpPr/>
          <p:nvPr/>
        </p:nvSpPr>
        <p:spPr>
          <a:xfrm>
            <a:off x="7726680" y="1783080"/>
            <a:ext cx="502920" cy="548640"/>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1</a:t>
            </a:r>
            <a:endParaRPr lang="en-US" sz="1800" dirty="0"/>
          </a:p>
        </p:txBody>
      </p:sp>
      <p:sp>
        <p:nvSpPr>
          <p:cNvPr id="17" name="Shape 14"/>
          <p:cNvSpPr/>
          <p:nvPr/>
        </p:nvSpPr>
        <p:spPr>
          <a:xfrm>
            <a:off x="8321040" y="1783080"/>
            <a:ext cx="3291840" cy="960120"/>
          </a:xfrm>
          <a:prstGeom prst="roundRect">
            <a:avLst>
              <a:gd name="adj" fmla="val 6667"/>
            </a:avLst>
          </a:prstGeom>
          <a:solidFill>
            <a:srgbClr val="FFFFFF"/>
          </a:solidFill>
          <a:ln w="12700">
            <a:solidFill>
              <a:srgbClr val="80ADC4"/>
            </a:solidFill>
            <a:prstDash val="solid"/>
          </a:ln>
        </p:spPr>
      </p:sp>
      <p:sp>
        <p:nvSpPr>
          <p:cNvPr id="18" name="Text 15"/>
          <p:cNvSpPr/>
          <p:nvPr/>
        </p:nvSpPr>
        <p:spPr>
          <a:xfrm>
            <a:off x="8366760" y="1783080"/>
            <a:ext cx="3200400" cy="96012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What does Amara DO when the boy asks about the clay?</a:t>
            </a:r>
            <a:endParaRPr lang="en-US" sz="1800" dirty="0"/>
          </a:p>
        </p:txBody>
      </p:sp>
      <p:sp>
        <p:nvSpPr>
          <p:cNvPr id="19" name="Text 16"/>
          <p:cNvSpPr/>
          <p:nvPr/>
        </p:nvSpPr>
        <p:spPr>
          <a:xfrm>
            <a:off x="7726680" y="2889504"/>
            <a:ext cx="502920" cy="548640"/>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2</a:t>
            </a:r>
            <a:endParaRPr lang="en-US" sz="1800" dirty="0"/>
          </a:p>
        </p:txBody>
      </p:sp>
      <p:sp>
        <p:nvSpPr>
          <p:cNvPr id="20" name="Shape 17"/>
          <p:cNvSpPr/>
          <p:nvPr/>
        </p:nvSpPr>
        <p:spPr>
          <a:xfrm>
            <a:off x="8321040" y="2889504"/>
            <a:ext cx="3291840" cy="960120"/>
          </a:xfrm>
          <a:prstGeom prst="roundRect">
            <a:avLst>
              <a:gd name="adj" fmla="val 6667"/>
            </a:avLst>
          </a:prstGeom>
          <a:solidFill>
            <a:srgbClr val="FFFFFF"/>
          </a:solidFill>
          <a:ln w="12700">
            <a:solidFill>
              <a:srgbClr val="80ADC4"/>
            </a:solidFill>
            <a:prstDash val="solid"/>
          </a:ln>
        </p:spPr>
      </p:sp>
      <p:sp>
        <p:nvSpPr>
          <p:cNvPr id="21" name="Text 18"/>
          <p:cNvSpPr/>
          <p:nvPr/>
        </p:nvSpPr>
        <p:spPr>
          <a:xfrm>
            <a:off x="8366760" y="2889504"/>
            <a:ext cx="3200400" cy="96012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Find the moment she nearly gives up her heritage. Why doesn't she?</a:t>
            </a:r>
            <a:endParaRPr lang="en-US" sz="1800" dirty="0"/>
          </a:p>
        </p:txBody>
      </p:sp>
      <p:sp>
        <p:nvSpPr>
          <p:cNvPr id="22" name="Text 19"/>
          <p:cNvSpPr/>
          <p:nvPr/>
        </p:nvSpPr>
        <p:spPr>
          <a:xfrm>
            <a:off x="7726680" y="3995928"/>
            <a:ext cx="502920" cy="548640"/>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3</a:t>
            </a:r>
            <a:endParaRPr lang="en-US" sz="1800" dirty="0"/>
          </a:p>
        </p:txBody>
      </p:sp>
      <p:sp>
        <p:nvSpPr>
          <p:cNvPr id="23" name="Shape 20"/>
          <p:cNvSpPr/>
          <p:nvPr/>
        </p:nvSpPr>
        <p:spPr>
          <a:xfrm>
            <a:off x="8321040" y="3995928"/>
            <a:ext cx="3291840" cy="960120"/>
          </a:xfrm>
          <a:prstGeom prst="roundRect">
            <a:avLst>
              <a:gd name="adj" fmla="val 6667"/>
            </a:avLst>
          </a:prstGeom>
          <a:solidFill>
            <a:srgbClr val="FFFFFF"/>
          </a:solidFill>
          <a:ln w="12700">
            <a:solidFill>
              <a:srgbClr val="80ADC4"/>
            </a:solidFill>
            <a:prstDash val="solid"/>
          </a:ln>
        </p:spPr>
      </p:sp>
      <p:sp>
        <p:nvSpPr>
          <p:cNvPr id="24" name="Text 21"/>
          <p:cNvSpPr/>
          <p:nvPr/>
        </p:nvSpPr>
        <p:spPr>
          <a:xfrm>
            <a:off x="8366760" y="3995928"/>
            <a:ext cx="3200400" cy="96012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What does the last sentence tell us about the boy?</a:t>
            </a:r>
            <a:endParaRPr lang="en-US" sz="1800" dirty="0"/>
          </a:p>
        </p:txBody>
      </p:sp>
      <p:sp>
        <p:nvSpPr>
          <p:cNvPr id="25" name="Text 22"/>
          <p:cNvSpPr/>
          <p:nvPr/>
        </p:nvSpPr>
        <p:spPr>
          <a:xfrm>
            <a:off x="7726680" y="5102352"/>
            <a:ext cx="502920" cy="548640"/>
          </a:xfrm>
          <a:prstGeom prst="roundRect">
            <a:avLst>
              <a:gd name="adj" fmla="val 21818"/>
            </a:avLst>
          </a:prstGeom>
          <a:solidFill>
            <a:srgbClr val="FFC93C"/>
          </a:solidFill>
          <a:ln>
            <a:solidFill>
              <a:srgbClr val="FFC93C"/>
            </a:solidFill>
          </a:ln>
        </p:spPr>
        <p:txBody>
          <a:bodyPr wrap="square" lIns="0" tIns="0" rIns="0" bIns="0" rtlCol="0" anchor="ctr"/>
          <a:lstStyle/>
          <a:p>
            <a:pPr algn="ctr" indent="0" marL="0">
              <a:buNone/>
            </a:pPr>
            <a:r>
              <a:rPr lang="en-US" sz="1800" b="1" dirty="0">
                <a:solidFill>
                  <a:srgbClr val="12294D"/>
                </a:solidFill>
                <a:latin typeface="Arial" pitchFamily="34" charset="0"/>
                <a:ea typeface="Arial" pitchFamily="34" charset="-122"/>
                <a:cs typeface="Arial" pitchFamily="34" charset="-120"/>
              </a:rPr>
              <a:t>4</a:t>
            </a:r>
            <a:endParaRPr lang="en-US" sz="1800" dirty="0"/>
          </a:p>
        </p:txBody>
      </p:sp>
      <p:sp>
        <p:nvSpPr>
          <p:cNvPr id="26" name="Shape 23"/>
          <p:cNvSpPr/>
          <p:nvPr/>
        </p:nvSpPr>
        <p:spPr>
          <a:xfrm>
            <a:off x="8321040" y="5102352"/>
            <a:ext cx="3291840" cy="960120"/>
          </a:xfrm>
          <a:prstGeom prst="roundRect">
            <a:avLst>
              <a:gd name="adj" fmla="val 6667"/>
            </a:avLst>
          </a:prstGeom>
          <a:solidFill>
            <a:srgbClr val="FFFFFF"/>
          </a:solidFill>
          <a:ln w="12700">
            <a:solidFill>
              <a:srgbClr val="80ADC4"/>
            </a:solidFill>
            <a:prstDash val="solid"/>
          </a:ln>
        </p:spPr>
      </p:sp>
      <p:sp>
        <p:nvSpPr>
          <p:cNvPr id="27" name="Text 24"/>
          <p:cNvSpPr/>
          <p:nvPr/>
        </p:nvSpPr>
        <p:spPr>
          <a:xfrm>
            <a:off x="8366760" y="5102352"/>
            <a:ext cx="3200400" cy="96012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What does the clay stand for — for Amara, and for the reader?</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6C3A6E"/>
          </a:solidFill>
          <a:ln w="12700">
            <a:solidFill>
              <a:srgbClr val="6C3A6E"/>
            </a:solidFill>
            <a:prstDash val="solid"/>
          </a:ln>
        </p:spPr>
      </p:sp>
      <p:pic>
        <p:nvPicPr>
          <p:cNvPr id="3" name="Image 0" descr="/home/claude/english/kit/decks/_icons/message-circle-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FE6F0"/>
          </a:solidFill>
          <a:ln>
            <a:solidFill>
              <a:srgbClr val="EFE6F0"/>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Two lines — analyse</a:t>
            </a:r>
            <a:endParaRPr lang="en-US" sz="2400" dirty="0"/>
          </a:p>
        </p:txBody>
      </p:sp>
      <p:sp>
        <p:nvSpPr>
          <p:cNvPr id="5" name="Text 2"/>
          <p:cNvSpPr/>
          <p:nvPr/>
        </p:nvSpPr>
        <p:spPr>
          <a:xfrm>
            <a:off x="9784080" y="457200"/>
            <a:ext cx="1874520" cy="566928"/>
          </a:xfrm>
          <a:prstGeom prst="roundRect">
            <a:avLst>
              <a:gd name="adj" fmla="val 16129"/>
            </a:avLst>
          </a:prstGeom>
          <a:solidFill>
            <a:srgbClr val="6C3A6E"/>
          </a:solidFill>
          <a:ln>
            <a:solidFill>
              <a:srgbClr val="6C3A6E"/>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11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450" i="1" dirty="0">
                <a:solidFill>
                  <a:srgbClr val="404040"/>
                </a:solidFill>
                <a:latin typeface="Arial" pitchFamily="34" charset="0"/>
                <a:ea typeface="Arial" pitchFamily="34" charset="-122"/>
                <a:cs typeface="Arial" pitchFamily="34" charset="-120"/>
              </a:rPr>
              <a:t>For EACH line from the extract: what does it MEAN · what METHOD is used · what EFFECT does it have on the reader?</a:t>
            </a:r>
            <a:endParaRPr lang="en-US" sz="145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6C3A6E"/>
          </a:solidFill>
          <a:ln>
            <a:solidFill>
              <a:srgbClr val="6C3A6E"/>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Modern Novel: Binti · Character, heritage, identity</a:t>
            </a:r>
            <a:endParaRPr lang="en-US" sz="900" dirty="0"/>
          </a:p>
        </p:txBody>
      </p:sp>
      <p:sp>
        <p:nvSpPr>
          <p:cNvPr id="13" name="Shape 10"/>
          <p:cNvSpPr/>
          <p:nvPr/>
        </p:nvSpPr>
        <p:spPr>
          <a:xfrm>
            <a:off x="548640" y="1783080"/>
            <a:ext cx="5417820" cy="502920"/>
          </a:xfrm>
          <a:prstGeom prst="roundRect">
            <a:avLst>
              <a:gd name="adj" fmla="val 14545"/>
            </a:avLst>
          </a:prstGeom>
          <a:solidFill>
            <a:srgbClr val="8A6D00"/>
          </a:solidFill>
          <a:ln w="12700">
            <a:solidFill>
              <a:srgbClr val="8A6D00"/>
            </a:solidFill>
            <a:prstDash val="solid"/>
          </a:ln>
        </p:spPr>
      </p:sp>
      <p:pic>
        <p:nvPicPr>
          <p:cNvPr id="14" name="Image 1" descr="/home/claude/english/kit/decks/_icons/book-open-FFFFFF.png">    </p:cNvPr>
          <p:cNvPicPr>
            <a:picLocks noChangeAspect="1"/>
          </p:cNvPicPr>
          <p:nvPr/>
        </p:nvPicPr>
        <p:blipFill>
          <a:blip r:embed="rId2"/>
          <a:stretch>
            <a:fillRect/>
          </a:stretch>
        </p:blipFill>
        <p:spPr>
          <a:xfrm>
            <a:off x="685800" y="1911096"/>
            <a:ext cx="246888" cy="246888"/>
          </a:xfrm>
          <a:prstGeom prst="rect">
            <a:avLst/>
          </a:prstGeom>
        </p:spPr>
      </p:pic>
      <p:sp>
        <p:nvSpPr>
          <p:cNvPr id="15" name="Text 11"/>
          <p:cNvSpPr/>
          <p:nvPr/>
        </p:nvSpPr>
        <p:spPr>
          <a:xfrm>
            <a:off x="960120" y="1783080"/>
            <a:ext cx="4960620" cy="502920"/>
          </a:xfrm>
          <a:prstGeom prst="rect">
            <a:avLst/>
          </a:prstGeom>
          <a:noFill/>
          <a:ln/>
        </p:spPr>
        <p:txBody>
          <a:bodyPr wrap="square" lIns="45720" tIns="91440" rIns="91440" bIns="45720" rtlCol="0" anchor="ctr"/>
          <a:lstStyle/>
          <a:p>
            <a:pPr algn="l" indent="0" marL="0">
              <a:buNone/>
            </a:pPr>
            <a:r>
              <a:rPr lang="en-US" sz="1800" b="1" dirty="0">
                <a:solidFill>
                  <a:srgbClr val="FFFFFF"/>
                </a:solidFill>
                <a:latin typeface="Arial" pitchFamily="34" charset="0"/>
                <a:ea typeface="Arial" pitchFamily="34" charset="-122"/>
                <a:cs typeface="Arial" pitchFamily="34" charset="-120"/>
              </a:rPr>
              <a:t>Line 2</a:t>
            </a:r>
            <a:endParaRPr lang="en-US" sz="1800" dirty="0"/>
          </a:p>
        </p:txBody>
      </p:sp>
      <p:sp>
        <p:nvSpPr>
          <p:cNvPr id="16" name="Shape 12"/>
          <p:cNvSpPr/>
          <p:nvPr/>
        </p:nvSpPr>
        <p:spPr>
          <a:xfrm>
            <a:off x="548640" y="2377440"/>
            <a:ext cx="5417820" cy="1691640"/>
          </a:xfrm>
          <a:prstGeom prst="roundRect">
            <a:avLst>
              <a:gd name="adj" fmla="val 3243"/>
            </a:avLst>
          </a:prstGeom>
          <a:solidFill>
            <a:srgbClr val="FBF0D8"/>
          </a:solidFill>
          <a:ln w="12700">
            <a:solidFill>
              <a:srgbClr val="8A6D00"/>
            </a:solidFill>
            <a:prstDash val="solid"/>
          </a:ln>
        </p:spPr>
      </p:sp>
      <p:sp>
        <p:nvSpPr>
          <p:cNvPr id="17" name="Text 13"/>
          <p:cNvSpPr/>
          <p:nvPr/>
        </p:nvSpPr>
        <p:spPr>
          <a:xfrm>
            <a:off x="685800" y="2450592"/>
            <a:ext cx="5143500" cy="1554480"/>
          </a:xfrm>
          <a:prstGeom prst="rect">
            <a:avLst/>
          </a:prstGeom>
          <a:noFill/>
          <a:ln/>
        </p:spPr>
        <p:txBody>
          <a:bodyPr wrap="square" lIns="45720" tIns="91440" rIns="91440" bIns="45720" rtlCol="0" anchor="ctr"/>
          <a:lstStyle/>
          <a:p>
            <a:pPr algn="l" indent="0" marL="0">
              <a:buNone/>
            </a:pPr>
            <a:r>
              <a:rPr lang="en-US" sz="1800" i="1" dirty="0">
                <a:solidFill>
                  <a:srgbClr val="16171F"/>
                </a:solidFill>
                <a:latin typeface="Arial" pitchFamily="34" charset="0"/>
                <a:ea typeface="Arial" pitchFamily="34" charset="-122"/>
                <a:cs typeface="Arial" pitchFamily="34" charset="-120"/>
              </a:rPr>
              <a:t>She felt their eyes on her hair, on the red clay that caught the ship's cold light.</a:t>
            </a:r>
            <a:endParaRPr lang="en-US" sz="1800" dirty="0"/>
          </a:p>
        </p:txBody>
      </p:sp>
      <p:sp>
        <p:nvSpPr>
          <p:cNvPr id="18" name="Text 14"/>
          <p:cNvSpPr/>
          <p:nvPr/>
        </p:nvSpPr>
        <p:spPr>
          <a:xfrm>
            <a:off x="548640" y="4206240"/>
            <a:ext cx="1234440" cy="548640"/>
          </a:xfrm>
          <a:prstGeom prst="roundRect">
            <a:avLst>
              <a:gd name="adj" fmla="val 13333"/>
            </a:avLst>
          </a:prstGeom>
          <a:solidFill>
            <a:srgbClr val="12294D"/>
          </a:solidFill>
          <a:ln>
            <a:solidFill>
              <a:srgbClr val="12294D"/>
            </a:solidFill>
          </a:ln>
        </p:spPr>
        <p:txBody>
          <a:bodyPr wrap="square" lIns="0" tIns="0" rIns="0" bIns="0" rtlCol="0" anchor="ctr"/>
          <a:lstStyle/>
          <a:p>
            <a:pPr algn="ctr" indent="0" marL="0">
              <a:buNone/>
            </a:pPr>
            <a:r>
              <a:rPr lang="en-US" sz="1400" b="1" dirty="0">
                <a:solidFill>
                  <a:srgbClr val="FFC93C"/>
                </a:solidFill>
                <a:latin typeface="Arial" pitchFamily="34" charset="0"/>
                <a:ea typeface="Arial" pitchFamily="34" charset="-122"/>
                <a:cs typeface="Arial" pitchFamily="34" charset="-120"/>
              </a:rPr>
              <a:t>MEAN</a:t>
            </a:r>
            <a:endParaRPr lang="en-US" sz="1400" dirty="0"/>
          </a:p>
        </p:txBody>
      </p:sp>
      <p:sp>
        <p:nvSpPr>
          <p:cNvPr id="19" name="Shape 15"/>
          <p:cNvSpPr/>
          <p:nvPr/>
        </p:nvSpPr>
        <p:spPr>
          <a:xfrm>
            <a:off x="1920240" y="4206240"/>
            <a:ext cx="4046220" cy="548640"/>
          </a:xfrm>
          <a:prstGeom prst="roundRect">
            <a:avLst>
              <a:gd name="adj" fmla="val 11667"/>
            </a:avLst>
          </a:prstGeom>
          <a:solidFill>
            <a:srgbClr val="F4F6FA"/>
          </a:solidFill>
          <a:ln w="12700">
            <a:solidFill>
              <a:srgbClr val="80ADC4"/>
            </a:solidFill>
            <a:prstDash val="solid"/>
          </a:ln>
        </p:spPr>
      </p:sp>
      <p:sp>
        <p:nvSpPr>
          <p:cNvPr id="20" name="Text 16"/>
          <p:cNvSpPr/>
          <p:nvPr/>
        </p:nvSpPr>
        <p:spPr>
          <a:xfrm>
            <a:off x="2011680" y="4206240"/>
            <a:ext cx="3863340" cy="548640"/>
          </a:xfrm>
          <a:prstGeom prst="rect">
            <a:avLst/>
          </a:prstGeom>
          <a:noFill/>
          <a:ln/>
        </p:spPr>
        <p:txBody>
          <a:bodyPr wrap="square" lIns="45720" tIns="91440" rIns="91440" bIns="45720" rtlCol="0" anchor="ctr"/>
          <a:lstStyle/>
          <a:p>
            <a:pPr algn="l" indent="0" marL="0">
              <a:buNone/>
            </a:pPr>
            <a:r>
              <a:rPr lang="en-US" sz="1400" dirty="0">
                <a:solidFill>
                  <a:srgbClr val="404040"/>
                </a:solidFill>
                <a:latin typeface="Arial" pitchFamily="34" charset="0"/>
                <a:ea typeface="Arial" pitchFamily="34" charset="-122"/>
                <a:cs typeface="Arial" pitchFamily="34" charset="-120"/>
              </a:rPr>
              <a:t>what does it actually mean?</a:t>
            </a:r>
            <a:endParaRPr lang="en-US" sz="1400" dirty="0"/>
          </a:p>
        </p:txBody>
      </p:sp>
      <p:sp>
        <p:nvSpPr>
          <p:cNvPr id="21" name="Text 17"/>
          <p:cNvSpPr/>
          <p:nvPr/>
        </p:nvSpPr>
        <p:spPr>
          <a:xfrm>
            <a:off x="548640" y="4892040"/>
            <a:ext cx="1234440" cy="548640"/>
          </a:xfrm>
          <a:prstGeom prst="roundRect">
            <a:avLst>
              <a:gd name="adj" fmla="val 13333"/>
            </a:avLst>
          </a:prstGeom>
          <a:solidFill>
            <a:srgbClr val="12294D"/>
          </a:solidFill>
          <a:ln>
            <a:solidFill>
              <a:srgbClr val="12294D"/>
            </a:solidFill>
          </a:ln>
        </p:spPr>
        <p:txBody>
          <a:bodyPr wrap="square" lIns="0" tIns="0" rIns="0" bIns="0" rtlCol="0" anchor="ctr"/>
          <a:lstStyle/>
          <a:p>
            <a:pPr algn="ctr" indent="0" marL="0">
              <a:buNone/>
            </a:pPr>
            <a:r>
              <a:rPr lang="en-US" sz="1400" b="1" dirty="0">
                <a:solidFill>
                  <a:srgbClr val="FFC93C"/>
                </a:solidFill>
                <a:latin typeface="Arial" pitchFamily="34" charset="0"/>
                <a:ea typeface="Arial" pitchFamily="34" charset="-122"/>
                <a:cs typeface="Arial" pitchFamily="34" charset="-120"/>
              </a:rPr>
              <a:t>METHOD</a:t>
            </a:r>
            <a:endParaRPr lang="en-US" sz="1400" dirty="0"/>
          </a:p>
        </p:txBody>
      </p:sp>
      <p:sp>
        <p:nvSpPr>
          <p:cNvPr id="22" name="Shape 18"/>
          <p:cNvSpPr/>
          <p:nvPr/>
        </p:nvSpPr>
        <p:spPr>
          <a:xfrm>
            <a:off x="1920240" y="4892040"/>
            <a:ext cx="4046220" cy="548640"/>
          </a:xfrm>
          <a:prstGeom prst="roundRect">
            <a:avLst>
              <a:gd name="adj" fmla="val 11667"/>
            </a:avLst>
          </a:prstGeom>
          <a:solidFill>
            <a:srgbClr val="F4F6FA"/>
          </a:solidFill>
          <a:ln w="12700">
            <a:solidFill>
              <a:srgbClr val="80ADC4"/>
            </a:solidFill>
            <a:prstDash val="solid"/>
          </a:ln>
        </p:spPr>
      </p:sp>
      <p:sp>
        <p:nvSpPr>
          <p:cNvPr id="23" name="Text 19"/>
          <p:cNvSpPr/>
          <p:nvPr/>
        </p:nvSpPr>
        <p:spPr>
          <a:xfrm>
            <a:off x="2011680" y="4892040"/>
            <a:ext cx="3863340" cy="548640"/>
          </a:xfrm>
          <a:prstGeom prst="rect">
            <a:avLst/>
          </a:prstGeom>
          <a:noFill/>
          <a:ln/>
        </p:spPr>
        <p:txBody>
          <a:bodyPr wrap="square" lIns="45720" tIns="91440" rIns="91440" bIns="45720" rtlCol="0" anchor="ctr"/>
          <a:lstStyle/>
          <a:p>
            <a:pPr algn="l" indent="0" marL="0">
              <a:buNone/>
            </a:pPr>
            <a:r>
              <a:rPr lang="en-US" sz="1400" dirty="0">
                <a:solidFill>
                  <a:srgbClr val="404040"/>
                </a:solidFill>
                <a:latin typeface="Arial" pitchFamily="34" charset="0"/>
                <a:ea typeface="Arial" pitchFamily="34" charset="-122"/>
                <a:cs typeface="Arial" pitchFamily="34" charset="-120"/>
              </a:rPr>
              <a:t>which method is the writer using?</a:t>
            </a:r>
            <a:endParaRPr lang="en-US" sz="1400" dirty="0"/>
          </a:p>
        </p:txBody>
      </p:sp>
      <p:sp>
        <p:nvSpPr>
          <p:cNvPr id="24" name="Text 20"/>
          <p:cNvSpPr/>
          <p:nvPr/>
        </p:nvSpPr>
        <p:spPr>
          <a:xfrm>
            <a:off x="548640" y="5577840"/>
            <a:ext cx="1234440" cy="548640"/>
          </a:xfrm>
          <a:prstGeom prst="roundRect">
            <a:avLst>
              <a:gd name="adj" fmla="val 13333"/>
            </a:avLst>
          </a:prstGeom>
          <a:solidFill>
            <a:srgbClr val="12294D"/>
          </a:solidFill>
          <a:ln>
            <a:solidFill>
              <a:srgbClr val="12294D"/>
            </a:solidFill>
          </a:ln>
        </p:spPr>
        <p:txBody>
          <a:bodyPr wrap="square" lIns="0" tIns="0" rIns="0" bIns="0" rtlCol="0" anchor="ctr"/>
          <a:lstStyle/>
          <a:p>
            <a:pPr algn="ctr" indent="0" marL="0">
              <a:buNone/>
            </a:pPr>
            <a:r>
              <a:rPr lang="en-US" sz="1400" b="1" dirty="0">
                <a:solidFill>
                  <a:srgbClr val="FFC93C"/>
                </a:solidFill>
                <a:latin typeface="Arial" pitchFamily="34" charset="0"/>
                <a:ea typeface="Arial" pitchFamily="34" charset="-122"/>
                <a:cs typeface="Arial" pitchFamily="34" charset="-120"/>
              </a:rPr>
              <a:t>EFFECT</a:t>
            </a:r>
            <a:endParaRPr lang="en-US" sz="1400" dirty="0"/>
          </a:p>
        </p:txBody>
      </p:sp>
      <p:sp>
        <p:nvSpPr>
          <p:cNvPr id="25" name="Shape 21"/>
          <p:cNvSpPr/>
          <p:nvPr/>
        </p:nvSpPr>
        <p:spPr>
          <a:xfrm>
            <a:off x="1920240" y="5577840"/>
            <a:ext cx="4046220" cy="548640"/>
          </a:xfrm>
          <a:prstGeom prst="roundRect">
            <a:avLst>
              <a:gd name="adj" fmla="val 11667"/>
            </a:avLst>
          </a:prstGeom>
          <a:solidFill>
            <a:srgbClr val="F4F6FA"/>
          </a:solidFill>
          <a:ln w="12700">
            <a:solidFill>
              <a:srgbClr val="80ADC4"/>
            </a:solidFill>
            <a:prstDash val="solid"/>
          </a:ln>
        </p:spPr>
      </p:sp>
      <p:sp>
        <p:nvSpPr>
          <p:cNvPr id="26" name="Text 22"/>
          <p:cNvSpPr/>
          <p:nvPr/>
        </p:nvSpPr>
        <p:spPr>
          <a:xfrm>
            <a:off x="2011680" y="5577840"/>
            <a:ext cx="3863340" cy="548640"/>
          </a:xfrm>
          <a:prstGeom prst="rect">
            <a:avLst/>
          </a:prstGeom>
          <a:noFill/>
          <a:ln/>
        </p:spPr>
        <p:txBody>
          <a:bodyPr wrap="square" lIns="45720" tIns="91440" rIns="91440" bIns="45720" rtlCol="0" anchor="ctr"/>
          <a:lstStyle/>
          <a:p>
            <a:pPr algn="l" indent="0" marL="0">
              <a:buNone/>
            </a:pPr>
            <a:r>
              <a:rPr lang="en-US" sz="1400" dirty="0">
                <a:solidFill>
                  <a:srgbClr val="404040"/>
                </a:solidFill>
                <a:latin typeface="Arial" pitchFamily="34" charset="0"/>
                <a:ea typeface="Arial" pitchFamily="34" charset="-122"/>
                <a:cs typeface="Arial" pitchFamily="34" charset="-120"/>
              </a:rPr>
              <a:t>what effect does it have on the reader?</a:t>
            </a:r>
            <a:endParaRPr lang="en-US" sz="1400" dirty="0"/>
          </a:p>
        </p:txBody>
      </p:sp>
      <p:sp>
        <p:nvSpPr>
          <p:cNvPr id="27" name="Shape 23"/>
          <p:cNvSpPr/>
          <p:nvPr/>
        </p:nvSpPr>
        <p:spPr>
          <a:xfrm>
            <a:off x="6195060" y="1783080"/>
            <a:ext cx="5417820" cy="502920"/>
          </a:xfrm>
          <a:prstGeom prst="roundRect">
            <a:avLst>
              <a:gd name="adj" fmla="val 14545"/>
            </a:avLst>
          </a:prstGeom>
          <a:solidFill>
            <a:srgbClr val="8A6D00"/>
          </a:solidFill>
          <a:ln w="12700">
            <a:solidFill>
              <a:srgbClr val="8A6D00"/>
            </a:solidFill>
            <a:prstDash val="solid"/>
          </a:ln>
        </p:spPr>
      </p:sp>
      <p:pic>
        <p:nvPicPr>
          <p:cNvPr id="28" name="Image 2" descr="/home/claude/english/kit/decks/_icons/book-open-FFFFFF.png">    </p:cNvPr>
          <p:cNvPicPr>
            <a:picLocks noChangeAspect="1"/>
          </p:cNvPicPr>
          <p:nvPr/>
        </p:nvPicPr>
        <p:blipFill>
          <a:blip r:embed="rId3"/>
          <a:stretch>
            <a:fillRect/>
          </a:stretch>
        </p:blipFill>
        <p:spPr>
          <a:xfrm>
            <a:off x="6332220" y="1911096"/>
            <a:ext cx="246888" cy="246888"/>
          </a:xfrm>
          <a:prstGeom prst="rect">
            <a:avLst/>
          </a:prstGeom>
        </p:spPr>
      </p:pic>
      <p:sp>
        <p:nvSpPr>
          <p:cNvPr id="29" name="Text 24"/>
          <p:cNvSpPr/>
          <p:nvPr/>
        </p:nvSpPr>
        <p:spPr>
          <a:xfrm>
            <a:off x="6606540" y="1783080"/>
            <a:ext cx="4960620" cy="502920"/>
          </a:xfrm>
          <a:prstGeom prst="rect">
            <a:avLst/>
          </a:prstGeom>
          <a:noFill/>
          <a:ln/>
        </p:spPr>
        <p:txBody>
          <a:bodyPr wrap="square" lIns="45720" tIns="91440" rIns="91440" bIns="45720" rtlCol="0" anchor="ctr"/>
          <a:lstStyle/>
          <a:p>
            <a:pPr algn="l" indent="0" marL="0">
              <a:buNone/>
            </a:pPr>
            <a:r>
              <a:rPr lang="en-US" sz="1800" b="1" dirty="0">
                <a:solidFill>
                  <a:srgbClr val="FFFFFF"/>
                </a:solidFill>
                <a:latin typeface="Arial" pitchFamily="34" charset="0"/>
                <a:ea typeface="Arial" pitchFamily="34" charset="-122"/>
                <a:cs typeface="Arial" pitchFamily="34" charset="-120"/>
              </a:rPr>
              <a:t>Line 5</a:t>
            </a:r>
            <a:endParaRPr lang="en-US" sz="1800" dirty="0"/>
          </a:p>
        </p:txBody>
      </p:sp>
      <p:sp>
        <p:nvSpPr>
          <p:cNvPr id="30" name="Shape 25"/>
          <p:cNvSpPr/>
          <p:nvPr/>
        </p:nvSpPr>
        <p:spPr>
          <a:xfrm>
            <a:off x="6195060" y="2377440"/>
            <a:ext cx="5417820" cy="1691640"/>
          </a:xfrm>
          <a:prstGeom prst="roundRect">
            <a:avLst>
              <a:gd name="adj" fmla="val 3243"/>
            </a:avLst>
          </a:prstGeom>
          <a:solidFill>
            <a:srgbClr val="FBF0D8"/>
          </a:solidFill>
          <a:ln w="12700">
            <a:solidFill>
              <a:srgbClr val="8A6D00"/>
            </a:solidFill>
            <a:prstDash val="solid"/>
          </a:ln>
        </p:spPr>
      </p:sp>
      <p:sp>
        <p:nvSpPr>
          <p:cNvPr id="31" name="Text 26"/>
          <p:cNvSpPr/>
          <p:nvPr/>
        </p:nvSpPr>
        <p:spPr>
          <a:xfrm>
            <a:off x="6332220" y="2450592"/>
            <a:ext cx="5143500" cy="1554480"/>
          </a:xfrm>
          <a:prstGeom prst="rect">
            <a:avLst/>
          </a:prstGeom>
          <a:noFill/>
          <a:ln/>
        </p:spPr>
        <p:txBody>
          <a:bodyPr wrap="square" lIns="45720" tIns="91440" rIns="91440" bIns="45720" rtlCol="0" anchor="ctr"/>
          <a:lstStyle/>
          <a:p>
            <a:pPr algn="l" indent="0" marL="0">
              <a:buNone/>
            </a:pPr>
            <a:r>
              <a:rPr lang="en-US" sz="1800" i="1" dirty="0">
                <a:solidFill>
                  <a:srgbClr val="16171F"/>
                </a:solidFill>
                <a:latin typeface="Arial" pitchFamily="34" charset="0"/>
                <a:ea typeface="Arial" pitchFamily="34" charset="-122"/>
                <a:cs typeface="Arial" pitchFamily="34" charset="-120"/>
              </a:rPr>
              <a:t>'It is earth,' she said. 'From home.'</a:t>
            </a:r>
            <a:endParaRPr lang="en-US" sz="1800" dirty="0"/>
          </a:p>
        </p:txBody>
      </p:sp>
      <p:sp>
        <p:nvSpPr>
          <p:cNvPr id="32" name="Text 27"/>
          <p:cNvSpPr/>
          <p:nvPr/>
        </p:nvSpPr>
        <p:spPr>
          <a:xfrm>
            <a:off x="6195060" y="4206240"/>
            <a:ext cx="1234440" cy="548640"/>
          </a:xfrm>
          <a:prstGeom prst="roundRect">
            <a:avLst>
              <a:gd name="adj" fmla="val 13333"/>
            </a:avLst>
          </a:prstGeom>
          <a:solidFill>
            <a:srgbClr val="12294D"/>
          </a:solidFill>
          <a:ln>
            <a:solidFill>
              <a:srgbClr val="12294D"/>
            </a:solidFill>
          </a:ln>
        </p:spPr>
        <p:txBody>
          <a:bodyPr wrap="square" lIns="0" tIns="0" rIns="0" bIns="0" rtlCol="0" anchor="ctr"/>
          <a:lstStyle/>
          <a:p>
            <a:pPr algn="ctr" indent="0" marL="0">
              <a:buNone/>
            </a:pPr>
            <a:r>
              <a:rPr lang="en-US" sz="1400" b="1" dirty="0">
                <a:solidFill>
                  <a:srgbClr val="FFC93C"/>
                </a:solidFill>
                <a:latin typeface="Arial" pitchFamily="34" charset="0"/>
                <a:ea typeface="Arial" pitchFamily="34" charset="-122"/>
                <a:cs typeface="Arial" pitchFamily="34" charset="-120"/>
              </a:rPr>
              <a:t>MEAN</a:t>
            </a:r>
            <a:endParaRPr lang="en-US" sz="1400" dirty="0"/>
          </a:p>
        </p:txBody>
      </p:sp>
      <p:sp>
        <p:nvSpPr>
          <p:cNvPr id="33" name="Shape 28"/>
          <p:cNvSpPr/>
          <p:nvPr/>
        </p:nvSpPr>
        <p:spPr>
          <a:xfrm>
            <a:off x="7566660" y="4206240"/>
            <a:ext cx="4046220" cy="548640"/>
          </a:xfrm>
          <a:prstGeom prst="roundRect">
            <a:avLst>
              <a:gd name="adj" fmla="val 11667"/>
            </a:avLst>
          </a:prstGeom>
          <a:solidFill>
            <a:srgbClr val="F4F6FA"/>
          </a:solidFill>
          <a:ln w="12700">
            <a:solidFill>
              <a:srgbClr val="80ADC4"/>
            </a:solidFill>
            <a:prstDash val="solid"/>
          </a:ln>
        </p:spPr>
      </p:sp>
      <p:sp>
        <p:nvSpPr>
          <p:cNvPr id="34" name="Text 29"/>
          <p:cNvSpPr/>
          <p:nvPr/>
        </p:nvSpPr>
        <p:spPr>
          <a:xfrm>
            <a:off x="7658100" y="4206240"/>
            <a:ext cx="3863340" cy="548640"/>
          </a:xfrm>
          <a:prstGeom prst="rect">
            <a:avLst/>
          </a:prstGeom>
          <a:noFill/>
          <a:ln/>
        </p:spPr>
        <p:txBody>
          <a:bodyPr wrap="square" lIns="45720" tIns="91440" rIns="91440" bIns="45720" rtlCol="0" anchor="ctr"/>
          <a:lstStyle/>
          <a:p>
            <a:pPr algn="l" indent="0" marL="0">
              <a:buNone/>
            </a:pPr>
            <a:r>
              <a:rPr lang="en-US" sz="1400" dirty="0">
                <a:solidFill>
                  <a:srgbClr val="404040"/>
                </a:solidFill>
                <a:latin typeface="Arial" pitchFamily="34" charset="0"/>
                <a:ea typeface="Arial" pitchFamily="34" charset="-122"/>
                <a:cs typeface="Arial" pitchFamily="34" charset="-120"/>
              </a:rPr>
              <a:t>what does it actually mean?</a:t>
            </a:r>
            <a:endParaRPr lang="en-US" sz="1400" dirty="0"/>
          </a:p>
        </p:txBody>
      </p:sp>
      <p:sp>
        <p:nvSpPr>
          <p:cNvPr id="35" name="Text 30"/>
          <p:cNvSpPr/>
          <p:nvPr/>
        </p:nvSpPr>
        <p:spPr>
          <a:xfrm>
            <a:off x="6195060" y="4892040"/>
            <a:ext cx="1234440" cy="548640"/>
          </a:xfrm>
          <a:prstGeom prst="roundRect">
            <a:avLst>
              <a:gd name="adj" fmla="val 13333"/>
            </a:avLst>
          </a:prstGeom>
          <a:solidFill>
            <a:srgbClr val="12294D"/>
          </a:solidFill>
          <a:ln>
            <a:solidFill>
              <a:srgbClr val="12294D"/>
            </a:solidFill>
          </a:ln>
        </p:spPr>
        <p:txBody>
          <a:bodyPr wrap="square" lIns="0" tIns="0" rIns="0" bIns="0" rtlCol="0" anchor="ctr"/>
          <a:lstStyle/>
          <a:p>
            <a:pPr algn="ctr" indent="0" marL="0">
              <a:buNone/>
            </a:pPr>
            <a:r>
              <a:rPr lang="en-US" sz="1400" b="1" dirty="0">
                <a:solidFill>
                  <a:srgbClr val="FFC93C"/>
                </a:solidFill>
                <a:latin typeface="Arial" pitchFamily="34" charset="0"/>
                <a:ea typeface="Arial" pitchFamily="34" charset="-122"/>
                <a:cs typeface="Arial" pitchFamily="34" charset="-120"/>
              </a:rPr>
              <a:t>METHOD</a:t>
            </a:r>
            <a:endParaRPr lang="en-US" sz="1400" dirty="0"/>
          </a:p>
        </p:txBody>
      </p:sp>
      <p:sp>
        <p:nvSpPr>
          <p:cNvPr id="36" name="Shape 31"/>
          <p:cNvSpPr/>
          <p:nvPr/>
        </p:nvSpPr>
        <p:spPr>
          <a:xfrm>
            <a:off x="7566660" y="4892040"/>
            <a:ext cx="4046220" cy="548640"/>
          </a:xfrm>
          <a:prstGeom prst="roundRect">
            <a:avLst>
              <a:gd name="adj" fmla="val 11667"/>
            </a:avLst>
          </a:prstGeom>
          <a:solidFill>
            <a:srgbClr val="F4F6FA"/>
          </a:solidFill>
          <a:ln w="12700">
            <a:solidFill>
              <a:srgbClr val="80ADC4"/>
            </a:solidFill>
            <a:prstDash val="solid"/>
          </a:ln>
        </p:spPr>
      </p:sp>
      <p:sp>
        <p:nvSpPr>
          <p:cNvPr id="37" name="Text 32"/>
          <p:cNvSpPr/>
          <p:nvPr/>
        </p:nvSpPr>
        <p:spPr>
          <a:xfrm>
            <a:off x="7658100" y="4892040"/>
            <a:ext cx="3863340" cy="548640"/>
          </a:xfrm>
          <a:prstGeom prst="rect">
            <a:avLst/>
          </a:prstGeom>
          <a:noFill/>
          <a:ln/>
        </p:spPr>
        <p:txBody>
          <a:bodyPr wrap="square" lIns="45720" tIns="91440" rIns="91440" bIns="45720" rtlCol="0" anchor="ctr"/>
          <a:lstStyle/>
          <a:p>
            <a:pPr algn="l" indent="0" marL="0">
              <a:buNone/>
            </a:pPr>
            <a:r>
              <a:rPr lang="en-US" sz="1400" dirty="0">
                <a:solidFill>
                  <a:srgbClr val="404040"/>
                </a:solidFill>
                <a:latin typeface="Arial" pitchFamily="34" charset="0"/>
                <a:ea typeface="Arial" pitchFamily="34" charset="-122"/>
                <a:cs typeface="Arial" pitchFamily="34" charset="-120"/>
              </a:rPr>
              <a:t>which method is the writer using?</a:t>
            </a:r>
            <a:endParaRPr lang="en-US" sz="1400" dirty="0"/>
          </a:p>
        </p:txBody>
      </p:sp>
      <p:sp>
        <p:nvSpPr>
          <p:cNvPr id="38" name="Text 33"/>
          <p:cNvSpPr/>
          <p:nvPr/>
        </p:nvSpPr>
        <p:spPr>
          <a:xfrm>
            <a:off x="6195060" y="5577840"/>
            <a:ext cx="1234440" cy="548640"/>
          </a:xfrm>
          <a:prstGeom prst="roundRect">
            <a:avLst>
              <a:gd name="adj" fmla="val 13333"/>
            </a:avLst>
          </a:prstGeom>
          <a:solidFill>
            <a:srgbClr val="12294D"/>
          </a:solidFill>
          <a:ln>
            <a:solidFill>
              <a:srgbClr val="12294D"/>
            </a:solidFill>
          </a:ln>
        </p:spPr>
        <p:txBody>
          <a:bodyPr wrap="square" lIns="0" tIns="0" rIns="0" bIns="0" rtlCol="0" anchor="ctr"/>
          <a:lstStyle/>
          <a:p>
            <a:pPr algn="ctr" indent="0" marL="0">
              <a:buNone/>
            </a:pPr>
            <a:r>
              <a:rPr lang="en-US" sz="1400" b="1" dirty="0">
                <a:solidFill>
                  <a:srgbClr val="FFC93C"/>
                </a:solidFill>
                <a:latin typeface="Arial" pitchFamily="34" charset="0"/>
                <a:ea typeface="Arial" pitchFamily="34" charset="-122"/>
                <a:cs typeface="Arial" pitchFamily="34" charset="-120"/>
              </a:rPr>
              <a:t>EFFECT</a:t>
            </a:r>
            <a:endParaRPr lang="en-US" sz="1400" dirty="0"/>
          </a:p>
        </p:txBody>
      </p:sp>
      <p:sp>
        <p:nvSpPr>
          <p:cNvPr id="39" name="Shape 34"/>
          <p:cNvSpPr/>
          <p:nvPr/>
        </p:nvSpPr>
        <p:spPr>
          <a:xfrm>
            <a:off x="7566660" y="5577840"/>
            <a:ext cx="4046220" cy="548640"/>
          </a:xfrm>
          <a:prstGeom prst="roundRect">
            <a:avLst>
              <a:gd name="adj" fmla="val 11667"/>
            </a:avLst>
          </a:prstGeom>
          <a:solidFill>
            <a:srgbClr val="F4F6FA"/>
          </a:solidFill>
          <a:ln w="12700">
            <a:solidFill>
              <a:srgbClr val="80ADC4"/>
            </a:solidFill>
            <a:prstDash val="solid"/>
          </a:ln>
        </p:spPr>
      </p:sp>
      <p:sp>
        <p:nvSpPr>
          <p:cNvPr id="40" name="Text 35"/>
          <p:cNvSpPr/>
          <p:nvPr/>
        </p:nvSpPr>
        <p:spPr>
          <a:xfrm>
            <a:off x="7658100" y="5577840"/>
            <a:ext cx="3863340" cy="548640"/>
          </a:xfrm>
          <a:prstGeom prst="rect">
            <a:avLst/>
          </a:prstGeom>
          <a:noFill/>
          <a:ln/>
        </p:spPr>
        <p:txBody>
          <a:bodyPr wrap="square" lIns="45720" tIns="91440" rIns="91440" bIns="45720" rtlCol="0" anchor="ctr"/>
          <a:lstStyle/>
          <a:p>
            <a:pPr algn="l" indent="0" marL="0">
              <a:buNone/>
            </a:pPr>
            <a:r>
              <a:rPr lang="en-US" sz="1400" dirty="0">
                <a:solidFill>
                  <a:srgbClr val="404040"/>
                </a:solidFill>
                <a:latin typeface="Arial" pitchFamily="34" charset="0"/>
                <a:ea typeface="Arial" pitchFamily="34" charset="-122"/>
                <a:cs typeface="Arial" pitchFamily="34" charset="-120"/>
              </a:rPr>
              <a:t>what effect does it have on the reader?</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D0021B"/>
          </a:solidFill>
          <a:ln w="12700">
            <a:solidFill>
              <a:srgbClr val="D0021B"/>
            </a:solidFill>
            <a:prstDash val="solid"/>
          </a:ln>
        </p:spPr>
      </p:sp>
      <p:pic>
        <p:nvPicPr>
          <p:cNvPr id="3" name="Image 0" descr="/home/claude/english/kit/decks/_icons/users-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FDE6E9"/>
          </a:solidFill>
          <a:ln>
            <a:solidFill>
              <a:srgbClr val="FDE6E9"/>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WRITE · the character analysis scaffold</a:t>
            </a:r>
            <a:endParaRPr lang="en-US" sz="2400" dirty="0"/>
          </a:p>
        </p:txBody>
      </p:sp>
      <p:sp>
        <p:nvSpPr>
          <p:cNvPr id="5" name="Text 2"/>
          <p:cNvSpPr/>
          <p:nvPr/>
        </p:nvSpPr>
        <p:spPr>
          <a:xfrm>
            <a:off x="9784080" y="457200"/>
            <a:ext cx="1874520" cy="566928"/>
          </a:xfrm>
          <a:prstGeom prst="roundRect">
            <a:avLst>
              <a:gd name="adj" fmla="val 16129"/>
            </a:avLst>
          </a:prstGeom>
          <a:solidFill>
            <a:srgbClr val="D0021B"/>
          </a:solidFill>
          <a:ln>
            <a:solidFill>
              <a:srgbClr val="D0021B"/>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 10 min</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Ten minutes, in silence. Then swap and check for the moves.</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D0021B"/>
          </a:solidFill>
          <a:ln>
            <a:solidFill>
              <a:srgbClr val="D0021B"/>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Modern Novel: Binti · Character, heritage, identity</a:t>
            </a:r>
            <a:endParaRPr lang="en-US" sz="900" dirty="0"/>
          </a:p>
        </p:txBody>
      </p:sp>
      <p:sp>
        <p:nvSpPr>
          <p:cNvPr id="13" name="Shape 10"/>
          <p:cNvSpPr/>
          <p:nvPr/>
        </p:nvSpPr>
        <p:spPr>
          <a:xfrm>
            <a:off x="548640" y="1783080"/>
            <a:ext cx="7772400" cy="457200"/>
          </a:xfrm>
          <a:prstGeom prst="roundRect">
            <a:avLst>
              <a:gd name="adj" fmla="val 20000"/>
            </a:avLst>
          </a:prstGeom>
          <a:solidFill>
            <a:srgbClr val="00A08A"/>
          </a:solidFill>
          <a:ln w="12700">
            <a:solidFill>
              <a:srgbClr val="00A08A"/>
            </a:solidFill>
            <a:prstDash val="solid"/>
          </a:ln>
        </p:spPr>
      </p:sp>
      <p:pic>
        <p:nvPicPr>
          <p:cNvPr id="14" name="Image 1" descr="/home/claude/english/kit/decks/_icons/users-FFFFFF.png">    </p:cNvPr>
          <p:cNvPicPr>
            <a:picLocks noChangeAspect="1"/>
          </p:cNvPicPr>
          <p:nvPr/>
        </p:nvPicPr>
        <p:blipFill>
          <a:blip r:embed="rId2"/>
          <a:stretch>
            <a:fillRect/>
          </a:stretch>
        </p:blipFill>
        <p:spPr>
          <a:xfrm>
            <a:off x="3130106" y="1888236"/>
            <a:ext cx="246888" cy="246888"/>
          </a:xfrm>
          <a:prstGeom prst="rect">
            <a:avLst/>
          </a:prstGeom>
        </p:spPr>
      </p:pic>
      <p:sp>
        <p:nvSpPr>
          <p:cNvPr id="15" name="Text 11"/>
          <p:cNvSpPr/>
          <p:nvPr/>
        </p:nvSpPr>
        <p:spPr>
          <a:xfrm>
            <a:off x="3495865" y="1783080"/>
            <a:ext cx="2518029" cy="457200"/>
          </a:xfrm>
          <a:prstGeom prst="rect">
            <a:avLst/>
          </a:prstGeom>
          <a:noFill/>
          <a:ln/>
        </p:spPr>
        <p:txBody>
          <a:bodyPr wrap="square" lIns="0" tIns="0" rIns="0" bIns="0" rtlCol="0" anchor="ctr"/>
          <a:lstStyle/>
          <a:p>
            <a:pPr algn="l" indent="0" marL="0">
              <a:buNone/>
            </a:pPr>
            <a:r>
              <a:rPr lang="en-US" sz="1500" b="1" dirty="0">
                <a:solidFill>
                  <a:srgbClr val="FFFFFF"/>
                </a:solidFill>
                <a:latin typeface="Arial" pitchFamily="34" charset="0"/>
                <a:ea typeface="Arial" pitchFamily="34" charset="-122"/>
                <a:cs typeface="Arial" pitchFamily="34" charset="-120"/>
              </a:rPr>
              <a:t>INDEPENDENT WRITING</a:t>
            </a:r>
            <a:endParaRPr lang="en-US" sz="1500" dirty="0"/>
          </a:p>
        </p:txBody>
      </p:sp>
      <p:sp>
        <p:nvSpPr>
          <p:cNvPr id="16" name="Shape 12"/>
          <p:cNvSpPr/>
          <p:nvPr/>
        </p:nvSpPr>
        <p:spPr>
          <a:xfrm>
            <a:off x="548640" y="2377440"/>
            <a:ext cx="11064240" cy="868680"/>
          </a:xfrm>
          <a:prstGeom prst="roundRect">
            <a:avLst>
              <a:gd name="adj" fmla="val 8421"/>
            </a:avLst>
          </a:prstGeom>
          <a:solidFill>
            <a:srgbClr val="FFC93C"/>
          </a:solidFill>
          <a:ln w="12700">
            <a:solidFill>
              <a:srgbClr val="FFC93C"/>
            </a:solidFill>
            <a:prstDash val="solid"/>
          </a:ln>
        </p:spPr>
      </p:sp>
      <p:sp>
        <p:nvSpPr>
          <p:cNvPr id="17" name="Text 13"/>
          <p:cNvSpPr/>
          <p:nvPr/>
        </p:nvSpPr>
        <p:spPr>
          <a:xfrm>
            <a:off x="777240" y="2377440"/>
            <a:ext cx="1920240" cy="868680"/>
          </a:xfrm>
          <a:prstGeom prst="rect">
            <a:avLst/>
          </a:prstGeom>
          <a:noFill/>
          <a:ln/>
        </p:spPr>
        <p:txBody>
          <a:bodyPr wrap="square" lIns="0" tIns="0" rIns="0" bIns="0" rtlCol="0" anchor="ctr"/>
          <a:lstStyle/>
          <a:p>
            <a:pPr indent="0" marL="0">
              <a:buNone/>
            </a:pPr>
            <a:r>
              <a:rPr lang="en-US" sz="1600" b="1" dirty="0">
                <a:solidFill>
                  <a:srgbClr val="12294D"/>
                </a:solidFill>
                <a:latin typeface="Arial" pitchFamily="34" charset="0"/>
                <a:ea typeface="Arial" pitchFamily="34" charset="-122"/>
                <a:cs typeface="Arial" pitchFamily="34" charset="-120"/>
              </a:rPr>
              <a:t>THE FOCUS:</a:t>
            </a:r>
            <a:endParaRPr lang="en-US" sz="1600" dirty="0"/>
          </a:p>
        </p:txBody>
      </p:sp>
      <p:sp>
        <p:nvSpPr>
          <p:cNvPr id="18" name="Text 14"/>
          <p:cNvSpPr/>
          <p:nvPr/>
        </p:nvSpPr>
        <p:spPr>
          <a:xfrm>
            <a:off x="2697480" y="2377440"/>
            <a:ext cx="8732520" cy="868680"/>
          </a:xfrm>
          <a:prstGeom prst="rect">
            <a:avLst/>
          </a:prstGeom>
          <a:noFill/>
          <a:ln/>
        </p:spPr>
        <p:txBody>
          <a:bodyPr wrap="square" lIns="45720" tIns="91440" rIns="91440" bIns="45720" rtlCol="0" anchor="ctr"/>
          <a:lstStyle/>
          <a:p>
            <a:pPr algn="l" indent="0" marL="0">
              <a:buNone/>
            </a:pPr>
            <a:r>
              <a:rPr lang="en-US" sz="1800" b="1" i="1" dirty="0">
                <a:solidFill>
                  <a:srgbClr val="12294D"/>
                </a:solidFill>
                <a:latin typeface="Arial" pitchFamily="34" charset="0"/>
                <a:ea typeface="Arial" pitchFamily="34" charset="-122"/>
                <a:cs typeface="Arial" pitchFamily="34" charset="-120"/>
              </a:rPr>
              <a:t>How does the writer show that Amara's heritage matters to her?</a:t>
            </a:r>
            <a:endParaRPr lang="en-US" sz="1800" dirty="0"/>
          </a:p>
        </p:txBody>
      </p:sp>
      <p:sp>
        <p:nvSpPr>
          <p:cNvPr id="19" name="Text 15"/>
          <p:cNvSpPr/>
          <p:nvPr/>
        </p:nvSpPr>
        <p:spPr>
          <a:xfrm>
            <a:off x="548640" y="3401568"/>
            <a:ext cx="427939" cy="427939"/>
          </a:xfrm>
          <a:prstGeom prst="ellipse">
            <a:avLst/>
          </a:prstGeom>
          <a:solidFill>
            <a:srgbClr val="12294D"/>
          </a:solidFill>
          <a:ln>
            <a:solidFill>
              <a:srgbClr val="12294D"/>
            </a:solidFill>
          </a:ln>
        </p:spPr>
        <p:txBody>
          <a:bodyPr wrap="square" lIns="0" tIns="0" rIns="0" bIns="0" rtlCol="0" anchor="ctr"/>
          <a:lstStyle/>
          <a:p>
            <a:pPr algn="ctr" indent="0" marL="0">
              <a:buNone/>
            </a:pPr>
            <a:r>
              <a:rPr lang="en-US" sz="1800" b="1" dirty="0">
                <a:solidFill>
                  <a:srgbClr val="FFC93C"/>
                </a:solidFill>
                <a:latin typeface="Arial" pitchFamily="34" charset="0"/>
                <a:ea typeface="Arial" pitchFamily="34" charset="-122"/>
                <a:cs typeface="Arial" pitchFamily="34" charset="-120"/>
              </a:rPr>
              <a:t>1</a:t>
            </a:r>
            <a:endParaRPr lang="en-US" sz="1800" dirty="0"/>
          </a:p>
        </p:txBody>
      </p:sp>
      <p:sp>
        <p:nvSpPr>
          <p:cNvPr id="20" name="Shape 16"/>
          <p:cNvSpPr/>
          <p:nvPr/>
        </p:nvSpPr>
        <p:spPr>
          <a:xfrm>
            <a:off x="1280160" y="3401568"/>
            <a:ext cx="10332720" cy="427939"/>
          </a:xfrm>
          <a:prstGeom prst="roundRect">
            <a:avLst>
              <a:gd name="adj" fmla="val 17094"/>
            </a:avLst>
          </a:prstGeom>
          <a:solidFill>
            <a:srgbClr val="FFFFFF"/>
          </a:solidFill>
          <a:ln w="12700">
            <a:solidFill>
              <a:srgbClr val="80ADC4"/>
            </a:solidFill>
            <a:prstDash val="solid"/>
          </a:ln>
        </p:spPr>
      </p:sp>
      <p:sp>
        <p:nvSpPr>
          <p:cNvPr id="21" name="Text 17"/>
          <p:cNvSpPr/>
          <p:nvPr/>
        </p:nvSpPr>
        <p:spPr>
          <a:xfrm>
            <a:off x="1463040" y="3401568"/>
            <a:ext cx="10058400" cy="427939"/>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POINT — one sentence that answers the question.</a:t>
            </a:r>
            <a:endParaRPr lang="en-US" sz="1800" dirty="0"/>
          </a:p>
        </p:txBody>
      </p:sp>
      <p:sp>
        <p:nvSpPr>
          <p:cNvPr id="22" name="Text 18"/>
          <p:cNvSpPr/>
          <p:nvPr/>
        </p:nvSpPr>
        <p:spPr>
          <a:xfrm>
            <a:off x="548640" y="3930091"/>
            <a:ext cx="427939" cy="427939"/>
          </a:xfrm>
          <a:prstGeom prst="ellipse">
            <a:avLst/>
          </a:prstGeom>
          <a:solidFill>
            <a:srgbClr val="12294D"/>
          </a:solidFill>
          <a:ln>
            <a:solidFill>
              <a:srgbClr val="12294D"/>
            </a:solidFill>
          </a:ln>
        </p:spPr>
        <p:txBody>
          <a:bodyPr wrap="square" lIns="0" tIns="0" rIns="0" bIns="0" rtlCol="0" anchor="ctr"/>
          <a:lstStyle/>
          <a:p>
            <a:pPr algn="ctr" indent="0" marL="0">
              <a:buNone/>
            </a:pPr>
            <a:r>
              <a:rPr lang="en-US" sz="1800" b="1" dirty="0">
                <a:solidFill>
                  <a:srgbClr val="FFC93C"/>
                </a:solidFill>
                <a:latin typeface="Arial" pitchFamily="34" charset="0"/>
                <a:ea typeface="Arial" pitchFamily="34" charset="-122"/>
                <a:cs typeface="Arial" pitchFamily="34" charset="-120"/>
              </a:rPr>
              <a:t>2</a:t>
            </a:r>
            <a:endParaRPr lang="en-US" sz="1800" dirty="0"/>
          </a:p>
        </p:txBody>
      </p:sp>
      <p:sp>
        <p:nvSpPr>
          <p:cNvPr id="23" name="Shape 19"/>
          <p:cNvSpPr/>
          <p:nvPr/>
        </p:nvSpPr>
        <p:spPr>
          <a:xfrm>
            <a:off x="1280160" y="3930091"/>
            <a:ext cx="10332720" cy="427939"/>
          </a:xfrm>
          <a:prstGeom prst="roundRect">
            <a:avLst>
              <a:gd name="adj" fmla="val 17094"/>
            </a:avLst>
          </a:prstGeom>
          <a:solidFill>
            <a:srgbClr val="F4F6FA"/>
          </a:solidFill>
          <a:ln w="12700">
            <a:solidFill>
              <a:srgbClr val="80ADC4"/>
            </a:solidFill>
            <a:prstDash val="solid"/>
          </a:ln>
        </p:spPr>
      </p:sp>
      <p:sp>
        <p:nvSpPr>
          <p:cNvPr id="24" name="Text 20"/>
          <p:cNvSpPr/>
          <p:nvPr/>
        </p:nvSpPr>
        <p:spPr>
          <a:xfrm>
            <a:off x="1463040" y="3930091"/>
            <a:ext cx="10058400" cy="427939"/>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EVIDENCE — a few words from the extract, in quotation marks.</a:t>
            </a:r>
            <a:endParaRPr lang="en-US" sz="1800" dirty="0"/>
          </a:p>
        </p:txBody>
      </p:sp>
      <p:sp>
        <p:nvSpPr>
          <p:cNvPr id="25" name="Text 21"/>
          <p:cNvSpPr/>
          <p:nvPr/>
        </p:nvSpPr>
        <p:spPr>
          <a:xfrm>
            <a:off x="548640" y="4458614"/>
            <a:ext cx="427939" cy="427939"/>
          </a:xfrm>
          <a:prstGeom prst="ellipse">
            <a:avLst/>
          </a:prstGeom>
          <a:solidFill>
            <a:srgbClr val="12294D"/>
          </a:solidFill>
          <a:ln>
            <a:solidFill>
              <a:srgbClr val="12294D"/>
            </a:solidFill>
          </a:ln>
        </p:spPr>
        <p:txBody>
          <a:bodyPr wrap="square" lIns="0" tIns="0" rIns="0" bIns="0" rtlCol="0" anchor="ctr"/>
          <a:lstStyle/>
          <a:p>
            <a:pPr algn="ctr" indent="0" marL="0">
              <a:buNone/>
            </a:pPr>
            <a:r>
              <a:rPr lang="en-US" sz="1800" b="1" dirty="0">
                <a:solidFill>
                  <a:srgbClr val="FFC93C"/>
                </a:solidFill>
                <a:latin typeface="Arial" pitchFamily="34" charset="0"/>
                <a:ea typeface="Arial" pitchFamily="34" charset="-122"/>
                <a:cs typeface="Arial" pitchFamily="34" charset="-120"/>
              </a:rPr>
              <a:t>3</a:t>
            </a:r>
            <a:endParaRPr lang="en-US" sz="1800" dirty="0"/>
          </a:p>
        </p:txBody>
      </p:sp>
      <p:sp>
        <p:nvSpPr>
          <p:cNvPr id="26" name="Shape 22"/>
          <p:cNvSpPr/>
          <p:nvPr/>
        </p:nvSpPr>
        <p:spPr>
          <a:xfrm>
            <a:off x="1280160" y="4458614"/>
            <a:ext cx="10332720" cy="427939"/>
          </a:xfrm>
          <a:prstGeom prst="roundRect">
            <a:avLst>
              <a:gd name="adj" fmla="val 17094"/>
            </a:avLst>
          </a:prstGeom>
          <a:solidFill>
            <a:srgbClr val="FFFFFF"/>
          </a:solidFill>
          <a:ln w="12700">
            <a:solidFill>
              <a:srgbClr val="80ADC4"/>
            </a:solidFill>
            <a:prstDash val="solid"/>
          </a:ln>
        </p:spPr>
      </p:sp>
      <p:sp>
        <p:nvSpPr>
          <p:cNvPr id="27" name="Text 23"/>
          <p:cNvSpPr/>
          <p:nvPr/>
        </p:nvSpPr>
        <p:spPr>
          <a:xfrm>
            <a:off x="1463040" y="4458614"/>
            <a:ext cx="10058400" cy="427939"/>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METHOD — name it: action, object, other eyes, wants — or symbol.</a:t>
            </a:r>
            <a:endParaRPr lang="en-US" sz="1800" dirty="0"/>
          </a:p>
        </p:txBody>
      </p:sp>
      <p:sp>
        <p:nvSpPr>
          <p:cNvPr id="28" name="Text 24"/>
          <p:cNvSpPr/>
          <p:nvPr/>
        </p:nvSpPr>
        <p:spPr>
          <a:xfrm>
            <a:off x="548640" y="4987138"/>
            <a:ext cx="427939" cy="427939"/>
          </a:xfrm>
          <a:prstGeom prst="ellipse">
            <a:avLst/>
          </a:prstGeom>
          <a:solidFill>
            <a:srgbClr val="12294D"/>
          </a:solidFill>
          <a:ln>
            <a:solidFill>
              <a:srgbClr val="12294D"/>
            </a:solidFill>
          </a:ln>
        </p:spPr>
        <p:txBody>
          <a:bodyPr wrap="square" lIns="0" tIns="0" rIns="0" bIns="0" rtlCol="0" anchor="ctr"/>
          <a:lstStyle/>
          <a:p>
            <a:pPr algn="ctr" indent="0" marL="0">
              <a:buNone/>
            </a:pPr>
            <a:r>
              <a:rPr lang="en-US" sz="1800" b="1" dirty="0">
                <a:solidFill>
                  <a:srgbClr val="FFC93C"/>
                </a:solidFill>
                <a:latin typeface="Arial" pitchFamily="34" charset="0"/>
                <a:ea typeface="Arial" pitchFamily="34" charset="-122"/>
                <a:cs typeface="Arial" pitchFamily="34" charset="-120"/>
              </a:rPr>
              <a:t>4</a:t>
            </a:r>
            <a:endParaRPr lang="en-US" sz="1800" dirty="0"/>
          </a:p>
        </p:txBody>
      </p:sp>
      <p:sp>
        <p:nvSpPr>
          <p:cNvPr id="29" name="Shape 25"/>
          <p:cNvSpPr/>
          <p:nvPr/>
        </p:nvSpPr>
        <p:spPr>
          <a:xfrm>
            <a:off x="1280160" y="4987138"/>
            <a:ext cx="10332720" cy="427939"/>
          </a:xfrm>
          <a:prstGeom prst="roundRect">
            <a:avLst>
              <a:gd name="adj" fmla="val 17094"/>
            </a:avLst>
          </a:prstGeom>
          <a:solidFill>
            <a:srgbClr val="F4F6FA"/>
          </a:solidFill>
          <a:ln w="12700">
            <a:solidFill>
              <a:srgbClr val="80ADC4"/>
            </a:solidFill>
            <a:prstDash val="solid"/>
          </a:ln>
        </p:spPr>
      </p:sp>
      <p:sp>
        <p:nvSpPr>
          <p:cNvPr id="30" name="Text 26"/>
          <p:cNvSpPr/>
          <p:nvPr/>
        </p:nvSpPr>
        <p:spPr>
          <a:xfrm>
            <a:off x="1463040" y="4987138"/>
            <a:ext cx="10058400" cy="427939"/>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EFFECT — what it makes the reader understand about her identity.</a:t>
            </a:r>
            <a:endParaRPr lang="en-US" sz="1800" dirty="0"/>
          </a:p>
        </p:txBody>
      </p:sp>
      <p:sp>
        <p:nvSpPr>
          <p:cNvPr id="31" name="Text 27"/>
          <p:cNvSpPr/>
          <p:nvPr/>
        </p:nvSpPr>
        <p:spPr>
          <a:xfrm>
            <a:off x="548640" y="5515661"/>
            <a:ext cx="427939" cy="427939"/>
          </a:xfrm>
          <a:prstGeom prst="ellipse">
            <a:avLst/>
          </a:prstGeom>
          <a:solidFill>
            <a:srgbClr val="12294D"/>
          </a:solidFill>
          <a:ln>
            <a:solidFill>
              <a:srgbClr val="12294D"/>
            </a:solidFill>
          </a:ln>
        </p:spPr>
        <p:txBody>
          <a:bodyPr wrap="square" lIns="0" tIns="0" rIns="0" bIns="0" rtlCol="0" anchor="ctr"/>
          <a:lstStyle/>
          <a:p>
            <a:pPr algn="ctr" indent="0" marL="0">
              <a:buNone/>
            </a:pPr>
            <a:r>
              <a:rPr lang="en-US" sz="1800" b="1" dirty="0">
                <a:solidFill>
                  <a:srgbClr val="FFC93C"/>
                </a:solidFill>
                <a:latin typeface="Arial" pitchFamily="34" charset="0"/>
                <a:ea typeface="Arial" pitchFamily="34" charset="-122"/>
                <a:cs typeface="Arial" pitchFamily="34" charset="-120"/>
              </a:rPr>
              <a:t>5</a:t>
            </a:r>
            <a:endParaRPr lang="en-US" sz="1800" dirty="0"/>
          </a:p>
        </p:txBody>
      </p:sp>
      <p:sp>
        <p:nvSpPr>
          <p:cNvPr id="32" name="Shape 28"/>
          <p:cNvSpPr/>
          <p:nvPr/>
        </p:nvSpPr>
        <p:spPr>
          <a:xfrm>
            <a:off x="1280160" y="5515661"/>
            <a:ext cx="10332720" cy="427939"/>
          </a:xfrm>
          <a:prstGeom prst="roundRect">
            <a:avLst>
              <a:gd name="adj" fmla="val 17094"/>
            </a:avLst>
          </a:prstGeom>
          <a:solidFill>
            <a:srgbClr val="FFFFFF"/>
          </a:solidFill>
          <a:ln w="12700">
            <a:solidFill>
              <a:srgbClr val="80ADC4"/>
            </a:solidFill>
            <a:prstDash val="solid"/>
          </a:ln>
        </p:spPr>
      </p:sp>
      <p:sp>
        <p:nvSpPr>
          <p:cNvPr id="33" name="Text 29"/>
          <p:cNvSpPr/>
          <p:nvPr/>
        </p:nvSpPr>
        <p:spPr>
          <a:xfrm>
            <a:off x="1463040" y="5515661"/>
            <a:ext cx="10058400" cy="427939"/>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LINK — one sentence: does leaving home change her identity, or prove it?</a:t>
            </a:r>
            <a:endParaRPr lang="en-US" sz="1800" dirty="0"/>
          </a:p>
        </p:txBody>
      </p:sp>
      <p:sp>
        <p:nvSpPr>
          <p:cNvPr id="34" name="Text 30"/>
          <p:cNvSpPr/>
          <p:nvPr/>
        </p:nvSpPr>
        <p:spPr>
          <a:xfrm>
            <a:off x="548640" y="5998464"/>
            <a:ext cx="11064240" cy="256032"/>
          </a:xfrm>
          <a:prstGeom prst="rect">
            <a:avLst/>
          </a:prstGeom>
          <a:noFill/>
          <a:ln/>
        </p:spPr>
        <p:txBody>
          <a:bodyPr wrap="square" lIns="0" tIns="0" rIns="0" bIns="0" rtlCol="0" anchor="ctr"/>
          <a:lstStyle/>
          <a:p>
            <a:pPr algn="l" indent="0" marL="0">
              <a:buNone/>
            </a:pPr>
            <a:r>
              <a:rPr lang="en-US" sz="1200" i="1" dirty="0">
                <a:solidFill>
                  <a:srgbClr val="6E6E6E"/>
                </a:solidFill>
                <a:latin typeface="Arial" pitchFamily="34" charset="0"/>
                <a:ea typeface="Arial" pitchFamily="34" charset="-122"/>
                <a:cs typeface="Arial" pitchFamily="34" charset="-120"/>
              </a:rPr>
              <a:t>Evidence: EEF Toolkit · Feedback — +6 months; peer check against the moves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457200" y="384048"/>
            <a:ext cx="731520" cy="731520"/>
          </a:xfrm>
          <a:prstGeom prst="roundRect">
            <a:avLst>
              <a:gd name="adj" fmla="val 15000"/>
            </a:avLst>
          </a:prstGeom>
          <a:solidFill>
            <a:srgbClr val="00A08A"/>
          </a:solidFill>
          <a:ln w="12700">
            <a:solidFill>
              <a:srgbClr val="00A08A"/>
            </a:solidFill>
            <a:prstDash val="solid"/>
          </a:ln>
        </p:spPr>
      </p:sp>
      <p:pic>
        <p:nvPicPr>
          <p:cNvPr id="3" name="Image 0" descr="/home/claude/english/kit/decks/_icons/award-FFFFFF.png">    </p:cNvPr>
          <p:cNvPicPr>
            <a:picLocks noChangeAspect="1"/>
          </p:cNvPicPr>
          <p:nvPr/>
        </p:nvPicPr>
        <p:blipFill>
          <a:blip r:embed="rId1"/>
          <a:stretch>
            <a:fillRect/>
          </a:stretch>
        </p:blipFill>
        <p:spPr>
          <a:xfrm>
            <a:off x="603504" y="530352"/>
            <a:ext cx="438912" cy="438912"/>
          </a:xfrm>
          <a:prstGeom prst="rect">
            <a:avLst/>
          </a:prstGeom>
        </p:spPr>
      </p:pic>
      <p:sp>
        <p:nvSpPr>
          <p:cNvPr id="4" name="Text 1"/>
          <p:cNvSpPr/>
          <p:nvPr/>
        </p:nvSpPr>
        <p:spPr>
          <a:xfrm>
            <a:off x="1298448" y="384048"/>
            <a:ext cx="8183880" cy="731520"/>
          </a:xfrm>
          <a:prstGeom prst="roundRect">
            <a:avLst>
              <a:gd name="adj" fmla="val 12500"/>
            </a:avLst>
          </a:prstGeom>
          <a:solidFill>
            <a:srgbClr val="E4F3EF"/>
          </a:solidFill>
          <a:ln>
            <a:solidFill>
              <a:srgbClr val="E4F3EF"/>
            </a:solidFill>
          </a:ln>
        </p:spPr>
        <p:txBody>
          <a:bodyPr wrap="square" lIns="45720" tIns="182880" rIns="137160" bIns="45720" rtlCol="0" anchor="ctr"/>
          <a:lstStyle/>
          <a:p>
            <a:pPr algn="l" indent="0" marL="0">
              <a:buNone/>
            </a:pPr>
            <a:r>
              <a:rPr lang="en-US" sz="2400" b="1" dirty="0">
                <a:solidFill>
                  <a:srgbClr val="12294D"/>
                </a:solidFill>
                <a:latin typeface="Arial" pitchFamily="34" charset="0"/>
                <a:ea typeface="Arial" pitchFamily="34" charset="-122"/>
                <a:cs typeface="Arial" pitchFamily="34" charset="-120"/>
              </a:rPr>
              <a:t>What a strong paragraph shows</a:t>
            </a:r>
            <a:endParaRPr lang="en-US" sz="2400" dirty="0"/>
          </a:p>
        </p:txBody>
      </p:sp>
      <p:sp>
        <p:nvSpPr>
          <p:cNvPr id="5" name="Text 2"/>
          <p:cNvSpPr/>
          <p:nvPr/>
        </p:nvSpPr>
        <p:spPr>
          <a:xfrm>
            <a:off x="9784080" y="457200"/>
            <a:ext cx="1874520" cy="566928"/>
          </a:xfrm>
          <a:prstGeom prst="roundRect">
            <a:avLst>
              <a:gd name="adj" fmla="val 16129"/>
            </a:avLst>
          </a:prstGeom>
          <a:solidFill>
            <a:srgbClr val="00A08A"/>
          </a:solidFill>
          <a:ln>
            <a:solidFill>
              <a:srgbClr val="00A08A"/>
            </a:solid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a:t>
            </a:r>
            <a:endParaRPr lang="en-US" sz="1700" dirty="0"/>
          </a:p>
        </p:txBody>
      </p:sp>
      <p:sp>
        <p:nvSpPr>
          <p:cNvPr id="6" name="Text 3"/>
          <p:cNvSpPr/>
          <p:nvPr/>
        </p:nvSpPr>
        <p:spPr>
          <a:xfrm>
            <a:off x="1371600" y="1097280"/>
            <a:ext cx="10149840" cy="502920"/>
          </a:xfrm>
          <a:prstGeom prst="rect">
            <a:avLst/>
          </a:prstGeom>
          <a:noFill/>
          <a:ln/>
        </p:spPr>
        <p:txBody>
          <a:bodyPr wrap="square" lIns="45720" tIns="91440" rIns="91440" bIns="45720" rtlCol="0" anchor="ctr"/>
          <a:lstStyle/>
          <a:p>
            <a:pPr algn="l" indent="0" marL="0">
              <a:buNone/>
            </a:pPr>
            <a:r>
              <a:rPr lang="en-US" sz="1500" i="1" dirty="0">
                <a:solidFill>
                  <a:srgbClr val="404040"/>
                </a:solidFill>
                <a:latin typeface="Arial" pitchFamily="34" charset="0"/>
                <a:ea typeface="Arial" pitchFamily="34" charset="-122"/>
                <a:cs typeface="Arial" pitchFamily="34" charset="-120"/>
              </a:rPr>
              <a:t>Not a model answer — the MOVES a good paragraph makes. Tick the ones your partner made.</a:t>
            </a:r>
            <a:endParaRPr lang="en-US" sz="1500" dirty="0"/>
          </a:p>
        </p:txBody>
      </p:sp>
      <p:sp>
        <p:nvSpPr>
          <p:cNvPr id="7" name="Text 4"/>
          <p:cNvSpPr/>
          <p:nvPr/>
        </p:nvSpPr>
        <p:spPr>
          <a:xfrm>
            <a:off x="457200" y="6327648"/>
            <a:ext cx="822960" cy="292608"/>
          </a:xfrm>
          <a:prstGeom prst="rect">
            <a:avLst/>
          </a:prstGeom>
          <a:noFill/>
          <a:ln/>
        </p:spPr>
        <p:txBody>
          <a:bodyPr wrap="square" lIns="0" tIns="0" rIns="0" bIns="0" rtlCol="0" anchor="ctr"/>
          <a:lstStyle/>
          <a:p>
            <a:pPr indent="0" marL="0">
              <a:buNone/>
            </a:pPr>
            <a:r>
              <a:rPr lang="en-US" sz="1100" b="1" dirty="0">
                <a:solidFill>
                  <a:srgbClr val="6E6E6E"/>
                </a:solidFill>
                <a:latin typeface="Arial" pitchFamily="34" charset="0"/>
                <a:ea typeface="Arial" pitchFamily="34" charset="-122"/>
                <a:cs typeface="Arial" pitchFamily="34" charset="-120"/>
              </a:rPr>
              <a:t>AIMS →</a:t>
            </a:r>
            <a:endParaRPr lang="en-US" sz="1100" dirty="0"/>
          </a:p>
        </p:txBody>
      </p:sp>
      <p:sp>
        <p:nvSpPr>
          <p:cNvPr id="8" name="Text 5"/>
          <p:cNvSpPr/>
          <p:nvPr/>
        </p:nvSpPr>
        <p:spPr>
          <a:xfrm>
            <a:off x="132588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REMEMBER</a:t>
            </a:r>
            <a:endParaRPr lang="en-US" sz="1200" dirty="0"/>
          </a:p>
        </p:txBody>
      </p:sp>
      <p:sp>
        <p:nvSpPr>
          <p:cNvPr id="9" name="Text 6"/>
          <p:cNvSpPr/>
          <p:nvPr/>
        </p:nvSpPr>
        <p:spPr>
          <a:xfrm>
            <a:off x="397764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UNDERSTAND</a:t>
            </a:r>
            <a:endParaRPr lang="en-US" sz="1200" dirty="0"/>
          </a:p>
        </p:txBody>
      </p:sp>
      <p:sp>
        <p:nvSpPr>
          <p:cNvPr id="10" name="Text 7"/>
          <p:cNvSpPr/>
          <p:nvPr/>
        </p:nvSpPr>
        <p:spPr>
          <a:xfrm>
            <a:off x="6629400" y="6291072"/>
            <a:ext cx="2514600" cy="365760"/>
          </a:xfrm>
          <a:prstGeom prst="roundRect">
            <a:avLst>
              <a:gd name="adj" fmla="val 22500"/>
            </a:avLst>
          </a:prstGeom>
          <a:solidFill>
            <a:srgbClr val="ECEFF4"/>
          </a:solidFill>
          <a:ln>
            <a:solidFill>
              <a:srgbClr val="ECEFF4"/>
            </a:solidFill>
          </a:ln>
        </p:spPr>
        <p:txBody>
          <a:bodyPr wrap="square" lIns="0" tIns="0" rIns="0" bIns="0" rtlCol="0" anchor="ctr"/>
          <a:lstStyle/>
          <a:p>
            <a:pPr algn="ctr" indent="0" marL="0">
              <a:buNone/>
            </a:pPr>
            <a:r>
              <a:rPr lang="en-US" sz="1200" dirty="0">
                <a:solidFill>
                  <a:srgbClr val="9AA6B5"/>
                </a:solidFill>
                <a:latin typeface="Arial" pitchFamily="34" charset="0"/>
                <a:ea typeface="Arial" pitchFamily="34" charset="-122"/>
                <a:cs typeface="Arial" pitchFamily="34" charset="-120"/>
              </a:rPr>
              <a:t>ANALYSE</a:t>
            </a:r>
            <a:endParaRPr lang="en-US" sz="1200" dirty="0"/>
          </a:p>
        </p:txBody>
      </p:sp>
      <p:sp>
        <p:nvSpPr>
          <p:cNvPr id="11" name="Text 8"/>
          <p:cNvSpPr/>
          <p:nvPr/>
        </p:nvSpPr>
        <p:spPr>
          <a:xfrm>
            <a:off x="9281160" y="6291072"/>
            <a:ext cx="2514600" cy="365760"/>
          </a:xfrm>
          <a:prstGeom prst="roundRect">
            <a:avLst>
              <a:gd name="adj" fmla="val 22500"/>
            </a:avLst>
          </a:prstGeom>
          <a:solidFill>
            <a:srgbClr val="D0021B"/>
          </a:solidFill>
          <a:ln>
            <a:solidFill>
              <a:srgbClr val="D0021B"/>
            </a:solid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 EVALUATE</a:t>
            </a:r>
            <a:endParaRPr lang="en-US" sz="1200" dirty="0"/>
          </a:p>
        </p:txBody>
      </p:sp>
      <p:sp>
        <p:nvSpPr>
          <p:cNvPr id="12" name="Text 9"/>
          <p:cNvSpPr/>
          <p:nvPr/>
        </p:nvSpPr>
        <p:spPr>
          <a:xfrm>
            <a:off x="457200" y="6702552"/>
            <a:ext cx="8229600" cy="155448"/>
          </a:xfrm>
          <a:prstGeom prst="rect">
            <a:avLst/>
          </a:prstGeom>
          <a:noFill/>
          <a:ln/>
        </p:spPr>
        <p:txBody>
          <a:bodyPr wrap="square" lIns="0" tIns="0" rIns="0" bIns="0" rtlCol="0" anchor="t"/>
          <a:lstStyle/>
          <a:p>
            <a:pPr indent="0" marL="0">
              <a:buNone/>
            </a:pPr>
            <a:r>
              <a:rPr lang="en-US" sz="900" dirty="0">
                <a:solidFill>
                  <a:srgbClr val="AAB4C2"/>
                </a:solidFill>
                <a:latin typeface="Arial" pitchFamily="34" charset="0"/>
                <a:ea typeface="Arial" pitchFamily="34" charset="-122"/>
                <a:cs typeface="Arial" pitchFamily="34" charset="-120"/>
              </a:rPr>
              <a:t>Harlington English · Modern Novel: Binti · Character, heritage, identity</a:t>
            </a:r>
            <a:endParaRPr lang="en-US" sz="900" dirty="0"/>
          </a:p>
        </p:txBody>
      </p:sp>
      <p:sp>
        <p:nvSpPr>
          <p:cNvPr id="13" name="Text 10"/>
          <p:cNvSpPr/>
          <p:nvPr/>
        </p:nvSpPr>
        <p:spPr>
          <a:xfrm>
            <a:off x="8961120" y="6702552"/>
            <a:ext cx="2743200" cy="155448"/>
          </a:xfrm>
          <a:prstGeom prst="rect">
            <a:avLst/>
          </a:prstGeom>
          <a:noFill/>
          <a:ln/>
        </p:spPr>
        <p:txBody>
          <a:bodyPr wrap="square" lIns="0" tIns="0" rIns="0" bIns="0" rtlCol="0" anchor="t"/>
          <a:lstStyle/>
          <a:p>
            <a:pPr algn="r" indent="0" marL="0">
              <a:buNone/>
            </a:pPr>
            <a:r>
              <a:rPr lang="en-US" sz="900" dirty="0">
                <a:solidFill>
                  <a:srgbClr val="AAB4C2"/>
                </a:solidFill>
                <a:latin typeface="Arial" pitchFamily="34" charset="0"/>
                <a:ea typeface="Arial" pitchFamily="34" charset="-122"/>
                <a:cs typeface="Arial" pitchFamily="34" charset="-120"/>
              </a:rPr>
              <a:t>THE MOVES</a:t>
            </a:r>
            <a:endParaRPr lang="en-US" sz="900" dirty="0"/>
          </a:p>
        </p:txBody>
      </p:sp>
      <p:sp>
        <p:nvSpPr>
          <p:cNvPr id="14" name="Text 11"/>
          <p:cNvSpPr/>
          <p:nvPr/>
        </p:nvSpPr>
        <p:spPr>
          <a:xfrm>
            <a:off x="548640" y="1783080"/>
            <a:ext cx="3017520" cy="914400"/>
          </a:xfrm>
          <a:prstGeom prst="roundRect">
            <a:avLst>
              <a:gd name="adj" fmla="val 7000"/>
            </a:avLst>
          </a:prstGeom>
          <a:solidFill>
            <a:srgbClr val="12294D"/>
          </a:solidFill>
          <a:ln>
            <a:solidFill>
              <a:srgbClr val="12294D"/>
            </a:solidFill>
          </a:ln>
        </p:spPr>
        <p:txBody>
          <a:bodyPr wrap="square" lIns="45720" tIns="137160" rIns="91440" bIns="45720" rtlCol="0" anchor="ctr"/>
          <a:lstStyle/>
          <a:p>
            <a:pPr algn="l" indent="0" marL="0">
              <a:buNone/>
            </a:pPr>
            <a:r>
              <a:rPr lang="en-US" sz="1600" b="1" dirty="0">
                <a:solidFill>
                  <a:srgbClr val="FFC93C"/>
                </a:solidFill>
                <a:latin typeface="Arial" pitchFamily="34" charset="0"/>
                <a:ea typeface="Arial" pitchFamily="34" charset="-122"/>
                <a:cs typeface="Arial" pitchFamily="34" charset="-120"/>
              </a:rPr>
              <a:t>Answer first</a:t>
            </a:r>
            <a:endParaRPr lang="en-US" sz="1600" dirty="0"/>
          </a:p>
        </p:txBody>
      </p:sp>
      <p:sp>
        <p:nvSpPr>
          <p:cNvPr id="15" name="Shape 12"/>
          <p:cNvSpPr/>
          <p:nvPr/>
        </p:nvSpPr>
        <p:spPr>
          <a:xfrm>
            <a:off x="3703320" y="1783080"/>
            <a:ext cx="7909560" cy="914400"/>
          </a:xfrm>
          <a:prstGeom prst="roundRect">
            <a:avLst>
              <a:gd name="adj" fmla="val 6000"/>
            </a:avLst>
          </a:prstGeom>
          <a:solidFill>
            <a:srgbClr val="FEF7E4"/>
          </a:solidFill>
          <a:ln w="12700">
            <a:solidFill>
              <a:srgbClr val="E5D9B0"/>
            </a:solidFill>
            <a:prstDash val="solid"/>
          </a:ln>
        </p:spPr>
      </p:sp>
      <p:sp>
        <p:nvSpPr>
          <p:cNvPr id="16" name="Text 13"/>
          <p:cNvSpPr/>
          <p:nvPr/>
        </p:nvSpPr>
        <p:spPr>
          <a:xfrm>
            <a:off x="3886200" y="1783080"/>
            <a:ext cx="758952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The first sentence answers the question; it does not retell the story.</a:t>
            </a:r>
            <a:endParaRPr lang="en-US" sz="1800" dirty="0"/>
          </a:p>
        </p:txBody>
      </p:sp>
      <p:sp>
        <p:nvSpPr>
          <p:cNvPr id="17" name="Text 14"/>
          <p:cNvSpPr/>
          <p:nvPr/>
        </p:nvSpPr>
        <p:spPr>
          <a:xfrm>
            <a:off x="548640" y="2843784"/>
            <a:ext cx="3017520" cy="914400"/>
          </a:xfrm>
          <a:prstGeom prst="roundRect">
            <a:avLst>
              <a:gd name="adj" fmla="val 7000"/>
            </a:avLst>
          </a:prstGeom>
          <a:solidFill>
            <a:srgbClr val="12294D"/>
          </a:solidFill>
          <a:ln>
            <a:solidFill>
              <a:srgbClr val="12294D"/>
            </a:solidFill>
          </a:ln>
        </p:spPr>
        <p:txBody>
          <a:bodyPr wrap="square" lIns="45720" tIns="137160" rIns="91440" bIns="45720" rtlCol="0" anchor="ctr"/>
          <a:lstStyle/>
          <a:p>
            <a:pPr algn="l" indent="0" marL="0">
              <a:buNone/>
            </a:pPr>
            <a:r>
              <a:rPr lang="en-US" sz="1600" b="1" dirty="0">
                <a:solidFill>
                  <a:srgbClr val="FFC93C"/>
                </a:solidFill>
                <a:latin typeface="Arial" pitchFamily="34" charset="0"/>
                <a:ea typeface="Arial" pitchFamily="34" charset="-122"/>
                <a:cs typeface="Arial" pitchFamily="34" charset="-120"/>
              </a:rPr>
              <a:t>Quote short</a:t>
            </a:r>
            <a:endParaRPr lang="en-US" sz="1600" dirty="0"/>
          </a:p>
        </p:txBody>
      </p:sp>
      <p:sp>
        <p:nvSpPr>
          <p:cNvPr id="18" name="Shape 15"/>
          <p:cNvSpPr/>
          <p:nvPr/>
        </p:nvSpPr>
        <p:spPr>
          <a:xfrm>
            <a:off x="3703320" y="2843784"/>
            <a:ext cx="7909560" cy="914400"/>
          </a:xfrm>
          <a:prstGeom prst="roundRect">
            <a:avLst>
              <a:gd name="adj" fmla="val 6000"/>
            </a:avLst>
          </a:prstGeom>
          <a:solidFill>
            <a:srgbClr val="FEF7E4"/>
          </a:solidFill>
          <a:ln w="12700">
            <a:solidFill>
              <a:srgbClr val="E5D9B0"/>
            </a:solidFill>
            <a:prstDash val="solid"/>
          </a:ln>
        </p:spPr>
      </p:sp>
      <p:sp>
        <p:nvSpPr>
          <p:cNvPr id="19" name="Text 16"/>
          <p:cNvSpPr/>
          <p:nvPr/>
        </p:nvSpPr>
        <p:spPr>
          <a:xfrm>
            <a:off x="3886200" y="2843784"/>
            <a:ext cx="758952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A few words — 'from home' — then the sentence that says what they show.</a:t>
            </a:r>
            <a:endParaRPr lang="en-US" sz="1800" dirty="0"/>
          </a:p>
        </p:txBody>
      </p:sp>
      <p:sp>
        <p:nvSpPr>
          <p:cNvPr id="20" name="Text 17"/>
          <p:cNvSpPr/>
          <p:nvPr/>
        </p:nvSpPr>
        <p:spPr>
          <a:xfrm>
            <a:off x="548640" y="3904488"/>
            <a:ext cx="3017520" cy="914400"/>
          </a:xfrm>
          <a:prstGeom prst="roundRect">
            <a:avLst>
              <a:gd name="adj" fmla="val 7000"/>
            </a:avLst>
          </a:prstGeom>
          <a:solidFill>
            <a:srgbClr val="12294D"/>
          </a:solidFill>
          <a:ln>
            <a:solidFill>
              <a:srgbClr val="12294D"/>
            </a:solidFill>
          </a:ln>
        </p:spPr>
        <p:txBody>
          <a:bodyPr wrap="square" lIns="45720" tIns="137160" rIns="91440" bIns="45720" rtlCol="0" anchor="ctr"/>
          <a:lstStyle/>
          <a:p>
            <a:pPr algn="l" indent="0" marL="0">
              <a:buNone/>
            </a:pPr>
            <a:r>
              <a:rPr lang="en-US" sz="1600" b="1" dirty="0">
                <a:solidFill>
                  <a:srgbClr val="FFC93C"/>
                </a:solidFill>
                <a:latin typeface="Arial" pitchFamily="34" charset="0"/>
                <a:ea typeface="Arial" pitchFamily="34" charset="-122"/>
                <a:cs typeface="Arial" pitchFamily="34" charset="-120"/>
              </a:rPr>
              <a:t>Name the symbol</a:t>
            </a:r>
            <a:endParaRPr lang="en-US" sz="1600" dirty="0"/>
          </a:p>
        </p:txBody>
      </p:sp>
      <p:sp>
        <p:nvSpPr>
          <p:cNvPr id="21" name="Shape 18"/>
          <p:cNvSpPr/>
          <p:nvPr/>
        </p:nvSpPr>
        <p:spPr>
          <a:xfrm>
            <a:off x="3703320" y="3904488"/>
            <a:ext cx="7909560" cy="914400"/>
          </a:xfrm>
          <a:prstGeom prst="roundRect">
            <a:avLst>
              <a:gd name="adj" fmla="val 6000"/>
            </a:avLst>
          </a:prstGeom>
          <a:solidFill>
            <a:srgbClr val="FEF7E4"/>
          </a:solidFill>
          <a:ln w="12700">
            <a:solidFill>
              <a:srgbClr val="E5D9B0"/>
            </a:solidFill>
            <a:prstDash val="solid"/>
          </a:ln>
        </p:spPr>
      </p:sp>
      <p:sp>
        <p:nvSpPr>
          <p:cNvPr id="22" name="Text 19"/>
          <p:cNvSpPr/>
          <p:nvPr/>
        </p:nvSpPr>
        <p:spPr>
          <a:xfrm>
            <a:off x="3886200" y="3904488"/>
            <a:ext cx="758952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Say what the clay stands for, and how the writer makes us feel its weight.</a:t>
            </a:r>
            <a:endParaRPr lang="en-US" sz="1800" dirty="0"/>
          </a:p>
        </p:txBody>
      </p:sp>
      <p:sp>
        <p:nvSpPr>
          <p:cNvPr id="23" name="Text 20"/>
          <p:cNvSpPr/>
          <p:nvPr/>
        </p:nvSpPr>
        <p:spPr>
          <a:xfrm>
            <a:off x="548640" y="4965192"/>
            <a:ext cx="3017520" cy="914400"/>
          </a:xfrm>
          <a:prstGeom prst="roundRect">
            <a:avLst>
              <a:gd name="adj" fmla="val 7000"/>
            </a:avLst>
          </a:prstGeom>
          <a:solidFill>
            <a:srgbClr val="12294D"/>
          </a:solidFill>
          <a:ln>
            <a:solidFill>
              <a:srgbClr val="12294D"/>
            </a:solidFill>
          </a:ln>
        </p:spPr>
        <p:txBody>
          <a:bodyPr wrap="square" lIns="45720" tIns="137160" rIns="91440" bIns="45720" rtlCol="0" anchor="ctr"/>
          <a:lstStyle/>
          <a:p>
            <a:pPr algn="l" indent="0" marL="0">
              <a:buNone/>
            </a:pPr>
            <a:r>
              <a:rPr lang="en-US" sz="1600" b="1" dirty="0">
                <a:solidFill>
                  <a:srgbClr val="FFC93C"/>
                </a:solidFill>
                <a:latin typeface="Arial" pitchFamily="34" charset="0"/>
                <a:ea typeface="Arial" pitchFamily="34" charset="-122"/>
                <a:cs typeface="Arial" pitchFamily="34" charset="-120"/>
              </a:rPr>
              <a:t>Judge</a:t>
            </a:r>
            <a:endParaRPr lang="en-US" sz="1600" dirty="0"/>
          </a:p>
        </p:txBody>
      </p:sp>
      <p:sp>
        <p:nvSpPr>
          <p:cNvPr id="24" name="Shape 21"/>
          <p:cNvSpPr/>
          <p:nvPr/>
        </p:nvSpPr>
        <p:spPr>
          <a:xfrm>
            <a:off x="3703320" y="4965192"/>
            <a:ext cx="7909560" cy="914400"/>
          </a:xfrm>
          <a:prstGeom prst="roundRect">
            <a:avLst>
              <a:gd name="adj" fmla="val 6000"/>
            </a:avLst>
          </a:prstGeom>
          <a:solidFill>
            <a:srgbClr val="FEF7E4"/>
          </a:solidFill>
          <a:ln w="12700">
            <a:solidFill>
              <a:srgbClr val="E5D9B0"/>
            </a:solidFill>
            <a:prstDash val="solid"/>
          </a:ln>
        </p:spPr>
      </p:sp>
      <p:sp>
        <p:nvSpPr>
          <p:cNvPr id="25" name="Text 22"/>
          <p:cNvSpPr/>
          <p:nvPr/>
        </p:nvSpPr>
        <p:spPr>
          <a:xfrm>
            <a:off x="3886200" y="4965192"/>
            <a:ext cx="7589520" cy="914400"/>
          </a:xfrm>
          <a:prstGeom prst="rect">
            <a:avLst/>
          </a:prstGeom>
          <a:noFill/>
          <a:ln/>
        </p:spPr>
        <p:txBody>
          <a:bodyPr wrap="square" lIns="45720" tIns="91440" rIns="91440" bIns="45720" rtlCol="0" anchor="ctr"/>
          <a:lstStyle/>
          <a:p>
            <a:pPr algn="l" indent="0" marL="0">
              <a:buNone/>
            </a:pPr>
            <a:r>
              <a:rPr lang="en-US" sz="1800" dirty="0">
                <a:solidFill>
                  <a:srgbClr val="16171F"/>
                </a:solidFill>
                <a:latin typeface="Arial" pitchFamily="34" charset="0"/>
                <a:ea typeface="Arial" pitchFamily="34" charset="-122"/>
                <a:cs typeface="Arial" pitchFamily="34" charset="-120"/>
              </a:rPr>
              <a:t>One clear view on the Big Question: does she stay herself, or become someone new?</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294D"/>
        </a:solidFill>
      </p:bgPr>
    </p:bg>
    <p:spTree>
      <p:nvGrpSpPr>
        <p:cNvPr id="1" name=""/>
        <p:cNvGrpSpPr/>
        <p:nvPr/>
      </p:nvGrpSpPr>
      <p:grpSpPr>
        <a:xfrm>
          <a:off x="0" y="0"/>
          <a:ext cx="0" cy="0"/>
          <a:chOff x="0" y="0"/>
          <a:chExt cx="0" cy="0"/>
        </a:xfrm>
      </p:grpSpPr>
      <p:sp>
        <p:nvSpPr>
          <p:cNvPr id="2" name="Text 0"/>
          <p:cNvSpPr/>
          <p:nvPr/>
        </p:nvSpPr>
        <p:spPr>
          <a:xfrm>
            <a:off x="548640" y="594360"/>
            <a:ext cx="10058400" cy="365760"/>
          </a:xfrm>
          <a:prstGeom prst="rect">
            <a:avLst/>
          </a:prstGeom>
          <a:noFill/>
          <a:ln/>
        </p:spPr>
        <p:txBody>
          <a:bodyPr wrap="square" lIns="0" tIns="0" rIns="0" bIns="0" rtlCol="0" anchor="ctr"/>
          <a:lstStyle/>
          <a:p>
            <a:pPr indent="0" marL="0">
              <a:buNone/>
            </a:pPr>
            <a:r>
              <a:rPr lang="en-US" sz="1500" b="1" dirty="0">
                <a:solidFill>
                  <a:srgbClr val="FFC93C"/>
                </a:solidFill>
                <a:latin typeface="Arial" pitchFamily="34" charset="0"/>
                <a:ea typeface="Arial" pitchFamily="34" charset="-122"/>
                <a:cs typeface="Arial" pitchFamily="34" charset="-120"/>
              </a:rPr>
              <a:t>BEFORE YOU LEAVE</a:t>
            </a:r>
            <a:endParaRPr lang="en-US" sz="1500" dirty="0"/>
          </a:p>
        </p:txBody>
      </p:sp>
      <p:sp>
        <p:nvSpPr>
          <p:cNvPr id="3" name="Text 1"/>
          <p:cNvSpPr/>
          <p:nvPr/>
        </p:nvSpPr>
        <p:spPr>
          <a:xfrm>
            <a:off x="548640" y="1051560"/>
            <a:ext cx="10515600" cy="731520"/>
          </a:xfrm>
          <a:prstGeom prst="rect">
            <a:avLst/>
          </a:prstGeom>
          <a:noFill/>
          <a:ln/>
        </p:spPr>
        <p:txBody>
          <a:bodyPr wrap="square" lIns="0" tIns="0" rIns="0" bIns="0" rtlCol="0" anchor="ctr"/>
          <a:lstStyle/>
          <a:p>
            <a:pPr algn="l" indent="0" marL="0">
              <a:buNone/>
            </a:pPr>
            <a:r>
              <a:rPr lang="en-US" sz="3000" b="1" dirty="0">
                <a:solidFill>
                  <a:srgbClr val="FFFFFF"/>
                </a:solidFill>
                <a:latin typeface="Arial" pitchFamily="34" charset="0"/>
                <a:ea typeface="Arial" pitchFamily="34" charset="-122"/>
                <a:cs typeface="Arial" pitchFamily="34" charset="-120"/>
              </a:rPr>
              <a:t>Home learning — the come-back loop</a:t>
            </a:r>
            <a:endParaRPr lang="en-US" sz="3000" dirty="0"/>
          </a:p>
        </p:txBody>
      </p:sp>
      <p:sp>
        <p:nvSpPr>
          <p:cNvPr id="4" name="Shape 2"/>
          <p:cNvSpPr/>
          <p:nvPr/>
        </p:nvSpPr>
        <p:spPr>
          <a:xfrm>
            <a:off x="548640" y="2011680"/>
            <a:ext cx="5349240" cy="1828800"/>
          </a:xfrm>
          <a:prstGeom prst="roundRect">
            <a:avLst>
              <a:gd name="adj" fmla="val 3000"/>
            </a:avLst>
          </a:prstGeom>
          <a:solidFill>
            <a:srgbClr val="1B315C"/>
          </a:solidFill>
          <a:ln w="12700">
            <a:solidFill>
              <a:srgbClr val="80ADC4"/>
            </a:solidFill>
            <a:prstDash val="solid"/>
          </a:ln>
        </p:spPr>
      </p:sp>
      <p:pic>
        <p:nvPicPr>
          <p:cNvPr id="5" name="Image 0" descr="/home/claude/english/kit/decks/_icons/headphones-FFFFFF.png">    </p:cNvPr>
          <p:cNvPicPr>
            <a:picLocks noChangeAspect="1"/>
          </p:cNvPicPr>
          <p:nvPr/>
        </p:nvPicPr>
        <p:blipFill>
          <a:blip r:embed="rId1"/>
          <a:stretch>
            <a:fillRect/>
          </a:stretch>
        </p:blipFill>
        <p:spPr>
          <a:xfrm>
            <a:off x="822960" y="2331720"/>
            <a:ext cx="566928" cy="566928"/>
          </a:xfrm>
          <a:prstGeom prst="rect">
            <a:avLst/>
          </a:prstGeom>
        </p:spPr>
      </p:pic>
      <p:sp>
        <p:nvSpPr>
          <p:cNvPr id="6" name="Text 3"/>
          <p:cNvSpPr/>
          <p:nvPr/>
        </p:nvSpPr>
        <p:spPr>
          <a:xfrm>
            <a:off x="1783080" y="2194560"/>
            <a:ext cx="3931920" cy="502920"/>
          </a:xfrm>
          <a:prstGeom prst="rect">
            <a:avLst/>
          </a:prstGeom>
          <a:noFill/>
          <a:ln/>
        </p:spPr>
        <p:txBody>
          <a:bodyPr wrap="square" lIns="0" tIns="0" rIns="0" bIns="0" rtlCol="0" anchor="ctr"/>
          <a:lstStyle/>
          <a:p>
            <a:pPr algn="l" indent="0" marL="0">
              <a:buNone/>
            </a:pPr>
            <a:r>
              <a:rPr lang="en-US" sz="1900" b="1" dirty="0">
                <a:solidFill>
                  <a:srgbClr val="FFC93C"/>
                </a:solidFill>
                <a:latin typeface="Arial" pitchFamily="34" charset="0"/>
                <a:ea typeface="Arial" pitchFamily="34" charset="-122"/>
                <a:cs typeface="Arial" pitchFamily="34" charset="-120"/>
              </a:rPr>
              <a:t>Listen</a:t>
            </a:r>
            <a:endParaRPr lang="en-US" sz="1900" dirty="0"/>
          </a:p>
        </p:txBody>
      </p:sp>
      <p:sp>
        <p:nvSpPr>
          <p:cNvPr id="7" name="Text 4"/>
          <p:cNvSpPr/>
          <p:nvPr/>
        </p:nvSpPr>
        <p:spPr>
          <a:xfrm>
            <a:off x="1783080" y="2670048"/>
            <a:ext cx="3931920" cy="1051560"/>
          </a:xfrm>
          <a:prstGeom prst="rect">
            <a:avLst/>
          </a:prstGeom>
          <a:noFill/>
          <a:ln/>
        </p:spPr>
        <p:txBody>
          <a:bodyPr wrap="square" lIns="0" tIns="0" rIns="0" bIns="0" rtlCol="0" anchor="t"/>
          <a:lstStyle/>
          <a:p>
            <a:pPr algn="l" indent="0" marL="0">
              <a:buNone/>
            </a:pPr>
            <a:r>
              <a:rPr lang="en-US" sz="1800" dirty="0">
                <a:solidFill>
                  <a:srgbClr val="CFE0F2"/>
                </a:solidFill>
                <a:latin typeface="Arial" pitchFamily="34" charset="0"/>
                <a:ea typeface="Arial" pitchFamily="34" charset="-122"/>
                <a:cs typeface="Arial" pitchFamily="34" charset="-120"/>
              </a:rPr>
              <a:t>Read-along edition, pages 1 to 4. Do the 'find the line' task.</a:t>
            </a:r>
            <a:endParaRPr lang="en-US" sz="1800" dirty="0"/>
          </a:p>
        </p:txBody>
      </p:sp>
      <p:sp>
        <p:nvSpPr>
          <p:cNvPr id="8" name="Shape 5"/>
          <p:cNvSpPr/>
          <p:nvPr/>
        </p:nvSpPr>
        <p:spPr>
          <a:xfrm>
            <a:off x="6172200" y="2011680"/>
            <a:ext cx="5349240" cy="1828800"/>
          </a:xfrm>
          <a:prstGeom prst="roundRect">
            <a:avLst>
              <a:gd name="adj" fmla="val 3000"/>
            </a:avLst>
          </a:prstGeom>
          <a:solidFill>
            <a:srgbClr val="1B315C"/>
          </a:solidFill>
          <a:ln w="12700">
            <a:solidFill>
              <a:srgbClr val="80ADC4"/>
            </a:solidFill>
            <a:prstDash val="solid"/>
          </a:ln>
        </p:spPr>
      </p:sp>
      <p:pic>
        <p:nvPicPr>
          <p:cNvPr id="9" name="Image 1" descr="/home/claude/english/kit/decks/_icons/book-open-FFFFFF.png">    </p:cNvPr>
          <p:cNvPicPr>
            <a:picLocks noChangeAspect="1"/>
          </p:cNvPicPr>
          <p:nvPr/>
        </p:nvPicPr>
        <p:blipFill>
          <a:blip r:embed="rId2"/>
          <a:stretch>
            <a:fillRect/>
          </a:stretch>
        </p:blipFill>
        <p:spPr>
          <a:xfrm>
            <a:off x="6446520" y="2331720"/>
            <a:ext cx="566928" cy="566928"/>
          </a:xfrm>
          <a:prstGeom prst="rect">
            <a:avLst/>
          </a:prstGeom>
        </p:spPr>
      </p:pic>
      <p:sp>
        <p:nvSpPr>
          <p:cNvPr id="10" name="Text 6"/>
          <p:cNvSpPr/>
          <p:nvPr/>
        </p:nvSpPr>
        <p:spPr>
          <a:xfrm>
            <a:off x="7406640" y="2194560"/>
            <a:ext cx="3931920" cy="502920"/>
          </a:xfrm>
          <a:prstGeom prst="rect">
            <a:avLst/>
          </a:prstGeom>
          <a:noFill/>
          <a:ln/>
        </p:spPr>
        <p:txBody>
          <a:bodyPr wrap="square" lIns="0" tIns="0" rIns="0" bIns="0" rtlCol="0" anchor="ctr"/>
          <a:lstStyle/>
          <a:p>
            <a:pPr algn="l" indent="0" marL="0">
              <a:buNone/>
            </a:pPr>
            <a:r>
              <a:rPr lang="en-US" sz="1900" b="1" dirty="0">
                <a:solidFill>
                  <a:srgbClr val="FFC93C"/>
                </a:solidFill>
                <a:latin typeface="Arial" pitchFamily="34" charset="0"/>
                <a:ea typeface="Arial" pitchFamily="34" charset="-122"/>
                <a:cs typeface="Arial" pitchFamily="34" charset="-120"/>
              </a:rPr>
              <a:t>Read</a:t>
            </a:r>
            <a:endParaRPr lang="en-US" sz="1900" dirty="0"/>
          </a:p>
        </p:txBody>
      </p:sp>
      <p:sp>
        <p:nvSpPr>
          <p:cNvPr id="11" name="Text 7"/>
          <p:cNvSpPr/>
          <p:nvPr/>
        </p:nvSpPr>
        <p:spPr>
          <a:xfrm>
            <a:off x="7406640" y="2670048"/>
            <a:ext cx="3931920" cy="1051560"/>
          </a:xfrm>
          <a:prstGeom prst="rect">
            <a:avLst/>
          </a:prstGeom>
          <a:noFill/>
          <a:ln/>
        </p:spPr>
        <p:txBody>
          <a:bodyPr wrap="square" lIns="0" tIns="0" rIns="0" bIns="0" rtlCol="0" anchor="t"/>
          <a:lstStyle/>
          <a:p>
            <a:pPr algn="l" indent="0" marL="0">
              <a:buNone/>
            </a:pPr>
            <a:r>
              <a:rPr lang="en-US" sz="1800" dirty="0">
                <a:solidFill>
                  <a:srgbClr val="CFE0F2"/>
                </a:solidFill>
                <a:latin typeface="Arial" pitchFamily="34" charset="0"/>
                <a:ea typeface="Arial" pitchFamily="34" charset="-122"/>
                <a:cs typeface="Arial" pitchFamily="34" charset="-120"/>
              </a:rPr>
              <a:t>Find one object in anything you read this week that stands for an idea. Say what it means.</a:t>
            </a:r>
            <a:endParaRPr lang="en-US" sz="1800" dirty="0"/>
          </a:p>
        </p:txBody>
      </p:sp>
      <p:sp>
        <p:nvSpPr>
          <p:cNvPr id="12" name="Shape 8"/>
          <p:cNvSpPr/>
          <p:nvPr/>
        </p:nvSpPr>
        <p:spPr>
          <a:xfrm>
            <a:off x="548640" y="4023360"/>
            <a:ext cx="5349240" cy="1828800"/>
          </a:xfrm>
          <a:prstGeom prst="roundRect">
            <a:avLst>
              <a:gd name="adj" fmla="val 3000"/>
            </a:avLst>
          </a:prstGeom>
          <a:solidFill>
            <a:srgbClr val="1B315C"/>
          </a:solidFill>
          <a:ln w="12700">
            <a:solidFill>
              <a:srgbClr val="80ADC4"/>
            </a:solidFill>
            <a:prstDash val="solid"/>
          </a:ln>
        </p:spPr>
      </p:sp>
      <p:pic>
        <p:nvPicPr>
          <p:cNvPr id="13" name="Image 2" descr="/home/claude/english/kit/decks/_icons/edit-3-FFFFFF.png">    </p:cNvPr>
          <p:cNvPicPr>
            <a:picLocks noChangeAspect="1"/>
          </p:cNvPicPr>
          <p:nvPr/>
        </p:nvPicPr>
        <p:blipFill>
          <a:blip r:embed="rId3"/>
          <a:stretch>
            <a:fillRect/>
          </a:stretch>
        </p:blipFill>
        <p:spPr>
          <a:xfrm>
            <a:off x="822960" y="4343400"/>
            <a:ext cx="566928" cy="566928"/>
          </a:xfrm>
          <a:prstGeom prst="rect">
            <a:avLst/>
          </a:prstGeom>
        </p:spPr>
      </p:pic>
      <p:sp>
        <p:nvSpPr>
          <p:cNvPr id="14" name="Text 9"/>
          <p:cNvSpPr/>
          <p:nvPr/>
        </p:nvSpPr>
        <p:spPr>
          <a:xfrm>
            <a:off x="1783080" y="4206240"/>
            <a:ext cx="3931920" cy="502920"/>
          </a:xfrm>
          <a:prstGeom prst="rect">
            <a:avLst/>
          </a:prstGeom>
          <a:noFill/>
          <a:ln/>
        </p:spPr>
        <p:txBody>
          <a:bodyPr wrap="square" lIns="0" tIns="0" rIns="0" bIns="0" rtlCol="0" anchor="ctr"/>
          <a:lstStyle/>
          <a:p>
            <a:pPr algn="l" indent="0" marL="0">
              <a:buNone/>
            </a:pPr>
            <a:r>
              <a:rPr lang="en-US" sz="1900" b="1" dirty="0">
                <a:solidFill>
                  <a:srgbClr val="FFC93C"/>
                </a:solidFill>
                <a:latin typeface="Arial" pitchFamily="34" charset="0"/>
                <a:ea typeface="Arial" pitchFamily="34" charset="-122"/>
                <a:cs typeface="Arial" pitchFamily="34" charset="-120"/>
              </a:rPr>
              <a:t>Write</a:t>
            </a:r>
            <a:endParaRPr lang="en-US" sz="1900" dirty="0"/>
          </a:p>
        </p:txBody>
      </p:sp>
      <p:sp>
        <p:nvSpPr>
          <p:cNvPr id="15" name="Text 10"/>
          <p:cNvSpPr/>
          <p:nvPr/>
        </p:nvSpPr>
        <p:spPr>
          <a:xfrm>
            <a:off x="1783080" y="4681728"/>
            <a:ext cx="3931920" cy="1051560"/>
          </a:xfrm>
          <a:prstGeom prst="rect">
            <a:avLst/>
          </a:prstGeom>
          <a:noFill/>
          <a:ln/>
        </p:spPr>
        <p:txBody>
          <a:bodyPr wrap="square" lIns="0" tIns="0" rIns="0" bIns="0" rtlCol="0" anchor="t"/>
          <a:lstStyle/>
          <a:p>
            <a:pPr algn="l" indent="0" marL="0">
              <a:buNone/>
            </a:pPr>
            <a:r>
              <a:rPr lang="en-US" sz="1800" dirty="0">
                <a:solidFill>
                  <a:srgbClr val="CFE0F2"/>
                </a:solidFill>
                <a:latin typeface="Arial" pitchFamily="34" charset="0"/>
                <a:ea typeface="Arial" pitchFamily="34" charset="-122"/>
                <a:cs typeface="Arial" pitchFamily="34" charset="-120"/>
              </a:rPr>
              <a:t>One paragraph on Binti's identity: point, evidence, method, effect. Use heritage and symbol.</a:t>
            </a:r>
            <a:endParaRPr lang="en-US" sz="1800" dirty="0"/>
          </a:p>
        </p:txBody>
      </p:sp>
      <p:sp>
        <p:nvSpPr>
          <p:cNvPr id="16" name="Shape 11"/>
          <p:cNvSpPr/>
          <p:nvPr/>
        </p:nvSpPr>
        <p:spPr>
          <a:xfrm>
            <a:off x="6172200" y="4023360"/>
            <a:ext cx="5349240" cy="1828800"/>
          </a:xfrm>
          <a:prstGeom prst="roundRect">
            <a:avLst>
              <a:gd name="adj" fmla="val 3000"/>
            </a:avLst>
          </a:prstGeom>
          <a:solidFill>
            <a:srgbClr val="1B315C"/>
          </a:solidFill>
          <a:ln w="12700">
            <a:solidFill>
              <a:srgbClr val="80ADC4"/>
            </a:solidFill>
            <a:prstDash val="solid"/>
          </a:ln>
        </p:spPr>
      </p:sp>
      <p:pic>
        <p:nvPicPr>
          <p:cNvPr id="17" name="Image 3" descr="/home/claude/english/kit/decks/_icons/repeat-FFFFFF.png">    </p:cNvPr>
          <p:cNvPicPr>
            <a:picLocks noChangeAspect="1"/>
          </p:cNvPicPr>
          <p:nvPr/>
        </p:nvPicPr>
        <p:blipFill>
          <a:blip r:embed="rId4"/>
          <a:stretch>
            <a:fillRect/>
          </a:stretch>
        </p:blipFill>
        <p:spPr>
          <a:xfrm>
            <a:off x="6446520" y="4343400"/>
            <a:ext cx="566928" cy="566928"/>
          </a:xfrm>
          <a:prstGeom prst="rect">
            <a:avLst/>
          </a:prstGeom>
        </p:spPr>
      </p:pic>
      <p:sp>
        <p:nvSpPr>
          <p:cNvPr id="18" name="Text 12"/>
          <p:cNvSpPr/>
          <p:nvPr/>
        </p:nvSpPr>
        <p:spPr>
          <a:xfrm>
            <a:off x="7406640" y="4206240"/>
            <a:ext cx="3931920" cy="502920"/>
          </a:xfrm>
          <a:prstGeom prst="rect">
            <a:avLst/>
          </a:prstGeom>
          <a:noFill/>
          <a:ln/>
        </p:spPr>
        <p:txBody>
          <a:bodyPr wrap="square" lIns="0" tIns="0" rIns="0" bIns="0" rtlCol="0" anchor="ctr"/>
          <a:lstStyle/>
          <a:p>
            <a:pPr algn="l" indent="0" marL="0">
              <a:buNone/>
            </a:pPr>
            <a:r>
              <a:rPr lang="en-US" sz="1900" b="1" dirty="0">
                <a:solidFill>
                  <a:srgbClr val="FFC93C"/>
                </a:solidFill>
                <a:latin typeface="Arial" pitchFamily="34" charset="0"/>
                <a:ea typeface="Arial" pitchFamily="34" charset="-122"/>
                <a:cs typeface="Arial" pitchFamily="34" charset="-120"/>
              </a:rPr>
              <a:t>Return</a:t>
            </a:r>
            <a:endParaRPr lang="en-US" sz="1900" dirty="0"/>
          </a:p>
        </p:txBody>
      </p:sp>
      <p:sp>
        <p:nvSpPr>
          <p:cNvPr id="19" name="Text 13"/>
          <p:cNvSpPr/>
          <p:nvPr/>
        </p:nvSpPr>
        <p:spPr>
          <a:xfrm>
            <a:off x="7406640" y="4681728"/>
            <a:ext cx="3931920" cy="1051560"/>
          </a:xfrm>
          <a:prstGeom prst="rect">
            <a:avLst/>
          </a:prstGeom>
          <a:noFill/>
          <a:ln/>
        </p:spPr>
        <p:txBody>
          <a:bodyPr wrap="square" lIns="0" tIns="0" rIns="0" bIns="0" rtlCol="0" anchor="t"/>
          <a:lstStyle/>
          <a:p>
            <a:pPr algn="l" indent="0" marL="0">
              <a:buNone/>
            </a:pPr>
            <a:r>
              <a:rPr lang="en-US" sz="1800" dirty="0">
                <a:solidFill>
                  <a:srgbClr val="CFE0F2"/>
                </a:solidFill>
                <a:latin typeface="Arial" pitchFamily="34" charset="0"/>
                <a:ea typeface="Arial" pitchFamily="34" charset="-122"/>
                <a:cs typeface="Arial" pitchFamily="34" charset="-120"/>
              </a:rPr>
              <a:t>This lesson's bell questions come back next week. Can you beat your score of /5?</a:t>
            </a:r>
            <a:endParaRPr lang="en-US" sz="1800" dirty="0"/>
          </a:p>
        </p:txBody>
      </p:sp>
      <p:sp>
        <p:nvSpPr>
          <p:cNvPr id="20" name="Text 14"/>
          <p:cNvSpPr/>
          <p:nvPr/>
        </p:nvSpPr>
        <p:spPr>
          <a:xfrm>
            <a:off x="548640" y="6309360"/>
            <a:ext cx="10058400" cy="365760"/>
          </a:xfrm>
          <a:prstGeom prst="rect">
            <a:avLst/>
          </a:prstGeom>
          <a:noFill/>
          <a:ln/>
        </p:spPr>
        <p:txBody>
          <a:bodyPr wrap="square" lIns="0" tIns="0" rIns="0" bIns="0" rtlCol="0" anchor="ctr"/>
          <a:lstStyle/>
          <a:p>
            <a:pPr indent="0" marL="0">
              <a:buNone/>
            </a:pPr>
            <a:r>
              <a:rPr lang="en-US" sz="1200" i="1" dirty="0">
                <a:solidFill>
                  <a:srgbClr val="8FA6C4"/>
                </a:solidFill>
                <a:latin typeface="Arial" pitchFamily="34" charset="0"/>
                <a:ea typeface="Arial" pitchFamily="34" charset="-122"/>
                <a:cs typeface="Arial" pitchFamily="34" charset="-120"/>
              </a:rPr>
              <a:t>Harlington English · Modern Novel: Binti · Lesson 2 of 7</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Modern Novel: Binti · L2 Character, heritage, identity</dc:title>
  <dc:subject>PptxGenJS Presentation</dc:subject>
  <dc:creator>Harlington English</dc:creator>
  <cp:lastModifiedBy>Harlington English</cp:lastModifiedBy>
  <cp:revision>1</cp:revision>
  <dcterms:created xsi:type="dcterms:W3CDTF">2026-09-04T20:58:54Z</dcterms:created>
  <dcterms:modified xsi:type="dcterms:W3CDTF">2026-09-04T20:58:54Z</dcterms:modified>
</cp:coreProperties>
</file>